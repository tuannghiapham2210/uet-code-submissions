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embedTrueTypeFonts="1" strictFirstAndLastChars="0" saveSubsetFonts="1">
  <p:sldMasterIdLst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y="6858000" cx="9144000"/>
  <p:notesSz cx="7099300" cy="10234600"/>
  <p:embeddedFontLst>
    <p:embeddedFont>
      <p:font typeface="Helvetica Neue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tableStyles.xml><?xml version="1.0" encoding="utf-8"?>
<a:tblStyleLst xmlns:a="http://schemas.openxmlformats.org/drawingml/2006/main" xmlns:r="http://schemas.openxmlformats.org/officeDocument/2006/relationships" def="{9AF7ED0B-2553-4681-8127-A0897A46BF43}">
  <a:tblStyle styleId="{9AF7ED0B-2553-4681-8127-A0897A46BF43}" styleName="Table_0">
    <a:wholeTbl>
      <a:tcTxStyle b="off" i="off">
        <a:font>
          <a:latin typeface="Helvetica"/>
          <a:ea typeface="Helvetica"/>
          <a:cs typeface="Helvetica"/>
        </a:font>
        <a:schemeClr val="dk1"/>
      </a:tcTxStyle>
      <a:tcStyle>
        <a:tcBdr>
          <a:lef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chemeClr val="lt1"/>
          </a:solidFill>
        </a:fill>
      </a:tcStyle>
    </a:wholeTbl>
    <a:band1H>
      <a:tcTxStyle/>
      <a:tcStyle>
        <a:fill>
          <a:solidFill>
            <a:srgbClr val="E7E7EB"/>
          </a:solidFill>
        </a:fill>
      </a:tcStyle>
    </a:band1H>
    <a:band2H>
      <a:tcTxStyle/>
    </a:band2H>
    <a:band1V>
      <a:tcTxStyle/>
      <a:tcStyle>
        <a:fill>
          <a:solidFill>
            <a:srgbClr val="E7E7EB"/>
          </a:solidFill>
        </a:fill>
      </a:tcStyle>
    </a:band1V>
    <a:band2V>
      <a:tcTxStyle/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508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l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Helvetica"/>
          <a:ea typeface="Helvetica"/>
          <a:cs typeface="Helvetica"/>
        </a:font>
        <a:schemeClr val="lt1"/>
      </a:tcTxStyle>
      <a:tcStyle>
        <a:fill>
          <a:solidFill>
            <a:schemeClr val="dk1"/>
          </a:solidFill>
        </a:fill>
      </a:tcStyle>
    </a:firstRow>
    <a:neCell>
      <a:tcTxStyle/>
    </a:neCell>
    <a:nwCell>
      <a:tcTxStyle/>
    </a:nwCell>
  </a:tblStyle>
  <a:tblStyle styleId="{1EEC2A39-1FFF-4A1B-8636-17AA7E099E35}" styleName="Table_1">
    <a:wholeTbl>
      <a:tcTxStyle b="off" i="off">
        <a:font>
          <a:latin typeface="Helvetica"/>
          <a:ea typeface="Helvetica"/>
          <a:cs typeface="Helvetica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7E7EB"/>
          </a:solidFill>
        </a:fill>
      </a:tcStyle>
    </a:wholeTbl>
    <a:band1H>
      <a:tcTxStyle/>
      <a:tcStyle>
        <a:fill>
          <a:solidFill>
            <a:srgbClr val="CBCBD5"/>
          </a:solidFill>
        </a:fill>
      </a:tcStyle>
    </a:band1H>
    <a:band2H>
      <a:tcTxStyle/>
    </a:band2H>
    <a:band1V>
      <a:tcTxStyle/>
      <a:tcStyle>
        <a:fill>
          <a:solidFill>
            <a:srgbClr val="CBCBD5"/>
          </a:solidFill>
        </a:fill>
      </a:tcStyle>
    </a:band1V>
    <a:band2V>
      <a:tcTxStyle/>
    </a:band2V>
    <a:lastCol>
      <a:tcTxStyle b="on" i="off">
        <a:font>
          <a:latin typeface="Helvetica"/>
          <a:ea typeface="Helvetica"/>
          <a:cs typeface="Helvetica"/>
        </a:font>
        <a:schemeClr val="lt1"/>
      </a:tcTxStyle>
      <a:tcStyle>
        <a:fill>
          <a:solidFill>
            <a:schemeClr val="dk1"/>
          </a:solidFill>
        </a:fill>
      </a:tcStyle>
    </a:lastCol>
    <a:firstCol>
      <a:tcTxStyle b="on" i="off">
        <a:font>
          <a:latin typeface="Helvetica"/>
          <a:ea typeface="Helvetica"/>
          <a:cs typeface="Helvetica"/>
        </a:font>
        <a:schemeClr val="lt1"/>
      </a:tcTxStyle>
      <a:tcStyle>
        <a:fill>
          <a:solidFill>
            <a:schemeClr val="dk1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dk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Helvetica"/>
          <a:ea typeface="Helvetica"/>
          <a:cs typeface="Helvetica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dk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HelveticaNeue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HelveticaNeue-italic.fntdata"/><Relationship Id="rId30" Type="http://schemas.openxmlformats.org/officeDocument/2006/relationships/font" Target="fonts/HelveticaNeue-bold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32" Type="http://schemas.openxmlformats.org/officeDocument/2006/relationships/font" Target="fonts/HelveticaNeue-bold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25" spcFirstLastPara="1" rIns="99025" wrap="square" tIns="49500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021294" y="0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25" spcFirstLastPara="1" rIns="99025" wrap="square" tIns="49500"/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992188" y="768350"/>
            <a:ext cx="5114925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25" spcFirstLastPara="1" rIns="99025" wrap="square" tIns="49500"/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anchorCtr="0" anchor="b" bIns="49500" lIns="99025" spcFirstLastPara="1" rIns="99025" wrap="square" tIns="49500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anchorCtr="0" anchor="b" bIns="49500" lIns="99025" spcFirstLastPara="1" rIns="99025" wrap="square" tIns="495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/>
          <p:nvPr>
            <p:ph idx="1" type="body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:notes"/>
          <p:cNvSpPr/>
          <p:nvPr>
            <p:ph idx="2" type="sldImg"/>
          </p:nvPr>
        </p:nvSpPr>
        <p:spPr>
          <a:xfrm>
            <a:off x="992188" y="768350"/>
            <a:ext cx="5114925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/>
          <p:cNvSpPr txBox="1"/>
          <p:nvPr>
            <p:ph idx="1" type="body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2:notes"/>
          <p:cNvSpPr/>
          <p:nvPr>
            <p:ph idx="2" type="sldImg"/>
          </p:nvPr>
        </p:nvSpPr>
        <p:spPr>
          <a:xfrm>
            <a:off x="992188" y="768350"/>
            <a:ext cx="5114925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/>
          <p:nvPr>
            <p:ph idx="1" type="body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3:notes"/>
          <p:cNvSpPr/>
          <p:nvPr>
            <p:ph idx="2" type="sldImg"/>
          </p:nvPr>
        </p:nvSpPr>
        <p:spPr>
          <a:xfrm>
            <a:off x="992188" y="768350"/>
            <a:ext cx="5114925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 txBox="1"/>
          <p:nvPr>
            <p:ph idx="1" type="body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4:notes"/>
          <p:cNvSpPr/>
          <p:nvPr>
            <p:ph idx="2" type="sldImg"/>
          </p:nvPr>
        </p:nvSpPr>
        <p:spPr>
          <a:xfrm>
            <a:off x="992188" y="768350"/>
            <a:ext cx="5114925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:notes"/>
          <p:cNvSpPr txBox="1"/>
          <p:nvPr>
            <p:ph idx="1" type="body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5:notes"/>
          <p:cNvSpPr/>
          <p:nvPr>
            <p:ph idx="2" type="sldImg"/>
          </p:nvPr>
        </p:nvSpPr>
        <p:spPr>
          <a:xfrm>
            <a:off x="992188" y="768350"/>
            <a:ext cx="5114925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:notes"/>
          <p:cNvSpPr txBox="1"/>
          <p:nvPr>
            <p:ph idx="1" type="body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6:notes"/>
          <p:cNvSpPr/>
          <p:nvPr>
            <p:ph idx="2" type="sldImg"/>
          </p:nvPr>
        </p:nvSpPr>
        <p:spPr>
          <a:xfrm>
            <a:off x="992188" y="768350"/>
            <a:ext cx="5114925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7:notes"/>
          <p:cNvSpPr txBox="1"/>
          <p:nvPr>
            <p:ph idx="1" type="body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7:notes"/>
          <p:cNvSpPr/>
          <p:nvPr>
            <p:ph idx="2" type="sldImg"/>
          </p:nvPr>
        </p:nvSpPr>
        <p:spPr>
          <a:xfrm>
            <a:off x="992188" y="768350"/>
            <a:ext cx="5114925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8:notes"/>
          <p:cNvSpPr txBox="1"/>
          <p:nvPr>
            <p:ph idx="1" type="body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8:notes"/>
          <p:cNvSpPr/>
          <p:nvPr>
            <p:ph idx="2" type="sldImg"/>
          </p:nvPr>
        </p:nvSpPr>
        <p:spPr>
          <a:xfrm>
            <a:off x="992188" y="768350"/>
            <a:ext cx="5114925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9:notes"/>
          <p:cNvSpPr txBox="1"/>
          <p:nvPr>
            <p:ph idx="1" type="body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9:notes"/>
          <p:cNvSpPr/>
          <p:nvPr>
            <p:ph idx="2" type="sldImg"/>
          </p:nvPr>
        </p:nvSpPr>
        <p:spPr>
          <a:xfrm>
            <a:off x="992188" y="768350"/>
            <a:ext cx="5114925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0:notes"/>
          <p:cNvSpPr txBox="1"/>
          <p:nvPr>
            <p:ph idx="1" type="body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0:notes"/>
          <p:cNvSpPr/>
          <p:nvPr>
            <p:ph idx="2" type="sldImg"/>
          </p:nvPr>
        </p:nvSpPr>
        <p:spPr>
          <a:xfrm>
            <a:off x="992188" y="768350"/>
            <a:ext cx="5114925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1:notes"/>
          <p:cNvSpPr txBox="1"/>
          <p:nvPr>
            <p:ph idx="1" type="body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1:notes"/>
          <p:cNvSpPr/>
          <p:nvPr>
            <p:ph idx="2" type="sldImg"/>
          </p:nvPr>
        </p:nvSpPr>
        <p:spPr>
          <a:xfrm>
            <a:off x="992188" y="768350"/>
            <a:ext cx="5114925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2:notes"/>
          <p:cNvSpPr txBox="1"/>
          <p:nvPr>
            <p:ph idx="1" type="body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2:notes"/>
          <p:cNvSpPr/>
          <p:nvPr>
            <p:ph idx="2" type="sldImg"/>
          </p:nvPr>
        </p:nvSpPr>
        <p:spPr>
          <a:xfrm>
            <a:off x="992188" y="768350"/>
            <a:ext cx="5114925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3:notes"/>
          <p:cNvSpPr txBox="1"/>
          <p:nvPr>
            <p:ph idx="1" type="body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3:notes"/>
          <p:cNvSpPr/>
          <p:nvPr>
            <p:ph idx="2" type="sldImg"/>
          </p:nvPr>
        </p:nvSpPr>
        <p:spPr>
          <a:xfrm>
            <a:off x="992188" y="768350"/>
            <a:ext cx="5114925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4:notes"/>
          <p:cNvSpPr txBox="1"/>
          <p:nvPr>
            <p:ph idx="1" type="body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4:notes"/>
          <p:cNvSpPr/>
          <p:nvPr>
            <p:ph idx="2" type="sldImg"/>
          </p:nvPr>
        </p:nvSpPr>
        <p:spPr>
          <a:xfrm>
            <a:off x="992188" y="768350"/>
            <a:ext cx="5114925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5:notes"/>
          <p:cNvSpPr txBox="1"/>
          <p:nvPr>
            <p:ph idx="1" type="body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5:notes"/>
          <p:cNvSpPr/>
          <p:nvPr>
            <p:ph idx="2" type="sldImg"/>
          </p:nvPr>
        </p:nvSpPr>
        <p:spPr>
          <a:xfrm>
            <a:off x="992188" y="768350"/>
            <a:ext cx="5114925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6:notes"/>
          <p:cNvSpPr txBox="1"/>
          <p:nvPr>
            <p:ph idx="1" type="body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6:notes"/>
          <p:cNvSpPr/>
          <p:nvPr>
            <p:ph idx="2" type="sldImg"/>
          </p:nvPr>
        </p:nvSpPr>
        <p:spPr>
          <a:xfrm>
            <a:off x="992188" y="768350"/>
            <a:ext cx="5114925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7:notes"/>
          <p:cNvSpPr txBox="1"/>
          <p:nvPr>
            <p:ph idx="1" type="body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7:notes"/>
          <p:cNvSpPr/>
          <p:nvPr>
            <p:ph idx="2" type="sldImg"/>
          </p:nvPr>
        </p:nvSpPr>
        <p:spPr>
          <a:xfrm>
            <a:off x="992188" y="768350"/>
            <a:ext cx="5114925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8:notes"/>
          <p:cNvSpPr txBox="1"/>
          <p:nvPr>
            <p:ph idx="1" type="body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8:notes"/>
          <p:cNvSpPr/>
          <p:nvPr>
            <p:ph idx="2" type="sldImg"/>
          </p:nvPr>
        </p:nvSpPr>
        <p:spPr>
          <a:xfrm>
            <a:off x="992188" y="768350"/>
            <a:ext cx="5114925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9:notes"/>
          <p:cNvSpPr txBox="1"/>
          <p:nvPr>
            <p:ph idx="1" type="body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9:notes"/>
          <p:cNvSpPr/>
          <p:nvPr>
            <p:ph idx="2" type="sldImg"/>
          </p:nvPr>
        </p:nvSpPr>
        <p:spPr>
          <a:xfrm>
            <a:off x="992188" y="768350"/>
            <a:ext cx="5114925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0:notes"/>
          <p:cNvSpPr txBox="1"/>
          <p:nvPr>
            <p:ph idx="1" type="body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0:notes"/>
          <p:cNvSpPr/>
          <p:nvPr>
            <p:ph idx="2" type="sldImg"/>
          </p:nvPr>
        </p:nvSpPr>
        <p:spPr>
          <a:xfrm>
            <a:off x="992188" y="768350"/>
            <a:ext cx="5114925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1:notes"/>
          <p:cNvSpPr txBox="1"/>
          <p:nvPr>
            <p:ph idx="1" type="body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21:notes"/>
          <p:cNvSpPr/>
          <p:nvPr>
            <p:ph idx="2" type="sldImg"/>
          </p:nvPr>
        </p:nvSpPr>
        <p:spPr>
          <a:xfrm>
            <a:off x="992188" y="768350"/>
            <a:ext cx="5114925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2:notes"/>
          <p:cNvSpPr txBox="1"/>
          <p:nvPr>
            <p:ph idx="1" type="body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22:notes"/>
          <p:cNvSpPr/>
          <p:nvPr>
            <p:ph idx="2" type="sldImg"/>
          </p:nvPr>
        </p:nvSpPr>
        <p:spPr>
          <a:xfrm>
            <a:off x="992188" y="768350"/>
            <a:ext cx="5114925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588" y="-1588"/>
            <a:ext cx="9145588" cy="6859588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2"/>
          <p:cNvSpPr txBox="1"/>
          <p:nvPr>
            <p:ph type="ctrTitle"/>
          </p:nvPr>
        </p:nvSpPr>
        <p:spPr>
          <a:xfrm>
            <a:off x="914400" y="1600200"/>
            <a:ext cx="7315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20" name="Google Shape;20;p2"/>
          <p:cNvSpPr txBox="1"/>
          <p:nvPr>
            <p:ph idx="1" type="subTitle"/>
          </p:nvPr>
        </p:nvSpPr>
        <p:spPr>
          <a:xfrm>
            <a:off x="914400" y="2895600"/>
            <a:ext cx="73152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lvl="0" marR="0" rtl="0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  <a:defRPr b="0" i="0" sz="3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–"/>
              <a:defRPr b="0" i="0" sz="2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b="0" i="0" sz="2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b="0" i="0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b="0" i="0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b="0" i="0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b="0" i="0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b="0" i="0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b="0" i="0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21" name="Google Shape;21;p2"/>
          <p:cNvSpPr txBox="1"/>
          <p:nvPr>
            <p:ph idx="10" type="dt"/>
          </p:nvPr>
        </p:nvSpPr>
        <p:spPr>
          <a:xfrm>
            <a:off x="914400" y="6096000"/>
            <a:ext cx="167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22" name="Google Shape;22;p2"/>
          <p:cNvSpPr txBox="1"/>
          <p:nvPr>
            <p:ph idx="11" type="ftr"/>
          </p:nvPr>
        </p:nvSpPr>
        <p:spPr>
          <a:xfrm>
            <a:off x="3124200" y="60960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23" name="Google Shape;23;p2"/>
          <p:cNvSpPr txBox="1"/>
          <p:nvPr>
            <p:ph idx="12" type="sldNum"/>
          </p:nvPr>
        </p:nvSpPr>
        <p:spPr>
          <a:xfrm>
            <a:off x="6553200" y="6096000"/>
            <a:ext cx="167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wo Content" type="twoObj">
  <p:cSld name="TWO_OBJECT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"/>
          <p:cNvSpPr txBox="1"/>
          <p:nvPr>
            <p:ph type="title"/>
          </p:nvPr>
        </p:nvSpPr>
        <p:spPr>
          <a:xfrm>
            <a:off x="685800" y="4572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/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26" name="Google Shape;26;p3"/>
          <p:cNvSpPr txBox="1"/>
          <p:nvPr>
            <p:ph idx="1" type="body"/>
          </p:nvPr>
        </p:nvSpPr>
        <p:spPr>
          <a:xfrm>
            <a:off x="685800" y="1981200"/>
            <a:ext cx="3810000" cy="40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indent="-406400" lvl="0" marL="4572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•"/>
              <a:defRPr b="0" i="0" sz="2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81000" lvl="1" marL="9144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–"/>
              <a:defRPr b="0" i="0" sz="2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3556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•"/>
              <a:defRPr b="0" i="0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342900" lvl="3" marL="1828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–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342900" lvl="4" marL="22860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42900" lvl="5" marL="27432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342900" lvl="6" marL="32004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342900" lvl="7" marL="3657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342900" lvl="8" marL="4114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2" type="body"/>
          </p:nvPr>
        </p:nvSpPr>
        <p:spPr>
          <a:xfrm>
            <a:off x="4648200" y="1981200"/>
            <a:ext cx="3810000" cy="40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indent="-406400" lvl="0" marL="4572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•"/>
              <a:defRPr b="0" i="0" sz="2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81000" lvl="1" marL="9144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–"/>
              <a:defRPr b="0" i="0" sz="2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3556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•"/>
              <a:defRPr b="0" i="0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342900" lvl="3" marL="1828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–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342900" lvl="4" marL="22860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42900" lvl="5" marL="27432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342900" lvl="6" marL="32004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342900" lvl="7" marL="3657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342900" lvl="8" marL="4114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28" name="Google Shape;28;p3"/>
          <p:cNvSpPr txBox="1"/>
          <p:nvPr>
            <p:ph idx="10" type="dt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29" name="Google Shape;29;p3"/>
          <p:cNvSpPr txBox="1"/>
          <p:nvPr>
            <p:ph idx="11" type="ftr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30" name="Google Shape;30;p3"/>
          <p:cNvSpPr txBox="1"/>
          <p:nvPr>
            <p:ph idx="12" type="sldNum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Content" type="obj">
  <p:cSld name="OBJEC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"/>
          <p:cNvSpPr txBox="1"/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/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33" name="Google Shape;33;p4"/>
          <p:cNvSpPr txBox="1"/>
          <p:nvPr>
            <p:ph idx="1" type="body"/>
          </p:nvPr>
        </p:nvSpPr>
        <p:spPr>
          <a:xfrm>
            <a:off x="685800" y="1844824"/>
            <a:ext cx="7772400" cy="41749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➢"/>
              <a:defRPr b="0" i="0" sz="3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❖"/>
              <a:defRPr b="0" i="0" sz="2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b="0" i="0" sz="2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b="0" i="0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b="0" i="0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b="0" i="0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b="0" i="0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b="0" i="0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b="0" i="0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34" name="Google Shape;34;p4"/>
          <p:cNvSpPr txBox="1"/>
          <p:nvPr>
            <p:ph idx="10" type="dt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35" name="Google Shape;35;p4"/>
          <p:cNvSpPr txBox="1"/>
          <p:nvPr>
            <p:ph idx="11" type="ftr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36" name="Google Shape;36;p4"/>
          <p:cNvSpPr txBox="1"/>
          <p:nvPr>
            <p:ph idx="12" type="sldNum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rtl="0" algn="r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rtl="0" algn="r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rtl="0" algn="r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rtl="0" algn="r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rtl="0" algn="r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rtl="0" algn="r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rtl="0" algn="r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rtl="0" algn="r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39" name="Google Shape;3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/>
          <a:lstStyle>
            <a:lvl1pPr indent="-228600" lvl="0" marL="457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b="0" i="0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228600" lvl="2" marL="13716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228600" lvl="3" marL="1828800" marR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228600" lvl="4" marL="2286000" marR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228600" lvl="5" marL="2743200" marR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228600" lvl="6" marL="3200400" marR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228600" lvl="7" marL="3657600" marR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228600" lvl="8" marL="4114800" marR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40" name="Google Shape;40;p5"/>
          <p:cNvSpPr txBox="1"/>
          <p:nvPr>
            <p:ph idx="10" type="dt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41" name="Google Shape;41;p5"/>
          <p:cNvSpPr txBox="1"/>
          <p:nvPr>
            <p:ph idx="11" type="ftr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rtl="0" algn="r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rtl="0" algn="r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rtl="0" algn="r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rtl="0" algn="r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rtl="0" algn="r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rtl="0" algn="r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rtl="0" algn="r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rtl="0" algn="r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omparison" type="twoTxTwoObj">
  <p:cSld name="TWO_OBJECTS_WITH_TEX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/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45" name="Google Shape;45;p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/>
          <a:lstStyle>
            <a:lvl1pPr indent="-22860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  <a:defRPr b="1" i="0" sz="2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b="1" i="0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228600" lvl="3" marL="1828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b="1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228600" lvl="4" marL="22860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b="1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228600" lvl="5" marL="27432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b="1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228600" lvl="6" marL="32004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b="1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228600" lvl="7" marL="36576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b="1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228600" lvl="8" marL="4114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b="1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46" name="Google Shape;46;p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indent="-38100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b="0" i="0" sz="2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5560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b="0" i="0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•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330200" lvl="3" marL="1828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–"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330200" lvl="4" marL="22860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30200" lvl="5" marL="27432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330200" lvl="6" marL="32004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330200" lvl="7" marL="36576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330200" lvl="8" marL="4114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47" name="Google Shape;47;p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/>
          <a:lstStyle>
            <a:lvl1pPr indent="-22860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  <a:defRPr b="1" i="0" sz="2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b="1" i="0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228600" lvl="3" marL="1828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b="1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228600" lvl="4" marL="22860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b="1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228600" lvl="5" marL="27432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b="1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228600" lvl="6" marL="32004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b="1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228600" lvl="7" marL="36576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b="1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228600" lvl="8" marL="4114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b="1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48" name="Google Shape;48;p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indent="-38100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b="0" i="0" sz="2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5560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b="0" i="0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•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330200" lvl="3" marL="1828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–"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330200" lvl="4" marL="22860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30200" lvl="5" marL="27432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330200" lvl="6" marL="32004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330200" lvl="7" marL="36576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330200" lvl="8" marL="4114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49" name="Google Shape;49;p6"/>
          <p:cNvSpPr txBox="1"/>
          <p:nvPr>
            <p:ph idx="10" type="dt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50" name="Google Shape;50;p6"/>
          <p:cNvSpPr txBox="1"/>
          <p:nvPr>
            <p:ph idx="11" type="ftr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51" name="Google Shape;51;p6"/>
          <p:cNvSpPr txBox="1"/>
          <p:nvPr>
            <p:ph idx="12" type="sldNum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rtl="0" algn="r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rtl="0" algn="r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rtl="0" algn="r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rtl="0" algn="r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rtl="0" algn="r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rtl="0" algn="r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rtl="0" algn="r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rtl="0" algn="r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title"/>
          </p:nvPr>
        </p:nvSpPr>
        <p:spPr>
          <a:xfrm>
            <a:off x="685800" y="4572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/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54" name="Google Shape;54;p7"/>
          <p:cNvSpPr txBox="1"/>
          <p:nvPr>
            <p:ph idx="10" type="dt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55" name="Google Shape;55;p7"/>
          <p:cNvSpPr txBox="1"/>
          <p:nvPr>
            <p:ph idx="11" type="ftr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56" name="Google Shape;56;p7"/>
          <p:cNvSpPr txBox="1"/>
          <p:nvPr>
            <p:ph idx="12" type="sldNum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rtl="0" algn="r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rtl="0" algn="r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rtl="0" algn="r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rtl="0" algn="r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rtl="0" algn="r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rtl="0" algn="r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rtl="0" algn="r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rtl="0" algn="r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8"/>
          <p:cNvSpPr txBox="1"/>
          <p:nvPr>
            <p:ph idx="10" type="dt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59" name="Google Shape;59;p8"/>
          <p:cNvSpPr txBox="1"/>
          <p:nvPr>
            <p:ph idx="11" type="ftr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rtl="0" algn="r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rtl="0" algn="r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rtl="0" algn="r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rtl="0" algn="r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rtl="0" algn="r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rtl="0" algn="r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rtl="0" algn="r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rtl="0" algn="r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ontent with Caption" type="objTx">
  <p:cSld name="OBJECT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  <a:defRPr b="0" i="0" sz="3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–"/>
              <a:defRPr b="0" i="0" sz="2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b="0" i="0" sz="2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b="0" i="0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b="0" i="0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b="0" i="0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b="0" i="0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b="0" i="0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b="0" i="0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indent="-228600" lvl="0" marL="457200" marR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marR="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"/>
              <a:buNone/>
              <a:def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228600" lvl="2" marL="13716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"/>
              <a:buNone/>
              <a:defRPr b="0" i="0" sz="1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22860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b="0" i="0" sz="9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22860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b="0" i="0" sz="9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228600" lvl="5" marL="27432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b="0" i="0" sz="9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2286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b="0" i="0" sz="9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2286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b="0" i="0" sz="9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228600" lvl="8" marL="41148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b="0" i="0" sz="9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0" type="dt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66" name="Google Shape;66;p9"/>
          <p:cNvSpPr txBox="1"/>
          <p:nvPr>
            <p:ph idx="11" type="ftr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67" name="Google Shape;67;p9"/>
          <p:cNvSpPr txBox="1"/>
          <p:nvPr>
            <p:ph idx="12" type="sldNum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rtl="0" algn="r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rtl="0" algn="r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rtl="0" algn="r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rtl="0" algn="r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rtl="0" algn="r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rtl="0" algn="r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rtl="0" algn="r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rtl="0" algn="r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Picture with Caption" type="picTx">
  <p:cSld name="PICTURE_WITH_CAPTION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70" name="Google Shape;70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lvl="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  <a:defRPr b="0" i="0" sz="3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None/>
              <a:defRPr b="0" i="0" sz="2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  <a:defRPr b="0" i="0" sz="2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b="0" i="0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b="0" i="0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b="0" i="0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b="0" i="0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b="0" i="0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b="0" i="0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indent="-228600" lvl="0" marL="457200" marR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marR="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"/>
              <a:buNone/>
              <a:def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228600" lvl="2" marL="13716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"/>
              <a:buNone/>
              <a:defRPr b="0" i="0" sz="1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22860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b="0" i="0" sz="9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22860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b="0" i="0" sz="9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228600" lvl="5" marL="27432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b="0" i="0" sz="9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2286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b="0" i="0" sz="9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2286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b="0" i="0" sz="9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228600" lvl="8" marL="41148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b="0" i="0" sz="9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72" name="Google Shape;72;p10"/>
          <p:cNvSpPr txBox="1"/>
          <p:nvPr>
            <p:ph idx="10" type="dt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73" name="Google Shape;73;p10"/>
          <p:cNvSpPr txBox="1"/>
          <p:nvPr>
            <p:ph idx="11" type="ftr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74" name="Google Shape;74;p10"/>
          <p:cNvSpPr txBox="1"/>
          <p:nvPr>
            <p:ph idx="12" type="sldNum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rtl="0" algn="r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rtl="0" algn="r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rtl="0" algn="r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rtl="0" algn="r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rtl="0" algn="r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rtl="0" algn="r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rtl="0" algn="r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rtl="0" algn="r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Vertical Text" type="vertTx">
  <p:cSld name="VERTICAL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/>
          <p:cNvSpPr txBox="1"/>
          <p:nvPr>
            <p:ph type="title"/>
          </p:nvPr>
        </p:nvSpPr>
        <p:spPr>
          <a:xfrm>
            <a:off x="685800" y="4572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/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 rot="5400000">
            <a:off x="2552700" y="114300"/>
            <a:ext cx="4038600" cy="77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  <a:defRPr b="0" i="0" sz="3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–"/>
              <a:defRPr b="0" i="0" sz="2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b="0" i="0" sz="2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b="0" i="0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b="0" i="0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b="0" i="0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b="0" i="0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b="0" i="0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b="0" i="0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10" type="dt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1" type="ftr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80" name="Google Shape;80;p11"/>
          <p:cNvSpPr txBox="1"/>
          <p:nvPr>
            <p:ph idx="12" type="sldNum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rtl="0" algn="r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rtl="0" algn="r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rtl="0" algn="r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rtl="0" algn="r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rtl="0" algn="r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rtl="0" algn="r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rtl="0" algn="r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rtl="0" algn="r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Vertical Title and Text" type="vertTitleAndTx">
  <p:cSld name="VERTICAL_TITLE_AND_VERTICAL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2"/>
          <p:cNvSpPr txBox="1"/>
          <p:nvPr>
            <p:ph type="title"/>
          </p:nvPr>
        </p:nvSpPr>
        <p:spPr>
          <a:xfrm rot="5400000">
            <a:off x="4705350" y="2266950"/>
            <a:ext cx="5562600" cy="1943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/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83" name="Google Shape;83;p12"/>
          <p:cNvSpPr txBox="1"/>
          <p:nvPr>
            <p:ph idx="1" type="body"/>
          </p:nvPr>
        </p:nvSpPr>
        <p:spPr>
          <a:xfrm rot="5400000">
            <a:off x="742950" y="400050"/>
            <a:ext cx="5562600" cy="56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  <a:defRPr b="0" i="0" sz="3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–"/>
              <a:defRPr b="0" i="0" sz="2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b="0" i="0" sz="2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b="0" i="0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b="0" i="0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b="0" i="0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b="0" i="0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b="0" i="0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b="0" i="0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84" name="Google Shape;84;p12"/>
          <p:cNvSpPr txBox="1"/>
          <p:nvPr>
            <p:ph idx="10" type="dt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85" name="Google Shape;85;p12"/>
          <p:cNvSpPr txBox="1"/>
          <p:nvPr>
            <p:ph idx="11" type="ftr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86" name="Google Shape;86;p12"/>
          <p:cNvSpPr txBox="1"/>
          <p:nvPr>
            <p:ph idx="12" type="sldNum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rtl="0" algn="r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rtl="0" algn="r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rtl="0" algn="r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rtl="0" algn="r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rtl="0" algn="r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rtl="0" algn="r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rtl="0" algn="r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rtl="0" algn="r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, Text, and Content" type="txAndObj">
  <p:cSld name="TEXT_AND_OBJECT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/>
          <p:nvPr>
            <p:ph type="title"/>
          </p:nvPr>
        </p:nvSpPr>
        <p:spPr>
          <a:xfrm>
            <a:off x="609600" y="3048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/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89" name="Google Shape;89;p13"/>
          <p:cNvSpPr txBox="1"/>
          <p:nvPr>
            <p:ph idx="1" type="body"/>
          </p:nvPr>
        </p:nvSpPr>
        <p:spPr>
          <a:xfrm>
            <a:off x="838200" y="1905000"/>
            <a:ext cx="38100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  <a:defRPr b="0" i="0" sz="3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–"/>
              <a:defRPr b="0" i="0" sz="2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b="0" i="0" sz="2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b="0" i="0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b="0" i="0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b="0" i="0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b="0" i="0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b="0" i="0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b="0" i="0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90" name="Google Shape;90;p13"/>
          <p:cNvSpPr txBox="1"/>
          <p:nvPr>
            <p:ph idx="2" type="body"/>
          </p:nvPr>
        </p:nvSpPr>
        <p:spPr>
          <a:xfrm>
            <a:off x="4800600" y="1905000"/>
            <a:ext cx="38100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  <a:defRPr b="0" i="0" sz="3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–"/>
              <a:defRPr b="0" i="0" sz="2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b="0" i="0" sz="2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b="0" i="0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b="0" i="0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b="0" i="0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b="0" i="0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b="0" i="0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b="0" i="0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91" name="Google Shape;91;p13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92" name="Google Shape;92;p13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93" name="Google Shape;93;p13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rtl="0" algn="r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rtl="0" algn="r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rtl="0" algn="r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rtl="0" algn="r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rtl="0" algn="r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rtl="0" algn="r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rtl="0" algn="r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rtl="0" algn="r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9.xml"/><Relationship Id="rId10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0.xml"/><Relationship Id="rId1" Type="http://schemas.openxmlformats.org/officeDocument/2006/relationships/image" Target="../media/image1.jpg"/><Relationship Id="rId2" Type="http://schemas.openxmlformats.org/officeDocument/2006/relationships/image" Target="../media/image3.jp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slideLayout" Target="../slideLayouts/slideLayout7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-1588" y="-1588"/>
            <a:ext cx="9145588" cy="68595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219200" y="1600200"/>
            <a:ext cx="5926138" cy="95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1"/>
          <p:cNvSpPr txBox="1"/>
          <p:nvPr>
            <p:ph type="title"/>
          </p:nvPr>
        </p:nvSpPr>
        <p:spPr>
          <a:xfrm>
            <a:off x="685800" y="4572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/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" type="body"/>
          </p:nvPr>
        </p:nvSpPr>
        <p:spPr>
          <a:xfrm>
            <a:off x="685800" y="1981200"/>
            <a:ext cx="7772400" cy="40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  <a:defRPr b="0" i="0" sz="3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–"/>
              <a:defRPr b="0" i="0" sz="2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b="0" i="0" sz="2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b="0" i="0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b="0" i="0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b="0" i="0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b="0" i="0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b="0" i="0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b="0" i="0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0" type="dt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15" name="Google Shape;15;p1"/>
          <p:cNvSpPr txBox="1"/>
          <p:nvPr>
            <p:ph idx="11" type="ftr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16" name="Google Shape;16;p1"/>
          <p:cNvSpPr txBox="1"/>
          <p:nvPr>
            <p:ph idx="12" type="sldNum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3"/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8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4"/>
          <p:cNvSpPr txBox="1"/>
          <p:nvPr>
            <p:ph type="ctrTitle"/>
          </p:nvPr>
        </p:nvSpPr>
        <p:spPr>
          <a:xfrm>
            <a:off x="914400" y="1600200"/>
            <a:ext cx="7315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String Processing</a:t>
            </a:r>
            <a:endParaRPr b="1" i="0" sz="4000" u="none" cap="none" strike="noStrik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9" name="Google Shape;99;p14"/>
          <p:cNvSpPr txBox="1"/>
          <p:nvPr>
            <p:ph idx="1" type="subTitle"/>
          </p:nvPr>
        </p:nvSpPr>
        <p:spPr>
          <a:xfrm>
            <a:off x="914400" y="2895600"/>
            <a:ext cx="73152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Helvetica Neue"/>
              <a:buNone/>
            </a:pPr>
            <a:r>
              <a:rPr b="0" i="0" lang="en-US" sz="2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Lê Sỹ Vinh</a:t>
            </a:r>
            <a:endParaRPr/>
          </a:p>
          <a:p>
            <a:pPr indent="0" lvl="0" marL="0" marR="0" rtl="0" algn="ctr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Helvetica Neue"/>
              <a:buNone/>
            </a:pPr>
            <a:r>
              <a:rPr b="0" i="0" lang="en-US" sz="2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Computational Science and Engineering</a:t>
            </a:r>
            <a:endParaRPr b="0" i="0" sz="26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ctr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Helvetica Neue"/>
              <a:buNone/>
            </a:pPr>
            <a:r>
              <a:rPr b="0" i="1" lang="en-US" sz="2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Email: vinhls@vnu.edu.vn</a:t>
            </a:r>
            <a:endParaRPr/>
          </a:p>
          <a:p>
            <a:pPr indent="0" lvl="0" marL="0" marR="0" rtl="0" algn="ctr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Helvetica Neue"/>
              <a:buNone/>
            </a:pPr>
            <a:r>
              <a:t/>
            </a:r>
            <a:endParaRPr b="0" i="1" sz="2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None/>
            </a:pPr>
            <a:r>
              <a:t/>
            </a:r>
            <a:endParaRPr b="0" i="1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5"/>
          <p:cNvSpPr txBox="1"/>
          <p:nvPr>
            <p:ph type="title"/>
          </p:nvPr>
        </p:nvSpPr>
        <p:spPr>
          <a:xfrm>
            <a:off x="685800" y="4572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Outlines</a:t>
            </a:r>
            <a:endParaRPr/>
          </a:p>
        </p:txBody>
      </p:sp>
      <p:sp>
        <p:nvSpPr>
          <p:cNvPr descr="Rectangle: Click to edit Master text styles&#10;Second level&#10;Third level&#10;Fourth level&#10;Fifth level" id="105" name="Google Shape;105;p15"/>
          <p:cNvSpPr txBox="1"/>
          <p:nvPr>
            <p:ph idx="1" type="body"/>
          </p:nvPr>
        </p:nvSpPr>
        <p:spPr>
          <a:xfrm>
            <a:off x="685800" y="1981200"/>
            <a:ext cx="8145463" cy="25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String matching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Regular expression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6"/>
          <p:cNvSpPr txBox="1"/>
          <p:nvPr>
            <p:ph type="title"/>
          </p:nvPr>
        </p:nvSpPr>
        <p:spPr>
          <a:xfrm>
            <a:off x="457200" y="914400"/>
            <a:ext cx="82296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String</a:t>
            </a:r>
            <a:endParaRPr b="1" i="0" sz="3600" u="none" cap="none" strike="noStrik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1" name="Google Shape;111;p16"/>
          <p:cNvSpPr txBox="1"/>
          <p:nvPr/>
        </p:nvSpPr>
        <p:spPr>
          <a:xfrm>
            <a:off x="571500" y="1905000"/>
            <a:ext cx="8153400" cy="50690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String is an array of characters. 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For example:  S = “Matching is a string algorithms”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85750" lvl="0" marL="28575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Substring is a continuous part of a string 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Example: s = “a string” is a substring of S.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85750" lvl="0" marL="28575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prefix string is a substring of S that includes the first character of S.</a:t>
            </a:r>
            <a:endParaRPr/>
          </a:p>
          <a:p>
            <a:pPr indent="0" lvl="1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Example: S = “Algorithm”</a:t>
            </a:r>
            <a:endParaRPr/>
          </a:p>
          <a:p>
            <a:pPr indent="0" lvl="1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Prefix of S: A, Al, Alg,....Algorithm</a:t>
            </a:r>
            <a:endParaRPr b="0" i="0" sz="1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171450" lvl="0" marL="28575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85750" lvl="0" marL="28575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A suffix string is substring of S that includes the last character of S.</a:t>
            </a:r>
            <a:endParaRPr/>
          </a:p>
          <a:p>
            <a:pPr indent="0" lvl="1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Example: S = “Algorithm”</a:t>
            </a:r>
            <a:endParaRPr/>
          </a:p>
          <a:p>
            <a:pPr indent="0" lvl="1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Suffix of S: m, hm, thm, ithm...Algorithm</a:t>
            </a:r>
            <a:endParaRPr b="0" i="0" sz="1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171450" lvl="1" marL="74295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7"/>
          <p:cNvSpPr txBox="1"/>
          <p:nvPr>
            <p:ph type="title"/>
          </p:nvPr>
        </p:nvSpPr>
        <p:spPr>
          <a:xfrm>
            <a:off x="685800" y="4572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String matching problem</a:t>
            </a:r>
            <a:endParaRPr/>
          </a:p>
        </p:txBody>
      </p:sp>
      <p:sp>
        <p:nvSpPr>
          <p:cNvPr descr="Rectangle: Click to edit Master text styles&#10;Second level&#10;Third level&#10;Fourth level&#10;Fifth level" id="117" name="Google Shape;117;p17"/>
          <p:cNvSpPr txBox="1"/>
          <p:nvPr>
            <p:ph idx="1" type="body"/>
          </p:nvPr>
        </p:nvSpPr>
        <p:spPr>
          <a:xfrm>
            <a:off x="685800" y="1981200"/>
            <a:ext cx="8145463" cy="25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Problem: Given a short string (pattern) P and a long string S (text), determine whether if the pattern P appears in the text S.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Example: 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 = “Hello to string algorithms”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 = “algorithm”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8"/>
          <p:cNvSpPr txBox="1"/>
          <p:nvPr>
            <p:ph type="title"/>
          </p:nvPr>
        </p:nvSpPr>
        <p:spPr>
          <a:xfrm>
            <a:off x="685800" y="4572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Naïve string matching</a:t>
            </a:r>
            <a:endParaRPr/>
          </a:p>
        </p:txBody>
      </p:sp>
      <p:sp>
        <p:nvSpPr>
          <p:cNvPr descr="Rectangle: Click to edit Master text styles&#10;Second level&#10;Third level&#10;Fourth level&#10;Fifth level" id="123" name="Google Shape;123;p18"/>
          <p:cNvSpPr txBox="1"/>
          <p:nvPr>
            <p:ph idx="1" type="body"/>
          </p:nvPr>
        </p:nvSpPr>
        <p:spPr>
          <a:xfrm>
            <a:off x="704850" y="2057400"/>
            <a:ext cx="8145463" cy="37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Moving from the begin to the end of the text S, for each position determine if the pattern P appears at the position.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24" name="Google Shape;12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68400" y="3124200"/>
            <a:ext cx="6807200" cy="243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9"/>
          <p:cNvSpPr txBox="1"/>
          <p:nvPr>
            <p:ph type="title"/>
          </p:nvPr>
        </p:nvSpPr>
        <p:spPr>
          <a:xfrm>
            <a:off x="685800" y="4572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Naïve string matching</a:t>
            </a:r>
            <a:endParaRPr/>
          </a:p>
        </p:txBody>
      </p:sp>
      <p:sp>
        <p:nvSpPr>
          <p:cNvPr descr="Rectangle: Click to edit Master text styles&#10;Second level&#10;Third level&#10;Fourth level&#10;Fifth level" id="130" name="Google Shape;130;p19"/>
          <p:cNvSpPr txBox="1"/>
          <p:nvPr>
            <p:ph idx="1" type="body"/>
          </p:nvPr>
        </p:nvSpPr>
        <p:spPr>
          <a:xfrm>
            <a:off x="1828800" y="2057400"/>
            <a:ext cx="5238750" cy="35814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Algorithm Naïve (P, S):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Let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be the length of S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Let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be the length P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For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from 0 to m – n do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if P = S[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…(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 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+ n – 1)]: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	return “P in S”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return “P not in S”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Complexity:  O(mn)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0"/>
          <p:cNvSpPr txBox="1"/>
          <p:nvPr>
            <p:ph type="title"/>
          </p:nvPr>
        </p:nvSpPr>
        <p:spPr>
          <a:xfrm>
            <a:off x="685800" y="4572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Knuth Morris Pratt Algorithm</a:t>
            </a:r>
            <a:endParaRPr b="1" i="0" sz="4000" u="none" cap="none" strike="noStrik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36" name="Google Shape;136;p20"/>
          <p:cNvPicPr preferRelativeResize="0"/>
          <p:nvPr/>
        </p:nvPicPr>
        <p:blipFill rotWithShape="1">
          <a:blip r:embed="rId3">
            <a:alphaModFix/>
          </a:blip>
          <a:srcRect b="265" l="-523" r="1068" t="9145"/>
          <a:stretch/>
        </p:blipFill>
        <p:spPr>
          <a:xfrm>
            <a:off x="2984313" y="1828800"/>
            <a:ext cx="5778688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0"/>
          <p:cNvSpPr txBox="1"/>
          <p:nvPr/>
        </p:nvSpPr>
        <p:spPr>
          <a:xfrm>
            <a:off x="457200" y="1828800"/>
            <a:ext cx="2514600" cy="2031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Idea: Whenever a mismatch occurs, we shift the pattern as far as possible to avoid redundant comparisons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Complexity: O(m+n)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1"/>
          <p:cNvSpPr txBox="1"/>
          <p:nvPr>
            <p:ph type="title"/>
          </p:nvPr>
        </p:nvSpPr>
        <p:spPr>
          <a:xfrm>
            <a:off x="685800" y="4572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Exercises on string</a:t>
            </a:r>
            <a:endParaRPr b="1" i="0" sz="4000" u="none" cap="none" strike="noStrik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3" name="Google Shape;143;p21"/>
          <p:cNvSpPr txBox="1"/>
          <p:nvPr>
            <p:ph idx="1" type="body"/>
          </p:nvPr>
        </p:nvSpPr>
        <p:spPr>
          <a:xfrm>
            <a:off x="457200" y="1905000"/>
            <a:ext cx="8001000" cy="42211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Given a string, write an algorithm to determine all duplicate words in the string.</a:t>
            </a:r>
            <a:endParaRPr/>
          </a:p>
          <a:p>
            <a:pPr indent="-165100" lvl="0" marL="3429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429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Given a string, write an algorithm to check if it contains only digits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2"/>
          <p:cNvSpPr txBox="1"/>
          <p:nvPr>
            <p:ph type="title"/>
          </p:nvPr>
        </p:nvSpPr>
        <p:spPr>
          <a:xfrm>
            <a:off x="685800" y="4572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Regular expression</a:t>
            </a:r>
            <a:endParaRPr b="1" i="0" sz="4000" u="none" cap="none" strike="noStrik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9" name="Google Shape;149;p22"/>
          <p:cNvSpPr txBox="1"/>
          <p:nvPr/>
        </p:nvSpPr>
        <p:spPr>
          <a:xfrm>
            <a:off x="438150" y="1752600"/>
            <a:ext cx="8401050" cy="40718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Problem: </a:t>
            </a: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How to find patterns such as email addresses, URLs in a string or 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text?</a:t>
            </a:r>
            <a:endParaRPr/>
          </a:p>
          <a:p>
            <a:pPr indent="-285750" lvl="0" marL="28575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regular expression (regex) defines a pattern of characters with conditions: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Examples:</a:t>
            </a:r>
            <a:endParaRPr/>
          </a:p>
          <a:p>
            <a:pPr indent="-285750" lvl="2" marL="120015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“regular expression” matches exactly the text “regular expression”</a:t>
            </a:r>
            <a:endParaRPr/>
          </a:p>
          <a:p>
            <a:pPr indent="-285750" lvl="2" marL="120015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“oo+h!” matches “ooh!”, “oooh!’, “ooooh!”, etc.	</a:t>
            </a:r>
            <a:endParaRPr/>
          </a:p>
          <a:p>
            <a:pPr indent="-285750" lvl="2" marL="120015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“colo?r” matches color or colour</a:t>
            </a:r>
            <a:endParaRPr b="0" i="0" sz="1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85750" lvl="2" marL="120015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“beg.n” matches begin, began, begun, etc.</a:t>
            </a:r>
            <a:endParaRPr/>
          </a:p>
          <a:p>
            <a:pPr indent="-285750" lvl="0" marL="28575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search pattern can be anything from a simple character, a fixed string or a complex expression containing special characters. </a:t>
            </a:r>
            <a:endParaRPr/>
          </a:p>
          <a:p>
            <a:pPr indent="-285750" lvl="0" marL="28575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pattern defined by the regex may match one or several times or not at all for a given string.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3"/>
          <p:cNvSpPr txBox="1"/>
          <p:nvPr>
            <p:ph type="title"/>
          </p:nvPr>
        </p:nvSpPr>
        <p:spPr>
          <a:xfrm>
            <a:off x="457200" y="457200"/>
            <a:ext cx="8229600" cy="7159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Common matching symbols</a:t>
            </a:r>
            <a:endParaRPr b="1" i="0" sz="4000" u="none" cap="none" strike="noStrik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aphicFrame>
        <p:nvGraphicFramePr>
          <p:cNvPr id="155" name="Google Shape;155;p23"/>
          <p:cNvGraphicFramePr/>
          <p:nvPr/>
        </p:nvGraphicFramePr>
        <p:xfrm>
          <a:off x="762000" y="1524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{9AF7ED0B-2553-4681-8127-A0897A46BF43}</a:tableStyleId>
              </a:tblPr>
              <a:tblGrid>
                <a:gridCol w="1844050"/>
                <a:gridCol w="2849875"/>
                <a:gridCol w="2849875"/>
              </a:tblGrid>
              <a:tr h="772325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Regular expression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Description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Example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13225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.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Matches any characters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/beg.n/ =&gt; “begin”, “began”, “begun”</a:t>
                      </a:r>
                      <a:endParaRPr sz="1600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/>
                </a:tc>
              </a:tr>
              <a:tr h="772325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^regex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Find the regex that must match</a:t>
                      </a:r>
                      <a:r>
                        <a:rPr lang="en-US" sz="1800"/>
                        <a:t> at the beginning of the string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/^sit/ =&gt;</a:t>
                      </a:r>
                      <a:r>
                        <a:rPr lang="en-US" sz="1600"/>
                        <a:t> “site”, “sitcom”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but not “visit”, “deposit”</a:t>
                      </a:r>
                      <a:endParaRPr sz="1600"/>
                    </a:p>
                  </a:txBody>
                  <a:tcPr marT="45725" marB="45725" marR="91450" marL="91450"/>
                </a:tc>
              </a:tr>
              <a:tr h="1004025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regex$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Helvetica Neue"/>
                        <a:buNone/>
                      </a:pPr>
                      <a:r>
                        <a:rPr lang="en-US" sz="1800"/>
                        <a:t>Find the regex that must match</a:t>
                      </a:r>
                      <a:r>
                        <a:rPr lang="en-US" sz="1800"/>
                        <a:t> at the end of the string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Helvetica Neue"/>
                        <a:buNone/>
                      </a:pPr>
                      <a:r>
                        <a:rPr lang="en-US" sz="1600"/>
                        <a:t>/ext$/</a:t>
                      </a:r>
                      <a:r>
                        <a:rPr lang="en-US" sz="1600"/>
                        <a:t> =&gt; “next”, “context”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Helvetica Neue"/>
                        <a:buNone/>
                      </a:pPr>
                      <a:r>
                        <a:rPr lang="en-US" sz="1600"/>
                        <a:t>but not “extra”, “extent”</a:t>
                      </a:r>
                      <a:endParaRPr sz="1600"/>
                    </a:p>
                  </a:txBody>
                  <a:tcPr marT="45725" marB="45725" marR="91450" marL="91450"/>
                </a:tc>
              </a:tr>
              <a:tr h="313225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[abc]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Match either a or b or c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/[fg]un/</a:t>
                      </a:r>
                      <a:r>
                        <a:rPr lang="en-US" sz="1600"/>
                        <a:t> =&gt; “fun”, “gun”</a:t>
                      </a:r>
                      <a:endParaRPr sz="1600"/>
                    </a:p>
                  </a:txBody>
                  <a:tcPr marT="45725" marB="45725" marR="91450" marL="91450"/>
                </a:tc>
              </a:tr>
              <a:tr h="313225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[^abc]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Match any character except a, b, c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/[^fg]un/ =&gt;</a:t>
                      </a:r>
                      <a:r>
                        <a:rPr lang="en-US" sz="1600"/>
                        <a:t> “run”, “sun”</a:t>
                      </a:r>
                      <a:endParaRPr sz="1600"/>
                    </a:p>
                  </a:txBody>
                  <a:tcPr marT="45725" marB="45725" marR="91450" marL="91450"/>
                </a:tc>
              </a:tr>
              <a:tr h="313225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[1-9]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Match any digit from</a:t>
                      </a:r>
                      <a:r>
                        <a:rPr lang="en-US" sz="1800"/>
                        <a:t> 1 to 9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/any[1-9]/ =&gt;</a:t>
                      </a:r>
                      <a:r>
                        <a:rPr lang="en-US" sz="1600"/>
                        <a:t> any1, any2</a:t>
                      </a:r>
                      <a:endParaRPr sz="16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4"/>
          <p:cNvSpPr txBox="1"/>
          <p:nvPr>
            <p:ph type="title"/>
          </p:nvPr>
        </p:nvSpPr>
        <p:spPr>
          <a:xfrm>
            <a:off x="457200" y="274638"/>
            <a:ext cx="8229600" cy="8683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Meta characters</a:t>
            </a:r>
            <a:endParaRPr b="1" i="0" sz="3200" u="none" cap="none" strike="noStrik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aphicFrame>
        <p:nvGraphicFramePr>
          <p:cNvPr id="161" name="Google Shape;161;p24"/>
          <p:cNvGraphicFramePr/>
          <p:nvPr/>
        </p:nvGraphicFramePr>
        <p:xfrm>
          <a:off x="914400" y="18288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{1EEC2A39-1FFF-4A1B-8636-17AA7E099E35}</a:tableStyleId>
              </a:tblPr>
              <a:tblGrid>
                <a:gridCol w="1737350"/>
                <a:gridCol w="2472825"/>
                <a:gridCol w="3105025"/>
              </a:tblGrid>
              <a:tr h="772325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Regular expression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Description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Example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13225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\d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Any digit,</a:t>
                      </a:r>
                      <a:r>
                        <a:rPr lang="en-US" sz="1800"/>
                        <a:t> short for [0-9]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/\d\d/ =&gt; “01”, “02” … “99”</a:t>
                      </a:r>
                      <a:endParaRPr sz="1600"/>
                    </a:p>
                  </a:txBody>
                  <a:tcPr marT="45725" marB="45725" marR="91450" marL="91450"/>
                </a:tc>
              </a:tr>
              <a:tr h="772325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\D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 non-digit, short for [^0-9]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/c\Dt/ =&gt;</a:t>
                      </a:r>
                      <a:r>
                        <a:rPr lang="en-US" sz="1600"/>
                        <a:t> “cat”, “cut”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but not “c4t”</a:t>
                      </a:r>
                      <a:endParaRPr sz="1600"/>
                    </a:p>
                  </a:txBody>
                  <a:tcPr marT="45725" marB="45725" marR="91450" marL="91450"/>
                </a:tc>
              </a:tr>
              <a:tr h="1004025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\s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Helvetica Neue"/>
                        <a:buNone/>
                      </a:pPr>
                      <a:r>
                        <a:rPr lang="en-US" sz="1800"/>
                        <a:t>A white space character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/get\sup/</a:t>
                      </a:r>
                      <a:r>
                        <a:rPr lang="en-US" sz="1600"/>
                        <a:t> =&gt; “get up”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13225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\w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 word character,</a:t>
                      </a:r>
                      <a:r>
                        <a:rPr lang="en-US" sz="1800"/>
                        <a:t> short for [a-z,A-Z0-9_]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/h\wt/ =&gt; “hAt”, “hot”, “h0t”, “h1t”</a:t>
                      </a:r>
                      <a:endParaRPr sz="16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5"/>
          <p:cNvSpPr txBox="1"/>
          <p:nvPr>
            <p:ph type="title"/>
          </p:nvPr>
        </p:nvSpPr>
        <p:spPr>
          <a:xfrm>
            <a:off x="457200" y="381000"/>
            <a:ext cx="8229600" cy="7159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Quantifier</a:t>
            </a:r>
            <a:endParaRPr b="1" i="0" sz="4000" u="none" cap="none" strike="noStrik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aphicFrame>
        <p:nvGraphicFramePr>
          <p:cNvPr id="167" name="Google Shape;167;p25"/>
          <p:cNvGraphicFramePr/>
          <p:nvPr/>
        </p:nvGraphicFramePr>
        <p:xfrm>
          <a:off x="990600" y="1371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{9AF7ED0B-2553-4681-8127-A0897A46BF43}</a:tableStyleId>
              </a:tblPr>
              <a:tblGrid>
                <a:gridCol w="1940250"/>
                <a:gridCol w="2555550"/>
                <a:gridCol w="2895600"/>
              </a:tblGrid>
              <a:tr h="772325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Regular expression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Description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Example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13225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regex*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Regex occurs zero or more times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/buz*/ =&gt; “bu”, “buz”, “buzz”, “buzzzzzz”</a:t>
                      </a:r>
                      <a:endParaRPr sz="1600"/>
                    </a:p>
                  </a:txBody>
                  <a:tcPr marT="45725" marB="45725" marR="91450" marL="91450"/>
                </a:tc>
              </a:tr>
              <a:tr h="772325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regex+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Helvetica Neue"/>
                        <a:buNone/>
                      </a:pPr>
                      <a:r>
                        <a:rPr lang="en-US" sz="1800"/>
                        <a:t>Regex occurs one or more times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/lo+ng/ =&gt; “long”, “loooooong”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but not “lng”</a:t>
                      </a:r>
                      <a:endParaRPr sz="1600"/>
                    </a:p>
                  </a:txBody>
                  <a:tcPr marT="45725" marB="45725" marR="91450" marL="91450"/>
                </a:tc>
              </a:tr>
              <a:tr h="1004025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regex?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Helvetica Neue"/>
                        <a:buNone/>
                      </a:pPr>
                      <a:r>
                        <a:rPr lang="en-US" sz="1800"/>
                        <a:t>Regex occurs zero or one time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/colou?r/</a:t>
                      </a:r>
                      <a:r>
                        <a:rPr lang="en-US" sz="1600"/>
                        <a:t> =&gt; “color”, “colour”</a:t>
                      </a:r>
                      <a:endParaRPr sz="1600"/>
                    </a:p>
                  </a:txBody>
                  <a:tcPr marT="45725" marB="45725" marR="91450" marL="91450"/>
                </a:tc>
              </a:tr>
              <a:tr h="313225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regex{X}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regex occurs X times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/\d{3}/</a:t>
                      </a:r>
                      <a:r>
                        <a:rPr lang="en-US" sz="1600"/>
                        <a:t> =&gt; “016”, “752”</a:t>
                      </a:r>
                      <a:endParaRPr sz="1600"/>
                    </a:p>
                  </a:txBody>
                  <a:tcPr marT="45725" marB="45725" marR="91450" marL="91450"/>
                </a:tc>
              </a:tr>
              <a:tr h="313225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regex{X,Y}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Regex occurs between X and Y times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/\w{3,4}/ =&gt;</a:t>
                      </a:r>
                      <a:r>
                        <a:rPr lang="en-US" sz="1600"/>
                        <a:t> “int”, “long”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but not “double”</a:t>
                      </a:r>
                      <a:endParaRPr sz="16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6"/>
          <p:cNvSpPr txBox="1"/>
          <p:nvPr>
            <p:ph type="title"/>
          </p:nvPr>
        </p:nvSpPr>
        <p:spPr>
          <a:xfrm>
            <a:off x="457200" y="274638"/>
            <a:ext cx="8229600" cy="7159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Examples</a:t>
            </a:r>
            <a:endParaRPr b="1" i="0" sz="4000" u="none" cap="none" strike="noStrik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73" name="Google Shape;173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1079500"/>
            <a:ext cx="7620000" cy="469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7"/>
          <p:cNvSpPr txBox="1"/>
          <p:nvPr>
            <p:ph type="title"/>
          </p:nvPr>
        </p:nvSpPr>
        <p:spPr>
          <a:xfrm>
            <a:off x="533400" y="2895600"/>
            <a:ext cx="8229600" cy="7159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Regular expression </a:t>
            </a:r>
            <a:br>
              <a:rPr b="1" i="0" lang="en-US" sz="36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en-US" sz="36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 a password</a:t>
            </a:r>
            <a:endParaRPr b="1" i="0" sz="3600" u="none" cap="none" strike="noStrik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8"/>
          <p:cNvSpPr txBox="1"/>
          <p:nvPr>
            <p:ph type="title"/>
          </p:nvPr>
        </p:nvSpPr>
        <p:spPr>
          <a:xfrm>
            <a:off x="457200" y="274638"/>
            <a:ext cx="8229600" cy="7159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Regular expression for a password</a:t>
            </a:r>
            <a:endParaRPr b="1" i="0" sz="3600" u="none" cap="none" strike="noStrik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84" name="Google Shape;184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1371600"/>
            <a:ext cx="7620000" cy="469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9"/>
          <p:cNvSpPr txBox="1"/>
          <p:nvPr>
            <p:ph type="title"/>
          </p:nvPr>
        </p:nvSpPr>
        <p:spPr>
          <a:xfrm>
            <a:off x="685800" y="26670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Regular expression </a:t>
            </a:r>
            <a:br>
              <a:rPr b="1" i="0" lang="en-US" sz="40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en-US" sz="40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 an email</a:t>
            </a:r>
            <a:endParaRPr b="1" i="0" sz="4000" u="none" cap="none" strike="noStrik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0" name="Google Shape;190;p29"/>
          <p:cNvSpPr txBox="1"/>
          <p:nvPr>
            <p:ph idx="12" type="sldNum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0"/>
          <p:cNvSpPr txBox="1"/>
          <p:nvPr>
            <p:ph type="title"/>
          </p:nvPr>
        </p:nvSpPr>
        <p:spPr>
          <a:xfrm>
            <a:off x="457200" y="274638"/>
            <a:ext cx="8229600" cy="7159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Regular expression for an email</a:t>
            </a:r>
            <a:endParaRPr/>
          </a:p>
        </p:txBody>
      </p:sp>
      <p:pic>
        <p:nvPicPr>
          <p:cNvPr id="196" name="Google Shape;196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19200" y="1295400"/>
            <a:ext cx="6324600" cy="527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1"/>
          <p:cNvSpPr txBox="1"/>
          <p:nvPr>
            <p:ph type="title"/>
          </p:nvPr>
        </p:nvSpPr>
        <p:spPr>
          <a:xfrm>
            <a:off x="685800" y="25146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Regular expression a URL</a:t>
            </a:r>
            <a:endParaRPr b="1" i="0" sz="4000" u="none" cap="none" strike="noStrik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2" name="Google Shape;202;p31"/>
          <p:cNvSpPr txBox="1"/>
          <p:nvPr>
            <p:ph idx="12" type="sldNum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2"/>
          <p:cNvSpPr txBox="1"/>
          <p:nvPr>
            <p:ph type="title"/>
          </p:nvPr>
        </p:nvSpPr>
        <p:spPr>
          <a:xfrm>
            <a:off x="457200" y="274638"/>
            <a:ext cx="8229600" cy="7159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Regular expression a URL</a:t>
            </a:r>
            <a:endParaRPr/>
          </a:p>
        </p:txBody>
      </p:sp>
      <p:pic>
        <p:nvPicPr>
          <p:cNvPr id="208" name="Google Shape;208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95400" y="1193800"/>
            <a:ext cx="6477000" cy="539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3"/>
          <p:cNvSpPr txBox="1"/>
          <p:nvPr>
            <p:ph type="title"/>
          </p:nvPr>
        </p:nvSpPr>
        <p:spPr>
          <a:xfrm>
            <a:off x="685800" y="26670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Regular expression </a:t>
            </a:r>
            <a:br>
              <a:rPr b="1" i="0" lang="en-US" sz="40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en-US" sz="40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 an IP address</a:t>
            </a:r>
            <a:endParaRPr b="1" i="0" sz="4000" u="none" cap="none" strike="noStrik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4" name="Google Shape;214;p33"/>
          <p:cNvSpPr txBox="1"/>
          <p:nvPr>
            <p:ph idx="12" type="sldNum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4"/>
          <p:cNvSpPr txBox="1"/>
          <p:nvPr>
            <p:ph type="title"/>
          </p:nvPr>
        </p:nvSpPr>
        <p:spPr>
          <a:xfrm>
            <a:off x="457200" y="274638"/>
            <a:ext cx="8229600" cy="7159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Regular expression for an IP address</a:t>
            </a:r>
            <a:endParaRPr/>
          </a:p>
        </p:txBody>
      </p:sp>
      <p:pic>
        <p:nvPicPr>
          <p:cNvPr id="220" name="Google Shape;220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95400" y="1219200"/>
            <a:ext cx="6477000" cy="539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5"/>
          <p:cNvSpPr txBox="1"/>
          <p:nvPr>
            <p:ph type="title"/>
          </p:nvPr>
        </p:nvSpPr>
        <p:spPr>
          <a:xfrm>
            <a:off x="685800" y="27432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Regular expression </a:t>
            </a:r>
            <a:br>
              <a:rPr b="1" i="0" lang="en-US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en-US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 a variable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Koi">
  <a:themeElements>
    <a:clrScheme name="Koi 1">
      <a:dk1>
        <a:srgbClr val="272776"/>
      </a:dk1>
      <a:lt1>
        <a:srgbClr val="F3F1E4"/>
      </a:lt1>
      <a:dk2>
        <a:srgbClr val="272776"/>
      </a:dk2>
      <a:lt2>
        <a:srgbClr val="808080"/>
      </a:lt2>
      <a:accent1>
        <a:srgbClr val="B8CFFB"/>
      </a:accent1>
      <a:accent2>
        <a:srgbClr val="DF8F74"/>
      </a:accent2>
      <a:accent3>
        <a:srgbClr val="F8F7EF"/>
      </a:accent3>
      <a:accent4>
        <a:srgbClr val="202064"/>
      </a:accent4>
      <a:accent5>
        <a:srgbClr val="D8E4FD"/>
      </a:accent5>
      <a:accent6>
        <a:srgbClr val="CA8168"/>
      </a:accent6>
      <a:hlink>
        <a:srgbClr val="7F97C2"/>
      </a:hlink>
      <a:folHlink>
        <a:srgbClr val="8BBE8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