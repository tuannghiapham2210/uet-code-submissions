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89"/>
  </p:notesMasterIdLst>
  <p:handoutMasterIdLst>
    <p:handoutMasterId r:id="rId90"/>
  </p:handoutMasterIdLst>
  <p:sldIdLst>
    <p:sldId id="256" r:id="rId2"/>
    <p:sldId id="257" r:id="rId3"/>
    <p:sldId id="258" r:id="rId4"/>
    <p:sldId id="259" r:id="rId5"/>
    <p:sldId id="261" r:id="rId6"/>
    <p:sldId id="263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50" r:id="rId57"/>
    <p:sldId id="304" r:id="rId58"/>
    <p:sldId id="335" r:id="rId59"/>
    <p:sldId id="305" r:id="rId60"/>
    <p:sldId id="306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2F414-4F6C-E042-A89B-549FF3C066C9}" type="datetimeFigureOut">
              <a:rPr lang="en-US" smtClean="0"/>
              <a:pPr/>
              <a:t>10/8/2019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C5F376-B018-D44E-B3CB-A383DCF8E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88222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EF8F9-FF20-462C-AFC1-2C33ADB7CDD1}" type="datetimeFigureOut">
              <a:rPr lang="vi-VN" smtClean="0"/>
              <a:pPr/>
              <a:t>08/10/2019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32094-D75F-45A1-9370-6857B397DAA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015768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ADA8AC-3FB1-49D1-9382-8995A749800A}" type="slidenum">
              <a:rPr lang="en-US"/>
              <a:pPr/>
              <a:t>7</a:t>
            </a:fld>
            <a:endParaRPr lang="en-US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E7D0A2-619E-47F4-9460-2C1003A9F70C}" type="slidenum">
              <a:rPr lang="en-US"/>
              <a:pPr/>
              <a:t>8</a:t>
            </a:fld>
            <a:endParaRPr lang="en-US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7379C-71F6-4B7D-9645-1EA73CFDDF39}" type="slidenum">
              <a:rPr lang="en-US"/>
              <a:pPr/>
              <a:t>9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82CFE6-058B-4686-AACA-8806410592B3}" type="slidenum">
              <a:rPr lang="en-US"/>
              <a:pPr/>
              <a:t>10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AD9E2E-6BDC-4DF5-9CB5-D949C9AE945C}" type="slidenum">
              <a:rPr lang="en-US"/>
              <a:pPr/>
              <a:t>11</a:t>
            </a:fld>
            <a:endParaRPr lang="en-US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6F87B5-CF83-426C-96DF-5D39503C0D24}" type="slidenum">
              <a:rPr lang="en-US"/>
              <a:pPr/>
              <a:t>12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58C084-B34E-456D-87EB-10344C22B327}" type="slidenum">
              <a:rPr lang="en-US"/>
              <a:pPr/>
              <a:t>13</a:t>
            </a:fld>
            <a:endParaRPr lang="en-US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A0B472-672B-4746-AC20-4BF2A4D64C70}" type="slidenum">
              <a:rPr lang="en-US"/>
              <a:pPr/>
              <a:t>14</a:t>
            </a:fld>
            <a:endParaRPr 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/>
              <a:t>Merge Sort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030E2CC-A1ED-E643-BAF2-C6F05726A9C0}" type="datetime8">
              <a:rPr lang="en-US" sz="1200"/>
              <a:pPr/>
              <a:t>10/8/2019 8:37 AM</a:t>
            </a:fld>
            <a:endParaRPr lang="en-US" sz="1200"/>
          </a:p>
        </p:txBody>
      </p:sp>
      <p:sp>
        <p:nvSpPr>
          <p:cNvPr id="2150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234C6C5-0716-5644-AE93-DEFD60EEE286}" type="slidenum">
              <a:rPr lang="en-US" sz="1200"/>
              <a:pPr/>
              <a:t>42</a:t>
            </a:fld>
            <a:endParaRPr lang="en-US" sz="1200"/>
          </a:p>
        </p:txBody>
      </p:sp>
      <p:sp>
        <p:nvSpPr>
          <p:cNvPr id="215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vi-VN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-1588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096000"/>
            <a:ext cx="1676400" cy="457200"/>
          </a:xfrm>
        </p:spPr>
        <p:txBody>
          <a:bodyPr/>
          <a:lstStyle>
            <a:lvl1pPr>
              <a:defRPr/>
            </a:lvl1pPr>
          </a:lstStyle>
          <a:p>
            <a:fld id="{100E9FF1-78FF-F340-A926-9FB439914EF1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96000"/>
            <a:ext cx="1676400" cy="457200"/>
          </a:xfrm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44824"/>
            <a:ext cx="7772400" cy="4174976"/>
          </a:xfrm>
        </p:spPr>
        <p:txBody>
          <a:bodyPr/>
          <a:lstStyle>
            <a:lvl1pPr>
              <a:buFont typeface="Wingdings" pitchFamily="2" charset="2"/>
              <a:buChar char="Ø"/>
              <a:defRPr/>
            </a:lvl1pPr>
            <a:lvl2pPr>
              <a:buFont typeface="Wingdings" pitchFamily="2" charset="2"/>
              <a:buChar char="v"/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DC7E15-1A90-1B4F-A651-6DDCEE1DEFCD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C568B5-FF9C-C64C-880C-F82F98569047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4AC9AA-B8C8-AA4A-B1E8-1303FA8BA579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1C7A4E-4A90-9745-8D96-DD398569ED04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6FB64-F9FD-A24A-9E27-1EDDB7870188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718285-5560-3243-BD9D-8DBAF38D7D1E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C7DAF4-8303-3A4C-B710-08BC2ECB670C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A8947-ED5B-5B4B-967D-DA73263F93D7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1B029A-1EF1-F84E-A838-DFC4C2CD3D9A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FD2D50-9570-8A44-82E8-E0AE619A02DA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46CE236-91BD-490B-AFA4-FFC170DF9ED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CB62A1A-4D72-F545-A99E-8CB5E0978C62}" type="datetime1">
              <a:rPr lang="en-US" smtClean="0"/>
              <a:pPr/>
              <a:t>10/8/2019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8013" cy="4524375"/>
          </a:xfrm>
        </p:spPr>
        <p:txBody>
          <a:bodyPr/>
          <a:lstStyle/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457200" y="6245225"/>
            <a:ext cx="2132013" cy="474663"/>
          </a:xfrm>
        </p:spPr>
        <p:txBody>
          <a:bodyPr/>
          <a:lstStyle>
            <a:lvl1pPr>
              <a:defRPr/>
            </a:lvl1pPr>
          </a:lstStyle>
          <a:p>
            <a:fld id="{C647FDAB-1DBB-964C-AD4E-7BDC0D535B85}" type="datetime1">
              <a:rPr lang="en-US" smtClean="0"/>
              <a:pPr/>
              <a:t>10/8/2019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3124200" y="6245225"/>
            <a:ext cx="2894013" cy="474663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6553200" y="6245225"/>
            <a:ext cx="2132013" cy="474663"/>
          </a:xfrm>
        </p:spPr>
        <p:txBody>
          <a:bodyPr/>
          <a:lstStyle>
            <a:lvl1pPr>
              <a:defRPr/>
            </a:lvl1pPr>
          </a:lstStyle>
          <a:p>
            <a:fld id="{D7CC9F68-EA84-4A58-BE37-402667109325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-1588" y="-1588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219200" y="1600200"/>
            <a:ext cx="5926138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fld id="{25F49C81-6AA5-E145-AE88-BB27763905FA}" type="datetime1">
              <a:rPr lang="en-US" smtClean="0"/>
              <a:pPr/>
              <a:t>10/8/2019</a:t>
            </a:fld>
            <a:endParaRPr lang="vi-V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1722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endParaRPr lang="vi-VN"/>
          </a:p>
        </p:txBody>
      </p:sp>
      <p:sp>
        <p:nvSpPr>
          <p:cNvPr id="922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393FE4B-C8BF-4A07-821C-DD6EAE9D6A91}" type="slidenum">
              <a:rPr lang="vi-VN" smtClean="0"/>
              <a:pPr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Helvetica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Helvetica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Helvetica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Helvetica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Helvetica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Helvetica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Helvetica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Helvetica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CÁC THUẬT TOÁN SẮP XẾP</a:t>
            </a:r>
            <a:endParaRPr lang="vi-V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BÙI NGỌC THĂNG</a:t>
            </a:r>
            <a:endParaRPr lang="vi-V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1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endParaRPr lang="vi-V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(Selection Sort)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chèn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(Insertion Sort)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bọt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(Bubble Sort)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trộn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(Merge Sort)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(Quick Sort)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endParaRPr lang="vi-V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khoá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endParaRPr lang="vi-V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tin:</a:t>
            </a:r>
          </a:p>
          <a:p>
            <a:pPr lvl="3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tên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&gt;8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Khoá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bình</a:t>
            </a:r>
            <a:endParaRPr lang="vi-V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endParaRPr lang="vi-V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Khoá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dãy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tử</a:t>
            </a:r>
            <a:endParaRPr lang="vi-V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endParaRPr lang="vi-V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(Selection Sort)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chèn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(Insertion Sort)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bọt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(Bubble Sort)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trộn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Merge Sort)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(Quick Sort)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1625600" y="27432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0066FF"/>
                </a:solidFill>
              </a:rPr>
              <a:t>12</a:t>
            </a: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4660900" y="275431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4664075" y="27511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4660900" y="275431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1622425" y="27432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1619250" y="2741613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1617663" y="16256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1614488" y="16256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1614488" y="16256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609600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60166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59531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0066FF"/>
                </a:solidFill>
              </a:rPr>
              <a:t>12</a:t>
            </a:r>
          </a:p>
        </p:txBody>
      </p:sp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568166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2582863" y="1625600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35856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Selection Sort</a:t>
            </a:r>
          </a:p>
        </p:txBody>
      </p:sp>
      <p:sp>
        <p:nvSpPr>
          <p:cNvPr id="35857" name="Rectangle 17"/>
          <p:cNvSpPr>
            <a:spLocks noGrp="1" noChangeArrowheads="1"/>
          </p:cNvSpPr>
          <p:nvPr>
            <p:ph idx="1"/>
          </p:nvPr>
        </p:nvSpPr>
        <p:spPr>
          <a:xfrm>
            <a:off x="457200" y="3733800"/>
            <a:ext cx="8229600" cy="27432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Cho 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n-1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</a:t>
            </a:fld>
            <a:endParaRPr lang="vi-VN"/>
          </a:p>
        </p:txBody>
      </p: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4656138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364966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35860" name="Line 20"/>
          <p:cNvSpPr>
            <a:spLocks noChangeShapeType="1"/>
          </p:cNvSpPr>
          <p:nvPr/>
        </p:nvSpPr>
        <p:spPr bwMode="auto">
          <a:xfrm>
            <a:off x="601663" y="16256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61" name="Line 21"/>
          <p:cNvSpPr>
            <a:spLocks noChangeShapeType="1"/>
          </p:cNvSpPr>
          <p:nvPr/>
        </p:nvSpPr>
        <p:spPr bwMode="auto">
          <a:xfrm>
            <a:off x="601663" y="25146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62" name="Line 22"/>
          <p:cNvSpPr>
            <a:spLocks noChangeShapeType="1"/>
          </p:cNvSpPr>
          <p:nvPr/>
        </p:nvSpPr>
        <p:spPr bwMode="auto">
          <a:xfrm>
            <a:off x="601663" y="16256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63" name="Line 23"/>
          <p:cNvSpPr>
            <a:spLocks noChangeShapeType="1"/>
          </p:cNvSpPr>
          <p:nvPr/>
        </p:nvSpPr>
        <p:spPr bwMode="auto">
          <a:xfrm>
            <a:off x="1617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64" name="Line 24"/>
          <p:cNvSpPr>
            <a:spLocks noChangeShapeType="1"/>
          </p:cNvSpPr>
          <p:nvPr/>
        </p:nvSpPr>
        <p:spPr bwMode="auto">
          <a:xfrm>
            <a:off x="25828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65" name="Line 25"/>
          <p:cNvSpPr>
            <a:spLocks noChangeShapeType="1"/>
          </p:cNvSpPr>
          <p:nvPr/>
        </p:nvSpPr>
        <p:spPr bwMode="auto">
          <a:xfrm>
            <a:off x="3649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66" name="Line 26"/>
          <p:cNvSpPr>
            <a:spLocks noChangeShapeType="1"/>
          </p:cNvSpPr>
          <p:nvPr/>
        </p:nvSpPr>
        <p:spPr bwMode="auto">
          <a:xfrm>
            <a:off x="4665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67" name="Line 27"/>
          <p:cNvSpPr>
            <a:spLocks noChangeShapeType="1"/>
          </p:cNvSpPr>
          <p:nvPr/>
        </p:nvSpPr>
        <p:spPr bwMode="auto">
          <a:xfrm>
            <a:off x="5681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68" name="Line 28"/>
          <p:cNvSpPr>
            <a:spLocks noChangeShapeType="1"/>
          </p:cNvSpPr>
          <p:nvPr/>
        </p:nvSpPr>
        <p:spPr bwMode="auto">
          <a:xfrm>
            <a:off x="6697663" y="16256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69" name="Rectangle 29"/>
          <p:cNvSpPr>
            <a:spLocks noChangeArrowheads="1"/>
          </p:cNvSpPr>
          <p:nvPr/>
        </p:nvSpPr>
        <p:spPr bwMode="auto">
          <a:xfrm>
            <a:off x="617538" y="27432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35870" name="Rectangle 30"/>
          <p:cNvSpPr>
            <a:spLocks noChangeArrowheads="1"/>
          </p:cNvSpPr>
          <p:nvPr/>
        </p:nvSpPr>
        <p:spPr bwMode="auto">
          <a:xfrm>
            <a:off x="5689600" y="27432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35871" name="Rectangle 31"/>
          <p:cNvSpPr>
            <a:spLocks noChangeArrowheads="1"/>
          </p:cNvSpPr>
          <p:nvPr/>
        </p:nvSpPr>
        <p:spPr bwMode="auto">
          <a:xfrm>
            <a:off x="2590800" y="2743200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35872" name="Rectangle 32"/>
          <p:cNvSpPr>
            <a:spLocks noChangeArrowheads="1"/>
          </p:cNvSpPr>
          <p:nvPr/>
        </p:nvSpPr>
        <p:spPr bwMode="auto">
          <a:xfrm>
            <a:off x="3657600" y="27432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35873" name="Line 33"/>
          <p:cNvSpPr>
            <a:spLocks noChangeShapeType="1"/>
          </p:cNvSpPr>
          <p:nvPr/>
        </p:nvSpPr>
        <p:spPr bwMode="auto">
          <a:xfrm>
            <a:off x="609600" y="27432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74" name="Line 34"/>
          <p:cNvSpPr>
            <a:spLocks noChangeShapeType="1"/>
          </p:cNvSpPr>
          <p:nvPr/>
        </p:nvSpPr>
        <p:spPr bwMode="auto">
          <a:xfrm>
            <a:off x="609600" y="36322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75" name="Line 35"/>
          <p:cNvSpPr>
            <a:spLocks noChangeShapeType="1"/>
          </p:cNvSpPr>
          <p:nvPr/>
        </p:nvSpPr>
        <p:spPr bwMode="auto">
          <a:xfrm>
            <a:off x="609600" y="27432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76" name="Line 36"/>
          <p:cNvSpPr>
            <a:spLocks noChangeShapeType="1"/>
          </p:cNvSpPr>
          <p:nvPr/>
        </p:nvSpPr>
        <p:spPr bwMode="auto">
          <a:xfrm>
            <a:off x="16256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77" name="Line 37"/>
          <p:cNvSpPr>
            <a:spLocks noChangeShapeType="1"/>
          </p:cNvSpPr>
          <p:nvPr/>
        </p:nvSpPr>
        <p:spPr bwMode="auto">
          <a:xfrm>
            <a:off x="25908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78" name="Line 38"/>
          <p:cNvSpPr>
            <a:spLocks noChangeShapeType="1"/>
          </p:cNvSpPr>
          <p:nvPr/>
        </p:nvSpPr>
        <p:spPr bwMode="auto">
          <a:xfrm>
            <a:off x="36576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79" name="Line 39"/>
          <p:cNvSpPr>
            <a:spLocks noChangeShapeType="1"/>
          </p:cNvSpPr>
          <p:nvPr/>
        </p:nvSpPr>
        <p:spPr bwMode="auto">
          <a:xfrm>
            <a:off x="46736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80" name="Line 40"/>
          <p:cNvSpPr>
            <a:spLocks noChangeShapeType="1"/>
          </p:cNvSpPr>
          <p:nvPr/>
        </p:nvSpPr>
        <p:spPr bwMode="auto">
          <a:xfrm>
            <a:off x="56896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5881" name="Line 41"/>
          <p:cNvSpPr>
            <a:spLocks noChangeShapeType="1"/>
          </p:cNvSpPr>
          <p:nvPr/>
        </p:nvSpPr>
        <p:spPr bwMode="auto">
          <a:xfrm>
            <a:off x="6705600" y="27432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4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3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500"/>
                                        <p:tgtEl>
                                          <p:spTgt spid="3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6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9" dur="500"/>
                                        <p:tgtEl>
                                          <p:spTgt spid="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3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5" dur="500"/>
                                        <p:tgtEl>
                                          <p:spTgt spid="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8" dur="500"/>
                                        <p:tgtEl>
                                          <p:spTgt spid="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1" dur="500"/>
                                        <p:tgtEl>
                                          <p:spTgt spid="3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4" dur="500"/>
                                        <p:tgtEl>
                                          <p:spTgt spid="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7" dur="500"/>
                                        <p:tgtEl>
                                          <p:spTgt spid="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0" dur="500"/>
                                        <p:tgtEl>
                                          <p:spTgt spid="3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/>
      <p:bldP spid="35846" grpId="1"/>
      <p:bldP spid="35847" grpId="0"/>
      <p:bldP spid="35847" grpId="1"/>
      <p:bldP spid="35842" grpId="0"/>
      <p:bldP spid="35842" grpId="1"/>
      <p:bldP spid="35843" grpId="0"/>
      <p:bldP spid="35844" grpId="0"/>
      <p:bldP spid="35844" grpId="1"/>
      <p:bldP spid="35845" grpId="0"/>
      <p:bldP spid="35848" grpId="0"/>
      <p:bldP spid="35848" grpId="1"/>
      <p:bldP spid="35849" grpId="0"/>
      <p:bldP spid="35850" grpId="0"/>
      <p:bldP spid="35851" grpId="0"/>
      <p:bldP spid="35852" grpId="0"/>
      <p:bldP spid="35853" grpId="0"/>
      <p:bldP spid="35853" grpId="1"/>
      <p:bldP spid="35857" grpId="0" build="p"/>
      <p:bldP spid="35869" grpId="0"/>
      <p:bldP spid="35870" grpId="0"/>
      <p:bldP spid="35871" grpId="0"/>
      <p:bldP spid="35872" grpId="0"/>
      <p:bldP spid="35873" grpId="0" animBg="1"/>
      <p:bldP spid="35874" grpId="0" animBg="1"/>
      <p:bldP spid="35875" grpId="0" animBg="1"/>
      <p:bldP spid="35876" grpId="0" animBg="1"/>
      <p:bldP spid="35877" grpId="0" animBg="1"/>
      <p:bldP spid="35878" grpId="0" animBg="1"/>
      <p:bldP spid="35879" grpId="0" animBg="1"/>
      <p:bldP spid="35880" grpId="0" animBg="1"/>
      <p:bldP spid="3588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3657600" y="27432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0066FF"/>
                </a:solidFill>
              </a:rPr>
              <a:t>14</a:t>
            </a:r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3657600" y="27432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5686425" y="27432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4657725" y="275748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0066FF"/>
                </a:solidFill>
              </a:rPr>
              <a:t>22</a:t>
            </a:r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5689600" y="27432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5686425" y="27432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4660900" y="275431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4657725" y="275431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1619250" y="2741613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2582863" y="1625600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2590800" y="1622425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4656138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4652963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36879" name="Rectangle 15"/>
          <p:cNvSpPr>
            <a:spLocks noChangeArrowheads="1"/>
          </p:cNvSpPr>
          <p:nvPr/>
        </p:nvSpPr>
        <p:spPr bwMode="auto">
          <a:xfrm>
            <a:off x="1614488" y="16256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36880" name="Rectangle 16"/>
          <p:cNvSpPr>
            <a:spLocks noChangeArrowheads="1"/>
          </p:cNvSpPr>
          <p:nvPr/>
        </p:nvSpPr>
        <p:spPr bwMode="auto">
          <a:xfrm>
            <a:off x="4652963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36881" name="Rectangle 17"/>
          <p:cNvSpPr>
            <a:spLocks noChangeArrowheads="1"/>
          </p:cNvSpPr>
          <p:nvPr/>
        </p:nvSpPr>
        <p:spPr bwMode="auto">
          <a:xfrm>
            <a:off x="2590800" y="1622425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0066FF"/>
                </a:solidFill>
              </a:rPr>
              <a:t>22</a:t>
            </a:r>
          </a:p>
        </p:txBody>
      </p:sp>
      <p:sp>
        <p:nvSpPr>
          <p:cNvPr id="36882" name="Rectangle 18"/>
          <p:cNvSpPr>
            <a:spLocks noChangeArrowheads="1"/>
          </p:cNvSpPr>
          <p:nvPr/>
        </p:nvSpPr>
        <p:spPr bwMode="auto">
          <a:xfrm>
            <a:off x="609600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36883" name="Rectangle 19"/>
          <p:cNvSpPr>
            <a:spLocks noChangeArrowheads="1"/>
          </p:cNvSpPr>
          <p:nvPr/>
        </p:nvSpPr>
        <p:spPr bwMode="auto">
          <a:xfrm>
            <a:off x="568166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36884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Selection Sort</a:t>
            </a:r>
          </a:p>
        </p:txBody>
      </p:sp>
      <p:sp>
        <p:nvSpPr>
          <p:cNvPr id="36885" name="Rectangle 21"/>
          <p:cNvSpPr>
            <a:spLocks noGrp="1" noChangeArrowheads="1"/>
          </p:cNvSpPr>
          <p:nvPr>
            <p:ph idx="1"/>
          </p:nvPr>
        </p:nvSpPr>
        <p:spPr>
          <a:xfrm>
            <a:off x="457200" y="3733800"/>
            <a:ext cx="8229600" cy="27432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Cho 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n-1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8</a:t>
            </a:fld>
            <a:endParaRPr lang="vi-VN"/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364966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>
            <a:off x="601663" y="16256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88" name="Line 24"/>
          <p:cNvSpPr>
            <a:spLocks noChangeShapeType="1"/>
          </p:cNvSpPr>
          <p:nvPr/>
        </p:nvSpPr>
        <p:spPr bwMode="auto">
          <a:xfrm>
            <a:off x="601663" y="25146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>
            <a:off x="601663" y="16256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90" name="Line 26"/>
          <p:cNvSpPr>
            <a:spLocks noChangeShapeType="1"/>
          </p:cNvSpPr>
          <p:nvPr/>
        </p:nvSpPr>
        <p:spPr bwMode="auto">
          <a:xfrm>
            <a:off x="1617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91" name="Line 27"/>
          <p:cNvSpPr>
            <a:spLocks noChangeShapeType="1"/>
          </p:cNvSpPr>
          <p:nvPr/>
        </p:nvSpPr>
        <p:spPr bwMode="auto">
          <a:xfrm>
            <a:off x="25828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>
            <a:off x="3649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>
            <a:off x="4665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>
            <a:off x="5681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95" name="Line 31"/>
          <p:cNvSpPr>
            <a:spLocks noChangeShapeType="1"/>
          </p:cNvSpPr>
          <p:nvPr/>
        </p:nvSpPr>
        <p:spPr bwMode="auto">
          <a:xfrm>
            <a:off x="6697663" y="16256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96" name="Rectangle 32"/>
          <p:cNvSpPr>
            <a:spLocks noChangeArrowheads="1"/>
          </p:cNvSpPr>
          <p:nvPr/>
        </p:nvSpPr>
        <p:spPr bwMode="auto">
          <a:xfrm>
            <a:off x="617538" y="27432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36897" name="Rectangle 33"/>
          <p:cNvSpPr>
            <a:spLocks noChangeArrowheads="1"/>
          </p:cNvSpPr>
          <p:nvPr/>
        </p:nvSpPr>
        <p:spPr bwMode="auto">
          <a:xfrm>
            <a:off x="2590800" y="2743200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6898" name="Line 34"/>
          <p:cNvSpPr>
            <a:spLocks noChangeShapeType="1"/>
          </p:cNvSpPr>
          <p:nvPr/>
        </p:nvSpPr>
        <p:spPr bwMode="auto">
          <a:xfrm>
            <a:off x="609600" y="27432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899" name="Line 35"/>
          <p:cNvSpPr>
            <a:spLocks noChangeShapeType="1"/>
          </p:cNvSpPr>
          <p:nvPr/>
        </p:nvSpPr>
        <p:spPr bwMode="auto">
          <a:xfrm>
            <a:off x="609600" y="36322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900" name="Line 36"/>
          <p:cNvSpPr>
            <a:spLocks noChangeShapeType="1"/>
          </p:cNvSpPr>
          <p:nvPr/>
        </p:nvSpPr>
        <p:spPr bwMode="auto">
          <a:xfrm>
            <a:off x="609600" y="27432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901" name="Line 37"/>
          <p:cNvSpPr>
            <a:spLocks noChangeShapeType="1"/>
          </p:cNvSpPr>
          <p:nvPr/>
        </p:nvSpPr>
        <p:spPr bwMode="auto">
          <a:xfrm>
            <a:off x="16256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902" name="Line 38"/>
          <p:cNvSpPr>
            <a:spLocks noChangeShapeType="1"/>
          </p:cNvSpPr>
          <p:nvPr/>
        </p:nvSpPr>
        <p:spPr bwMode="auto">
          <a:xfrm>
            <a:off x="25908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903" name="Line 39"/>
          <p:cNvSpPr>
            <a:spLocks noChangeShapeType="1"/>
          </p:cNvSpPr>
          <p:nvPr/>
        </p:nvSpPr>
        <p:spPr bwMode="auto">
          <a:xfrm>
            <a:off x="36576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904" name="Line 40"/>
          <p:cNvSpPr>
            <a:spLocks noChangeShapeType="1"/>
          </p:cNvSpPr>
          <p:nvPr/>
        </p:nvSpPr>
        <p:spPr bwMode="auto">
          <a:xfrm>
            <a:off x="46736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905" name="Line 41"/>
          <p:cNvSpPr>
            <a:spLocks noChangeShapeType="1"/>
          </p:cNvSpPr>
          <p:nvPr/>
        </p:nvSpPr>
        <p:spPr bwMode="auto">
          <a:xfrm>
            <a:off x="5689600" y="27432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6906" name="Line 42"/>
          <p:cNvSpPr>
            <a:spLocks noChangeShapeType="1"/>
          </p:cNvSpPr>
          <p:nvPr/>
        </p:nvSpPr>
        <p:spPr bwMode="auto">
          <a:xfrm>
            <a:off x="6705600" y="27432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3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8" dur="500"/>
                                        <p:tgtEl>
                                          <p:spTgt spid="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500"/>
                                        <p:tgtEl>
                                          <p:spTgt spid="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500"/>
                                        <p:tgtEl>
                                          <p:spTgt spid="3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0" dur="500"/>
                                        <p:tgtEl>
                                          <p:spTgt spid="3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0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9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9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" presetClass="entr" presetSubtype="2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/>
      <p:bldP spid="36872" grpId="1"/>
      <p:bldP spid="36872" grpId="2"/>
      <p:bldP spid="36872" grpId="3"/>
      <p:bldP spid="36873" grpId="0"/>
      <p:bldP spid="36873" grpId="1"/>
      <p:bldP spid="36873" grpId="2"/>
      <p:bldP spid="36871" grpId="0"/>
      <p:bldP spid="36871" grpId="1"/>
      <p:bldP spid="36870" grpId="0"/>
      <p:bldP spid="36870" grpId="1"/>
      <p:bldP spid="36866" grpId="0"/>
      <p:bldP spid="36866" grpId="1"/>
      <p:bldP spid="36867" grpId="0"/>
      <p:bldP spid="36868" grpId="0"/>
      <p:bldP spid="36868" grpId="1"/>
      <p:bldP spid="36869" grpId="0"/>
      <p:bldP spid="36874" grpId="0"/>
      <p:bldP spid="36875" grpId="0"/>
      <p:bldP spid="36876" grpId="0"/>
      <p:bldP spid="36877" grpId="0"/>
      <p:bldP spid="36878" grpId="0"/>
      <p:bldP spid="36880" grpId="0"/>
      <p:bldP spid="36880" grpId="1"/>
      <p:bldP spid="36881" grpId="0"/>
      <p:bldP spid="36881" grpId="1"/>
      <p:bldP spid="36896" grpId="0"/>
      <p:bldP spid="36897" grpId="0"/>
      <p:bldP spid="36898" grpId="0" animBg="1"/>
      <p:bldP spid="36899" grpId="0" animBg="1"/>
      <p:bldP spid="36900" grpId="0" animBg="1"/>
      <p:bldP spid="36901" grpId="0" animBg="1"/>
      <p:bldP spid="36902" grpId="0" animBg="1"/>
      <p:bldP spid="36903" grpId="0" animBg="1"/>
      <p:bldP spid="36904" grpId="0" animBg="1"/>
      <p:bldP spid="36905" grpId="0" animBg="1"/>
      <p:bldP spid="3690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8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Selection Sort</a:t>
            </a:r>
          </a:p>
        </p:txBody>
      </p:sp>
      <p:sp>
        <p:nvSpPr>
          <p:cNvPr id="43029" name="Rectangle 21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343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Cho 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n-1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phức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tạp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O(n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80000"/>
              </a:lnSpc>
              <a:buNone/>
            </a:pP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9</a:t>
            </a:fld>
            <a:endParaRPr lang="vi-VN"/>
          </a:p>
        </p:txBody>
      </p:sp>
      <p:sp>
        <p:nvSpPr>
          <p:cNvPr id="43052" name="Line 44"/>
          <p:cNvSpPr>
            <a:spLocks noChangeShapeType="1"/>
          </p:cNvSpPr>
          <p:nvPr/>
        </p:nvSpPr>
        <p:spPr bwMode="auto">
          <a:xfrm>
            <a:off x="571472" y="3857628"/>
            <a:ext cx="723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Selection Sort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2209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Cho 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n-1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10</a:t>
            </a:fld>
            <a:endParaRPr lang="vi-VN"/>
          </a:p>
        </p:txBody>
      </p:sp>
      <p:graphicFrame>
        <p:nvGraphicFramePr>
          <p:cNvPr id="45076" name="Group 20"/>
          <p:cNvGraphicFramePr>
            <a:graphicFrameLocks noGrp="1"/>
          </p:cNvGraphicFramePr>
          <p:nvPr/>
        </p:nvGraphicFramePr>
        <p:xfrm>
          <a:off x="990600" y="4876800"/>
          <a:ext cx="6096000" cy="965200"/>
        </p:xfrm>
        <a:graphic>
          <a:graphicData uri="http://schemas.openxmlformats.org/drawingml/2006/table">
            <a:tbl>
              <a:tblPr/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965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077" name="Text Box 21"/>
          <p:cNvSpPr txBox="1">
            <a:spLocks noChangeArrowheads="1"/>
          </p:cNvSpPr>
          <p:nvPr/>
        </p:nvSpPr>
        <p:spPr bwMode="auto">
          <a:xfrm>
            <a:off x="990600" y="4357688"/>
            <a:ext cx="61722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tập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2601913" y="2760663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2117" name="Rectangle 69"/>
          <p:cNvSpPr>
            <a:spLocks noChangeArrowheads="1"/>
          </p:cNvSpPr>
          <p:nvPr/>
        </p:nvSpPr>
        <p:spPr bwMode="auto">
          <a:xfrm>
            <a:off x="2586038" y="2760663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2105" name="Rectangle 57"/>
          <p:cNvSpPr>
            <a:spLocks noChangeArrowheads="1"/>
          </p:cNvSpPr>
          <p:nvPr/>
        </p:nvSpPr>
        <p:spPr bwMode="auto">
          <a:xfrm>
            <a:off x="5686425" y="2768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5689600" y="2765425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4662488" y="276701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4659313" y="2768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3657600" y="276066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3654425" y="2768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3652838" y="276066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2111" name="Rectangle 63"/>
          <p:cNvSpPr>
            <a:spLocks noChangeArrowheads="1"/>
          </p:cNvSpPr>
          <p:nvPr/>
        </p:nvSpPr>
        <p:spPr bwMode="auto">
          <a:xfrm>
            <a:off x="3649663" y="2768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4656138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2118" name="Rectangle 70"/>
          <p:cNvSpPr>
            <a:spLocks noChangeArrowheads="1"/>
          </p:cNvSpPr>
          <p:nvPr/>
        </p:nvSpPr>
        <p:spPr bwMode="auto">
          <a:xfrm>
            <a:off x="2593975" y="2757488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2119" name="Rectangle 71"/>
          <p:cNvSpPr>
            <a:spLocks noChangeArrowheads="1"/>
          </p:cNvSpPr>
          <p:nvPr/>
        </p:nvSpPr>
        <p:spPr bwMode="auto">
          <a:xfrm>
            <a:off x="2593975" y="2768600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2137" name="Rectangle 89"/>
          <p:cNvSpPr>
            <a:spLocks noChangeArrowheads="1"/>
          </p:cNvSpPr>
          <p:nvPr/>
        </p:nvSpPr>
        <p:spPr bwMode="auto">
          <a:xfrm>
            <a:off x="1617663" y="2760663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2122" name="Rectangle 74"/>
          <p:cNvSpPr>
            <a:spLocks noChangeArrowheads="1"/>
          </p:cNvSpPr>
          <p:nvPr/>
        </p:nvSpPr>
        <p:spPr bwMode="auto">
          <a:xfrm>
            <a:off x="604838" y="276066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2126" name="Rectangle 78"/>
          <p:cNvSpPr>
            <a:spLocks noChangeArrowheads="1"/>
          </p:cNvSpPr>
          <p:nvPr/>
        </p:nvSpPr>
        <p:spPr bwMode="auto">
          <a:xfrm>
            <a:off x="612775" y="276066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2601913" y="1633538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2590800" y="1633538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2598738" y="1625600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2125" name="Rectangle 77"/>
          <p:cNvSpPr>
            <a:spLocks noChangeArrowheads="1"/>
          </p:cNvSpPr>
          <p:nvPr/>
        </p:nvSpPr>
        <p:spPr bwMode="auto">
          <a:xfrm>
            <a:off x="1617663" y="2760663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5683250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568166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5678488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4662488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2101" name="Rectangle 53"/>
          <p:cNvSpPr>
            <a:spLocks noChangeArrowheads="1"/>
          </p:cNvSpPr>
          <p:nvPr/>
        </p:nvSpPr>
        <p:spPr bwMode="auto">
          <a:xfrm>
            <a:off x="5686425" y="163036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364966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3646488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3646488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2094" name="Rectangle 46"/>
          <p:cNvSpPr>
            <a:spLocks noChangeArrowheads="1"/>
          </p:cNvSpPr>
          <p:nvPr/>
        </p:nvSpPr>
        <p:spPr bwMode="auto">
          <a:xfrm>
            <a:off x="3654425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098" name="Rectangle 50"/>
          <p:cNvSpPr>
            <a:spLocks noChangeArrowheads="1"/>
          </p:cNvSpPr>
          <p:nvPr/>
        </p:nvSpPr>
        <p:spPr bwMode="auto">
          <a:xfrm>
            <a:off x="3651250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466566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4662488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2582863" y="1625600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1614488" y="16256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60166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595313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617663" y="16256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1614488" y="16256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609600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Bubble Sort</a:t>
            </a:r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4089400"/>
            <a:ext cx="7162800" cy="2362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Cho 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n-1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cặp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kề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hoán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CE236-91BD-490B-AFA4-FFC170DF9ED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601663" y="16256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601663" y="25146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601663" y="16256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1617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25828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>
            <a:off x="3649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079" name="Line 31"/>
          <p:cNvSpPr>
            <a:spLocks noChangeShapeType="1"/>
          </p:cNvSpPr>
          <p:nvPr/>
        </p:nvSpPr>
        <p:spPr bwMode="auto">
          <a:xfrm>
            <a:off x="4665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>
            <a:off x="5681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6697663" y="16256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609600" y="16256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1614488" y="16256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2102" name="Rectangle 54"/>
          <p:cNvSpPr>
            <a:spLocks noChangeArrowheads="1"/>
          </p:cNvSpPr>
          <p:nvPr/>
        </p:nvSpPr>
        <p:spPr bwMode="auto">
          <a:xfrm>
            <a:off x="4659313" y="163195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2127" name="Line 79"/>
          <p:cNvSpPr>
            <a:spLocks noChangeShapeType="1"/>
          </p:cNvSpPr>
          <p:nvPr/>
        </p:nvSpPr>
        <p:spPr bwMode="auto">
          <a:xfrm>
            <a:off x="604838" y="2760663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604838" y="2760663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16208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131" name="Line 83"/>
          <p:cNvSpPr>
            <a:spLocks noChangeShapeType="1"/>
          </p:cNvSpPr>
          <p:nvPr/>
        </p:nvSpPr>
        <p:spPr bwMode="auto">
          <a:xfrm>
            <a:off x="25860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132" name="Line 84"/>
          <p:cNvSpPr>
            <a:spLocks noChangeShapeType="1"/>
          </p:cNvSpPr>
          <p:nvPr/>
        </p:nvSpPr>
        <p:spPr bwMode="auto">
          <a:xfrm>
            <a:off x="36528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133" name="Line 85"/>
          <p:cNvSpPr>
            <a:spLocks noChangeShapeType="1"/>
          </p:cNvSpPr>
          <p:nvPr/>
        </p:nvSpPr>
        <p:spPr bwMode="auto">
          <a:xfrm>
            <a:off x="46688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134" name="Line 86"/>
          <p:cNvSpPr>
            <a:spLocks noChangeShapeType="1"/>
          </p:cNvSpPr>
          <p:nvPr/>
        </p:nvSpPr>
        <p:spPr bwMode="auto">
          <a:xfrm>
            <a:off x="56848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135" name="Line 87"/>
          <p:cNvSpPr>
            <a:spLocks noChangeShapeType="1"/>
          </p:cNvSpPr>
          <p:nvPr/>
        </p:nvSpPr>
        <p:spPr bwMode="auto">
          <a:xfrm>
            <a:off x="6700838" y="2760663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604838" y="3649663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33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39" dur="500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500"/>
                                        <p:tgtEl>
                                          <p:spTgt spid="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63"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66" dur="500"/>
                                        <p:tgtEl>
                                          <p:spTgt spid="2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500"/>
                                        <p:tgtEl>
                                          <p:spTgt spid="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90" dur="500"/>
                                        <p:tgtEl>
                                          <p:spTgt spid="2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93" dur="500"/>
                                        <p:tgtEl>
                                          <p:spTgt spid="20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9" dur="5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111" dur="500"/>
                                        <p:tgtEl>
                                          <p:spTgt spid="2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114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8" dur="500"/>
                                        <p:tgtEl>
                                          <p:spTgt spid="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3" dur="500"/>
                                        <p:tgtEl>
                                          <p:spTgt spid="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6" dur="500"/>
                                        <p:tgtEl>
                                          <p:spTgt spid="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9" dur="500"/>
                                        <p:tgtEl>
                                          <p:spTgt spid="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2" dur="500"/>
                                        <p:tgtEl>
                                          <p:spTgt spid="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5" dur="500"/>
                                        <p:tgtEl>
                                          <p:spTgt spid="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8" dur="500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1" dur="500"/>
                                        <p:tgtEl>
                                          <p:spTgt spid="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4" dur="500"/>
                                        <p:tgtEl>
                                          <p:spTgt spid="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7" dur="500"/>
                                        <p:tgtEl>
                                          <p:spTgt spid="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0" dur="500"/>
                                        <p:tgtEl>
                                          <p:spTgt spid="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3" dur="500"/>
                                        <p:tgtEl>
                                          <p:spTgt spid="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6" dur="500"/>
                                        <p:tgtEl>
                                          <p:spTgt spid="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9" dur="500"/>
                                        <p:tgtEl>
                                          <p:spTgt spid="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2" dur="500"/>
                                        <p:tgtEl>
                                          <p:spTgt spid="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5" dur="500"/>
                                        <p:tgtEl>
                                          <p:spTgt spid="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0" dur="500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212" dur="500"/>
                                        <p:tgtEl>
                                          <p:spTgt spid="2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215" dur="500"/>
                                        <p:tgtEl>
                                          <p:spTgt spid="2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9" dur="500"/>
                                        <p:tgtEl>
                                          <p:spTgt spid="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0" grpId="0"/>
      <p:bldP spid="2120" grpId="1"/>
      <p:bldP spid="2117" grpId="0"/>
      <p:bldP spid="2105" grpId="0"/>
      <p:bldP spid="2105" grpId="1"/>
      <p:bldP spid="2105" grpId="2"/>
      <p:bldP spid="2109" grpId="0"/>
      <p:bldP spid="2109" grpId="1"/>
      <p:bldP spid="2138" grpId="0"/>
      <p:bldP spid="2138" grpId="1"/>
      <p:bldP spid="2139" grpId="0"/>
      <p:bldP spid="2139" grpId="1"/>
      <p:bldP spid="2139" grpId="2"/>
      <p:bldP spid="2113" grpId="0"/>
      <p:bldP spid="2113" grpId="1"/>
      <p:bldP spid="2114" grpId="0"/>
      <p:bldP spid="2114" grpId="1"/>
      <p:bldP spid="2110" grpId="0"/>
      <p:bldP spid="2111" grpId="0"/>
      <p:bldP spid="2111" grpId="1"/>
      <p:bldP spid="2104" grpId="0"/>
      <p:bldP spid="2118" grpId="0"/>
      <p:bldP spid="2118" grpId="1"/>
      <p:bldP spid="2119" grpId="0"/>
      <p:bldP spid="2119" grpId="1"/>
      <p:bldP spid="2137" grpId="0"/>
      <p:bldP spid="2137" grpId="1"/>
      <p:bldP spid="2137" grpId="2"/>
      <p:bldP spid="2122" grpId="0"/>
      <p:bldP spid="2122" grpId="1"/>
      <p:bldP spid="2122" grpId="2"/>
      <p:bldP spid="2126" grpId="0"/>
      <p:bldP spid="2126" grpId="1"/>
      <p:bldP spid="2096" grpId="0"/>
      <p:bldP spid="2087" grpId="0"/>
      <p:bldP spid="2087" grpId="1"/>
      <p:bldP spid="2093" grpId="0"/>
      <p:bldP spid="2093" grpId="1"/>
      <p:bldP spid="2125" grpId="0"/>
      <p:bldP spid="2125" grpId="1"/>
      <p:bldP spid="2103" grpId="0"/>
      <p:bldP spid="2072" grpId="0"/>
      <p:bldP spid="2100" grpId="0"/>
      <p:bldP spid="2100" grpId="1"/>
      <p:bldP spid="2095" grpId="0"/>
      <p:bldP spid="2095" grpId="1"/>
      <p:bldP spid="2101" grpId="0"/>
      <p:bldP spid="2101" grpId="1"/>
      <p:bldP spid="2070" grpId="0"/>
      <p:bldP spid="2099" grpId="0"/>
      <p:bldP spid="2092" grpId="0"/>
      <p:bldP spid="2092" grpId="1"/>
      <p:bldP spid="2094" grpId="0"/>
      <p:bldP spid="2094" grpId="1"/>
      <p:bldP spid="2098" grpId="0"/>
      <p:bldP spid="2098" grpId="1"/>
      <p:bldP spid="2071" grpId="0"/>
      <p:bldP spid="2097" grpId="0"/>
      <p:bldP spid="2097" grpId="1"/>
      <p:bldP spid="2069" grpId="0"/>
      <p:bldP spid="2086" grpId="0"/>
      <p:bldP spid="2086" grpId="1"/>
      <p:bldP spid="2067" grpId="0"/>
      <p:bldP spid="2085" grpId="0"/>
      <p:bldP spid="2085" grpId="1"/>
      <p:bldP spid="2068" grpId="0"/>
      <p:bldP spid="2089" grpId="0"/>
      <p:bldP spid="2088" grpId="0"/>
      <p:bldP spid="2064" grpId="0" build="p"/>
      <p:bldP spid="2090" grpId="0"/>
      <p:bldP spid="2091" grpId="0"/>
      <p:bldP spid="2102" grpId="0"/>
      <p:bldP spid="2102" grpId="1"/>
      <p:bldP spid="2127" grpId="0" animBg="1"/>
      <p:bldP spid="2129" grpId="0" animBg="1"/>
      <p:bldP spid="2130" grpId="0" animBg="1"/>
      <p:bldP spid="2131" grpId="0" animBg="1"/>
      <p:bldP spid="2132" grpId="0" animBg="1"/>
      <p:bldP spid="2133" grpId="0" animBg="1"/>
      <p:bldP spid="2134" grpId="0" animBg="1"/>
      <p:bldP spid="2135" grpId="0" animBg="1"/>
      <p:bldP spid="21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4" name="Rectangle 76"/>
          <p:cNvSpPr>
            <a:spLocks noChangeArrowheads="1"/>
          </p:cNvSpPr>
          <p:nvPr/>
        </p:nvSpPr>
        <p:spPr bwMode="auto">
          <a:xfrm>
            <a:off x="4656138" y="27559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32836" name="Rectangle 68"/>
          <p:cNvSpPr>
            <a:spLocks noChangeArrowheads="1"/>
          </p:cNvSpPr>
          <p:nvPr/>
        </p:nvSpPr>
        <p:spPr bwMode="auto">
          <a:xfrm>
            <a:off x="1630363" y="27432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32835" name="Rectangle 67"/>
          <p:cNvSpPr>
            <a:spLocks noChangeArrowheads="1"/>
          </p:cNvSpPr>
          <p:nvPr/>
        </p:nvSpPr>
        <p:spPr bwMode="auto">
          <a:xfrm>
            <a:off x="2598738" y="2747963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32838" name="Rectangle 70"/>
          <p:cNvSpPr>
            <a:spLocks noChangeArrowheads="1"/>
          </p:cNvSpPr>
          <p:nvPr/>
        </p:nvSpPr>
        <p:spPr bwMode="auto">
          <a:xfrm>
            <a:off x="2590800" y="2744788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2858" name="Rectangle 90"/>
          <p:cNvSpPr>
            <a:spLocks noChangeArrowheads="1"/>
          </p:cNvSpPr>
          <p:nvPr/>
        </p:nvSpPr>
        <p:spPr bwMode="auto">
          <a:xfrm>
            <a:off x="1622425" y="2743200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32782" name="Rectangle 14"/>
          <p:cNvSpPr>
            <a:spLocks noChangeArrowheads="1"/>
          </p:cNvSpPr>
          <p:nvPr/>
        </p:nvSpPr>
        <p:spPr bwMode="auto">
          <a:xfrm>
            <a:off x="2593975" y="1635125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2601913" y="1627188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32833" name="Rectangle 65"/>
          <p:cNvSpPr>
            <a:spLocks noChangeArrowheads="1"/>
          </p:cNvSpPr>
          <p:nvPr/>
        </p:nvSpPr>
        <p:spPr bwMode="auto">
          <a:xfrm>
            <a:off x="1633538" y="1622425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2586038" y="1627188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8</a:t>
            </a:r>
          </a:p>
        </p:txBody>
      </p:sp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2593975" y="1624013"/>
            <a:ext cx="10668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3654425" y="1635125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3652838" y="162718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686425" y="1635125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5689600" y="163195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4662488" y="163353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659313" y="1635125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17</a:t>
            </a:r>
          </a:p>
        </p:txBody>
      </p:sp>
      <p:sp>
        <p:nvSpPr>
          <p:cNvPr id="32783" name="Rectangle 15"/>
          <p:cNvSpPr>
            <a:spLocks noChangeArrowheads="1"/>
          </p:cNvSpPr>
          <p:nvPr/>
        </p:nvSpPr>
        <p:spPr bwMode="auto">
          <a:xfrm>
            <a:off x="1617663" y="1627188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12</a:t>
            </a:r>
          </a:p>
        </p:txBody>
      </p:sp>
      <p:sp>
        <p:nvSpPr>
          <p:cNvPr id="32784" name="Rectangle 16"/>
          <p:cNvSpPr>
            <a:spLocks noChangeArrowheads="1"/>
          </p:cNvSpPr>
          <p:nvPr/>
        </p:nvSpPr>
        <p:spPr bwMode="auto">
          <a:xfrm>
            <a:off x="604838" y="162718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612775" y="1627188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32789" name="Rectangle 21"/>
          <p:cNvSpPr>
            <a:spLocks noChangeArrowheads="1"/>
          </p:cNvSpPr>
          <p:nvPr/>
        </p:nvSpPr>
        <p:spPr bwMode="auto">
          <a:xfrm>
            <a:off x="1617663" y="1627188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32809" name="Rectangle 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Bubble Sort</a:t>
            </a:r>
          </a:p>
        </p:txBody>
      </p:sp>
      <p:sp>
        <p:nvSpPr>
          <p:cNvPr id="32810" name="Rectangle 42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4089400"/>
            <a:ext cx="7162800" cy="23622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Cho 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n-1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cặp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kề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hoán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CE236-91BD-490B-AFA4-FFC170DF9ED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2823" name="Line 55"/>
          <p:cNvSpPr>
            <a:spLocks noChangeShapeType="1"/>
          </p:cNvSpPr>
          <p:nvPr/>
        </p:nvSpPr>
        <p:spPr bwMode="auto">
          <a:xfrm>
            <a:off x="604838" y="1627188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24" name="Line 56"/>
          <p:cNvSpPr>
            <a:spLocks noChangeShapeType="1"/>
          </p:cNvSpPr>
          <p:nvPr/>
        </p:nvSpPr>
        <p:spPr bwMode="auto">
          <a:xfrm>
            <a:off x="604838" y="1627188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25" name="Line 57"/>
          <p:cNvSpPr>
            <a:spLocks noChangeShapeType="1"/>
          </p:cNvSpPr>
          <p:nvPr/>
        </p:nvSpPr>
        <p:spPr bwMode="auto">
          <a:xfrm>
            <a:off x="16208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26" name="Line 58"/>
          <p:cNvSpPr>
            <a:spLocks noChangeShapeType="1"/>
          </p:cNvSpPr>
          <p:nvPr/>
        </p:nvSpPr>
        <p:spPr bwMode="auto">
          <a:xfrm>
            <a:off x="25860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27" name="Line 59"/>
          <p:cNvSpPr>
            <a:spLocks noChangeShapeType="1"/>
          </p:cNvSpPr>
          <p:nvPr/>
        </p:nvSpPr>
        <p:spPr bwMode="auto">
          <a:xfrm>
            <a:off x="36528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28" name="Line 60"/>
          <p:cNvSpPr>
            <a:spLocks noChangeShapeType="1"/>
          </p:cNvSpPr>
          <p:nvPr/>
        </p:nvSpPr>
        <p:spPr bwMode="auto">
          <a:xfrm>
            <a:off x="46688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29" name="Line 61"/>
          <p:cNvSpPr>
            <a:spLocks noChangeShapeType="1"/>
          </p:cNvSpPr>
          <p:nvPr/>
        </p:nvSpPr>
        <p:spPr bwMode="auto">
          <a:xfrm>
            <a:off x="56848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30" name="Line 62"/>
          <p:cNvSpPr>
            <a:spLocks noChangeShapeType="1"/>
          </p:cNvSpPr>
          <p:nvPr/>
        </p:nvSpPr>
        <p:spPr bwMode="auto">
          <a:xfrm>
            <a:off x="6700838" y="1627188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31" name="Line 63"/>
          <p:cNvSpPr>
            <a:spLocks noChangeShapeType="1"/>
          </p:cNvSpPr>
          <p:nvPr/>
        </p:nvSpPr>
        <p:spPr bwMode="auto">
          <a:xfrm>
            <a:off x="604838" y="2516188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32" name="Rectangle 64"/>
          <p:cNvSpPr>
            <a:spLocks noChangeArrowheads="1"/>
          </p:cNvSpPr>
          <p:nvPr/>
        </p:nvSpPr>
        <p:spPr bwMode="auto">
          <a:xfrm>
            <a:off x="1625600" y="1622425"/>
            <a:ext cx="9652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3651250" y="27559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32840" name="Rectangle 72"/>
          <p:cNvSpPr>
            <a:spLocks noChangeArrowheads="1"/>
          </p:cNvSpPr>
          <p:nvPr/>
        </p:nvSpPr>
        <p:spPr bwMode="auto">
          <a:xfrm>
            <a:off x="3649663" y="274796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14</a:t>
            </a:r>
          </a:p>
        </p:txBody>
      </p:sp>
      <p:sp>
        <p:nvSpPr>
          <p:cNvPr id="32841" name="Rectangle 73"/>
          <p:cNvSpPr>
            <a:spLocks noChangeArrowheads="1"/>
          </p:cNvSpPr>
          <p:nvPr/>
        </p:nvSpPr>
        <p:spPr bwMode="auto">
          <a:xfrm>
            <a:off x="5683250" y="2755900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22</a:t>
            </a:r>
          </a:p>
        </p:txBody>
      </p:sp>
      <p:sp>
        <p:nvSpPr>
          <p:cNvPr id="32842" name="Rectangle 74"/>
          <p:cNvSpPr>
            <a:spLocks noChangeArrowheads="1"/>
          </p:cNvSpPr>
          <p:nvPr/>
        </p:nvSpPr>
        <p:spPr bwMode="auto">
          <a:xfrm>
            <a:off x="5686425" y="2752725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32843" name="Rectangle 75"/>
          <p:cNvSpPr>
            <a:spLocks noChangeArrowheads="1"/>
          </p:cNvSpPr>
          <p:nvPr/>
        </p:nvSpPr>
        <p:spPr bwMode="auto">
          <a:xfrm>
            <a:off x="4659313" y="275431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32846" name="Rectangle 78"/>
          <p:cNvSpPr>
            <a:spLocks noChangeArrowheads="1"/>
          </p:cNvSpPr>
          <p:nvPr/>
        </p:nvSpPr>
        <p:spPr bwMode="auto">
          <a:xfrm>
            <a:off x="601663" y="274796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6</a:t>
            </a:r>
          </a:p>
        </p:txBody>
      </p:sp>
      <p:sp>
        <p:nvSpPr>
          <p:cNvPr id="32847" name="Rectangle 79"/>
          <p:cNvSpPr>
            <a:spLocks noChangeArrowheads="1"/>
          </p:cNvSpPr>
          <p:nvPr/>
        </p:nvSpPr>
        <p:spPr bwMode="auto">
          <a:xfrm>
            <a:off x="609600" y="2747963"/>
            <a:ext cx="1016000" cy="889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32849" name="Line 81"/>
          <p:cNvSpPr>
            <a:spLocks noChangeShapeType="1"/>
          </p:cNvSpPr>
          <p:nvPr/>
        </p:nvSpPr>
        <p:spPr bwMode="auto">
          <a:xfrm>
            <a:off x="601663" y="2747963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50" name="Line 82"/>
          <p:cNvSpPr>
            <a:spLocks noChangeShapeType="1"/>
          </p:cNvSpPr>
          <p:nvPr/>
        </p:nvSpPr>
        <p:spPr bwMode="auto">
          <a:xfrm>
            <a:off x="601663" y="2747963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51" name="Line 83"/>
          <p:cNvSpPr>
            <a:spLocks noChangeShapeType="1"/>
          </p:cNvSpPr>
          <p:nvPr/>
        </p:nvSpPr>
        <p:spPr bwMode="auto">
          <a:xfrm>
            <a:off x="16176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52" name="Line 84"/>
          <p:cNvSpPr>
            <a:spLocks noChangeShapeType="1"/>
          </p:cNvSpPr>
          <p:nvPr/>
        </p:nvSpPr>
        <p:spPr bwMode="auto">
          <a:xfrm>
            <a:off x="25828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53" name="Line 85"/>
          <p:cNvSpPr>
            <a:spLocks noChangeShapeType="1"/>
          </p:cNvSpPr>
          <p:nvPr/>
        </p:nvSpPr>
        <p:spPr bwMode="auto">
          <a:xfrm>
            <a:off x="36496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54" name="Line 86"/>
          <p:cNvSpPr>
            <a:spLocks noChangeShapeType="1"/>
          </p:cNvSpPr>
          <p:nvPr/>
        </p:nvSpPr>
        <p:spPr bwMode="auto">
          <a:xfrm>
            <a:off x="46656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55" name="Line 87"/>
          <p:cNvSpPr>
            <a:spLocks noChangeShapeType="1"/>
          </p:cNvSpPr>
          <p:nvPr/>
        </p:nvSpPr>
        <p:spPr bwMode="auto">
          <a:xfrm>
            <a:off x="56816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56" name="Line 88"/>
          <p:cNvSpPr>
            <a:spLocks noChangeShapeType="1"/>
          </p:cNvSpPr>
          <p:nvPr/>
        </p:nvSpPr>
        <p:spPr bwMode="auto">
          <a:xfrm>
            <a:off x="6697663" y="2747963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  <p:sp>
        <p:nvSpPr>
          <p:cNvPr id="32857" name="Line 89"/>
          <p:cNvSpPr>
            <a:spLocks noChangeShapeType="1"/>
          </p:cNvSpPr>
          <p:nvPr/>
        </p:nvSpPr>
        <p:spPr bwMode="auto">
          <a:xfrm>
            <a:off x="601663" y="3636963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26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29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4" dur="500"/>
                                        <p:tgtEl>
                                          <p:spTgt spid="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7" dur="500"/>
                                        <p:tgtEl>
                                          <p:spTgt spid="3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0" dur="500"/>
                                        <p:tgtEl>
                                          <p:spTgt spid="3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3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6" dur="500"/>
                                        <p:tgtEl>
                                          <p:spTgt spid="3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9" dur="500"/>
                                        <p:tgtEl>
                                          <p:spTgt spid="32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2" dur="500"/>
                                        <p:tgtEl>
                                          <p:spTgt spid="3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5" dur="500"/>
                                        <p:tgtEl>
                                          <p:spTgt spid="3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8" dur="500"/>
                                        <p:tgtEl>
                                          <p:spTgt spid="3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1" dur="500"/>
                                        <p:tgtEl>
                                          <p:spTgt spid="3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4" dur="500"/>
                                        <p:tgtEl>
                                          <p:spTgt spid="3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7" dur="500"/>
                                        <p:tgtEl>
                                          <p:spTgt spid="3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0" dur="500"/>
                                        <p:tgtEl>
                                          <p:spTgt spid="3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3" dur="500"/>
                                        <p:tgtEl>
                                          <p:spTgt spid="3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44" grpId="0"/>
      <p:bldP spid="32844" grpId="1"/>
      <p:bldP spid="32844" grpId="2"/>
      <p:bldP spid="32836" grpId="0"/>
      <p:bldP spid="32836" grpId="1"/>
      <p:bldP spid="32836" grpId="2"/>
      <p:bldP spid="32835" grpId="0"/>
      <p:bldP spid="32835" grpId="1"/>
      <p:bldP spid="32838" grpId="0"/>
      <p:bldP spid="32838" grpId="1"/>
      <p:bldP spid="32838" grpId="2"/>
      <p:bldP spid="32858" grpId="0"/>
      <p:bldP spid="32858" grpId="1"/>
      <p:bldP spid="32782" grpId="0"/>
      <p:bldP spid="32782" grpId="1"/>
      <p:bldP spid="32770" grpId="0"/>
      <p:bldP spid="32770" grpId="1"/>
      <p:bldP spid="32833" grpId="0"/>
      <p:bldP spid="32771" grpId="0"/>
      <p:bldP spid="32781" grpId="0"/>
      <p:bldP spid="32777" grpId="0"/>
      <p:bldP spid="32777" grpId="1"/>
      <p:bldP spid="32778" grpId="0"/>
      <p:bldP spid="32778" grpId="1"/>
      <p:bldP spid="32772" grpId="0"/>
      <p:bldP spid="32772" grpId="1"/>
      <p:bldP spid="32773" grpId="0"/>
      <p:bldP spid="32773" grpId="1"/>
      <p:bldP spid="32774" grpId="0"/>
      <p:bldP spid="32774" grpId="1"/>
      <p:bldP spid="32775" grpId="0"/>
      <p:bldP spid="32775" grpId="1"/>
      <p:bldP spid="32783" grpId="0"/>
      <p:bldP spid="32784" grpId="0"/>
      <p:bldP spid="32784" grpId="1"/>
      <p:bldP spid="32785" grpId="0"/>
      <p:bldP spid="32785" grpId="1"/>
      <p:bldP spid="32789" grpId="0"/>
      <p:bldP spid="32789" grpId="1"/>
      <p:bldP spid="32832" grpId="0"/>
      <p:bldP spid="32832" grpId="1"/>
      <p:bldP spid="32839" grpId="0"/>
      <p:bldP spid="32839" grpId="1"/>
      <p:bldP spid="32840" grpId="0"/>
      <p:bldP spid="32840" grpId="1"/>
      <p:bldP spid="32840" grpId="2"/>
      <p:bldP spid="32841" grpId="0"/>
      <p:bldP spid="32841" grpId="1"/>
      <p:bldP spid="32841" grpId="2"/>
      <p:bldP spid="32842" grpId="0"/>
      <p:bldP spid="32842" grpId="1"/>
      <p:bldP spid="32843" grpId="0"/>
      <p:bldP spid="32843" grpId="1"/>
      <p:bldP spid="32846" grpId="0"/>
      <p:bldP spid="32846" grpId="1"/>
      <p:bldP spid="32846" grpId="2"/>
      <p:bldP spid="32847" grpId="0"/>
      <p:bldP spid="32847" grpId="1"/>
      <p:bldP spid="32849" grpId="0" animBg="1"/>
      <p:bldP spid="32850" grpId="0" animBg="1"/>
      <p:bldP spid="32851" grpId="0" animBg="1"/>
      <p:bldP spid="32852" grpId="0" animBg="1"/>
      <p:bldP spid="32853" grpId="0" animBg="1"/>
      <p:bldP spid="32854" grpId="0" animBg="1"/>
      <p:bldP spid="32855" grpId="0" animBg="1"/>
      <p:bldP spid="32856" grpId="0" animBg="1"/>
      <p:bldP spid="328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6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Bubble Sort</a:t>
            </a:r>
          </a:p>
        </p:txBody>
      </p:sp>
      <p:sp>
        <p:nvSpPr>
          <p:cNvPr id="47127" name="Rectangle 2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001000" cy="51054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Cho 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n-1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cặp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kề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hoán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phức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tạp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O(n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CE236-91BD-490B-AFA4-FFC170DF9ED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7154" name="Line 50"/>
          <p:cNvSpPr>
            <a:spLocks noChangeShapeType="1"/>
          </p:cNvSpPr>
          <p:nvPr/>
        </p:nvSpPr>
        <p:spPr bwMode="auto">
          <a:xfrm>
            <a:off x="785786" y="3643314"/>
            <a:ext cx="723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b"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Bubble Sort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001000" cy="22098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Cho 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n-1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cặp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kề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hoán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CE236-91BD-490B-AFA4-FFC170DF9EDE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49157" name="Group 5"/>
          <p:cNvGraphicFramePr>
            <a:graphicFrameLocks noGrp="1"/>
          </p:cNvGraphicFramePr>
          <p:nvPr/>
        </p:nvGraphicFramePr>
        <p:xfrm>
          <a:off x="990600" y="4786313"/>
          <a:ext cx="6096000" cy="965200"/>
        </p:xfrm>
        <a:graphic>
          <a:graphicData uri="http://schemas.openxmlformats.org/drawingml/2006/table">
            <a:tbl>
              <a:tblPr/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965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9173" name="Text Box 21"/>
          <p:cNvSpPr txBox="1">
            <a:spLocks noChangeArrowheads="1"/>
          </p:cNvSpPr>
          <p:nvPr/>
        </p:nvSpPr>
        <p:spPr bwMode="auto">
          <a:xfrm>
            <a:off x="990600" y="4267200"/>
            <a:ext cx="61722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1623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/>
              <a:t>Insertion </a:t>
            </a:r>
            <a:r>
              <a:rPr lang="en-GB" dirty="0"/>
              <a:t>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15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3075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2</a:t>
              </a:r>
            </a:p>
          </p:txBody>
        </p:sp>
        <p:sp>
          <p:nvSpPr>
            <p:cNvPr id="3076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3077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3078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3079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3080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3081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3082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3083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3084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3085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3086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3087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3088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3089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3092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863308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16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4099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2</a:t>
              </a:r>
            </a:p>
          </p:txBody>
        </p:sp>
        <p:sp>
          <p:nvSpPr>
            <p:cNvPr id="4100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4101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4102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4103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4104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4105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4106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4107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4108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4109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4110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4111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4112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4113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4114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4115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4116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4117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4" name="Rectangle 23"/>
          <p:cNvSpPr/>
          <p:nvPr/>
        </p:nvSpPr>
        <p:spPr>
          <a:xfrm>
            <a:off x="1357290" y="4857760"/>
            <a:ext cx="20002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FF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5132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5135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5136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5139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5140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5141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  <p:sp>
        <p:nvSpPr>
          <p:cNvPr id="5142" name="Rectangle 22"/>
          <p:cNvSpPr>
            <a:spLocks noChangeArrowheads="1"/>
          </p:cNvSpPr>
          <p:nvPr/>
        </p:nvSpPr>
        <p:spPr bwMode="auto">
          <a:xfrm>
            <a:off x="6011863" y="4221163"/>
            <a:ext cx="1296987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5143" name="Text Box 23"/>
          <p:cNvSpPr txBox="1">
            <a:spLocks noChangeArrowheads="1"/>
          </p:cNvSpPr>
          <p:nvPr/>
        </p:nvSpPr>
        <p:spPr bwMode="auto">
          <a:xfrm>
            <a:off x="4932363" y="4508500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99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6158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6159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6160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6164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6165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6013450" y="4221163"/>
            <a:ext cx="1296988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6167" name="Text Box 23"/>
          <p:cNvSpPr txBox="1">
            <a:spLocks noChangeArrowheads="1"/>
          </p:cNvSpPr>
          <p:nvPr/>
        </p:nvSpPr>
        <p:spPr bwMode="auto">
          <a:xfrm>
            <a:off x="4932363" y="4510088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19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7171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2</a:t>
              </a:r>
            </a:p>
          </p:txBody>
        </p:sp>
        <p:sp>
          <p:nvSpPr>
            <p:cNvPr id="7172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7173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7175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7176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7177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7178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7179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7180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7181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7182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7183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7184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7185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FF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09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8210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8211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8213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  <p:sp>
        <p:nvSpPr>
          <p:cNvPr id="8214" name="Rectangle 22"/>
          <p:cNvSpPr>
            <a:spLocks noChangeArrowheads="1"/>
          </p:cNvSpPr>
          <p:nvPr/>
        </p:nvSpPr>
        <p:spPr bwMode="auto">
          <a:xfrm>
            <a:off x="6013450" y="4221163"/>
            <a:ext cx="1296988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8215" name="Text Box 23"/>
          <p:cNvSpPr txBox="1">
            <a:spLocks noChangeArrowheads="1"/>
          </p:cNvSpPr>
          <p:nvPr/>
        </p:nvSpPr>
        <p:spPr bwMode="auto">
          <a:xfrm>
            <a:off x="4932363" y="4510088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99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9232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9236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75650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6013450" y="4221163"/>
            <a:ext cx="1296988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4932363" y="4510088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FF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75650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6013450" y="4221163"/>
            <a:ext cx="1296988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4932363" y="4510088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99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1283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75650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1286" name="Rectangle 22"/>
          <p:cNvSpPr>
            <a:spLocks noChangeArrowheads="1"/>
          </p:cNvSpPr>
          <p:nvPr/>
        </p:nvSpPr>
        <p:spPr bwMode="auto">
          <a:xfrm>
            <a:off x="6013450" y="4222750"/>
            <a:ext cx="1296988" cy="1008063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4933950" y="4510088"/>
            <a:ext cx="935038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24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12291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2</a:t>
              </a:r>
            </a:p>
          </p:txBody>
        </p:sp>
        <p:sp>
          <p:nvSpPr>
            <p:cNvPr id="12292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12293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12297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2298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2300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2302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2303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2304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2305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2308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839263" cy="175650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FF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9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3332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75650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6013450" y="4222750"/>
            <a:ext cx="1296988" cy="1008063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13335" name="Text Box 23"/>
          <p:cNvSpPr txBox="1">
            <a:spLocks noChangeArrowheads="1"/>
          </p:cNvSpPr>
          <p:nvPr/>
        </p:nvSpPr>
        <p:spPr bwMode="auto">
          <a:xfrm>
            <a:off x="4933950" y="4510088"/>
            <a:ext cx="935038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solidFill>
            <a:srgbClr val="99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4354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789113" cy="1462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Comparison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Data Movement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Sorted</a:t>
            </a:r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6013450" y="4222750"/>
            <a:ext cx="1296988" cy="1008063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4933950" y="4510088"/>
            <a:ext cx="935038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FF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7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5379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789113" cy="1462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Comparison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Data Movement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Sorted</a:t>
            </a:r>
          </a:p>
        </p:txBody>
      </p:sp>
      <p:sp>
        <p:nvSpPr>
          <p:cNvPr id="15382" name="Rectangle 22"/>
          <p:cNvSpPr>
            <a:spLocks noChangeArrowheads="1"/>
          </p:cNvSpPr>
          <p:nvPr/>
        </p:nvSpPr>
        <p:spPr bwMode="auto">
          <a:xfrm>
            <a:off x="6013450" y="4222750"/>
            <a:ext cx="1296988" cy="1008063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4933950" y="4510088"/>
            <a:ext cx="935038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99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401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6403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75650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6406" name="Rectangle 22"/>
          <p:cNvSpPr>
            <a:spLocks noChangeArrowheads="1"/>
          </p:cNvSpPr>
          <p:nvPr/>
        </p:nvSpPr>
        <p:spPr bwMode="auto">
          <a:xfrm>
            <a:off x="6013450" y="4222750"/>
            <a:ext cx="1296988" cy="1008063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4933950" y="4510088"/>
            <a:ext cx="935038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29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17411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2</a:t>
              </a:r>
            </a:p>
          </p:txBody>
        </p:sp>
        <p:sp>
          <p:nvSpPr>
            <p:cNvPr id="17412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17414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17415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17416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17417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7418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7419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7420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7421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7422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7426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7428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solidFill>
            <a:srgbClr val="FF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9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8453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  <p:sp>
        <p:nvSpPr>
          <p:cNvPr id="18454" name="Rectangle 22"/>
          <p:cNvSpPr>
            <a:spLocks noChangeArrowheads="1"/>
          </p:cNvSpPr>
          <p:nvPr/>
        </p:nvSpPr>
        <p:spPr bwMode="auto">
          <a:xfrm>
            <a:off x="6013450" y="4222750"/>
            <a:ext cx="1296988" cy="1008063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4933950" y="4510088"/>
            <a:ext cx="935038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31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19459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2</a:t>
              </a:r>
            </a:p>
          </p:txBody>
        </p:sp>
        <p:sp>
          <p:nvSpPr>
            <p:cNvPr id="19460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19461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19462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19463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19464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19465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9466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9467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9468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9469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9470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9471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9472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19473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9474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9475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9476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9478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7315200" y="2514600"/>
            <a:ext cx="1371600" cy="944563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5943600" y="2514600"/>
            <a:ext cx="1371600" cy="944563"/>
          </a:xfrm>
          <a:prstGeom prst="rect">
            <a:avLst/>
          </a:prstGeom>
          <a:solidFill>
            <a:srgbClr val="FFFF66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6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45720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5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32004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4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18288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3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457200" y="2514600"/>
            <a:ext cx="1371600" cy="944563"/>
          </a:xfrm>
          <a:prstGeom prst="rect">
            <a:avLst/>
          </a:prstGeom>
          <a:solidFill>
            <a:srgbClr val="66CCFF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  <a:spcBef>
                <a:spcPts val="13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>
                <a:solidFill>
                  <a:srgbClr val="000000"/>
                </a:solidFill>
                <a:ea typeface="DejaVu Sans" charset="0"/>
                <a:cs typeface="DejaVu Sans" charset="0"/>
              </a:rPr>
              <a:t>1</a:t>
            </a:r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457200" y="2514600"/>
            <a:ext cx="822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457200" y="3459163"/>
            <a:ext cx="8229600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4572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>
            <a:off x="18288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32004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45720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>
            <a:off x="59436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7315200" y="2514600"/>
            <a:ext cx="1588" cy="94456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>
            <a:off x="8686800" y="2514600"/>
            <a:ext cx="1588" cy="944563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7" name="Rectangle 17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0498" name="Rectangle 18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6013450" y="4222750"/>
            <a:ext cx="1296988" cy="1008063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>
            <a:off x="4933950" y="4510088"/>
            <a:ext cx="935038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33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21507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solidFill>
              <a:srgbClr val="99FF66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1517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1518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1519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1520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1521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1524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789113" cy="1462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Comparison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Data Movement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Sorted</a:t>
            </a: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6011863" y="4221163"/>
            <a:ext cx="1296987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1528" name="Text Box 24"/>
          <p:cNvSpPr txBox="1">
            <a:spLocks noChangeArrowheads="1"/>
          </p:cNvSpPr>
          <p:nvPr/>
        </p:nvSpPr>
        <p:spPr bwMode="auto">
          <a:xfrm>
            <a:off x="4932363" y="4508500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34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22531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2532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2533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FFFF66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2534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2535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2536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22537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2538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2540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2542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2543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2544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2545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2546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2547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2548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789113" cy="1462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Comparison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Data Movement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Sorted</a:t>
            </a:r>
          </a:p>
        </p:txBody>
      </p:sp>
      <p:sp>
        <p:nvSpPr>
          <p:cNvPr id="22551" name="Rectangle 23"/>
          <p:cNvSpPr>
            <a:spLocks noChangeArrowheads="1"/>
          </p:cNvSpPr>
          <p:nvPr/>
        </p:nvSpPr>
        <p:spPr bwMode="auto">
          <a:xfrm>
            <a:off x="6011863" y="4221163"/>
            <a:ext cx="1296987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4932363" y="4508500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35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23555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3556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99FF66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3557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3558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3559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3560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23561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3562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3563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3565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3566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3567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3568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3569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3573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789113" cy="1462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Comparison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Data Movement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Sorted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6011863" y="4221163"/>
            <a:ext cx="1296987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3576" name="Text Box 24"/>
          <p:cNvSpPr txBox="1">
            <a:spLocks noChangeArrowheads="1"/>
          </p:cNvSpPr>
          <p:nvPr/>
        </p:nvSpPr>
        <p:spPr bwMode="auto">
          <a:xfrm>
            <a:off x="4932363" y="4508500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36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24579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4580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FFFF66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4584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4588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4591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4592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4593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4594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4595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4596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  <p:sp>
        <p:nvSpPr>
          <p:cNvPr id="24599" name="Rectangle 23"/>
          <p:cNvSpPr>
            <a:spLocks noChangeArrowheads="1"/>
          </p:cNvSpPr>
          <p:nvPr/>
        </p:nvSpPr>
        <p:spPr bwMode="auto">
          <a:xfrm>
            <a:off x="6011863" y="4221163"/>
            <a:ext cx="1296987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4932363" y="4508500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37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25603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5604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5605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99FF66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5606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5607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5608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25609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5610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5611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5612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5613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5614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5615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5616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5617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5620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  <p:sp>
        <p:nvSpPr>
          <p:cNvPr id="25623" name="Rectangle 23"/>
          <p:cNvSpPr>
            <a:spLocks noChangeArrowheads="1"/>
          </p:cNvSpPr>
          <p:nvPr/>
        </p:nvSpPr>
        <p:spPr bwMode="auto">
          <a:xfrm>
            <a:off x="6011863" y="4221163"/>
            <a:ext cx="1296987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4932363" y="4508500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38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26627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6628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6629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6630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6631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FFFF66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6632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6634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6635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6636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6637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6638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6639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6640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6641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6642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6643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6644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789113" cy="1462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Comparison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Data Movement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Sorted</a:t>
            </a:r>
          </a:p>
        </p:txBody>
      </p:sp>
      <p:sp>
        <p:nvSpPr>
          <p:cNvPr id="26647" name="Rectangle 23"/>
          <p:cNvSpPr>
            <a:spLocks noChangeArrowheads="1"/>
          </p:cNvSpPr>
          <p:nvPr/>
        </p:nvSpPr>
        <p:spPr bwMode="auto">
          <a:xfrm>
            <a:off x="6011863" y="4221163"/>
            <a:ext cx="1296987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6648" name="Text Box 24"/>
          <p:cNvSpPr txBox="1">
            <a:spLocks noChangeArrowheads="1"/>
          </p:cNvSpPr>
          <p:nvPr/>
        </p:nvSpPr>
        <p:spPr bwMode="auto">
          <a:xfrm>
            <a:off x="4932363" y="4508500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39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27651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7652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7653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7654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99FF66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7655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7656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7658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7659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7660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7661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7664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7669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789113" cy="1462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Comparison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Data Movement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Sorted</a:t>
            </a:r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6011863" y="4221163"/>
            <a:ext cx="1296987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4932363" y="4508500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40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28675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8676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8677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8678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8679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8680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FFFF66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28681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8682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8683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8685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8686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8687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8688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8689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8693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6011863" y="4221163"/>
            <a:ext cx="1296987" cy="1008062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Sans" charset="0"/>
                <a:cs typeface="DejaVu Sans" charset="0"/>
              </a:rPr>
              <a:t>2</a:t>
            </a: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4932363" y="4508500"/>
            <a:ext cx="935037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  <a:ea typeface="DejaVu Sans" charset="0"/>
                <a:cs typeface="DejaVu Sans" charset="0"/>
              </a:rPr>
              <a:t>Temp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Linear Insertion Sort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CC9F68-EA84-4A58-BE37-402667109325}" type="slidenum">
              <a:rPr lang="en-GB" smtClean="0"/>
              <a:pPr/>
              <a:t>41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2514600"/>
            <a:ext cx="8228013" cy="942975"/>
            <a:chOff x="288" y="1584"/>
            <a:chExt cx="5183" cy="594"/>
          </a:xfrm>
        </p:grpSpPr>
        <p:sp>
          <p:nvSpPr>
            <p:cNvPr id="29699" name="Rectangle 3"/>
            <p:cNvSpPr>
              <a:spLocks noChangeArrowheads="1"/>
            </p:cNvSpPr>
            <p:nvPr/>
          </p:nvSpPr>
          <p:spPr bwMode="auto">
            <a:xfrm>
              <a:off x="460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6</a:t>
              </a:r>
            </a:p>
          </p:txBody>
        </p:sp>
        <p:sp>
          <p:nvSpPr>
            <p:cNvPr id="29700" name="Rectangle 4"/>
            <p:cNvSpPr>
              <a:spLocks noChangeArrowheads="1"/>
            </p:cNvSpPr>
            <p:nvPr/>
          </p:nvSpPr>
          <p:spPr bwMode="auto">
            <a:xfrm>
              <a:off x="3744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  <p:sp>
          <p:nvSpPr>
            <p:cNvPr id="29701" name="Rectangle 5"/>
            <p:cNvSpPr>
              <a:spLocks noChangeArrowheads="1"/>
            </p:cNvSpPr>
            <p:nvPr/>
          </p:nvSpPr>
          <p:spPr bwMode="auto">
            <a:xfrm>
              <a:off x="2880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4</a:t>
              </a:r>
            </a:p>
          </p:txBody>
        </p:sp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2016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3</a:t>
              </a:r>
            </a:p>
          </p:txBody>
        </p:sp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1152" y="1584"/>
              <a:ext cx="864" cy="595"/>
            </a:xfrm>
            <a:prstGeom prst="rect">
              <a:avLst/>
            </a:prstGeom>
            <a:solidFill>
              <a:srgbClr val="99FF66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2</a:t>
              </a:r>
            </a:p>
          </p:txBody>
        </p:sp>
        <p:sp>
          <p:nvSpPr>
            <p:cNvPr id="29704" name="Rectangle 8"/>
            <p:cNvSpPr>
              <a:spLocks noChangeArrowheads="1"/>
            </p:cNvSpPr>
            <p:nvPr/>
          </p:nvSpPr>
          <p:spPr bwMode="auto">
            <a:xfrm>
              <a:off x="288" y="1584"/>
              <a:ext cx="864" cy="595"/>
            </a:xfrm>
            <a:prstGeom prst="rect">
              <a:avLst/>
            </a:prstGeom>
            <a:solidFill>
              <a:srgbClr val="66CC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spcBef>
                  <a:spcPts val="13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5400" b="1">
                  <a:solidFill>
                    <a:srgbClr val="000000"/>
                  </a:solidFill>
                  <a:ea typeface="DejaVu Sans" charset="0"/>
                  <a:cs typeface="DejaVu Sans" charset="0"/>
                </a:rPr>
                <a:t>1</a:t>
              </a:r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>
              <a:off x="288" y="1584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>
              <a:off x="288" y="2179"/>
              <a:ext cx="51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9707" name="Line 11"/>
            <p:cNvSpPr>
              <a:spLocks noChangeShapeType="1"/>
            </p:cNvSpPr>
            <p:nvPr/>
          </p:nvSpPr>
          <p:spPr bwMode="auto">
            <a:xfrm>
              <a:off x="288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9708" name="Line 12"/>
            <p:cNvSpPr>
              <a:spLocks noChangeShapeType="1"/>
            </p:cNvSpPr>
            <p:nvPr/>
          </p:nvSpPr>
          <p:spPr bwMode="auto">
            <a:xfrm>
              <a:off x="1152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9709" name="Line 13"/>
            <p:cNvSpPr>
              <a:spLocks noChangeShapeType="1"/>
            </p:cNvSpPr>
            <p:nvPr/>
          </p:nvSpPr>
          <p:spPr bwMode="auto">
            <a:xfrm>
              <a:off x="2016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9710" name="Line 14"/>
            <p:cNvSpPr>
              <a:spLocks noChangeShapeType="1"/>
            </p:cNvSpPr>
            <p:nvPr/>
          </p:nvSpPr>
          <p:spPr bwMode="auto">
            <a:xfrm>
              <a:off x="2880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9711" name="Line 15"/>
            <p:cNvSpPr>
              <a:spLocks noChangeShapeType="1"/>
            </p:cNvSpPr>
            <p:nvPr/>
          </p:nvSpPr>
          <p:spPr bwMode="auto">
            <a:xfrm>
              <a:off x="3744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9712" name="Line 16"/>
            <p:cNvSpPr>
              <a:spLocks noChangeShapeType="1"/>
            </p:cNvSpPr>
            <p:nvPr/>
          </p:nvSpPr>
          <p:spPr bwMode="auto">
            <a:xfrm>
              <a:off x="4608" y="1584"/>
              <a:ext cx="1" cy="59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  <p:sp>
          <p:nvSpPr>
            <p:cNvPr id="29713" name="Line 17"/>
            <p:cNvSpPr>
              <a:spLocks noChangeShapeType="1"/>
            </p:cNvSpPr>
            <p:nvPr/>
          </p:nvSpPr>
          <p:spPr bwMode="auto">
            <a:xfrm>
              <a:off x="5472" y="1584"/>
              <a:ext cx="1" cy="59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9714" name="Rectangle 18"/>
          <p:cNvSpPr>
            <a:spLocks noChangeArrowheads="1"/>
          </p:cNvSpPr>
          <p:nvPr/>
        </p:nvSpPr>
        <p:spPr bwMode="auto">
          <a:xfrm>
            <a:off x="914400" y="4876800"/>
            <a:ext cx="304800" cy="3048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914400" y="5943600"/>
            <a:ext cx="304800" cy="304800"/>
          </a:xfrm>
          <a:prstGeom prst="rect">
            <a:avLst/>
          </a:prstGeom>
          <a:solidFill>
            <a:srgbClr val="66CC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914400" y="5410200"/>
            <a:ext cx="304800" cy="304800"/>
          </a:xfrm>
          <a:prstGeom prst="rect">
            <a:avLst/>
          </a:prstGeom>
          <a:solidFill>
            <a:srgbClr val="99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1752600" y="4876800"/>
            <a:ext cx="4054475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1447800" y="4876800"/>
            <a:ext cx="1839263" cy="14795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So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sánh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Di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chuyển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dữ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liệu</a:t>
            </a: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 smtClean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Đã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sắp</a:t>
            </a:r>
            <a:r>
              <a:rPr lang="en-GB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xếp</a:t>
            </a:r>
            <a:endParaRPr lang="en-GB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3419475" y="3860800"/>
            <a:ext cx="3026126" cy="7100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 dirty="0" smtClean="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Times New Roman" pitchFamily="18" charset="0"/>
              </a:rPr>
              <a:t>KẾT THÚC!</a:t>
            </a:r>
            <a:endParaRPr lang="en-GB" sz="4000" b="1" dirty="0">
              <a:solidFill>
                <a:srgbClr val="000000"/>
              </a:solidFill>
              <a:latin typeface="Times New Roman" pitchFamily="18" charset="0"/>
              <a:ea typeface="DejaVu Sans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Merge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42</a:t>
            </a:fld>
            <a:endParaRPr lang="vi-VN"/>
          </a:p>
        </p:txBody>
      </p:sp>
      <p:grpSp>
        <p:nvGrpSpPr>
          <p:cNvPr id="20482" name="Group 396"/>
          <p:cNvGrpSpPr>
            <a:grpSpLocks/>
          </p:cNvGrpSpPr>
          <p:nvPr/>
        </p:nvGrpSpPr>
        <p:grpSpPr bwMode="auto">
          <a:xfrm>
            <a:off x="3352800" y="3322638"/>
            <a:ext cx="4486275" cy="2011362"/>
            <a:chOff x="1608" y="1824"/>
            <a:chExt cx="3426" cy="1536"/>
          </a:xfrm>
        </p:grpSpPr>
        <p:sp>
          <p:nvSpPr>
            <p:cNvPr id="20483" name="AutoShape 383"/>
            <p:cNvSpPr>
              <a:spLocks noChangeArrowheads="1"/>
            </p:cNvSpPr>
            <p:nvPr/>
          </p:nvSpPr>
          <p:spPr bwMode="auto">
            <a:xfrm>
              <a:off x="2160" y="1824"/>
              <a:ext cx="230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/>
                <a:t>7  2 </a:t>
              </a:r>
              <a:r>
                <a:rPr lang="en-US" sz="1800" b="1">
                  <a:solidFill>
                    <a:schemeClr val="tx2"/>
                  </a:solidFill>
                  <a:latin typeface="Symbol" charset="0"/>
                  <a:sym typeface="Symbol" charset="0"/>
                </a:rPr>
                <a:t></a:t>
              </a:r>
              <a:r>
                <a:rPr lang="en-US" sz="1800"/>
                <a:t> 9  4  </a:t>
              </a:r>
              <a:r>
                <a:rPr lang="en-US" sz="1800" b="1">
                  <a:solidFill>
                    <a:srgbClr val="000000"/>
                  </a:solidFill>
                  <a:sym typeface="Symbol" charset="0"/>
                </a:rPr>
                <a:t></a:t>
              </a:r>
              <a:r>
                <a:rPr lang="en-US" sz="1800"/>
                <a:t>  </a:t>
              </a:r>
              <a:r>
                <a:rPr lang="en-US" sz="1800">
                  <a:solidFill>
                    <a:schemeClr val="tx2"/>
                  </a:solidFill>
                </a:rPr>
                <a:t>2  4  7  9</a:t>
              </a:r>
            </a:p>
          </p:txBody>
        </p:sp>
        <p:sp>
          <p:nvSpPr>
            <p:cNvPr id="20484" name="AutoShape 384"/>
            <p:cNvSpPr>
              <a:spLocks noChangeArrowheads="1"/>
            </p:cNvSpPr>
            <p:nvPr/>
          </p:nvSpPr>
          <p:spPr bwMode="auto">
            <a:xfrm>
              <a:off x="1680" y="2400"/>
              <a:ext cx="134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/>
                <a:t>7 </a:t>
              </a:r>
              <a:r>
                <a:rPr lang="en-US" sz="1800" b="1">
                  <a:solidFill>
                    <a:schemeClr val="tx2"/>
                  </a:solidFill>
                  <a:latin typeface="Symbol" charset="0"/>
                  <a:sym typeface="Symbol" charset="0"/>
                </a:rPr>
                <a:t></a:t>
              </a:r>
              <a:r>
                <a:rPr lang="en-US" sz="1800"/>
                <a:t> 2  </a:t>
              </a:r>
              <a:r>
                <a:rPr lang="en-US" sz="1800" b="1">
                  <a:solidFill>
                    <a:srgbClr val="000000"/>
                  </a:solidFill>
                  <a:sym typeface="Symbol" charset="0"/>
                </a:rPr>
                <a:t></a:t>
              </a:r>
              <a:r>
                <a:rPr lang="en-US" sz="1800"/>
                <a:t>  </a:t>
              </a:r>
              <a:r>
                <a:rPr lang="en-US" sz="1800">
                  <a:solidFill>
                    <a:schemeClr val="tx2"/>
                  </a:solidFill>
                </a:rPr>
                <a:t>2  7</a:t>
              </a:r>
            </a:p>
          </p:txBody>
        </p:sp>
        <p:sp>
          <p:nvSpPr>
            <p:cNvPr id="20485" name="AutoShape 385"/>
            <p:cNvSpPr>
              <a:spLocks noChangeArrowheads="1"/>
            </p:cNvSpPr>
            <p:nvPr/>
          </p:nvSpPr>
          <p:spPr bwMode="auto">
            <a:xfrm>
              <a:off x="3600" y="2400"/>
              <a:ext cx="134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/>
                <a:t>9 </a:t>
              </a:r>
              <a:r>
                <a:rPr lang="en-US" sz="1800" b="1">
                  <a:solidFill>
                    <a:schemeClr val="tx2"/>
                  </a:solidFill>
                  <a:latin typeface="Symbol" charset="0"/>
                  <a:sym typeface="Symbol" charset="0"/>
                </a:rPr>
                <a:t></a:t>
              </a:r>
              <a:r>
                <a:rPr lang="en-US" sz="1800"/>
                <a:t> 4  </a:t>
              </a:r>
              <a:r>
                <a:rPr lang="en-US" sz="1800" b="1">
                  <a:solidFill>
                    <a:srgbClr val="000000"/>
                  </a:solidFill>
                  <a:sym typeface="Symbol" charset="0"/>
                </a:rPr>
                <a:t></a:t>
              </a:r>
              <a:r>
                <a:rPr lang="en-US" sz="1800"/>
                <a:t>  </a:t>
              </a:r>
              <a:r>
                <a:rPr lang="en-US" sz="1800">
                  <a:solidFill>
                    <a:schemeClr val="tx2"/>
                  </a:solidFill>
                </a:rPr>
                <a:t>4  9</a:t>
              </a:r>
            </a:p>
          </p:txBody>
        </p:sp>
        <p:sp>
          <p:nvSpPr>
            <p:cNvPr id="20486" name="AutoShape 386"/>
            <p:cNvSpPr>
              <a:spLocks noChangeArrowheads="1"/>
            </p:cNvSpPr>
            <p:nvPr/>
          </p:nvSpPr>
          <p:spPr bwMode="auto">
            <a:xfrm>
              <a:off x="1608" y="2976"/>
              <a:ext cx="64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/>
                <a:t>7 </a:t>
              </a:r>
              <a:r>
                <a:rPr lang="en-US" sz="1800" b="1">
                  <a:solidFill>
                    <a:srgbClr val="000000"/>
                  </a:solidFill>
                  <a:sym typeface="Symbol" charset="0"/>
                </a:rPr>
                <a:t></a:t>
              </a:r>
              <a:r>
                <a:rPr lang="en-US" sz="1800"/>
                <a:t> </a:t>
              </a:r>
              <a:r>
                <a:rPr lang="en-US" sz="1800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20487" name="AutoShape 387"/>
            <p:cNvSpPr>
              <a:spLocks noChangeArrowheads="1"/>
            </p:cNvSpPr>
            <p:nvPr/>
          </p:nvSpPr>
          <p:spPr bwMode="auto">
            <a:xfrm>
              <a:off x="2496" y="2976"/>
              <a:ext cx="624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/>
                <a:t>2 </a:t>
              </a:r>
              <a:r>
                <a:rPr lang="en-US" sz="1800" b="1">
                  <a:solidFill>
                    <a:srgbClr val="000000"/>
                  </a:solidFill>
                  <a:sym typeface="Symbol" charset="0"/>
                </a:rPr>
                <a:t></a:t>
              </a:r>
              <a:r>
                <a:rPr lang="en-US" sz="1800"/>
                <a:t> </a:t>
              </a:r>
              <a:r>
                <a:rPr lang="en-US" sz="18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20488" name="AutoShape 388"/>
            <p:cNvSpPr>
              <a:spLocks noChangeArrowheads="1"/>
            </p:cNvSpPr>
            <p:nvPr/>
          </p:nvSpPr>
          <p:spPr bwMode="auto">
            <a:xfrm>
              <a:off x="3522" y="2976"/>
              <a:ext cx="636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/>
                <a:t>9 </a:t>
              </a:r>
              <a:r>
                <a:rPr lang="en-US" sz="1800" b="1">
                  <a:solidFill>
                    <a:srgbClr val="000000"/>
                  </a:solidFill>
                  <a:sym typeface="Symbol" charset="0"/>
                </a:rPr>
                <a:t></a:t>
              </a:r>
              <a:r>
                <a:rPr lang="en-US" sz="1800"/>
                <a:t> </a:t>
              </a:r>
              <a:r>
                <a:rPr lang="en-US" sz="1800">
                  <a:solidFill>
                    <a:schemeClr val="tx2"/>
                  </a:solidFill>
                </a:rPr>
                <a:t>9</a:t>
              </a:r>
            </a:p>
          </p:txBody>
        </p:sp>
        <p:sp>
          <p:nvSpPr>
            <p:cNvPr id="20489" name="AutoShape 389"/>
            <p:cNvSpPr>
              <a:spLocks noChangeArrowheads="1"/>
            </p:cNvSpPr>
            <p:nvPr/>
          </p:nvSpPr>
          <p:spPr bwMode="auto">
            <a:xfrm>
              <a:off x="4416" y="2976"/>
              <a:ext cx="61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/>
                <a:t>4 </a:t>
              </a:r>
              <a:r>
                <a:rPr lang="en-US" sz="1800" b="1">
                  <a:solidFill>
                    <a:srgbClr val="000000"/>
                  </a:solidFill>
                  <a:sym typeface="Symbol" charset="0"/>
                </a:rPr>
                <a:t></a:t>
              </a:r>
              <a:r>
                <a:rPr lang="en-US" sz="1800"/>
                <a:t> </a:t>
              </a:r>
              <a:r>
                <a:rPr lang="en-US" sz="1800">
                  <a:solidFill>
                    <a:schemeClr val="tx2"/>
                  </a:solidFill>
                </a:rPr>
                <a:t>4</a:t>
              </a:r>
            </a:p>
          </p:txBody>
        </p:sp>
        <p:cxnSp>
          <p:nvCxnSpPr>
            <p:cNvPr id="20490" name="AutoShape 390"/>
            <p:cNvCxnSpPr>
              <a:cxnSpLocks noChangeShapeType="1"/>
              <a:stCxn id="20484" idx="0"/>
              <a:endCxn id="20483" idx="2"/>
            </p:cNvCxnSpPr>
            <p:nvPr/>
          </p:nvCxnSpPr>
          <p:spPr bwMode="auto">
            <a:xfrm flipV="1">
              <a:off x="2352" y="2214"/>
              <a:ext cx="960" cy="1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0491" name="AutoShape 391"/>
            <p:cNvCxnSpPr>
              <a:cxnSpLocks noChangeShapeType="1"/>
              <a:stCxn id="20485" idx="0"/>
              <a:endCxn id="20483" idx="2"/>
            </p:cNvCxnSpPr>
            <p:nvPr/>
          </p:nvCxnSpPr>
          <p:spPr bwMode="auto">
            <a:xfrm flipH="1" flipV="1">
              <a:off x="3312" y="2214"/>
              <a:ext cx="960" cy="1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0492" name="AutoShape 392"/>
            <p:cNvCxnSpPr>
              <a:cxnSpLocks noChangeShapeType="1"/>
              <a:stCxn id="20486" idx="0"/>
              <a:endCxn id="20484" idx="2"/>
            </p:cNvCxnSpPr>
            <p:nvPr/>
          </p:nvCxnSpPr>
          <p:spPr bwMode="auto">
            <a:xfrm flipV="1">
              <a:off x="1932" y="2790"/>
              <a:ext cx="420" cy="1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0493" name="AutoShape 393"/>
            <p:cNvCxnSpPr>
              <a:cxnSpLocks noChangeShapeType="1"/>
              <a:stCxn id="20488" idx="0"/>
              <a:endCxn id="20485" idx="2"/>
            </p:cNvCxnSpPr>
            <p:nvPr/>
          </p:nvCxnSpPr>
          <p:spPr bwMode="auto">
            <a:xfrm flipV="1">
              <a:off x="3840" y="2790"/>
              <a:ext cx="432" cy="1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0494" name="AutoShape 394"/>
            <p:cNvCxnSpPr>
              <a:cxnSpLocks noChangeShapeType="1"/>
              <a:stCxn id="20484" idx="2"/>
              <a:endCxn id="20487" idx="0"/>
            </p:cNvCxnSpPr>
            <p:nvPr/>
          </p:nvCxnSpPr>
          <p:spPr bwMode="auto">
            <a:xfrm>
              <a:off x="2352" y="2790"/>
              <a:ext cx="456" cy="1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0495" name="AutoShape 395"/>
            <p:cNvCxnSpPr>
              <a:cxnSpLocks noChangeShapeType="1"/>
              <a:stCxn id="20485" idx="2"/>
              <a:endCxn id="20489" idx="0"/>
            </p:cNvCxnSpPr>
            <p:nvPr/>
          </p:nvCxnSpPr>
          <p:spPr bwMode="auto">
            <a:xfrm>
              <a:off x="4272" y="2790"/>
              <a:ext cx="453" cy="1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xmlns="" val="318901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Helvetica" charset="0"/>
                <a:ea typeface="ＭＳ Ｐゴシック" charset="0"/>
                <a:cs typeface="Tahoma" charset="0"/>
              </a:rPr>
              <a:t>Chia </a:t>
            </a:r>
            <a:r>
              <a:rPr lang="en-US" dirty="0" err="1" smtClean="0">
                <a:latin typeface="Helvetica" charset="0"/>
                <a:ea typeface="ＭＳ Ｐゴシック" charset="0"/>
                <a:cs typeface="Tahoma" charset="0"/>
              </a:rPr>
              <a:t>và</a:t>
            </a:r>
            <a:r>
              <a:rPr lang="en-US" dirty="0" smtClean="0">
                <a:latin typeface="Helvetica" charset="0"/>
                <a:ea typeface="ＭＳ Ｐゴシック" charset="0"/>
                <a:cs typeface="Tahoma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Tahoma" charset="0"/>
              </a:rPr>
              <a:t>trị</a:t>
            </a:r>
            <a:r>
              <a:rPr lang="en-US" dirty="0" smtClean="0">
                <a:latin typeface="Helvetica" charset="0"/>
                <a:ea typeface="ＭＳ Ｐゴシック" charset="0"/>
                <a:cs typeface="Tahoma" charset="0"/>
              </a:rPr>
              <a:t> (Divide and conquer)</a:t>
            </a:r>
            <a:endParaRPr lang="en-US" dirty="0">
              <a:latin typeface="Helvetica" charset="0"/>
              <a:ea typeface="ＭＳ Ｐゴシック" charset="0"/>
              <a:cs typeface="Tahoma" charset="0"/>
            </a:endParaRP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half" idx="1"/>
          </p:nvPr>
        </p:nvSpPr>
        <p:spPr>
          <a:xfrm>
            <a:off x="838200" y="1752600"/>
            <a:ext cx="3810000" cy="4419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Divide-and </a:t>
            </a:r>
            <a:r>
              <a:rPr lang="en-US" sz="2000" dirty="0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conquer </a:t>
            </a:r>
            <a:r>
              <a:rPr lang="en-US" sz="20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là</a:t>
            </a:r>
            <a:r>
              <a:rPr lang="en-US" sz="2000" dirty="0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chiến</a:t>
            </a:r>
            <a:r>
              <a:rPr lang="en-US" sz="2000" dirty="0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lược</a:t>
            </a:r>
            <a:r>
              <a:rPr lang="en-US" sz="2000" dirty="0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thiết</a:t>
            </a:r>
            <a:r>
              <a:rPr lang="en-US" sz="2000" dirty="0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kế</a:t>
            </a:r>
            <a:r>
              <a:rPr lang="en-US" sz="2000" dirty="0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thuật</a:t>
            </a:r>
            <a:r>
              <a:rPr lang="en-US" sz="2000" dirty="0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toán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:</a:t>
            </a:r>
            <a:endParaRPr lang="en-US" sz="2000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Divide</a:t>
            </a:r>
            <a:r>
              <a:rPr lang="en-US" sz="1800" dirty="0">
                <a:latin typeface="Helvetica" charset="0"/>
                <a:ea typeface="ＭＳ Ｐゴシック" charset="0"/>
              </a:rPr>
              <a:t>: 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chia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tập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dữ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liệu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thành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2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dãy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(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tập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)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không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giao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nhau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1800" baseline="-25000" dirty="0" smtClean="0">
                <a:latin typeface="Times New Roman" charset="0"/>
                <a:ea typeface="ＭＳ Ｐゴシック" charset="0"/>
              </a:rPr>
              <a:t>1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và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 S</a:t>
            </a:r>
            <a:r>
              <a:rPr lang="en-US" sz="1800" baseline="-25000" dirty="0" smtClean="0">
                <a:latin typeface="Times New Roman" charset="0"/>
                <a:ea typeface="ＭＳ Ｐゴシック" charset="0"/>
              </a:rPr>
              <a:t>2</a:t>
            </a:r>
            <a:endParaRPr lang="en-US" sz="1800" dirty="0">
              <a:latin typeface="Helvetica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r>
              <a:rPr lang="en-US" sz="1800" dirty="0" smtClean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Recur (</a:t>
            </a:r>
            <a:r>
              <a:rPr lang="en-US" sz="18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đệ</a:t>
            </a:r>
            <a:r>
              <a:rPr lang="en-US" sz="1800" dirty="0" smtClean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quy</a:t>
            </a:r>
            <a:r>
              <a:rPr lang="en-US" sz="1800" dirty="0" smtClean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)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: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giải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các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bài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toán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con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trên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hai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dãy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1800" baseline="-25000" dirty="0" smtClean="0">
                <a:latin typeface="Times New Roman" charset="0"/>
                <a:ea typeface="ＭＳ Ｐゴシック" charset="0"/>
              </a:rPr>
              <a:t>1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và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 S</a:t>
            </a:r>
            <a:r>
              <a:rPr lang="en-US" sz="1800" baseline="-25000" dirty="0" smtClean="0">
                <a:latin typeface="Times New Roman" charset="0"/>
                <a:ea typeface="ＭＳ Ｐゴシック" charset="0"/>
              </a:rPr>
              <a:t>2</a:t>
            </a:r>
            <a:endParaRPr lang="en-US" sz="1800" dirty="0">
              <a:latin typeface="Helvetica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r>
              <a:rPr lang="en-US" sz="1800" dirty="0" smtClean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Conquer (</a:t>
            </a:r>
            <a:r>
              <a:rPr lang="en-US" sz="1800" dirty="0" err="1" smtClean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trị</a:t>
            </a:r>
            <a:r>
              <a:rPr lang="en-US" sz="1800" dirty="0" smtClean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)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: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kết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hợp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các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lời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giải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cho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1800" baseline="-25000" dirty="0" smtClean="0">
                <a:latin typeface="Times New Roman" charset="0"/>
                <a:ea typeface="ＭＳ Ｐゴシック" charset="0"/>
              </a:rPr>
              <a:t>1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và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 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S</a:t>
            </a:r>
            <a:r>
              <a:rPr lang="en-US" sz="1800" baseline="-25000" dirty="0">
                <a:latin typeface="Times New Roman" charset="0"/>
                <a:ea typeface="ＭＳ Ｐゴシック" charset="0"/>
              </a:rPr>
              <a:t>2</a:t>
            </a:r>
            <a:r>
              <a:rPr lang="en-US" sz="1800" dirty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để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có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lời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giải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cho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S</a:t>
            </a:r>
            <a:endParaRPr lang="en-US" sz="1800" b="1" i="1" dirty="0">
              <a:latin typeface="Times New Roman" charset="0"/>
              <a:ea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Trường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hợp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cơ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sở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của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lời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gọi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đệ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quy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là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các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bài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toán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có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kích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thước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dữ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liệu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0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hoặc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1 </a:t>
            </a:r>
            <a:r>
              <a:rPr lang="en-US" sz="2000" dirty="0">
                <a:latin typeface="Helvetica" charset="0"/>
                <a:ea typeface="ＭＳ Ｐゴシック" charset="0"/>
                <a:cs typeface="ＭＳ Ｐゴシック" charset="0"/>
              </a:rPr>
              <a:t>1</a:t>
            </a:r>
          </a:p>
        </p:txBody>
      </p:sp>
      <p:sp>
        <p:nvSpPr>
          <p:cNvPr id="22533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sz="half" idx="2"/>
          </p:nvPr>
        </p:nvSpPr>
        <p:spPr>
          <a:xfrm>
            <a:off x="4953000" y="1752600"/>
            <a:ext cx="3657600" cy="4343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Merge-sort</a:t>
            </a:r>
            <a:r>
              <a:rPr lang="en-US" sz="2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là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thuật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toán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dựa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trên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chiến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lược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chia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để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trị</a:t>
            </a:r>
            <a:endParaRPr lang="en-US" sz="2000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1800" dirty="0" err="1" smtClean="0">
                <a:latin typeface="Helvetica" charset="0"/>
                <a:ea typeface="ＭＳ Ｐゴシック" charset="0"/>
              </a:rPr>
              <a:t>Có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độ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phức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tạp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là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 smtClean="0">
                <a:latin typeface="Times New Roman" charset="0"/>
                <a:ea typeface="ＭＳ Ｐゴシック" charset="0"/>
              </a:rPr>
              <a:t>O</a:t>
            </a:r>
            <a:r>
              <a:rPr lang="en-US" sz="1800" dirty="0">
                <a:latin typeface="Times New Roman" charset="0"/>
                <a:ea typeface="ＭＳ Ｐゴシック" charset="0"/>
              </a:rPr>
              <a:t>(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n</a:t>
            </a:r>
            <a:r>
              <a:rPr lang="en-US" sz="1800" dirty="0">
                <a:latin typeface="Times New Roman" charset="0"/>
                <a:ea typeface="ＭＳ Ｐゴシック" charset="0"/>
              </a:rPr>
              <a:t> log 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n</a:t>
            </a:r>
            <a:r>
              <a:rPr lang="en-US" sz="1800" dirty="0" smtClean="0">
                <a:latin typeface="Times New Roman" charset="0"/>
                <a:ea typeface="ＭＳ Ｐゴシック" charset="0"/>
              </a:rPr>
              <a:t>)</a:t>
            </a:r>
            <a:endParaRPr lang="en-US" sz="1800" dirty="0">
              <a:latin typeface="Helvetica" charset="0"/>
              <a:ea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09279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Merge-Sort</a:t>
            </a:r>
            <a:endParaRPr lang="en-US">
              <a:latin typeface="Helvetica" charset="0"/>
              <a:ea typeface="ＭＳ Ｐゴシック" charset="0"/>
              <a:cs typeface="Tahoma" charset="0"/>
            </a:endParaRPr>
          </a:p>
        </p:txBody>
      </p:sp>
      <p:sp>
        <p:nvSpPr>
          <p:cNvPr id="235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half" idx="1"/>
          </p:nvPr>
        </p:nvSpPr>
        <p:spPr>
          <a:xfrm>
            <a:off x="762000" y="1676400"/>
            <a:ext cx="3810000" cy="4267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ＭＳ Ｐゴシック" charset="0"/>
                <a:cs typeface="ＭＳ Ｐゴシック" charset="0"/>
              </a:rPr>
              <a:t>Merge-sort 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trên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tập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dữ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liệu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2400" b="1" i="1" dirty="0">
                <a:latin typeface="Times New Roman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24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có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b="1" i="1" dirty="0">
                <a:latin typeface="Times New Roman" charset="0"/>
                <a:ea typeface="ＭＳ Ｐゴシック" charset="0"/>
                <a:cs typeface="ＭＳ Ｐゴシック" charset="0"/>
              </a:rPr>
              <a:t>n</a:t>
            </a:r>
            <a:r>
              <a:rPr lang="en-US" sz="24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phần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tử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bao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gồm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3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bước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sau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:</a:t>
            </a:r>
            <a:endParaRPr lang="en-US" sz="2400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Divide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: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phân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hoạch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thành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02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dãy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con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2000" baseline="-25000" dirty="0" smtClean="0">
                <a:latin typeface="Times New Roman" charset="0"/>
                <a:ea typeface="ＭＳ Ｐゴシック" charset="0"/>
              </a:rPr>
              <a:t>1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2000" i="1" dirty="0" err="1" smtClean="0">
                <a:latin typeface="Times New Roman" charset="0"/>
                <a:ea typeface="ＭＳ Ｐゴシック" charset="0"/>
              </a:rPr>
              <a:t>và</a:t>
            </a:r>
            <a:r>
              <a:rPr lang="en-US" sz="2000" b="1" i="1" dirty="0">
                <a:latin typeface="Times New Roman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2000" baseline="-25000" dirty="0" smtClean="0">
                <a:latin typeface="Times New Roman" charset="0"/>
                <a:ea typeface="ＭＳ Ｐゴシック" charset="0"/>
              </a:rPr>
              <a:t>2.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Mỗi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dãy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con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có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khoảng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n</a:t>
            </a:r>
            <a:r>
              <a:rPr lang="en-US" sz="2000" dirty="0">
                <a:latin typeface="Symbol" charset="0"/>
                <a:ea typeface="ＭＳ Ｐゴシック" charset="0"/>
              </a:rPr>
              <a:t>/</a:t>
            </a:r>
            <a:r>
              <a:rPr lang="en-US" sz="2000" dirty="0">
                <a:latin typeface="Times New Roman" charset="0"/>
                <a:ea typeface="ＭＳ Ｐゴシック" charset="0"/>
              </a:rPr>
              <a:t>2</a:t>
            </a:r>
            <a:r>
              <a:rPr lang="en-US" sz="2000" dirty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phần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tử</a:t>
            </a:r>
            <a:endParaRPr lang="en-US" sz="2000" dirty="0">
              <a:latin typeface="Helvetica" charset="0"/>
              <a:ea typeface="ＭＳ Ｐゴシック" charset="0"/>
            </a:endParaRP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Recur</a:t>
            </a:r>
            <a:r>
              <a:rPr lang="en-US" sz="2000" dirty="0">
                <a:latin typeface="Helvetica" charset="0"/>
                <a:ea typeface="ＭＳ Ｐゴシック" charset="0"/>
              </a:rPr>
              <a:t>: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gọi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đệ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quy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để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sắp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xếp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hai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dãy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2000" baseline="-25000" dirty="0" smtClean="0">
                <a:latin typeface="Times New Roman" charset="0"/>
                <a:ea typeface="ＭＳ Ｐゴシック" charset="0"/>
              </a:rPr>
              <a:t>1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và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 </a:t>
            </a:r>
            <a:r>
              <a:rPr lang="en-US" sz="2000" b="1" i="1" dirty="0">
                <a:latin typeface="Times New Roman" charset="0"/>
                <a:ea typeface="ＭＳ Ｐゴシック" charset="0"/>
              </a:rPr>
              <a:t>S</a:t>
            </a:r>
            <a:r>
              <a:rPr lang="en-US" sz="2000" baseline="-25000" dirty="0">
                <a:latin typeface="Times New Roman" charset="0"/>
                <a:ea typeface="ＭＳ Ｐゴシック" charset="0"/>
              </a:rPr>
              <a:t>2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Helvetica" charset="0"/>
                <a:ea typeface="ＭＳ Ｐゴシック" charset="0"/>
              </a:rPr>
              <a:t>Conquer</a:t>
            </a:r>
            <a:r>
              <a:rPr lang="en-US" sz="2000" dirty="0">
                <a:latin typeface="Helvetica" charset="0"/>
                <a:ea typeface="ＭＳ Ｐゴシック" charset="0"/>
              </a:rPr>
              <a:t>: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trộn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2000" baseline="-25000" dirty="0" smtClean="0">
                <a:latin typeface="Times New Roman" charset="0"/>
                <a:ea typeface="ＭＳ Ｐゴシック" charset="0"/>
              </a:rPr>
              <a:t>1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và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2000" baseline="-25000" dirty="0" smtClean="0">
                <a:latin typeface="Times New Roman" charset="0"/>
                <a:ea typeface="ＭＳ Ｐゴシック" charset="0"/>
              </a:rPr>
              <a:t>2</a:t>
            </a:r>
            <a:r>
              <a:rPr lang="en-US" sz="2000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thành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một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dãy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được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sắp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xếp</a:t>
            </a:r>
            <a:endParaRPr lang="en-US" sz="2000" dirty="0">
              <a:latin typeface="Helvetica" charset="0"/>
              <a:ea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44</a:t>
            </a:fld>
            <a:endParaRPr lang="vi-VN"/>
          </a:p>
        </p:txBody>
      </p:sp>
      <p:sp>
        <p:nvSpPr>
          <p:cNvPr id="23557" name="Text Box 6"/>
          <p:cNvSpPr txBox="1">
            <a:spLocks noChangeArrowheads="1"/>
          </p:cNvSpPr>
          <p:nvPr/>
        </p:nvSpPr>
        <p:spPr bwMode="auto">
          <a:xfrm>
            <a:off x="4724400" y="1784350"/>
            <a:ext cx="4095750" cy="3298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42900"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sz="2000" dirty="0">
                <a:latin typeface="Times New Roman" charset="0"/>
              </a:rPr>
              <a:t> </a:t>
            </a:r>
            <a:r>
              <a:rPr lang="en-US" sz="2000" b="1" i="1" dirty="0" err="1">
                <a:solidFill>
                  <a:schemeClr val="tx2"/>
                </a:solidFill>
                <a:latin typeface="Times New Roman" charset="0"/>
              </a:rPr>
              <a:t>mergeSort</a:t>
            </a:r>
            <a:r>
              <a:rPr lang="en-US" sz="2000" dirty="0">
                <a:solidFill>
                  <a:schemeClr val="tx2"/>
                </a:solidFill>
                <a:latin typeface="Times New Roman" charset="0"/>
              </a:rPr>
              <a:t>(</a:t>
            </a:r>
            <a:r>
              <a:rPr lang="en-US" sz="2000" b="1" i="1" dirty="0">
                <a:solidFill>
                  <a:schemeClr val="tx2"/>
                </a:solidFill>
                <a:latin typeface="Times New Roman" charset="0"/>
              </a:rPr>
              <a:t>S, C</a:t>
            </a:r>
            <a:r>
              <a:rPr lang="en-US" sz="2000" dirty="0">
                <a:solidFill>
                  <a:schemeClr val="tx2"/>
                </a:solidFill>
                <a:latin typeface="Times New Roman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dirty="0">
                <a:solidFill>
                  <a:schemeClr val="tx2"/>
                </a:solidFill>
                <a:latin typeface="Times New Roman" charset="0"/>
              </a:rPr>
              <a:t>	</a:t>
            </a:r>
            <a:r>
              <a:rPr lang="en-US" sz="2000" b="1" dirty="0">
                <a:solidFill>
                  <a:srgbClr val="000000"/>
                </a:solidFill>
                <a:latin typeface="Times New Roman" charset="0"/>
              </a:rPr>
              <a:t>Input</a:t>
            </a:r>
            <a:r>
              <a:rPr lang="en-US" sz="2000" dirty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dãy</a:t>
            </a: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dữ</a:t>
            </a: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liệu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S </a:t>
            </a:r>
            <a:r>
              <a:rPr lang="en-US" sz="2000" i="1" dirty="0" err="1" smtClean="0">
                <a:solidFill>
                  <a:schemeClr val="accent2"/>
                </a:solidFill>
                <a:latin typeface="Times New Roman" charset="0"/>
              </a:rPr>
              <a:t>có</a:t>
            </a:r>
            <a:r>
              <a:rPr lang="en-US" sz="2000" b="1" i="1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 dirty="0" smtClean="0">
                <a:solidFill>
                  <a:schemeClr val="accent2"/>
                </a:solidFill>
                <a:latin typeface="Times New Roman" charset="0"/>
              </a:rPr>
              <a:t>n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					</a:t>
            </a:r>
            <a:r>
              <a:rPr lang="en-US" sz="2000" dirty="0" err="1" smtClean="0">
                <a:solidFill>
                  <a:schemeClr val="accent2"/>
                </a:solidFill>
                <a:latin typeface="Times New Roman" charset="0"/>
              </a:rPr>
              <a:t>phần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dirty="0" err="1" smtClean="0">
                <a:solidFill>
                  <a:schemeClr val="accent2"/>
                </a:solidFill>
                <a:latin typeface="Times New Roman" charset="0"/>
              </a:rPr>
              <a:t>tử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, </a:t>
            </a:r>
            <a:r>
              <a:rPr lang="en-US" sz="2000" dirty="0" err="1" smtClean="0">
                <a:solidFill>
                  <a:schemeClr val="accent2"/>
                </a:solidFill>
                <a:latin typeface="Times New Roman" charset="0"/>
              </a:rPr>
              <a:t>phép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dirty="0" err="1" smtClean="0">
                <a:solidFill>
                  <a:schemeClr val="accent2"/>
                </a:solidFill>
                <a:latin typeface="Times New Roman" charset="0"/>
              </a:rPr>
              <a:t>toán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so </a:t>
            </a:r>
            <a:r>
              <a:rPr lang="en-US" sz="2000" dirty="0" err="1" smtClean="0">
                <a:solidFill>
                  <a:schemeClr val="accent2"/>
                </a:solidFill>
                <a:latin typeface="Times New Roman" charset="0"/>
              </a:rPr>
              <a:t>sánh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C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sz="2000" b="1" dirty="0">
                <a:solidFill>
                  <a:srgbClr val="000000"/>
                </a:solidFill>
                <a:latin typeface="Times New Roman" charset="0"/>
              </a:rPr>
              <a:t>Output</a:t>
            </a:r>
            <a:r>
              <a:rPr lang="en-US" sz="2000" dirty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dãy</a:t>
            </a: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dữ</a:t>
            </a: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liệu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S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dirty="0" err="1" smtClean="0">
                <a:solidFill>
                  <a:schemeClr val="accent2"/>
                </a:solidFill>
                <a:latin typeface="Times New Roman" charset="0"/>
              </a:rPr>
              <a:t>được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dirty="0" err="1" smtClean="0">
                <a:solidFill>
                  <a:schemeClr val="accent2"/>
                </a:solidFill>
                <a:latin typeface="Times New Roman" charset="0"/>
              </a:rPr>
              <a:t>sắp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dirty="0" err="1" smtClean="0">
                <a:solidFill>
                  <a:schemeClr val="accent2"/>
                </a:solidFill>
                <a:latin typeface="Times New Roman" charset="0"/>
              </a:rPr>
              <a:t>xếp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dirty="0" err="1" smtClean="0">
                <a:solidFill>
                  <a:schemeClr val="accent2"/>
                </a:solidFill>
                <a:latin typeface="Times New Roman" charset="0"/>
              </a:rPr>
              <a:t>theo</a:t>
            </a:r>
            <a:r>
              <a:rPr lang="en-US" sz="20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2000" b="1" i="1" dirty="0" smtClean="0">
                <a:solidFill>
                  <a:schemeClr val="accent2"/>
                </a:solidFill>
                <a:latin typeface="Times New Roman" charset="0"/>
              </a:rPr>
              <a:t>C</a:t>
            </a:r>
            <a:endParaRPr lang="en-US" sz="2000" dirty="0">
              <a:solidFill>
                <a:schemeClr val="tx2"/>
              </a:solidFill>
              <a:latin typeface="Times New Roman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charset="0"/>
              </a:rPr>
              <a:t>if</a:t>
            </a:r>
            <a:r>
              <a:rPr lang="en-US" sz="2000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2000" b="1" i="1" dirty="0" err="1">
                <a:solidFill>
                  <a:schemeClr val="accent2"/>
                </a:solidFill>
                <a:latin typeface="Times New Roman" charset="0"/>
              </a:rPr>
              <a:t>S.size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() </a:t>
            </a:r>
            <a:r>
              <a:rPr lang="en-US" sz="2000" b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&gt; 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S</a:t>
            </a:r>
            <a:r>
              <a:rPr lang="en-US" sz="2000" baseline="-25000" dirty="0">
                <a:solidFill>
                  <a:schemeClr val="accent2"/>
                </a:solidFill>
                <a:latin typeface="Times New Roman" charset="0"/>
              </a:rPr>
              <a:t>1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, 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S</a:t>
            </a:r>
            <a:r>
              <a:rPr lang="en-US" sz="2000" baseline="-25000" dirty="0">
                <a:solidFill>
                  <a:schemeClr val="accent2"/>
                </a:solidFill>
                <a:latin typeface="Times New Roman" charset="0"/>
              </a:rPr>
              <a:t>2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)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partition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S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,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 n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/2)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sz="2000" b="1" i="1" dirty="0" err="1">
                <a:solidFill>
                  <a:schemeClr val="accent2"/>
                </a:solidFill>
                <a:latin typeface="Times New Roman" charset="0"/>
              </a:rPr>
              <a:t>mergeSort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S</a:t>
            </a:r>
            <a:r>
              <a:rPr lang="en-US" sz="2000" baseline="-25000" dirty="0">
                <a:solidFill>
                  <a:schemeClr val="accent2"/>
                </a:solidFill>
                <a:latin typeface="Times New Roman" charset="0"/>
              </a:rPr>
              <a:t>1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,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 C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sz="2000" b="1" i="1" dirty="0" err="1">
                <a:solidFill>
                  <a:schemeClr val="accent2"/>
                </a:solidFill>
                <a:latin typeface="Times New Roman" charset="0"/>
              </a:rPr>
              <a:t>mergeSort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S</a:t>
            </a:r>
            <a:r>
              <a:rPr lang="en-US" sz="2000" baseline="-25000" dirty="0">
                <a:solidFill>
                  <a:schemeClr val="accent2"/>
                </a:solidFill>
                <a:latin typeface="Times New Roman" charset="0"/>
              </a:rPr>
              <a:t>2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,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 C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S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merge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S</a:t>
            </a:r>
            <a:r>
              <a:rPr lang="en-US" sz="2000" baseline="-25000" dirty="0">
                <a:solidFill>
                  <a:schemeClr val="accent2"/>
                </a:solidFill>
                <a:latin typeface="Times New Roman" charset="0"/>
              </a:rPr>
              <a:t>1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,</a:t>
            </a:r>
            <a:r>
              <a:rPr lang="en-US" sz="2000" b="1" i="1" dirty="0">
                <a:solidFill>
                  <a:schemeClr val="accent2"/>
                </a:solidFill>
                <a:latin typeface="Times New Roman" charset="0"/>
              </a:rPr>
              <a:t> S</a:t>
            </a:r>
            <a:r>
              <a:rPr lang="en-US" sz="2000" baseline="-25000" dirty="0">
                <a:solidFill>
                  <a:schemeClr val="accent2"/>
                </a:solidFill>
                <a:latin typeface="Times New Roman" charset="0"/>
              </a:rPr>
              <a:t>2</a:t>
            </a:r>
            <a:r>
              <a:rPr lang="en-US" sz="2000" dirty="0">
                <a:solidFill>
                  <a:schemeClr val="accent2"/>
                </a:solidFill>
                <a:latin typeface="Times New Roman" charset="0"/>
              </a:rPr>
              <a:t>)</a:t>
            </a:r>
            <a:endParaRPr lang="en-US" sz="2000" b="1" i="1" dirty="0">
              <a:solidFill>
                <a:schemeClr val="accent2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4397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Trộn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2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tập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đã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được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sắp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xếp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458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2895600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Bước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trị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(conquer)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của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thuật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toán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bao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gồm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việc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trộn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hai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tập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con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đã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được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sắp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xếp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A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và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>
                <a:latin typeface="Times New Roman" charset="0"/>
                <a:ea typeface="ＭＳ Ｐゴシック" charset="0"/>
                <a:cs typeface="ＭＳ Ｐゴシック" charset="0"/>
              </a:rPr>
              <a:t>B</a:t>
            </a:r>
            <a:r>
              <a:rPr lang="en-US" sz="2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thành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tập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được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sắp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xếp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S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chứa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các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phần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tử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của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A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và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>
                <a:latin typeface="Times New Roman" charset="0"/>
                <a:ea typeface="ＭＳ Ｐゴシック" charset="0"/>
                <a:cs typeface="ＭＳ Ｐゴシック" charset="0"/>
              </a:rPr>
              <a:t>B</a:t>
            </a:r>
            <a:endParaRPr lang="en-US" sz="2000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Độ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phức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tạp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là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O</a:t>
            </a:r>
            <a:r>
              <a:rPr lang="en-US" sz="2000" dirty="0">
                <a:latin typeface="Times New Roman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2000" b="1" i="1" dirty="0">
                <a:latin typeface="Times New Roman" charset="0"/>
                <a:ea typeface="ＭＳ Ｐゴシック" charset="0"/>
                <a:cs typeface="ＭＳ Ｐゴシック" charset="0"/>
              </a:rPr>
              <a:t>n</a:t>
            </a:r>
            <a:r>
              <a:rPr lang="en-US" sz="2000" dirty="0" smtClean="0">
                <a:latin typeface="Times New Roman" charset="0"/>
                <a:ea typeface="ＭＳ Ｐゴシック" charset="0"/>
                <a:cs typeface="ＭＳ Ｐゴシック" charset="0"/>
              </a:rPr>
              <a:t>)</a:t>
            </a:r>
            <a:endParaRPr lang="en-US" sz="2000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45</a:t>
            </a:fld>
            <a:endParaRPr lang="vi-VN"/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3886200" y="1587500"/>
            <a:ext cx="4876800" cy="439966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42900"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sz="1800" dirty="0">
                <a:latin typeface="Times New Roman" charset="0"/>
              </a:rPr>
              <a:t> </a:t>
            </a:r>
            <a:r>
              <a:rPr lang="en-US" sz="1800" b="1" i="1" dirty="0">
                <a:solidFill>
                  <a:schemeClr val="tx2"/>
                </a:solidFill>
                <a:latin typeface="Times New Roman" charset="0"/>
              </a:rPr>
              <a:t>merge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(</a:t>
            </a:r>
            <a:r>
              <a:rPr lang="en-US" sz="1800" b="1" i="1" dirty="0">
                <a:solidFill>
                  <a:schemeClr val="tx2"/>
                </a:solidFill>
                <a:latin typeface="Times New Roman" charset="0"/>
              </a:rPr>
              <a:t>A, B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Input</a:t>
            </a:r>
            <a:r>
              <a:rPr lang="en-US" sz="1800" dirty="0">
                <a:latin typeface="Times New Roman" charset="0"/>
              </a:rPr>
              <a:t> </a:t>
            </a:r>
            <a:r>
              <a:rPr lang="en-US" sz="1800" dirty="0" err="1" smtClean="0">
                <a:latin typeface="Times New Roman" charset="0"/>
              </a:rPr>
              <a:t>Hai</a:t>
            </a:r>
            <a:r>
              <a:rPr lang="en-US" sz="1800" dirty="0" smtClean="0">
                <a:latin typeface="Times New Roman" charset="0"/>
              </a:rPr>
              <a:t> </a:t>
            </a:r>
            <a:r>
              <a:rPr lang="en-US" sz="1800" dirty="0" err="1" smtClean="0">
                <a:latin typeface="Times New Roman" charset="0"/>
              </a:rPr>
              <a:t>dãy</a:t>
            </a:r>
            <a:r>
              <a:rPr lang="en-US" sz="1800" dirty="0" smtClean="0">
                <a:latin typeface="Times New Roman" charset="0"/>
              </a:rPr>
              <a:t> </a:t>
            </a:r>
            <a:r>
              <a:rPr lang="en-US" sz="1800" b="1" i="1" dirty="0" smtClean="0">
                <a:solidFill>
                  <a:schemeClr val="accent2"/>
                </a:solidFill>
                <a:latin typeface="Times New Roman" charset="0"/>
              </a:rPr>
              <a:t>A </a:t>
            </a:r>
            <a:r>
              <a:rPr lang="en-US" sz="1800" b="1" i="1" dirty="0" err="1" smtClean="0">
                <a:latin typeface="Times New Roman" charset="0"/>
              </a:rPr>
              <a:t>và</a:t>
            </a:r>
            <a:r>
              <a:rPr lang="en-US" sz="1800" dirty="0" smtClean="0">
                <a:latin typeface="Times New Roman" charset="0"/>
              </a:rPr>
              <a:t> </a:t>
            </a:r>
            <a:r>
              <a:rPr lang="en-US" sz="1800" b="1" i="1" dirty="0" smtClean="0">
                <a:solidFill>
                  <a:schemeClr val="accent2"/>
                </a:solidFill>
                <a:latin typeface="Times New Roman" charset="0"/>
              </a:rPr>
              <a:t>B. </a:t>
            </a:r>
            <a:r>
              <a:rPr lang="en-US" sz="1800" i="1" dirty="0" err="1" smtClean="0">
                <a:solidFill>
                  <a:srgbClr val="000000"/>
                </a:solidFill>
                <a:latin typeface="Times New Roman" charset="0"/>
              </a:rPr>
              <a:t>Mỗi</a:t>
            </a:r>
            <a:r>
              <a:rPr lang="en-US" sz="1800" i="1" dirty="0" smtClean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sz="1800" i="1" dirty="0" err="1" smtClean="0">
                <a:solidFill>
                  <a:srgbClr val="000000"/>
                </a:solidFill>
                <a:latin typeface="Times New Roman" charset="0"/>
              </a:rPr>
              <a:t>dãy</a:t>
            </a:r>
            <a:r>
              <a:rPr lang="en-US" sz="1800" i="1" dirty="0" smtClean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sz="1800" i="1" dirty="0" err="1" smtClean="0">
                <a:solidFill>
                  <a:srgbClr val="000000"/>
                </a:solidFill>
                <a:latin typeface="Times New Roman" charset="0"/>
              </a:rPr>
              <a:t>có</a:t>
            </a:r>
            <a:r>
              <a:rPr lang="en-US" sz="1800" i="1" dirty="0" smtClean="0">
                <a:solidFill>
                  <a:srgbClr val="000000"/>
                </a:solidFill>
                <a:latin typeface="Times New Roman" charset="0"/>
              </a:rPr>
              <a:t> n/2 </a:t>
            </a:r>
            <a:r>
              <a:rPr lang="en-US" sz="1800" i="1" dirty="0" err="1" smtClean="0">
                <a:solidFill>
                  <a:srgbClr val="000000"/>
                </a:solidFill>
                <a:latin typeface="Times New Roman" charset="0"/>
              </a:rPr>
              <a:t>phần</a:t>
            </a:r>
            <a:r>
              <a:rPr lang="en-US" sz="1800" i="1" dirty="0" smtClean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sz="1800" i="1" dirty="0" err="1" smtClean="0">
                <a:solidFill>
                  <a:srgbClr val="000000"/>
                </a:solidFill>
                <a:latin typeface="Times New Roman" charset="0"/>
              </a:rPr>
              <a:t>tử</a:t>
            </a:r>
            <a:r>
              <a:rPr lang="en-US" sz="1800" i="1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endParaRPr lang="en-US" sz="1800" dirty="0">
              <a:solidFill>
                <a:schemeClr val="accent2"/>
              </a:solidFill>
              <a:latin typeface="Times New Roman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Output</a:t>
            </a:r>
            <a:r>
              <a:rPr lang="en-US" sz="1800" dirty="0">
                <a:latin typeface="Times New Roman" charset="0"/>
              </a:rPr>
              <a:t> </a:t>
            </a:r>
            <a:r>
              <a:rPr lang="en-US" sz="1800" dirty="0" err="1" smtClean="0">
                <a:latin typeface="Times New Roman" charset="0"/>
              </a:rPr>
              <a:t>dãy</a:t>
            </a:r>
            <a:r>
              <a:rPr lang="en-US" sz="1800" dirty="0" smtClean="0">
                <a:latin typeface="Times New Roman" charset="0"/>
              </a:rPr>
              <a:t> </a:t>
            </a:r>
            <a:r>
              <a:rPr lang="en-US" sz="1800" dirty="0" err="1" smtClean="0">
                <a:latin typeface="Times New Roman" charset="0"/>
              </a:rPr>
              <a:t>được</a:t>
            </a:r>
            <a:r>
              <a:rPr lang="en-US" sz="1800" dirty="0" smtClean="0">
                <a:latin typeface="Times New Roman" charset="0"/>
              </a:rPr>
              <a:t> </a:t>
            </a:r>
            <a:r>
              <a:rPr lang="en-US" sz="1800" dirty="0" err="1" smtClean="0">
                <a:latin typeface="Times New Roman" charset="0"/>
              </a:rPr>
              <a:t>sắp</a:t>
            </a:r>
            <a:r>
              <a:rPr lang="en-US" sz="1800" dirty="0" smtClean="0">
                <a:latin typeface="Times New Roman" charset="0"/>
              </a:rPr>
              <a:t> </a:t>
            </a:r>
            <a:r>
              <a:rPr lang="en-US" sz="1800" dirty="0" err="1" smtClean="0">
                <a:latin typeface="Times New Roman" charset="0"/>
              </a:rPr>
              <a:t>của</a:t>
            </a:r>
            <a:r>
              <a:rPr lang="en-US" sz="1800" dirty="0" smtClean="0">
                <a:latin typeface="Times New Roman" charset="0"/>
              </a:rPr>
              <a:t> </a:t>
            </a:r>
            <a:r>
              <a:rPr lang="en-US" sz="18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A </a:t>
            </a:r>
            <a:r>
              <a:rPr lang="en-US" sz="2000" dirty="0">
                <a:latin typeface="Symbol" charset="0"/>
                <a:sym typeface="Symbol" charset="0"/>
              </a:rPr>
              <a:t>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 B</a:t>
            </a:r>
            <a:endParaRPr lang="en-US" sz="1800" dirty="0">
              <a:solidFill>
                <a:schemeClr val="accent2"/>
              </a:solidFill>
              <a:latin typeface="Times New Roman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endParaRPr lang="en-US" sz="800" b="1" i="1" dirty="0">
              <a:solidFill>
                <a:schemeClr val="accent2"/>
              </a:solidFill>
              <a:latin typeface="Times New Roman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S </a:t>
            </a:r>
            <a:r>
              <a:rPr lang="en-US" sz="1800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sz="1800" b="1" i="1" dirty="0" err="1" smtClean="0">
                <a:solidFill>
                  <a:schemeClr val="accent2"/>
                </a:solidFill>
                <a:latin typeface="Times New Roman" charset="0"/>
                <a:sym typeface="Symbol" charset="0"/>
              </a:rPr>
              <a:t>rỗng</a:t>
            </a:r>
            <a:endParaRPr lang="en-US" sz="1800" dirty="0">
              <a:solidFill>
                <a:schemeClr val="accent2"/>
              </a:solidFill>
              <a:latin typeface="Times New Roman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while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Symbol" charset="0"/>
                <a:sym typeface="Symbol" charset="0"/>
              </a:rPr>
              <a:t>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A.isEmpty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  </a:t>
            </a:r>
            <a:r>
              <a:rPr lang="en-US" sz="2000" b="1" dirty="0">
                <a:solidFill>
                  <a:srgbClr val="000000"/>
                </a:solidFill>
                <a:latin typeface="Symbol" charset="0"/>
                <a:sym typeface="Symbol" charset="0"/>
              </a:rPr>
              <a:t></a:t>
            </a:r>
            <a:r>
              <a:rPr lang="en-US" sz="1800" dirty="0">
                <a:latin typeface="Symbol" charset="0"/>
                <a:sym typeface="Symbol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Symbol" charset="0"/>
                <a:sym typeface="Symbol" charset="0"/>
              </a:rPr>
              <a:t>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B.isEmpty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</a:t>
            </a:r>
            <a:endParaRPr lang="en-US" sz="1800" dirty="0">
              <a:solidFill>
                <a:schemeClr val="accent2"/>
              </a:solidFill>
              <a:latin typeface="Times New Roman" charset="0"/>
              <a:sym typeface="Symbol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if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A.first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.element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&lt;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B.first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.element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		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S.insertLast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A.remove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A.first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else</a:t>
            </a:r>
            <a:endParaRPr lang="en-US" sz="1800" dirty="0">
              <a:solidFill>
                <a:schemeClr val="tx2"/>
              </a:solidFill>
              <a:latin typeface="Times New Roman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		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S.insertLast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B.remove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B.first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while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Symbol" charset="0"/>
                <a:sym typeface="Symbol" charset="0"/>
              </a:rPr>
              <a:t>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A.isEmpty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		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S.insertLast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A.remove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A.first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while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Symbol" charset="0"/>
                <a:sym typeface="Symbol" charset="0"/>
              </a:rPr>
              <a:t>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B.isEmpty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		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S.insertLast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B.remove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B.first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()))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return 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xmlns="" val="278820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7772400" cy="685800"/>
          </a:xfrm>
        </p:spPr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Phân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hoạch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46</a:t>
            </a:fld>
            <a:endParaRPr lang="vi-VN"/>
          </a:p>
        </p:txBody>
      </p:sp>
      <p:cxnSp>
        <p:nvCxnSpPr>
          <p:cNvPr id="25605" name="AutoShape 4"/>
          <p:cNvCxnSpPr>
            <a:cxnSpLocks noChangeShapeType="1"/>
            <a:stCxn id="25632" idx="0"/>
            <a:endCxn id="25636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06" name="AutoShape 5"/>
          <p:cNvCxnSpPr>
            <a:cxnSpLocks noChangeShapeType="1"/>
            <a:stCxn id="25633" idx="0"/>
            <a:endCxn id="25636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07" name="AutoShape 6"/>
          <p:cNvCxnSpPr>
            <a:cxnSpLocks noChangeShapeType="1"/>
            <a:stCxn id="25624" idx="0"/>
            <a:endCxn id="25632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08" name="AutoShape 7"/>
          <p:cNvCxnSpPr>
            <a:cxnSpLocks noChangeShapeType="1"/>
            <a:stCxn id="25626" idx="0"/>
            <a:endCxn id="25633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09" name="AutoShape 8"/>
          <p:cNvCxnSpPr>
            <a:cxnSpLocks noChangeShapeType="1"/>
            <a:stCxn id="25632" idx="2"/>
            <a:endCxn id="25625" idx="0"/>
          </p:cNvCxnSpPr>
          <p:nvPr/>
        </p:nvCxnSpPr>
        <p:spPr bwMode="auto">
          <a:xfrm>
            <a:off x="1436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10" name="AutoShape 9"/>
          <p:cNvCxnSpPr>
            <a:cxnSpLocks noChangeShapeType="1"/>
            <a:stCxn id="25633" idx="2"/>
            <a:endCxn id="25627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5611" name="Group 10"/>
          <p:cNvGrpSpPr>
            <a:grpSpLocks/>
          </p:cNvGrpSpPr>
          <p:nvPr/>
        </p:nvGrpSpPr>
        <p:grpSpPr bwMode="auto">
          <a:xfrm>
            <a:off x="1223963" y="3617913"/>
            <a:ext cx="6981825" cy="427037"/>
            <a:chOff x="771" y="2764"/>
            <a:chExt cx="4398" cy="269"/>
          </a:xfrm>
        </p:grpSpPr>
        <p:sp>
          <p:nvSpPr>
            <p:cNvPr id="25636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7  2  9  4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2  4  7  9</a:t>
              </a:r>
            </a:p>
          </p:txBody>
        </p:sp>
        <p:sp>
          <p:nvSpPr>
            <p:cNvPr id="25637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3  8  6  1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1  3  8  6</a:t>
              </a:r>
            </a:p>
          </p:txBody>
        </p:sp>
      </p:grpSp>
      <p:grpSp>
        <p:nvGrpSpPr>
          <p:cNvPr id="25612" name="Group 13"/>
          <p:cNvGrpSpPr>
            <a:grpSpLocks/>
          </p:cNvGrpSpPr>
          <p:nvPr/>
        </p:nvGrpSpPr>
        <p:grpSpPr bwMode="auto"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25632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7  2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2  7</a:t>
              </a:r>
            </a:p>
          </p:txBody>
        </p:sp>
        <p:sp>
          <p:nvSpPr>
            <p:cNvPr id="25633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9  4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4  9</a:t>
              </a:r>
            </a:p>
          </p:txBody>
        </p:sp>
        <p:sp>
          <p:nvSpPr>
            <p:cNvPr id="25634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3  8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3  8</a:t>
              </a:r>
            </a:p>
          </p:txBody>
        </p:sp>
        <p:sp>
          <p:nvSpPr>
            <p:cNvPr id="25635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6  1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1  6</a:t>
              </a:r>
            </a:p>
          </p:txBody>
        </p:sp>
      </p:grpSp>
      <p:grpSp>
        <p:nvGrpSpPr>
          <p:cNvPr id="25613" name="Group 18"/>
          <p:cNvGrpSpPr>
            <a:grpSpLocks/>
          </p:cNvGrpSpPr>
          <p:nvPr/>
        </p:nvGrpSpPr>
        <p:grpSpPr bwMode="auto"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25624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7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7</a:t>
              </a:r>
            </a:p>
          </p:txBody>
        </p:sp>
        <p:sp>
          <p:nvSpPr>
            <p:cNvPr id="25625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2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25626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9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25627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4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25628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3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25629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8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25630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6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25631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1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25614" name="AutoShape 27"/>
          <p:cNvCxnSpPr>
            <a:cxnSpLocks noChangeShapeType="1"/>
            <a:stCxn id="25634" idx="0"/>
            <a:endCxn id="25637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15" name="AutoShape 28"/>
          <p:cNvCxnSpPr>
            <a:cxnSpLocks noChangeShapeType="1"/>
            <a:stCxn id="25635" idx="0"/>
            <a:endCxn id="25637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16" name="AutoShape 29"/>
          <p:cNvCxnSpPr>
            <a:cxnSpLocks noChangeShapeType="1"/>
            <a:stCxn id="25628" idx="0"/>
            <a:endCxn id="25634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17" name="AutoShape 30"/>
          <p:cNvCxnSpPr>
            <a:cxnSpLocks noChangeShapeType="1"/>
            <a:stCxn id="25630" idx="0"/>
            <a:endCxn id="25635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18" name="AutoShape 31"/>
          <p:cNvCxnSpPr>
            <a:cxnSpLocks noChangeShapeType="1"/>
            <a:stCxn id="25634" idx="2"/>
            <a:endCxn id="25629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19" name="AutoShape 32"/>
          <p:cNvCxnSpPr>
            <a:cxnSpLocks noChangeShapeType="1"/>
            <a:stCxn id="25635" idx="2"/>
            <a:endCxn id="25631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5620" name="AutoShape 33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25621" name="AutoShape 34"/>
          <p:cNvCxnSpPr>
            <a:cxnSpLocks noChangeShapeType="1"/>
            <a:stCxn id="25636" idx="0"/>
            <a:endCxn id="25620" idx="2"/>
          </p:cNvCxnSpPr>
          <p:nvPr/>
        </p:nvCxnSpPr>
        <p:spPr bwMode="auto">
          <a:xfrm flipV="1">
            <a:off x="2505075" y="3040063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622" name="AutoShape 35"/>
          <p:cNvCxnSpPr>
            <a:cxnSpLocks noChangeShapeType="1"/>
            <a:stCxn id="25637" idx="0"/>
            <a:endCxn id="25620" idx="2"/>
          </p:cNvCxnSpPr>
          <p:nvPr/>
        </p:nvCxnSpPr>
        <p:spPr bwMode="auto">
          <a:xfrm flipH="1" flipV="1">
            <a:off x="4724400" y="3040063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xmlns="" val="39751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(cont.)</a:t>
            </a:r>
          </a:p>
        </p:txBody>
      </p:sp>
      <p:sp>
        <p:nvSpPr>
          <p:cNvPr id="2662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Lời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gọi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đệ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quy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,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phân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hoạch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47</a:t>
            </a:fld>
            <a:endParaRPr lang="vi-VN"/>
          </a:p>
        </p:txBody>
      </p:sp>
      <p:cxnSp>
        <p:nvCxnSpPr>
          <p:cNvPr id="26629" name="AutoShape 4"/>
          <p:cNvCxnSpPr>
            <a:cxnSpLocks noChangeShapeType="1"/>
            <a:stCxn id="26658" idx="0"/>
            <a:endCxn id="26635" idx="2"/>
          </p:cNvCxnSpPr>
          <p:nvPr/>
        </p:nvCxnSpPr>
        <p:spPr bwMode="auto">
          <a:xfrm flipV="1">
            <a:off x="1436688" y="4064000"/>
            <a:ext cx="106838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30" name="AutoShape 5"/>
          <p:cNvCxnSpPr>
            <a:cxnSpLocks noChangeShapeType="1"/>
            <a:stCxn id="26659" idx="0"/>
            <a:endCxn id="26635" idx="2"/>
          </p:cNvCxnSpPr>
          <p:nvPr/>
        </p:nvCxnSpPr>
        <p:spPr bwMode="auto">
          <a:xfrm flipH="1" flipV="1">
            <a:off x="2505075" y="4064000"/>
            <a:ext cx="10668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31" name="AutoShape 6"/>
          <p:cNvCxnSpPr>
            <a:cxnSpLocks noChangeShapeType="1"/>
            <a:stCxn id="26650" idx="0"/>
            <a:endCxn id="26658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32" name="AutoShape 7"/>
          <p:cNvCxnSpPr>
            <a:cxnSpLocks noChangeShapeType="1"/>
            <a:stCxn id="26652" idx="0"/>
            <a:endCxn id="26659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33" name="AutoShape 8"/>
          <p:cNvCxnSpPr>
            <a:cxnSpLocks noChangeShapeType="1"/>
            <a:stCxn id="26658" idx="2"/>
            <a:endCxn id="26651" idx="0"/>
          </p:cNvCxnSpPr>
          <p:nvPr/>
        </p:nvCxnSpPr>
        <p:spPr bwMode="auto">
          <a:xfrm>
            <a:off x="1436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34" name="AutoShape 9"/>
          <p:cNvCxnSpPr>
            <a:cxnSpLocks noChangeShapeType="1"/>
            <a:stCxn id="26659" idx="2"/>
            <a:endCxn id="26653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635" name="AutoShape 11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 7  2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9  4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26636" name="AutoShape 12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1  3  8  6</a:t>
            </a:r>
          </a:p>
        </p:txBody>
      </p:sp>
      <p:grpSp>
        <p:nvGrpSpPr>
          <p:cNvPr id="26637" name="Group 13"/>
          <p:cNvGrpSpPr>
            <a:grpSpLocks/>
          </p:cNvGrpSpPr>
          <p:nvPr/>
        </p:nvGrpSpPr>
        <p:grpSpPr bwMode="auto"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26658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7  2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2  7</a:t>
              </a:r>
            </a:p>
          </p:txBody>
        </p:sp>
        <p:sp>
          <p:nvSpPr>
            <p:cNvPr id="26659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9  4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4  9</a:t>
              </a:r>
            </a:p>
          </p:txBody>
        </p:sp>
        <p:sp>
          <p:nvSpPr>
            <p:cNvPr id="26660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3  8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3  8</a:t>
              </a:r>
            </a:p>
          </p:txBody>
        </p:sp>
        <p:sp>
          <p:nvSpPr>
            <p:cNvPr id="26661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6  1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1  6</a:t>
              </a:r>
            </a:p>
          </p:txBody>
        </p:sp>
      </p:grpSp>
      <p:grpSp>
        <p:nvGrpSpPr>
          <p:cNvPr id="26638" name="Group 18"/>
          <p:cNvGrpSpPr>
            <a:grpSpLocks/>
          </p:cNvGrpSpPr>
          <p:nvPr/>
        </p:nvGrpSpPr>
        <p:grpSpPr bwMode="auto"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26650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7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7</a:t>
              </a:r>
            </a:p>
          </p:txBody>
        </p:sp>
        <p:sp>
          <p:nvSpPr>
            <p:cNvPr id="26651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2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26652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9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26653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4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26654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3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26655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8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26656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6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26657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1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26639" name="AutoShape 27"/>
          <p:cNvCxnSpPr>
            <a:cxnSpLocks noChangeShapeType="1"/>
            <a:stCxn id="26660" idx="0"/>
            <a:endCxn id="26636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40" name="AutoShape 28"/>
          <p:cNvCxnSpPr>
            <a:cxnSpLocks noChangeShapeType="1"/>
            <a:stCxn id="26661" idx="0"/>
            <a:endCxn id="26636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41" name="AutoShape 29"/>
          <p:cNvCxnSpPr>
            <a:cxnSpLocks noChangeShapeType="1"/>
            <a:stCxn id="26654" idx="0"/>
            <a:endCxn id="26660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42" name="AutoShape 30"/>
          <p:cNvCxnSpPr>
            <a:cxnSpLocks noChangeShapeType="1"/>
            <a:stCxn id="26656" idx="0"/>
            <a:endCxn id="26661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43" name="AutoShape 31"/>
          <p:cNvCxnSpPr>
            <a:cxnSpLocks noChangeShapeType="1"/>
            <a:stCxn id="26660" idx="2"/>
            <a:endCxn id="26655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44" name="AutoShape 32"/>
          <p:cNvCxnSpPr>
            <a:cxnSpLocks noChangeShapeType="1"/>
            <a:stCxn id="26661" idx="2"/>
            <a:endCxn id="26657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645" name="AutoShape 33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26646" name="AutoShape 34"/>
          <p:cNvCxnSpPr>
            <a:cxnSpLocks noChangeShapeType="1"/>
            <a:stCxn id="26635" idx="0"/>
            <a:endCxn id="26645" idx="2"/>
          </p:cNvCxnSpPr>
          <p:nvPr/>
        </p:nvCxnSpPr>
        <p:spPr bwMode="auto">
          <a:xfrm flipV="1">
            <a:off x="2505075" y="3030538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647" name="AutoShape 35"/>
          <p:cNvCxnSpPr>
            <a:cxnSpLocks noChangeShapeType="1"/>
            <a:stCxn id="26636" idx="0"/>
            <a:endCxn id="26645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648" name="Line 37"/>
          <p:cNvSpPr>
            <a:spLocks noChangeShapeType="1"/>
          </p:cNvSpPr>
          <p:nvPr/>
        </p:nvSpPr>
        <p:spPr bwMode="auto">
          <a:xfrm flipH="1">
            <a:off x="2438400" y="3200400"/>
            <a:ext cx="533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1167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(cont.)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Lời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gọi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đệ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quy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,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phân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hoạch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48</a:t>
            </a:fld>
            <a:endParaRPr lang="vi-VN"/>
          </a:p>
        </p:txBody>
      </p:sp>
      <p:cxnSp>
        <p:nvCxnSpPr>
          <p:cNvPr id="27653" name="AutoShape 4"/>
          <p:cNvCxnSpPr>
            <a:cxnSpLocks noChangeShapeType="1"/>
            <a:stCxn id="27661" idx="0"/>
            <a:endCxn id="27659" idx="2"/>
          </p:cNvCxnSpPr>
          <p:nvPr/>
        </p:nvCxnSpPr>
        <p:spPr bwMode="auto">
          <a:xfrm flipV="1">
            <a:off x="1436688" y="4054475"/>
            <a:ext cx="106838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54" name="AutoShape 5"/>
          <p:cNvCxnSpPr>
            <a:cxnSpLocks noChangeShapeType="1"/>
            <a:stCxn id="27662" idx="0"/>
            <a:endCxn id="27659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55" name="AutoShape 6"/>
          <p:cNvCxnSpPr>
            <a:cxnSpLocks noChangeShapeType="1"/>
            <a:stCxn id="27677" idx="0"/>
            <a:endCxn id="27661" idx="2"/>
          </p:cNvCxnSpPr>
          <p:nvPr/>
        </p:nvCxnSpPr>
        <p:spPr bwMode="auto">
          <a:xfrm flipV="1">
            <a:off x="969963" y="5089525"/>
            <a:ext cx="46672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56" name="AutoShape 7"/>
          <p:cNvCxnSpPr>
            <a:cxnSpLocks noChangeShapeType="1"/>
            <a:stCxn id="27679" idx="0"/>
            <a:endCxn id="27662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57" name="AutoShape 8"/>
          <p:cNvCxnSpPr>
            <a:cxnSpLocks noChangeShapeType="1"/>
            <a:stCxn id="27661" idx="2"/>
            <a:endCxn id="27678" idx="0"/>
          </p:cNvCxnSpPr>
          <p:nvPr/>
        </p:nvCxnSpPr>
        <p:spPr bwMode="auto">
          <a:xfrm>
            <a:off x="1436688" y="5089525"/>
            <a:ext cx="5080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58" name="AutoShape 9"/>
          <p:cNvCxnSpPr>
            <a:cxnSpLocks noChangeShapeType="1"/>
            <a:stCxn id="27662" idx="2"/>
            <a:endCxn id="27680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7659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 7  2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9  4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27660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27661" name="AutoShape 13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2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2  7</a:t>
            </a:r>
          </a:p>
        </p:txBody>
      </p:sp>
      <p:sp>
        <p:nvSpPr>
          <p:cNvPr id="27662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9  4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4  9</a:t>
            </a:r>
          </a:p>
        </p:txBody>
      </p:sp>
      <p:sp>
        <p:nvSpPr>
          <p:cNvPr id="27663" name="AutoShape 15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27664" name="AutoShape 16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1  6</a:t>
            </a:r>
          </a:p>
        </p:txBody>
      </p:sp>
      <p:grpSp>
        <p:nvGrpSpPr>
          <p:cNvPr id="27665" name="Group 17"/>
          <p:cNvGrpSpPr>
            <a:grpSpLocks/>
          </p:cNvGrpSpPr>
          <p:nvPr/>
        </p:nvGrpSpPr>
        <p:grpSpPr bwMode="auto"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27677" name="AutoShape 18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7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7</a:t>
              </a:r>
            </a:p>
          </p:txBody>
        </p:sp>
        <p:sp>
          <p:nvSpPr>
            <p:cNvPr id="27678" name="AutoShape 19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2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27679" name="AutoShape 20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9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27680" name="AutoShape 21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4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27681" name="AutoShape 22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3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27682" name="AutoShape 23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8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27683" name="AutoShape 24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6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27684" name="AutoShape 25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folHlink"/>
                  </a:solidFill>
                </a:rPr>
                <a:t>1 </a:t>
              </a:r>
              <a:r>
                <a:rPr lang="en-US" sz="1800" b="1">
                  <a:solidFill>
                    <a:schemeClr val="folHlink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27666" name="AutoShape 26"/>
          <p:cNvCxnSpPr>
            <a:cxnSpLocks noChangeShapeType="1"/>
            <a:stCxn id="27663" idx="0"/>
            <a:endCxn id="27660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67" name="AutoShape 27"/>
          <p:cNvCxnSpPr>
            <a:cxnSpLocks noChangeShapeType="1"/>
            <a:stCxn id="27664" idx="0"/>
            <a:endCxn id="27660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68" name="AutoShape 28"/>
          <p:cNvCxnSpPr>
            <a:cxnSpLocks noChangeShapeType="1"/>
            <a:stCxn id="27681" idx="0"/>
            <a:endCxn id="27663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69" name="AutoShape 29"/>
          <p:cNvCxnSpPr>
            <a:cxnSpLocks noChangeShapeType="1"/>
            <a:stCxn id="27683" idx="0"/>
            <a:endCxn id="27664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70" name="AutoShape 30"/>
          <p:cNvCxnSpPr>
            <a:cxnSpLocks noChangeShapeType="1"/>
            <a:stCxn id="27663" idx="2"/>
            <a:endCxn id="27682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71" name="AutoShape 31"/>
          <p:cNvCxnSpPr>
            <a:cxnSpLocks noChangeShapeType="1"/>
            <a:stCxn id="27664" idx="2"/>
            <a:endCxn id="27684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7672" name="AutoShape 32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27673" name="AutoShape 33"/>
          <p:cNvCxnSpPr>
            <a:cxnSpLocks noChangeShapeType="1"/>
            <a:stCxn id="27659" idx="0"/>
            <a:endCxn id="27672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674" name="AutoShape 34"/>
          <p:cNvCxnSpPr>
            <a:cxnSpLocks noChangeShapeType="1"/>
            <a:stCxn id="27660" idx="0"/>
            <a:endCxn id="27672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7675" name="Line 35"/>
          <p:cNvSpPr>
            <a:spLocks noChangeShapeType="1"/>
          </p:cNvSpPr>
          <p:nvPr/>
        </p:nvSpPr>
        <p:spPr bwMode="auto">
          <a:xfrm flipH="1">
            <a:off x="1219200" y="4191000"/>
            <a:ext cx="5334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8915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(cont.)</a:t>
            </a:r>
          </a:p>
        </p:txBody>
      </p:sp>
      <p:sp>
        <p:nvSpPr>
          <p:cNvPr id="286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Lời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gọi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đệ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quy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,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phân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hoạch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49</a:t>
            </a:fld>
            <a:endParaRPr lang="vi-VN"/>
          </a:p>
        </p:txBody>
      </p:sp>
      <p:cxnSp>
        <p:nvCxnSpPr>
          <p:cNvPr id="28677" name="AutoShape 4"/>
          <p:cNvCxnSpPr>
            <a:cxnSpLocks noChangeShapeType="1"/>
            <a:stCxn id="28705" idx="0"/>
            <a:endCxn id="28683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78" name="AutoShape 5"/>
          <p:cNvCxnSpPr>
            <a:cxnSpLocks noChangeShapeType="1"/>
            <a:stCxn id="28706" idx="0"/>
            <a:endCxn id="28683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79" name="AutoShape 6"/>
          <p:cNvCxnSpPr>
            <a:cxnSpLocks noChangeShapeType="1"/>
            <a:stCxn id="28686" idx="0"/>
            <a:endCxn id="28705" idx="2"/>
          </p:cNvCxnSpPr>
          <p:nvPr/>
        </p:nvCxnSpPr>
        <p:spPr bwMode="auto">
          <a:xfrm flipV="1">
            <a:off x="969963" y="5080000"/>
            <a:ext cx="46672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80" name="AutoShape 7"/>
          <p:cNvCxnSpPr>
            <a:cxnSpLocks noChangeShapeType="1"/>
            <a:stCxn id="28688" idx="0"/>
            <a:endCxn id="28706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81" name="AutoShape 8"/>
          <p:cNvCxnSpPr>
            <a:cxnSpLocks noChangeShapeType="1"/>
            <a:stCxn id="28705" idx="2"/>
            <a:endCxn id="28687" idx="0"/>
          </p:cNvCxnSpPr>
          <p:nvPr/>
        </p:nvCxnSpPr>
        <p:spPr bwMode="auto">
          <a:xfrm>
            <a:off x="1436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82" name="AutoShape 9"/>
          <p:cNvCxnSpPr>
            <a:cxnSpLocks noChangeShapeType="1"/>
            <a:stCxn id="28706" idx="2"/>
            <a:endCxn id="28689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83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 7  2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9  4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28684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1  3  8  6</a:t>
            </a:r>
          </a:p>
        </p:txBody>
      </p:sp>
      <p:grpSp>
        <p:nvGrpSpPr>
          <p:cNvPr id="28685" name="Group 12"/>
          <p:cNvGrpSpPr>
            <a:grpSpLocks/>
          </p:cNvGrpSpPr>
          <p:nvPr/>
        </p:nvGrpSpPr>
        <p:grpSpPr bwMode="auto"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28705" name="AutoShape 13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/>
                <a:t>7 </a:t>
              </a:r>
              <a:r>
                <a:rPr lang="en-US" sz="1800" b="1">
                  <a:solidFill>
                    <a:schemeClr val="tx2"/>
                  </a:solidFill>
                  <a:latin typeface="Symbol" charset="0"/>
                  <a:sym typeface="Symbol" charset="0"/>
                </a:rPr>
                <a:t></a:t>
              </a:r>
              <a:r>
                <a:rPr lang="en-US" sz="1800"/>
                <a:t> 2</a:t>
              </a:r>
              <a:r>
                <a:rPr lang="en-US" sz="1800">
                  <a:solidFill>
                    <a:schemeClr val="accent1"/>
                  </a:solidFill>
                </a:rPr>
                <a:t>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2  7</a:t>
              </a:r>
            </a:p>
          </p:txBody>
        </p:sp>
        <p:sp>
          <p:nvSpPr>
            <p:cNvPr id="28706" name="AutoShape 14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9  4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4  9</a:t>
              </a:r>
            </a:p>
          </p:txBody>
        </p:sp>
        <p:sp>
          <p:nvSpPr>
            <p:cNvPr id="28707" name="AutoShape 15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3  8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3  8</a:t>
              </a:r>
            </a:p>
          </p:txBody>
        </p:sp>
        <p:sp>
          <p:nvSpPr>
            <p:cNvPr id="28708" name="AutoShape 16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chemeClr val="accent1"/>
                  </a:solidFill>
                </a:rPr>
                <a:t>6  1  </a:t>
              </a:r>
              <a:r>
                <a:rPr lang="en-US" sz="1800" b="1">
                  <a:solidFill>
                    <a:schemeClr val="accent1"/>
                  </a:solidFill>
                  <a:sym typeface="Symbol" charset="0"/>
                </a:rPr>
                <a:t></a:t>
              </a:r>
              <a:r>
                <a:rPr lang="en-US" sz="1800">
                  <a:solidFill>
                    <a:schemeClr val="accent1"/>
                  </a:solidFill>
                </a:rPr>
                <a:t>  1  6</a:t>
              </a:r>
            </a:p>
          </p:txBody>
        </p:sp>
      </p:grpSp>
      <p:sp>
        <p:nvSpPr>
          <p:cNvPr id="28686" name="AutoShape 18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8687" name="AutoShape 19"/>
          <p:cNvSpPr>
            <a:spLocks noChangeArrowheads="1"/>
          </p:cNvSpPr>
          <p:nvPr/>
        </p:nvSpPr>
        <p:spPr bwMode="auto">
          <a:xfrm>
            <a:off x="15970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2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2</a:t>
            </a:r>
          </a:p>
        </p:txBody>
      </p:sp>
      <p:sp>
        <p:nvSpPr>
          <p:cNvPr id="28688" name="AutoShape 20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9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28689" name="AutoShape 21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4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4</a:t>
            </a:r>
          </a:p>
        </p:txBody>
      </p:sp>
      <p:sp>
        <p:nvSpPr>
          <p:cNvPr id="28690" name="AutoShape 22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3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28691" name="AutoShape 23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8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28692" name="AutoShape 24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6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28693" name="AutoShape 25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1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28694" name="AutoShape 26"/>
          <p:cNvCxnSpPr>
            <a:cxnSpLocks noChangeShapeType="1"/>
            <a:stCxn id="28707" idx="0"/>
            <a:endCxn id="28684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95" name="AutoShape 27"/>
          <p:cNvCxnSpPr>
            <a:cxnSpLocks noChangeShapeType="1"/>
            <a:stCxn id="28708" idx="0"/>
            <a:endCxn id="28684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96" name="AutoShape 28"/>
          <p:cNvCxnSpPr>
            <a:cxnSpLocks noChangeShapeType="1"/>
            <a:stCxn id="28690" idx="0"/>
            <a:endCxn id="28707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97" name="AutoShape 29"/>
          <p:cNvCxnSpPr>
            <a:cxnSpLocks noChangeShapeType="1"/>
            <a:stCxn id="28692" idx="0"/>
            <a:endCxn id="28708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98" name="AutoShape 30"/>
          <p:cNvCxnSpPr>
            <a:cxnSpLocks noChangeShapeType="1"/>
            <a:stCxn id="28707" idx="2"/>
            <a:endCxn id="28691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99" name="AutoShape 31"/>
          <p:cNvCxnSpPr>
            <a:cxnSpLocks noChangeShapeType="1"/>
            <a:stCxn id="28708" idx="2"/>
            <a:endCxn id="28693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700" name="AutoShape 32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28701" name="AutoShape 33"/>
          <p:cNvCxnSpPr>
            <a:cxnSpLocks noChangeShapeType="1"/>
            <a:stCxn id="28683" idx="0"/>
            <a:endCxn id="28700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702" name="AutoShape 34"/>
          <p:cNvCxnSpPr>
            <a:cxnSpLocks noChangeShapeType="1"/>
            <a:stCxn id="28684" idx="0"/>
            <a:endCxn id="28700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703" name="Line 35"/>
          <p:cNvSpPr>
            <a:spLocks noChangeShapeType="1"/>
          </p:cNvSpPr>
          <p:nvPr/>
        </p:nvSpPr>
        <p:spPr bwMode="auto">
          <a:xfrm flipH="1">
            <a:off x="762000" y="5181600"/>
            <a:ext cx="38100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3910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(cont.)</a:t>
            </a:r>
          </a:p>
        </p:txBody>
      </p:sp>
      <p:sp>
        <p:nvSpPr>
          <p:cNvPr id="2970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752600"/>
            <a:ext cx="7772400" cy="685800"/>
          </a:xfrm>
        </p:spPr>
        <p:txBody>
          <a:bodyPr/>
          <a:lstStyle/>
          <a:p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Lời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gọi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đệ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quy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,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phân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Helvetica" charset="0"/>
                <a:ea typeface="ＭＳ Ｐゴシック" charset="0"/>
                <a:cs typeface="ＭＳ Ｐゴシック" charset="0"/>
              </a:rPr>
              <a:t>hoạch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50</a:t>
            </a:fld>
            <a:endParaRPr lang="vi-VN"/>
          </a:p>
        </p:txBody>
      </p:sp>
      <p:cxnSp>
        <p:nvCxnSpPr>
          <p:cNvPr id="29701" name="AutoShape 4"/>
          <p:cNvCxnSpPr>
            <a:cxnSpLocks noChangeShapeType="1"/>
            <a:stCxn id="29709" idx="0"/>
            <a:endCxn id="29707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2" name="AutoShape 5"/>
          <p:cNvCxnSpPr>
            <a:cxnSpLocks noChangeShapeType="1"/>
            <a:stCxn id="29710" idx="0"/>
            <a:endCxn id="29707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3" name="AutoShape 6"/>
          <p:cNvCxnSpPr>
            <a:cxnSpLocks noChangeShapeType="1"/>
            <a:stCxn id="29713" idx="0"/>
            <a:endCxn id="29709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4" name="AutoShape 7"/>
          <p:cNvCxnSpPr>
            <a:cxnSpLocks noChangeShapeType="1"/>
            <a:stCxn id="29715" idx="0"/>
            <a:endCxn id="29710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5" name="AutoShape 8"/>
          <p:cNvCxnSpPr>
            <a:cxnSpLocks noChangeShapeType="1"/>
            <a:stCxn id="29709" idx="2"/>
            <a:endCxn id="29714" idx="0"/>
          </p:cNvCxnSpPr>
          <p:nvPr/>
        </p:nvCxnSpPr>
        <p:spPr bwMode="auto">
          <a:xfrm>
            <a:off x="1436688" y="50800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6" name="AutoShape 9"/>
          <p:cNvCxnSpPr>
            <a:cxnSpLocks noChangeShapeType="1"/>
            <a:stCxn id="29710" idx="2"/>
            <a:endCxn id="29716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9707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 7  2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9  4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29708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29709" name="AutoShape 13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2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2  7</a:t>
            </a:r>
          </a:p>
        </p:txBody>
      </p:sp>
      <p:sp>
        <p:nvSpPr>
          <p:cNvPr id="29710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9  4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4  9</a:t>
            </a:r>
          </a:p>
        </p:txBody>
      </p:sp>
      <p:sp>
        <p:nvSpPr>
          <p:cNvPr id="29711" name="AutoShape 15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29712" name="AutoShape 16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1  6</a:t>
            </a:r>
          </a:p>
        </p:txBody>
      </p:sp>
      <p:sp>
        <p:nvSpPr>
          <p:cNvPr id="29713" name="AutoShape 18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9714" name="AutoShape 19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2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9715" name="AutoShape 20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9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29716" name="AutoShape 21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4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4</a:t>
            </a:r>
          </a:p>
        </p:txBody>
      </p:sp>
      <p:sp>
        <p:nvSpPr>
          <p:cNvPr id="29717" name="AutoShape 22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3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29718" name="AutoShape 23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8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29719" name="AutoShape 24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6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29720" name="AutoShape 25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1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29721" name="AutoShape 26"/>
          <p:cNvCxnSpPr>
            <a:cxnSpLocks noChangeShapeType="1"/>
            <a:stCxn id="29711" idx="0"/>
            <a:endCxn id="29708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2" name="AutoShape 27"/>
          <p:cNvCxnSpPr>
            <a:cxnSpLocks noChangeShapeType="1"/>
            <a:stCxn id="29712" idx="0"/>
            <a:endCxn id="29708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3" name="AutoShape 28"/>
          <p:cNvCxnSpPr>
            <a:cxnSpLocks noChangeShapeType="1"/>
            <a:stCxn id="29717" idx="0"/>
            <a:endCxn id="29711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4" name="AutoShape 29"/>
          <p:cNvCxnSpPr>
            <a:cxnSpLocks noChangeShapeType="1"/>
            <a:stCxn id="29719" idx="0"/>
            <a:endCxn id="29712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5" name="AutoShape 30"/>
          <p:cNvCxnSpPr>
            <a:cxnSpLocks noChangeShapeType="1"/>
            <a:stCxn id="29711" idx="2"/>
            <a:endCxn id="29718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6" name="AutoShape 31"/>
          <p:cNvCxnSpPr>
            <a:cxnSpLocks noChangeShapeType="1"/>
            <a:stCxn id="29712" idx="2"/>
            <a:endCxn id="29720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9727" name="AutoShape 32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29728" name="AutoShape 33"/>
          <p:cNvCxnSpPr>
            <a:cxnSpLocks noChangeShapeType="1"/>
            <a:stCxn id="29707" idx="0"/>
            <a:endCxn id="29727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9" name="AutoShape 34"/>
          <p:cNvCxnSpPr>
            <a:cxnSpLocks noChangeShapeType="1"/>
            <a:stCxn id="29708" idx="0"/>
            <a:endCxn id="29727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9730" name="Line 35"/>
          <p:cNvSpPr>
            <a:spLocks noChangeShapeType="1"/>
          </p:cNvSpPr>
          <p:nvPr/>
        </p:nvSpPr>
        <p:spPr bwMode="auto">
          <a:xfrm>
            <a:off x="1752600" y="5181600"/>
            <a:ext cx="38100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673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(cont.)</a:t>
            </a:r>
          </a:p>
        </p:txBody>
      </p:sp>
      <p:sp>
        <p:nvSpPr>
          <p:cNvPr id="307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Trộn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hai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dãy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51</a:t>
            </a:fld>
            <a:endParaRPr lang="vi-VN"/>
          </a:p>
        </p:txBody>
      </p:sp>
      <p:cxnSp>
        <p:nvCxnSpPr>
          <p:cNvPr id="30725" name="AutoShape 4"/>
          <p:cNvCxnSpPr>
            <a:cxnSpLocks noChangeShapeType="1"/>
            <a:stCxn id="30733" idx="0"/>
            <a:endCxn id="30731" idx="2"/>
          </p:cNvCxnSpPr>
          <p:nvPr/>
        </p:nvCxnSpPr>
        <p:spPr bwMode="auto">
          <a:xfrm flipV="1">
            <a:off x="1447800" y="4054475"/>
            <a:ext cx="105727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26" name="AutoShape 5"/>
          <p:cNvCxnSpPr>
            <a:cxnSpLocks noChangeShapeType="1"/>
            <a:stCxn id="30734" idx="0"/>
            <a:endCxn id="30731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27" name="AutoShape 6"/>
          <p:cNvCxnSpPr>
            <a:cxnSpLocks noChangeShapeType="1"/>
            <a:stCxn id="30737" idx="0"/>
            <a:endCxn id="30733" idx="2"/>
          </p:cNvCxnSpPr>
          <p:nvPr/>
        </p:nvCxnSpPr>
        <p:spPr bwMode="auto">
          <a:xfrm flipV="1">
            <a:off x="969963" y="5089525"/>
            <a:ext cx="47783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28" name="AutoShape 7"/>
          <p:cNvCxnSpPr>
            <a:cxnSpLocks noChangeShapeType="1"/>
            <a:stCxn id="30739" idx="0"/>
            <a:endCxn id="30734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29" name="AutoShape 8"/>
          <p:cNvCxnSpPr>
            <a:cxnSpLocks noChangeShapeType="1"/>
            <a:stCxn id="30733" idx="2"/>
            <a:endCxn id="30738" idx="0"/>
          </p:cNvCxnSpPr>
          <p:nvPr/>
        </p:nvCxnSpPr>
        <p:spPr bwMode="auto">
          <a:xfrm>
            <a:off x="1447800" y="5089525"/>
            <a:ext cx="4953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30" name="AutoShape 9"/>
          <p:cNvCxnSpPr>
            <a:cxnSpLocks noChangeShapeType="1"/>
            <a:stCxn id="30734" idx="2"/>
            <a:endCxn id="30740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0731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 7  2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9  4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30732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30733" name="AutoShape 13"/>
          <p:cNvSpPr>
            <a:spLocks noChangeArrowheads="1"/>
          </p:cNvSpPr>
          <p:nvPr/>
        </p:nvSpPr>
        <p:spPr bwMode="auto">
          <a:xfrm>
            <a:off x="685800" y="4643438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2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30734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9  4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4  9</a:t>
            </a:r>
          </a:p>
        </p:txBody>
      </p:sp>
      <p:sp>
        <p:nvSpPr>
          <p:cNvPr id="30735" name="AutoShape 15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30736" name="AutoShape 16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1  6</a:t>
            </a:r>
          </a:p>
        </p:txBody>
      </p:sp>
      <p:sp>
        <p:nvSpPr>
          <p:cNvPr id="30737" name="AutoShape 17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30738" name="AutoShape 18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2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0739" name="AutoShape 19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9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30740" name="AutoShape 20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4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4</a:t>
            </a:r>
          </a:p>
        </p:txBody>
      </p:sp>
      <p:sp>
        <p:nvSpPr>
          <p:cNvPr id="30741" name="AutoShape 21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3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30742" name="AutoShape 22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8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30743" name="AutoShape 23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6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30744" name="AutoShape 24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1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30745" name="AutoShape 25"/>
          <p:cNvCxnSpPr>
            <a:cxnSpLocks noChangeShapeType="1"/>
            <a:stCxn id="30735" idx="0"/>
            <a:endCxn id="30732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46" name="AutoShape 26"/>
          <p:cNvCxnSpPr>
            <a:cxnSpLocks noChangeShapeType="1"/>
            <a:stCxn id="30736" idx="0"/>
            <a:endCxn id="30732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47" name="AutoShape 27"/>
          <p:cNvCxnSpPr>
            <a:cxnSpLocks noChangeShapeType="1"/>
            <a:stCxn id="30741" idx="0"/>
            <a:endCxn id="30735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48" name="AutoShape 28"/>
          <p:cNvCxnSpPr>
            <a:cxnSpLocks noChangeShapeType="1"/>
            <a:stCxn id="30743" idx="0"/>
            <a:endCxn id="30736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49" name="AutoShape 29"/>
          <p:cNvCxnSpPr>
            <a:cxnSpLocks noChangeShapeType="1"/>
            <a:stCxn id="30735" idx="2"/>
            <a:endCxn id="30742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50" name="AutoShape 30"/>
          <p:cNvCxnSpPr>
            <a:cxnSpLocks noChangeShapeType="1"/>
            <a:stCxn id="30736" idx="2"/>
            <a:endCxn id="30744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0751" name="AutoShape 31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30752" name="AutoShape 32"/>
          <p:cNvCxnSpPr>
            <a:cxnSpLocks noChangeShapeType="1"/>
            <a:stCxn id="30731" idx="0"/>
            <a:endCxn id="30751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53" name="AutoShape 33"/>
          <p:cNvCxnSpPr>
            <a:cxnSpLocks noChangeShapeType="1"/>
            <a:stCxn id="30732" idx="0"/>
            <a:endCxn id="30751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0754" name="Line 34"/>
          <p:cNvSpPr>
            <a:spLocks noChangeShapeType="1"/>
          </p:cNvSpPr>
          <p:nvPr/>
        </p:nvSpPr>
        <p:spPr bwMode="auto">
          <a:xfrm flipH="1">
            <a:off x="7620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5" name="Line 35"/>
          <p:cNvSpPr>
            <a:spLocks noChangeShapeType="1"/>
          </p:cNvSpPr>
          <p:nvPr/>
        </p:nvSpPr>
        <p:spPr bwMode="auto">
          <a:xfrm>
            <a:off x="17526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384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(cont.)</a:t>
            </a:r>
          </a:p>
        </p:txBody>
      </p:sp>
      <p:sp>
        <p:nvSpPr>
          <p:cNvPr id="317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772400" cy="6858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Gọi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đệ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quy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,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…,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trường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hợp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cơ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sở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,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trộn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52</a:t>
            </a:fld>
            <a:endParaRPr lang="vi-VN"/>
          </a:p>
        </p:txBody>
      </p:sp>
      <p:cxnSp>
        <p:nvCxnSpPr>
          <p:cNvPr id="31749" name="AutoShape 4"/>
          <p:cNvCxnSpPr>
            <a:cxnSpLocks noChangeShapeType="1"/>
            <a:stCxn id="31757" idx="0"/>
            <a:endCxn id="31755" idx="2"/>
          </p:cNvCxnSpPr>
          <p:nvPr/>
        </p:nvCxnSpPr>
        <p:spPr bwMode="auto">
          <a:xfrm flipV="1">
            <a:off x="1447800" y="4054475"/>
            <a:ext cx="10572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50" name="AutoShape 5"/>
          <p:cNvCxnSpPr>
            <a:cxnSpLocks noChangeShapeType="1"/>
            <a:stCxn id="31758" idx="0"/>
            <a:endCxn id="31755" idx="2"/>
          </p:cNvCxnSpPr>
          <p:nvPr/>
        </p:nvCxnSpPr>
        <p:spPr bwMode="auto">
          <a:xfrm flipH="1" flipV="1">
            <a:off x="2505075" y="4054475"/>
            <a:ext cx="10668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51" name="AutoShape 6"/>
          <p:cNvCxnSpPr>
            <a:cxnSpLocks noChangeShapeType="1"/>
            <a:stCxn id="31761" idx="0"/>
            <a:endCxn id="31757" idx="2"/>
          </p:cNvCxnSpPr>
          <p:nvPr/>
        </p:nvCxnSpPr>
        <p:spPr bwMode="auto">
          <a:xfrm flipV="1">
            <a:off x="969963" y="5080000"/>
            <a:ext cx="47783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52" name="AutoShape 7"/>
          <p:cNvCxnSpPr>
            <a:cxnSpLocks noChangeShapeType="1"/>
            <a:endCxn id="31758" idx="2"/>
          </p:cNvCxnSpPr>
          <p:nvPr/>
        </p:nvCxnSpPr>
        <p:spPr bwMode="auto">
          <a:xfrm flipV="1">
            <a:off x="3092450" y="5089525"/>
            <a:ext cx="47942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53" name="AutoShape 8"/>
          <p:cNvCxnSpPr>
            <a:cxnSpLocks noChangeShapeType="1"/>
            <a:stCxn id="31757" idx="2"/>
            <a:endCxn id="31762" idx="0"/>
          </p:cNvCxnSpPr>
          <p:nvPr/>
        </p:nvCxnSpPr>
        <p:spPr bwMode="auto">
          <a:xfrm>
            <a:off x="1447800" y="5080000"/>
            <a:ext cx="4953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54" name="AutoShape 9"/>
          <p:cNvCxnSpPr>
            <a:cxnSpLocks noChangeShapeType="1"/>
            <a:stCxn id="31758" idx="2"/>
          </p:cNvCxnSpPr>
          <p:nvPr/>
        </p:nvCxnSpPr>
        <p:spPr bwMode="auto">
          <a:xfrm>
            <a:off x="3571875" y="5089525"/>
            <a:ext cx="50482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1755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 7  2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9  4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31756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31757" name="AutoShape 12"/>
          <p:cNvSpPr>
            <a:spLocks noChangeArrowheads="1"/>
          </p:cNvSpPr>
          <p:nvPr/>
        </p:nvSpPr>
        <p:spPr bwMode="auto">
          <a:xfrm>
            <a:off x="685800" y="4643438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2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31758" name="AutoShape 13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9  4 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tx2"/>
                </a:solidFill>
              </a:rPr>
              <a:t>  4  9</a:t>
            </a:r>
          </a:p>
        </p:txBody>
      </p:sp>
      <p:sp>
        <p:nvSpPr>
          <p:cNvPr id="31759" name="AutoShape 14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31760" name="AutoShape 15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1  6</a:t>
            </a:r>
          </a:p>
        </p:txBody>
      </p:sp>
      <p:sp>
        <p:nvSpPr>
          <p:cNvPr id="31761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31762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2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1763" name="AutoShape 20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3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31764" name="AutoShape 21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8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31765" name="AutoShape 22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6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31766" name="AutoShape 23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1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31767" name="AutoShape 24"/>
          <p:cNvCxnSpPr>
            <a:cxnSpLocks noChangeShapeType="1"/>
            <a:stCxn id="31759" idx="0"/>
            <a:endCxn id="31756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68" name="AutoShape 25"/>
          <p:cNvCxnSpPr>
            <a:cxnSpLocks noChangeShapeType="1"/>
            <a:stCxn id="31760" idx="0"/>
            <a:endCxn id="31756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69" name="AutoShape 26"/>
          <p:cNvCxnSpPr>
            <a:cxnSpLocks noChangeShapeType="1"/>
            <a:stCxn id="31763" idx="0"/>
            <a:endCxn id="31759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70" name="AutoShape 27"/>
          <p:cNvCxnSpPr>
            <a:cxnSpLocks noChangeShapeType="1"/>
            <a:stCxn id="31765" idx="0"/>
            <a:endCxn id="31760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71" name="AutoShape 28"/>
          <p:cNvCxnSpPr>
            <a:cxnSpLocks noChangeShapeType="1"/>
            <a:stCxn id="31759" idx="2"/>
            <a:endCxn id="31764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72" name="AutoShape 29"/>
          <p:cNvCxnSpPr>
            <a:cxnSpLocks noChangeShapeType="1"/>
            <a:stCxn id="31760" idx="2"/>
            <a:endCxn id="31766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1773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31774" name="AutoShape 31"/>
          <p:cNvCxnSpPr>
            <a:cxnSpLocks noChangeShapeType="1"/>
            <a:stCxn id="31755" idx="0"/>
            <a:endCxn id="31773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75" name="AutoShape 32"/>
          <p:cNvCxnSpPr>
            <a:cxnSpLocks noChangeShapeType="1"/>
            <a:stCxn id="31756" idx="0"/>
            <a:endCxn id="31773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1776" name="Line 33"/>
          <p:cNvSpPr>
            <a:spLocks noChangeShapeType="1"/>
          </p:cNvSpPr>
          <p:nvPr/>
        </p:nvSpPr>
        <p:spPr bwMode="auto">
          <a:xfrm flipH="1">
            <a:off x="28956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7" name="Line 34"/>
          <p:cNvSpPr>
            <a:spLocks noChangeShapeType="1"/>
          </p:cNvSpPr>
          <p:nvPr/>
        </p:nvSpPr>
        <p:spPr bwMode="auto">
          <a:xfrm>
            <a:off x="38862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8" name="AutoShape 35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9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31779" name="AutoShape 36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4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tx2"/>
                </a:solidFill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xmlns="" val="305527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(cont.)</a:t>
            </a:r>
          </a:p>
        </p:txBody>
      </p:sp>
      <p:sp>
        <p:nvSpPr>
          <p:cNvPr id="327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Merge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53</a:t>
            </a:fld>
            <a:endParaRPr lang="vi-VN"/>
          </a:p>
        </p:txBody>
      </p:sp>
      <p:cxnSp>
        <p:nvCxnSpPr>
          <p:cNvPr id="32773" name="AutoShape 4"/>
          <p:cNvCxnSpPr>
            <a:cxnSpLocks noChangeShapeType="1"/>
            <a:stCxn id="32781" idx="0"/>
            <a:endCxn id="32779" idx="2"/>
          </p:cNvCxnSpPr>
          <p:nvPr/>
        </p:nvCxnSpPr>
        <p:spPr bwMode="auto">
          <a:xfrm flipV="1">
            <a:off x="1436688" y="4064000"/>
            <a:ext cx="106838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74" name="AutoShape 5"/>
          <p:cNvCxnSpPr>
            <a:cxnSpLocks noChangeShapeType="1"/>
            <a:stCxn id="32782" idx="0"/>
            <a:endCxn id="32779" idx="2"/>
          </p:cNvCxnSpPr>
          <p:nvPr/>
        </p:nvCxnSpPr>
        <p:spPr bwMode="auto">
          <a:xfrm flipH="1" flipV="1">
            <a:off x="2505075" y="4064000"/>
            <a:ext cx="109855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75" name="AutoShape 6"/>
          <p:cNvCxnSpPr>
            <a:cxnSpLocks noChangeShapeType="1"/>
            <a:stCxn id="32785" idx="0"/>
            <a:endCxn id="32781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76" name="AutoShape 7"/>
          <p:cNvCxnSpPr>
            <a:cxnSpLocks noChangeShapeType="1"/>
            <a:stCxn id="32787" idx="0"/>
            <a:endCxn id="32782" idx="2"/>
          </p:cNvCxnSpPr>
          <p:nvPr/>
        </p:nvCxnSpPr>
        <p:spPr bwMode="auto">
          <a:xfrm flipV="1">
            <a:off x="3092450" y="5080000"/>
            <a:ext cx="5111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77" name="AutoShape 8"/>
          <p:cNvCxnSpPr>
            <a:cxnSpLocks noChangeShapeType="1"/>
            <a:stCxn id="32781" idx="2"/>
            <a:endCxn id="32786" idx="0"/>
          </p:cNvCxnSpPr>
          <p:nvPr/>
        </p:nvCxnSpPr>
        <p:spPr bwMode="auto">
          <a:xfrm>
            <a:off x="1436688" y="50800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78" name="AutoShape 9"/>
          <p:cNvCxnSpPr>
            <a:cxnSpLocks noChangeShapeType="1"/>
            <a:stCxn id="32782" idx="2"/>
            <a:endCxn id="32788" idx="0"/>
          </p:cNvCxnSpPr>
          <p:nvPr/>
        </p:nvCxnSpPr>
        <p:spPr bwMode="auto">
          <a:xfrm>
            <a:off x="3603625" y="5080000"/>
            <a:ext cx="473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2779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 7  2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9  4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>
                <a:solidFill>
                  <a:schemeClr val="tx2"/>
                </a:solidFill>
              </a:rPr>
              <a:t>2  4  7  9</a:t>
            </a:r>
          </a:p>
        </p:txBody>
      </p:sp>
      <p:sp>
        <p:nvSpPr>
          <p:cNvPr id="32780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32781" name="AutoShape 13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2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32782" name="AutoShape 14"/>
          <p:cNvSpPr>
            <a:spLocks noChangeArrowheads="1"/>
          </p:cNvSpPr>
          <p:nvPr/>
        </p:nvSpPr>
        <p:spPr bwMode="auto"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9  4 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 4  9</a:t>
            </a:r>
          </a:p>
        </p:txBody>
      </p:sp>
      <p:sp>
        <p:nvSpPr>
          <p:cNvPr id="32783" name="AutoShape 15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3  8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32784" name="AutoShape 16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accent1"/>
                </a:solidFill>
              </a:rPr>
              <a:t>6  1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1  6</a:t>
            </a:r>
          </a:p>
        </p:txBody>
      </p:sp>
      <p:sp>
        <p:nvSpPr>
          <p:cNvPr id="32785" name="AutoShape 17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32786" name="AutoShape 18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2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2787" name="AutoShape 19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9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32788" name="AutoShape 20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4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tx2"/>
                </a:solidFill>
              </a:rPr>
              <a:t> 4</a:t>
            </a:r>
          </a:p>
        </p:txBody>
      </p:sp>
      <p:sp>
        <p:nvSpPr>
          <p:cNvPr id="32789" name="AutoShape 21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3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32790" name="AutoShape 22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8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32791" name="AutoShape 23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6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32792" name="AutoShape 24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1 </a:t>
            </a:r>
            <a:r>
              <a:rPr lang="en-US" sz="1800" b="1">
                <a:solidFill>
                  <a:schemeClr val="folHlink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32793" name="AutoShape 25"/>
          <p:cNvCxnSpPr>
            <a:cxnSpLocks noChangeShapeType="1"/>
            <a:stCxn id="32783" idx="0"/>
            <a:endCxn id="32780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94" name="AutoShape 26"/>
          <p:cNvCxnSpPr>
            <a:cxnSpLocks noChangeShapeType="1"/>
            <a:stCxn id="32784" idx="0"/>
            <a:endCxn id="32780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95" name="AutoShape 27"/>
          <p:cNvCxnSpPr>
            <a:cxnSpLocks noChangeShapeType="1"/>
            <a:stCxn id="32789" idx="0"/>
            <a:endCxn id="32783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96" name="AutoShape 28"/>
          <p:cNvCxnSpPr>
            <a:cxnSpLocks noChangeShapeType="1"/>
            <a:stCxn id="32791" idx="0"/>
            <a:endCxn id="32784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97" name="AutoShape 29"/>
          <p:cNvCxnSpPr>
            <a:cxnSpLocks noChangeShapeType="1"/>
            <a:stCxn id="32783" idx="2"/>
            <a:endCxn id="32790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798" name="AutoShape 30"/>
          <p:cNvCxnSpPr>
            <a:cxnSpLocks noChangeShapeType="1"/>
            <a:stCxn id="32784" idx="2"/>
            <a:endCxn id="32792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2799" name="AutoShape 31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32800" name="AutoShape 32"/>
          <p:cNvCxnSpPr>
            <a:cxnSpLocks noChangeShapeType="1"/>
            <a:stCxn id="32779" idx="0"/>
            <a:endCxn id="32799" idx="2"/>
          </p:cNvCxnSpPr>
          <p:nvPr/>
        </p:nvCxnSpPr>
        <p:spPr bwMode="auto">
          <a:xfrm flipV="1">
            <a:off x="2505075" y="3030538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801" name="AutoShape 33"/>
          <p:cNvCxnSpPr>
            <a:cxnSpLocks noChangeShapeType="1"/>
            <a:stCxn id="32780" idx="0"/>
            <a:endCxn id="32799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2802" name="Line 34"/>
          <p:cNvSpPr>
            <a:spLocks noChangeShapeType="1"/>
          </p:cNvSpPr>
          <p:nvPr/>
        </p:nvSpPr>
        <p:spPr bwMode="auto">
          <a:xfrm flipH="1">
            <a:off x="11430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03" name="Line 36"/>
          <p:cNvSpPr>
            <a:spLocks noChangeShapeType="1"/>
          </p:cNvSpPr>
          <p:nvPr/>
        </p:nvSpPr>
        <p:spPr bwMode="auto">
          <a:xfrm>
            <a:off x="32766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7911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(cont.)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752600"/>
            <a:ext cx="7772400" cy="685800"/>
          </a:xfrm>
        </p:spPr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Gọi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đệ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quy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,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…,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trộn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,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trộn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54</a:t>
            </a:fld>
            <a:endParaRPr lang="vi-VN"/>
          </a:p>
        </p:txBody>
      </p:sp>
      <p:cxnSp>
        <p:nvCxnSpPr>
          <p:cNvPr id="33797" name="AutoShape 4"/>
          <p:cNvCxnSpPr>
            <a:cxnSpLocks noChangeShapeType="1"/>
            <a:stCxn id="33805" idx="0"/>
            <a:endCxn id="33803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798" name="AutoShape 5"/>
          <p:cNvCxnSpPr>
            <a:cxnSpLocks noChangeShapeType="1"/>
            <a:stCxn id="33806" idx="0"/>
            <a:endCxn id="33803" idx="2"/>
          </p:cNvCxnSpPr>
          <p:nvPr/>
        </p:nvCxnSpPr>
        <p:spPr bwMode="auto">
          <a:xfrm flipH="1" flipV="1">
            <a:off x="2505075" y="4054475"/>
            <a:ext cx="109855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799" name="AutoShape 6"/>
          <p:cNvCxnSpPr>
            <a:cxnSpLocks noChangeShapeType="1"/>
            <a:stCxn id="33809" idx="0"/>
            <a:endCxn id="33805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00" name="AutoShape 7"/>
          <p:cNvCxnSpPr>
            <a:cxnSpLocks noChangeShapeType="1"/>
            <a:stCxn id="33811" idx="0"/>
            <a:endCxn id="33806" idx="2"/>
          </p:cNvCxnSpPr>
          <p:nvPr/>
        </p:nvCxnSpPr>
        <p:spPr bwMode="auto">
          <a:xfrm flipV="1">
            <a:off x="3092450" y="5080000"/>
            <a:ext cx="5111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01" name="AutoShape 8"/>
          <p:cNvCxnSpPr>
            <a:cxnSpLocks noChangeShapeType="1"/>
            <a:stCxn id="33805" idx="2"/>
            <a:endCxn id="33810" idx="0"/>
          </p:cNvCxnSpPr>
          <p:nvPr/>
        </p:nvCxnSpPr>
        <p:spPr bwMode="auto">
          <a:xfrm>
            <a:off x="1436688" y="50800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02" name="AutoShape 9"/>
          <p:cNvCxnSpPr>
            <a:cxnSpLocks noChangeShapeType="1"/>
            <a:stCxn id="33806" idx="2"/>
            <a:endCxn id="33812" idx="0"/>
          </p:cNvCxnSpPr>
          <p:nvPr/>
        </p:nvCxnSpPr>
        <p:spPr bwMode="auto">
          <a:xfrm>
            <a:off x="3603625" y="5080000"/>
            <a:ext cx="473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3803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 7  2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9  4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>
                <a:solidFill>
                  <a:schemeClr val="tx2"/>
                </a:solidFill>
              </a:rPr>
              <a:t>2  4  7  9</a:t>
            </a:r>
          </a:p>
        </p:txBody>
      </p:sp>
      <p:sp>
        <p:nvSpPr>
          <p:cNvPr id="33804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3  8  6  1 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 1  3  6  8</a:t>
            </a:r>
          </a:p>
        </p:txBody>
      </p:sp>
      <p:sp>
        <p:nvSpPr>
          <p:cNvPr id="33805" name="AutoShape 12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2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33806" name="AutoShape 13"/>
          <p:cNvSpPr>
            <a:spLocks noChangeArrowheads="1"/>
          </p:cNvSpPr>
          <p:nvPr/>
        </p:nvSpPr>
        <p:spPr bwMode="auto"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9  4 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 4  9</a:t>
            </a:r>
          </a:p>
        </p:txBody>
      </p:sp>
      <p:sp>
        <p:nvSpPr>
          <p:cNvPr id="33807" name="AutoShape 14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3  8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tx2"/>
                </a:solidFill>
              </a:rPr>
              <a:t>  3  8</a:t>
            </a:r>
          </a:p>
        </p:txBody>
      </p:sp>
      <p:sp>
        <p:nvSpPr>
          <p:cNvPr id="33808" name="AutoShape 15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6  1 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tx2"/>
                </a:solidFill>
              </a:rPr>
              <a:t>  1  6</a:t>
            </a:r>
          </a:p>
        </p:txBody>
      </p:sp>
      <p:sp>
        <p:nvSpPr>
          <p:cNvPr id="33809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33810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2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3811" name="AutoShape 18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9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33812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4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tx2"/>
                </a:solidFill>
              </a:rPr>
              <a:t> 4</a:t>
            </a:r>
          </a:p>
        </p:txBody>
      </p:sp>
      <p:sp>
        <p:nvSpPr>
          <p:cNvPr id="33813" name="AutoShape 20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3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3814" name="AutoShape 21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8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33815" name="AutoShape 22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6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3816" name="AutoShape 23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1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1</a:t>
            </a:r>
          </a:p>
        </p:txBody>
      </p:sp>
      <p:cxnSp>
        <p:nvCxnSpPr>
          <p:cNvPr id="33817" name="AutoShape 24"/>
          <p:cNvCxnSpPr>
            <a:cxnSpLocks noChangeShapeType="1"/>
            <a:stCxn id="33807" idx="0"/>
            <a:endCxn id="33804" idx="2"/>
          </p:cNvCxnSpPr>
          <p:nvPr/>
        </p:nvCxnSpPr>
        <p:spPr bwMode="auto">
          <a:xfrm flipV="1">
            <a:off x="5856288" y="4064000"/>
            <a:ext cx="106838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18" name="AutoShape 25"/>
          <p:cNvCxnSpPr>
            <a:cxnSpLocks noChangeShapeType="1"/>
            <a:stCxn id="33808" idx="0"/>
            <a:endCxn id="33804" idx="2"/>
          </p:cNvCxnSpPr>
          <p:nvPr/>
        </p:nvCxnSpPr>
        <p:spPr bwMode="auto">
          <a:xfrm flipH="1" flipV="1">
            <a:off x="6924675" y="4064000"/>
            <a:ext cx="10668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19" name="AutoShape 26"/>
          <p:cNvCxnSpPr>
            <a:cxnSpLocks noChangeShapeType="1"/>
            <a:stCxn id="33813" idx="0"/>
            <a:endCxn id="33807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20" name="AutoShape 27"/>
          <p:cNvCxnSpPr>
            <a:cxnSpLocks noChangeShapeType="1"/>
            <a:stCxn id="33815" idx="0"/>
            <a:endCxn id="33808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21" name="AutoShape 28"/>
          <p:cNvCxnSpPr>
            <a:cxnSpLocks noChangeShapeType="1"/>
            <a:stCxn id="33807" idx="2"/>
            <a:endCxn id="33814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22" name="AutoShape 29"/>
          <p:cNvCxnSpPr>
            <a:cxnSpLocks noChangeShapeType="1"/>
            <a:stCxn id="33808" idx="2"/>
            <a:endCxn id="33816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3823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chemeClr val="accent1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33824" name="AutoShape 31"/>
          <p:cNvCxnSpPr>
            <a:cxnSpLocks noChangeShapeType="1"/>
            <a:stCxn id="33803" idx="0"/>
            <a:endCxn id="33823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25" name="AutoShape 32"/>
          <p:cNvCxnSpPr>
            <a:cxnSpLocks noChangeShapeType="1"/>
            <a:stCxn id="33804" idx="0"/>
            <a:endCxn id="33823" idx="2"/>
          </p:cNvCxnSpPr>
          <p:nvPr/>
        </p:nvCxnSpPr>
        <p:spPr bwMode="auto">
          <a:xfrm flipH="1" flipV="1">
            <a:off x="4724400" y="3030538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3826" name="Line 33"/>
          <p:cNvSpPr>
            <a:spLocks noChangeShapeType="1"/>
          </p:cNvSpPr>
          <p:nvPr/>
        </p:nvSpPr>
        <p:spPr bwMode="auto">
          <a:xfrm flipH="1">
            <a:off x="55626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27" name="Line 34"/>
          <p:cNvSpPr>
            <a:spLocks noChangeShapeType="1"/>
          </p:cNvSpPr>
          <p:nvPr/>
        </p:nvSpPr>
        <p:spPr bwMode="auto">
          <a:xfrm>
            <a:off x="76962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52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Ví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dụ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(cont.)</a:t>
            </a:r>
          </a:p>
        </p:txBody>
      </p:sp>
      <p:sp>
        <p:nvSpPr>
          <p:cNvPr id="3482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Trộn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55</a:t>
            </a:fld>
            <a:endParaRPr lang="vi-VN"/>
          </a:p>
        </p:txBody>
      </p:sp>
      <p:cxnSp>
        <p:nvCxnSpPr>
          <p:cNvPr id="34821" name="AutoShape 4"/>
          <p:cNvCxnSpPr>
            <a:cxnSpLocks noChangeShapeType="1"/>
            <a:stCxn id="34829" idx="0"/>
            <a:endCxn id="34827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22" name="AutoShape 5"/>
          <p:cNvCxnSpPr>
            <a:cxnSpLocks noChangeShapeType="1"/>
            <a:stCxn id="34830" idx="0"/>
            <a:endCxn id="34827" idx="2"/>
          </p:cNvCxnSpPr>
          <p:nvPr/>
        </p:nvCxnSpPr>
        <p:spPr bwMode="auto">
          <a:xfrm flipH="1" flipV="1">
            <a:off x="2505075" y="4054475"/>
            <a:ext cx="109855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23" name="AutoShape 6"/>
          <p:cNvCxnSpPr>
            <a:cxnSpLocks noChangeShapeType="1"/>
            <a:stCxn id="34833" idx="0"/>
            <a:endCxn id="34829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24" name="AutoShape 7"/>
          <p:cNvCxnSpPr>
            <a:cxnSpLocks noChangeShapeType="1"/>
            <a:stCxn id="34835" idx="0"/>
            <a:endCxn id="34830" idx="2"/>
          </p:cNvCxnSpPr>
          <p:nvPr/>
        </p:nvCxnSpPr>
        <p:spPr bwMode="auto">
          <a:xfrm flipV="1">
            <a:off x="3092450" y="5080000"/>
            <a:ext cx="5111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25" name="AutoShape 8"/>
          <p:cNvCxnSpPr>
            <a:cxnSpLocks noChangeShapeType="1"/>
            <a:stCxn id="34829" idx="2"/>
            <a:endCxn id="34834" idx="0"/>
          </p:cNvCxnSpPr>
          <p:nvPr/>
        </p:nvCxnSpPr>
        <p:spPr bwMode="auto">
          <a:xfrm>
            <a:off x="1436688" y="50800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26" name="AutoShape 9"/>
          <p:cNvCxnSpPr>
            <a:cxnSpLocks noChangeShapeType="1"/>
            <a:stCxn id="34830" idx="2"/>
            <a:endCxn id="34836" idx="0"/>
          </p:cNvCxnSpPr>
          <p:nvPr/>
        </p:nvCxnSpPr>
        <p:spPr bwMode="auto">
          <a:xfrm>
            <a:off x="3603625" y="5080000"/>
            <a:ext cx="473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4827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 7  2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9  4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>
                <a:solidFill>
                  <a:schemeClr val="tx2"/>
                </a:solidFill>
              </a:rPr>
              <a:t>2  4  7  9</a:t>
            </a:r>
          </a:p>
        </p:txBody>
      </p:sp>
      <p:sp>
        <p:nvSpPr>
          <p:cNvPr id="34828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3  8  6  1 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 1  3  6  8</a:t>
            </a:r>
          </a:p>
        </p:txBody>
      </p:sp>
      <p:sp>
        <p:nvSpPr>
          <p:cNvPr id="34829" name="AutoShape 12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2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34830" name="AutoShape 13"/>
          <p:cNvSpPr>
            <a:spLocks noChangeArrowheads="1"/>
          </p:cNvSpPr>
          <p:nvPr/>
        </p:nvSpPr>
        <p:spPr bwMode="auto"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9  4 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 4  9</a:t>
            </a:r>
          </a:p>
        </p:txBody>
      </p:sp>
      <p:sp>
        <p:nvSpPr>
          <p:cNvPr id="34831" name="AutoShape 14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3  8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tx2"/>
                </a:solidFill>
              </a:rPr>
              <a:t>  3  8</a:t>
            </a:r>
          </a:p>
        </p:txBody>
      </p:sp>
      <p:sp>
        <p:nvSpPr>
          <p:cNvPr id="34832" name="AutoShape 15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6  1 </a:t>
            </a:r>
            <a:r>
              <a:rPr lang="en-US" sz="1800">
                <a:solidFill>
                  <a:schemeClr val="accent1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tx2"/>
                </a:solidFill>
              </a:rPr>
              <a:t>  1  6</a:t>
            </a:r>
          </a:p>
        </p:txBody>
      </p:sp>
      <p:sp>
        <p:nvSpPr>
          <p:cNvPr id="34833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34834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2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4835" name="AutoShape 18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9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34836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4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tx2"/>
                </a:solidFill>
              </a:rPr>
              <a:t> 4</a:t>
            </a:r>
          </a:p>
        </p:txBody>
      </p:sp>
      <p:sp>
        <p:nvSpPr>
          <p:cNvPr id="34837" name="AutoShape 20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3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4838" name="AutoShape 21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8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34839" name="AutoShape 22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6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34840" name="AutoShape 23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1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</a:t>
            </a:r>
            <a:r>
              <a:rPr lang="en-US" sz="1800">
                <a:solidFill>
                  <a:schemeClr val="tx2"/>
                </a:solidFill>
              </a:rPr>
              <a:t>1</a:t>
            </a:r>
          </a:p>
        </p:txBody>
      </p:sp>
      <p:cxnSp>
        <p:nvCxnSpPr>
          <p:cNvPr id="34841" name="AutoShape 24"/>
          <p:cNvCxnSpPr>
            <a:cxnSpLocks noChangeShapeType="1"/>
            <a:stCxn id="34831" idx="0"/>
            <a:endCxn id="34828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42" name="AutoShape 25"/>
          <p:cNvCxnSpPr>
            <a:cxnSpLocks noChangeShapeType="1"/>
            <a:stCxn id="34832" idx="0"/>
            <a:endCxn id="34828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43" name="AutoShape 26"/>
          <p:cNvCxnSpPr>
            <a:cxnSpLocks noChangeShapeType="1"/>
            <a:stCxn id="34837" idx="0"/>
            <a:endCxn id="34831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44" name="AutoShape 27"/>
          <p:cNvCxnSpPr>
            <a:cxnSpLocks noChangeShapeType="1"/>
            <a:stCxn id="34839" idx="0"/>
            <a:endCxn id="34832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45" name="AutoShape 28"/>
          <p:cNvCxnSpPr>
            <a:cxnSpLocks noChangeShapeType="1"/>
            <a:stCxn id="34831" idx="2"/>
            <a:endCxn id="34838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46" name="AutoShape 29"/>
          <p:cNvCxnSpPr>
            <a:cxnSpLocks noChangeShapeType="1"/>
            <a:stCxn id="34832" idx="2"/>
            <a:endCxn id="34840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4847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7  2  9  4 </a:t>
            </a:r>
            <a:r>
              <a:rPr lang="en-US" sz="1800" b="1">
                <a:solidFill>
                  <a:schemeClr val="tx2"/>
                </a:solidFill>
                <a:latin typeface="Symbol" charset="0"/>
                <a:sym typeface="Symbol" charset="0"/>
              </a:rPr>
              <a:t></a:t>
            </a:r>
            <a:r>
              <a:rPr lang="en-US" sz="1800"/>
              <a:t> 3  8  6  1</a:t>
            </a:r>
            <a:r>
              <a:rPr lang="en-US" sz="1800">
                <a:solidFill>
                  <a:schemeClr val="accent1"/>
                </a:solidFill>
              </a:rPr>
              <a:t>  </a:t>
            </a:r>
            <a:r>
              <a:rPr lang="en-US" sz="1800" b="1">
                <a:solidFill>
                  <a:srgbClr val="000000"/>
                </a:solidFill>
                <a:sym typeface="Symbol" charset="0"/>
              </a:rPr>
              <a:t></a:t>
            </a:r>
            <a:r>
              <a:rPr lang="en-US" sz="1800"/>
              <a:t>  </a:t>
            </a:r>
            <a:r>
              <a:rPr lang="en-US" sz="1800">
                <a:solidFill>
                  <a:schemeClr val="tx2"/>
                </a:solidFill>
              </a:rPr>
              <a:t>1  2  3  4  6  7  8  9</a:t>
            </a:r>
          </a:p>
        </p:txBody>
      </p:sp>
      <p:cxnSp>
        <p:nvCxnSpPr>
          <p:cNvPr id="34848" name="AutoShape 31"/>
          <p:cNvCxnSpPr>
            <a:cxnSpLocks noChangeShapeType="1"/>
            <a:stCxn id="34827" idx="0"/>
            <a:endCxn id="34847" idx="2"/>
          </p:cNvCxnSpPr>
          <p:nvPr/>
        </p:nvCxnSpPr>
        <p:spPr bwMode="auto">
          <a:xfrm flipV="1">
            <a:off x="2505075" y="3040063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49" name="AutoShape 32"/>
          <p:cNvCxnSpPr>
            <a:cxnSpLocks noChangeShapeType="1"/>
            <a:stCxn id="34828" idx="0"/>
            <a:endCxn id="34847" idx="2"/>
          </p:cNvCxnSpPr>
          <p:nvPr/>
        </p:nvCxnSpPr>
        <p:spPr bwMode="auto">
          <a:xfrm flipH="1" flipV="1">
            <a:off x="4724400" y="3040063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4850" name="Line 33"/>
          <p:cNvSpPr>
            <a:spLocks noChangeShapeType="1"/>
          </p:cNvSpPr>
          <p:nvPr/>
        </p:nvSpPr>
        <p:spPr bwMode="auto">
          <a:xfrm flipH="1">
            <a:off x="27432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>
            <a:off x="60198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222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Phân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tích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thuật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toán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Merge-Sort</a:t>
            </a:r>
          </a:p>
        </p:txBody>
      </p:sp>
      <p:sp>
        <p:nvSpPr>
          <p:cNvPr id="3584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762000" y="1600200"/>
            <a:ext cx="7924800" cy="2209800"/>
          </a:xfrm>
        </p:spPr>
        <p:txBody>
          <a:bodyPr>
            <a:normAutofit fontScale="92500"/>
          </a:bodyPr>
          <a:lstStyle/>
          <a:p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Đô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cao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>
                <a:latin typeface="Times New Roman" charset="0"/>
                <a:ea typeface="ＭＳ Ｐゴシック" charset="0"/>
                <a:cs typeface="ＭＳ Ｐゴシック" charset="0"/>
              </a:rPr>
              <a:t>h</a:t>
            </a:r>
            <a:r>
              <a:rPr lang="en-US" sz="2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của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cây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2000" dirty="0">
                <a:latin typeface="Helvetica" charset="0"/>
                <a:ea typeface="ＭＳ Ｐゴシック" charset="0"/>
                <a:cs typeface="ＭＳ Ｐゴシック" charset="0"/>
              </a:rPr>
              <a:t>merge-sort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là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>
                <a:latin typeface="Times New Roman" charset="0"/>
                <a:ea typeface="ＭＳ Ｐゴシック" charset="0"/>
                <a:cs typeface="ＭＳ Ｐゴシック" charset="0"/>
              </a:rPr>
              <a:t>O</a:t>
            </a:r>
            <a:r>
              <a:rPr lang="en-US" sz="2000" dirty="0">
                <a:latin typeface="Times New Roman" charset="0"/>
                <a:ea typeface="ＭＳ Ｐゴシック" charset="0"/>
                <a:cs typeface="ＭＳ Ｐゴシック" charset="0"/>
              </a:rPr>
              <a:t>(log </a:t>
            </a:r>
            <a:r>
              <a:rPr lang="en-US" sz="2000" b="1" i="1" dirty="0">
                <a:latin typeface="Times New Roman" charset="0"/>
                <a:ea typeface="ＭＳ Ｐゴシック" charset="0"/>
                <a:cs typeface="ＭＳ Ｐゴシック" charset="0"/>
              </a:rPr>
              <a:t>n</a:t>
            </a:r>
            <a:r>
              <a:rPr lang="en-US" sz="2000" dirty="0">
                <a:latin typeface="Times New Roman" charset="0"/>
                <a:ea typeface="ＭＳ Ｐゴシック" charset="0"/>
                <a:cs typeface="ＭＳ Ｐゴシック" charset="0"/>
              </a:rPr>
              <a:t>)</a:t>
            </a:r>
            <a:r>
              <a:rPr lang="en-US" sz="2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</a:p>
          <a:p>
            <a:pPr lvl="1"/>
            <a:r>
              <a:rPr lang="en-US" sz="1800" dirty="0" err="1" smtClean="0">
                <a:latin typeface="Helvetica" charset="0"/>
                <a:ea typeface="ＭＳ Ｐゴシック" charset="0"/>
              </a:rPr>
              <a:t>Tại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mỗi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lần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gọi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đệ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quy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,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thuật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toán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chia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đôi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dãy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, </a:t>
            </a:r>
            <a:endParaRPr lang="en-US" sz="1800" dirty="0">
              <a:latin typeface="Times New Roman" charset="0"/>
              <a:ea typeface="ＭＳ Ｐゴシック" charset="0"/>
            </a:endParaRPr>
          </a:p>
          <a:p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Tổng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số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công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việc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được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thực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hiện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tại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mỗi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đỉnh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có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độ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sâu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i</a:t>
            </a:r>
            <a:r>
              <a:rPr lang="en-US" sz="2000" b="1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là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O</a:t>
            </a:r>
            <a:r>
              <a:rPr lang="en-US" sz="2000" dirty="0">
                <a:latin typeface="Times New Roman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2000" b="1" i="1" dirty="0">
                <a:latin typeface="Times New Roman" charset="0"/>
                <a:ea typeface="ＭＳ Ｐゴシック" charset="0"/>
                <a:cs typeface="ＭＳ Ｐゴシック" charset="0"/>
              </a:rPr>
              <a:t>n</a:t>
            </a:r>
            <a:r>
              <a:rPr lang="en-US" sz="2000" dirty="0">
                <a:latin typeface="Times New Roman" charset="0"/>
                <a:ea typeface="ＭＳ Ｐゴシック" charset="0"/>
                <a:cs typeface="ＭＳ Ｐゴシック" charset="0"/>
              </a:rPr>
              <a:t>)</a:t>
            </a:r>
            <a:r>
              <a:rPr lang="en-US" sz="2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</a:p>
          <a:p>
            <a:pPr lvl="1"/>
            <a:r>
              <a:rPr lang="en-US" sz="1800" dirty="0" err="1" smtClean="0">
                <a:latin typeface="Helvetica" charset="0"/>
                <a:ea typeface="ＭＳ Ｐゴシック" charset="0"/>
              </a:rPr>
              <a:t>Chúng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ta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phân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hoạch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và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trộn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smtClean="0">
                <a:latin typeface="Times New Roman" charset="0"/>
                <a:ea typeface="ＭＳ Ｐゴシック" charset="0"/>
              </a:rPr>
              <a:t>2</a:t>
            </a:r>
            <a:r>
              <a:rPr lang="en-US" sz="1800" b="1" i="1" baseline="30000" dirty="0" smtClean="0">
                <a:latin typeface="Times New Roman" charset="0"/>
                <a:ea typeface="ＭＳ Ｐゴシック" charset="0"/>
              </a:rPr>
              <a:t>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chuỗi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có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kích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thước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n</a:t>
            </a:r>
            <a:r>
              <a:rPr lang="en-US" sz="1800" b="1" dirty="0">
                <a:latin typeface="Symbol" charset="0"/>
                <a:ea typeface="ＭＳ Ｐゴシック" charset="0"/>
              </a:rPr>
              <a:t>/</a:t>
            </a:r>
            <a:r>
              <a:rPr lang="en-US" sz="1800" dirty="0">
                <a:latin typeface="Times New Roman" charset="0"/>
                <a:ea typeface="ＭＳ Ｐゴシック" charset="0"/>
              </a:rPr>
              <a:t>2</a:t>
            </a:r>
            <a:r>
              <a:rPr lang="en-US" sz="1800" b="1" i="1" baseline="30000" dirty="0">
                <a:latin typeface="Times New Roman" charset="0"/>
                <a:ea typeface="ＭＳ Ｐゴシック" charset="0"/>
              </a:rPr>
              <a:t>i</a:t>
            </a:r>
            <a:r>
              <a:rPr lang="en-US" sz="1800" dirty="0">
                <a:latin typeface="Helvetica" charset="0"/>
                <a:ea typeface="ＭＳ Ｐゴシック" charset="0"/>
              </a:rPr>
              <a:t> </a:t>
            </a:r>
          </a:p>
          <a:p>
            <a:pPr lvl="1"/>
            <a:r>
              <a:rPr lang="en-US" sz="1800" dirty="0" err="1" smtClean="0">
                <a:latin typeface="Helvetica" charset="0"/>
                <a:ea typeface="ＭＳ Ｐゴシック" charset="0"/>
              </a:rPr>
              <a:t>Có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 </a:t>
            </a:r>
            <a:r>
              <a:rPr lang="en-US" sz="1800" dirty="0">
                <a:latin typeface="Times New Roman" charset="0"/>
                <a:ea typeface="ＭＳ Ｐゴシック" charset="0"/>
              </a:rPr>
              <a:t>2</a:t>
            </a:r>
            <a:r>
              <a:rPr lang="en-US" sz="1800" b="1" i="1" baseline="30000" dirty="0">
                <a:latin typeface="Times New Roman" charset="0"/>
                <a:ea typeface="ＭＳ Ｐゴシック" charset="0"/>
              </a:rPr>
              <a:t>i</a:t>
            </a:r>
            <a:r>
              <a:rPr lang="en-US" sz="1800" baseline="30000" dirty="0">
                <a:latin typeface="Symbol" charset="0"/>
                <a:ea typeface="ＭＳ Ｐゴシック" charset="0"/>
              </a:rPr>
              <a:t>+</a:t>
            </a:r>
            <a:r>
              <a:rPr lang="en-US" sz="1800" baseline="30000" dirty="0">
                <a:latin typeface="Times New Roman" charset="0"/>
                <a:ea typeface="ＭＳ Ｐゴシック" charset="0"/>
              </a:rPr>
              <a:t>1</a:t>
            </a:r>
            <a:r>
              <a:rPr lang="en-US" sz="1800" dirty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lời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gọi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đệ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dirty="0" err="1" smtClean="0">
                <a:latin typeface="Helvetica" charset="0"/>
                <a:ea typeface="ＭＳ Ｐゴシック" charset="0"/>
              </a:rPr>
              <a:t>quy</a:t>
            </a:r>
            <a:endParaRPr lang="en-US" sz="1800" dirty="0">
              <a:latin typeface="Helvetica" charset="0"/>
              <a:ea typeface="ＭＳ Ｐゴシック" charset="0"/>
            </a:endParaRPr>
          </a:p>
          <a:p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Do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đó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tổng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thời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gian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thực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hiện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thuật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toán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  <a:cs typeface="ＭＳ Ｐゴシック" charset="0"/>
              </a:rPr>
              <a:t>là</a:t>
            </a:r>
            <a:r>
              <a:rPr lang="en-US" sz="20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O</a:t>
            </a:r>
            <a:r>
              <a:rPr lang="en-US" sz="2000" dirty="0">
                <a:latin typeface="Times New Roman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2000" b="1" i="1" dirty="0">
                <a:latin typeface="Times New Roman" charset="0"/>
                <a:ea typeface="ＭＳ Ｐゴシック" charset="0"/>
                <a:cs typeface="ＭＳ Ｐゴシック" charset="0"/>
              </a:rPr>
              <a:t>n</a:t>
            </a:r>
            <a:r>
              <a:rPr lang="en-US" sz="2000" dirty="0">
                <a:latin typeface="Times New Roman" charset="0"/>
                <a:ea typeface="ＭＳ Ｐゴシック" charset="0"/>
                <a:cs typeface="ＭＳ Ｐゴシック" charset="0"/>
              </a:rPr>
              <a:t> log </a:t>
            </a:r>
            <a:r>
              <a:rPr lang="en-US" sz="2000" b="1" i="1" dirty="0">
                <a:latin typeface="Times New Roman" charset="0"/>
                <a:ea typeface="ＭＳ Ｐゴシック" charset="0"/>
                <a:cs typeface="ＭＳ Ｐゴシック" charset="0"/>
              </a:rPr>
              <a:t>n</a:t>
            </a:r>
            <a:r>
              <a:rPr lang="en-US" sz="2000" dirty="0">
                <a:latin typeface="Times New Roman" charset="0"/>
                <a:ea typeface="ＭＳ Ｐゴシック" charset="0"/>
                <a:cs typeface="ＭＳ Ｐゴシック" charset="0"/>
              </a:rPr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56</a:t>
            </a:fld>
            <a:endParaRPr lang="vi-VN"/>
          </a:p>
        </p:txBody>
      </p:sp>
      <p:grpSp>
        <p:nvGrpSpPr>
          <p:cNvPr id="35845" name="Group 36"/>
          <p:cNvGrpSpPr>
            <a:grpSpLocks/>
          </p:cNvGrpSpPr>
          <p:nvPr/>
        </p:nvGrpSpPr>
        <p:grpSpPr bwMode="auto">
          <a:xfrm>
            <a:off x="3429000" y="4391025"/>
            <a:ext cx="4191000" cy="1785938"/>
            <a:chOff x="384" y="1632"/>
            <a:chExt cx="5184" cy="2208"/>
          </a:xfrm>
        </p:grpSpPr>
        <p:cxnSp>
          <p:nvCxnSpPr>
            <p:cNvPr id="35863" name="AutoShape 4"/>
            <p:cNvCxnSpPr>
              <a:cxnSpLocks noChangeShapeType="1"/>
              <a:stCxn id="35890" idx="0"/>
              <a:endCxn id="35869" idx="2"/>
            </p:cNvCxnSpPr>
            <p:nvPr/>
          </p:nvCxnSpPr>
          <p:spPr bwMode="auto">
            <a:xfrm flipV="1">
              <a:off x="905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64" name="AutoShape 5"/>
            <p:cNvCxnSpPr>
              <a:cxnSpLocks noChangeShapeType="1"/>
              <a:stCxn id="35891" idx="0"/>
              <a:endCxn id="35869" idx="2"/>
            </p:cNvCxnSpPr>
            <p:nvPr/>
          </p:nvCxnSpPr>
          <p:spPr bwMode="auto">
            <a:xfrm flipH="1" flipV="1">
              <a:off x="1578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65" name="AutoShape 6"/>
            <p:cNvCxnSpPr>
              <a:cxnSpLocks noChangeShapeType="1"/>
              <a:stCxn id="35882" idx="0"/>
              <a:endCxn id="35890" idx="2"/>
            </p:cNvCxnSpPr>
            <p:nvPr/>
          </p:nvCxnSpPr>
          <p:spPr bwMode="auto">
            <a:xfrm flipV="1">
              <a:off x="611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66" name="AutoShape 7"/>
            <p:cNvCxnSpPr>
              <a:cxnSpLocks noChangeShapeType="1"/>
              <a:stCxn id="35884" idx="0"/>
              <a:endCxn id="35891" idx="2"/>
            </p:cNvCxnSpPr>
            <p:nvPr/>
          </p:nvCxnSpPr>
          <p:spPr bwMode="auto">
            <a:xfrm flipV="1">
              <a:off x="1948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67" name="AutoShape 8"/>
            <p:cNvCxnSpPr>
              <a:cxnSpLocks noChangeShapeType="1"/>
              <a:stCxn id="35890" idx="2"/>
              <a:endCxn id="35883" idx="0"/>
            </p:cNvCxnSpPr>
            <p:nvPr/>
          </p:nvCxnSpPr>
          <p:spPr bwMode="auto">
            <a:xfrm>
              <a:off x="905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68" name="AutoShape 9"/>
            <p:cNvCxnSpPr>
              <a:cxnSpLocks noChangeShapeType="1"/>
              <a:stCxn id="35891" idx="2"/>
              <a:endCxn id="35885" idx="0"/>
            </p:cNvCxnSpPr>
            <p:nvPr/>
          </p:nvCxnSpPr>
          <p:spPr bwMode="auto">
            <a:xfrm>
              <a:off x="2250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5869" name="AutoShape 10"/>
            <p:cNvSpPr>
              <a:spLocks noChangeArrowheads="1"/>
            </p:cNvSpPr>
            <p:nvPr/>
          </p:nvSpPr>
          <p:spPr bwMode="auto"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 sz="1800">
                <a:solidFill>
                  <a:schemeClr val="accent1"/>
                </a:solidFill>
              </a:endParaRPr>
            </a:p>
          </p:txBody>
        </p:sp>
        <p:sp>
          <p:nvSpPr>
            <p:cNvPr id="35870" name="AutoShape 11"/>
            <p:cNvSpPr>
              <a:spLocks noChangeArrowheads="1"/>
            </p:cNvSpPr>
            <p:nvPr/>
          </p:nvSpPr>
          <p:spPr bwMode="auto"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 sz="1800">
                <a:solidFill>
                  <a:schemeClr val="accent1"/>
                </a:solidFill>
              </a:endParaRPr>
            </a:p>
          </p:txBody>
        </p:sp>
        <p:grpSp>
          <p:nvGrpSpPr>
            <p:cNvPr id="35871" name="Group 12"/>
            <p:cNvGrpSpPr>
              <a:grpSpLocks/>
            </p:cNvGrpSpPr>
            <p:nvPr/>
          </p:nvGrpSpPr>
          <p:grpSpPr bwMode="auto"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35890" name="AutoShape 13"/>
              <p:cNvSpPr>
                <a:spLocks noChangeArrowheads="1"/>
              </p:cNvSpPr>
              <p:nvPr/>
            </p:nvSpPr>
            <p:spPr bwMode="auto"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891" name="AutoShape 14"/>
              <p:cNvSpPr>
                <a:spLocks noChangeArrowheads="1"/>
              </p:cNvSpPr>
              <p:nvPr/>
            </p:nvSpPr>
            <p:spPr bwMode="auto"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892" name="AutoShape 15"/>
              <p:cNvSpPr>
                <a:spLocks noChangeArrowheads="1"/>
              </p:cNvSpPr>
              <p:nvPr/>
            </p:nvSpPr>
            <p:spPr bwMode="auto"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893" name="AutoShape 16"/>
              <p:cNvSpPr>
                <a:spLocks noChangeArrowheads="1"/>
              </p:cNvSpPr>
              <p:nvPr/>
            </p:nvSpPr>
            <p:spPr bwMode="auto"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35872" name="Group 17"/>
            <p:cNvGrpSpPr>
              <a:grpSpLocks/>
            </p:cNvGrpSpPr>
            <p:nvPr/>
          </p:nvGrpSpPr>
          <p:grpSpPr bwMode="auto"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35882" name="AutoShape 18"/>
              <p:cNvSpPr>
                <a:spLocks noChangeArrowheads="1"/>
              </p:cNvSpPr>
              <p:nvPr/>
            </p:nvSpPr>
            <p:spPr bwMode="auto"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5883" name="AutoShape 19"/>
              <p:cNvSpPr>
                <a:spLocks noChangeArrowheads="1"/>
              </p:cNvSpPr>
              <p:nvPr/>
            </p:nvSpPr>
            <p:spPr bwMode="auto"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5884" name="AutoShape 20"/>
              <p:cNvSpPr>
                <a:spLocks noChangeArrowheads="1"/>
              </p:cNvSpPr>
              <p:nvPr/>
            </p:nvSpPr>
            <p:spPr bwMode="auto"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5885" name="AutoShape 21"/>
              <p:cNvSpPr>
                <a:spLocks noChangeArrowheads="1"/>
              </p:cNvSpPr>
              <p:nvPr/>
            </p:nvSpPr>
            <p:spPr bwMode="auto"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5886" name="AutoShape 22"/>
              <p:cNvSpPr>
                <a:spLocks noChangeArrowheads="1"/>
              </p:cNvSpPr>
              <p:nvPr/>
            </p:nvSpPr>
            <p:spPr bwMode="auto"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5887" name="AutoShape 23"/>
              <p:cNvSpPr>
                <a:spLocks noChangeArrowheads="1"/>
              </p:cNvSpPr>
              <p:nvPr/>
            </p:nvSpPr>
            <p:spPr bwMode="auto"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5888" name="AutoShape 24"/>
              <p:cNvSpPr>
                <a:spLocks noChangeArrowheads="1"/>
              </p:cNvSpPr>
              <p:nvPr/>
            </p:nvSpPr>
            <p:spPr bwMode="auto"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5889" name="AutoShape 25"/>
              <p:cNvSpPr>
                <a:spLocks noChangeArrowheads="1"/>
              </p:cNvSpPr>
              <p:nvPr/>
            </p:nvSpPr>
            <p:spPr bwMode="auto"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vi-VN" sz="1800">
                  <a:solidFill>
                    <a:schemeClr val="folHlink"/>
                  </a:solidFill>
                </a:endParaRPr>
              </a:p>
            </p:txBody>
          </p:sp>
        </p:grpSp>
        <p:cxnSp>
          <p:nvCxnSpPr>
            <p:cNvPr id="35873" name="AutoShape 26"/>
            <p:cNvCxnSpPr>
              <a:cxnSpLocks noChangeShapeType="1"/>
              <a:stCxn id="35892" idx="0"/>
              <a:endCxn id="35870" idx="2"/>
            </p:cNvCxnSpPr>
            <p:nvPr/>
          </p:nvCxnSpPr>
          <p:spPr bwMode="auto">
            <a:xfrm flipV="1">
              <a:off x="3689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74" name="AutoShape 27"/>
            <p:cNvCxnSpPr>
              <a:cxnSpLocks noChangeShapeType="1"/>
              <a:stCxn id="35893" idx="0"/>
              <a:endCxn id="35870" idx="2"/>
            </p:cNvCxnSpPr>
            <p:nvPr/>
          </p:nvCxnSpPr>
          <p:spPr bwMode="auto">
            <a:xfrm flipH="1" flipV="1">
              <a:off x="4362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75" name="AutoShape 28"/>
            <p:cNvCxnSpPr>
              <a:cxnSpLocks noChangeShapeType="1"/>
              <a:stCxn id="35886" idx="0"/>
              <a:endCxn id="35892" idx="2"/>
            </p:cNvCxnSpPr>
            <p:nvPr/>
          </p:nvCxnSpPr>
          <p:spPr bwMode="auto">
            <a:xfrm flipV="1">
              <a:off x="3395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76" name="AutoShape 29"/>
            <p:cNvCxnSpPr>
              <a:cxnSpLocks noChangeShapeType="1"/>
              <a:stCxn id="35888" idx="0"/>
              <a:endCxn id="35893" idx="2"/>
            </p:cNvCxnSpPr>
            <p:nvPr/>
          </p:nvCxnSpPr>
          <p:spPr bwMode="auto">
            <a:xfrm flipV="1">
              <a:off x="4732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77" name="AutoShape 30"/>
            <p:cNvCxnSpPr>
              <a:cxnSpLocks noChangeShapeType="1"/>
              <a:stCxn id="35892" idx="2"/>
              <a:endCxn id="35887" idx="0"/>
            </p:cNvCxnSpPr>
            <p:nvPr/>
          </p:nvCxnSpPr>
          <p:spPr bwMode="auto">
            <a:xfrm>
              <a:off x="3689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78" name="AutoShape 31"/>
            <p:cNvCxnSpPr>
              <a:cxnSpLocks noChangeShapeType="1"/>
              <a:stCxn id="35893" idx="2"/>
              <a:endCxn id="35889" idx="0"/>
            </p:cNvCxnSpPr>
            <p:nvPr/>
          </p:nvCxnSpPr>
          <p:spPr bwMode="auto">
            <a:xfrm>
              <a:off x="5034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5879" name="AutoShape 32"/>
            <p:cNvSpPr>
              <a:spLocks noChangeArrowheads="1"/>
            </p:cNvSpPr>
            <p:nvPr/>
          </p:nvSpPr>
          <p:spPr bwMode="auto"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 sz="1800">
                <a:solidFill>
                  <a:schemeClr val="accent1"/>
                </a:solidFill>
              </a:endParaRPr>
            </a:p>
          </p:txBody>
        </p:sp>
        <p:cxnSp>
          <p:nvCxnSpPr>
            <p:cNvPr id="35880" name="AutoShape 33"/>
            <p:cNvCxnSpPr>
              <a:cxnSpLocks noChangeShapeType="1"/>
              <a:stCxn id="35869" idx="0"/>
              <a:endCxn id="35879" idx="2"/>
            </p:cNvCxnSpPr>
            <p:nvPr/>
          </p:nvCxnSpPr>
          <p:spPr bwMode="auto">
            <a:xfrm flipV="1">
              <a:off x="1578" y="1903"/>
              <a:ext cx="1398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5881" name="AutoShape 34"/>
            <p:cNvCxnSpPr>
              <a:cxnSpLocks noChangeShapeType="1"/>
              <a:stCxn id="35870" idx="0"/>
              <a:endCxn id="35879" idx="2"/>
            </p:cNvCxnSpPr>
            <p:nvPr/>
          </p:nvCxnSpPr>
          <p:spPr bwMode="auto">
            <a:xfrm flipH="1" flipV="1">
              <a:off x="2976" y="1903"/>
              <a:ext cx="1386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aphicFrame>
        <p:nvGraphicFramePr>
          <p:cNvPr id="161957" name="Group 1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71610267"/>
              </p:ext>
            </p:extLst>
          </p:nvPr>
        </p:nvGraphicFramePr>
        <p:xfrm>
          <a:off x="611559" y="3501008"/>
          <a:ext cx="2665041" cy="2918460"/>
        </p:xfrm>
        <a:graphic>
          <a:graphicData uri="http://schemas.openxmlformats.org/drawingml/2006/table">
            <a:tbl>
              <a:tblPr/>
              <a:tblGrid>
                <a:gridCol w="888347"/>
                <a:gridCol w="888347"/>
                <a:gridCol w="888347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Độ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sâu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#</a:t>
                      </a: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số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lượng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lời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gọi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Kích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thước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endParaRPr kumimoji="0" lang="en-US" sz="18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i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i</a:t>
                      </a:r>
                      <a:endParaRPr kumimoji="0" lang="en-US" sz="1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14678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mảng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mảng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dừng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Ngược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Lấy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khoá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hoạch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mảng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mảng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khoá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tửu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khoá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mảng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Trả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57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50"/>
          <p:cNvSpPr>
            <a:spLocks noChangeArrowheads="1"/>
          </p:cNvSpPr>
          <p:nvPr/>
        </p:nvSpPr>
        <p:spPr bwMode="auto">
          <a:xfrm>
            <a:off x="5816600" y="5670550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Quick-Sort</a:t>
            </a:r>
          </a:p>
        </p:txBody>
      </p:sp>
      <p:sp>
        <p:nvSpPr>
          <p:cNvPr id="4096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half" idx="1"/>
          </p:nvPr>
        </p:nvSpPr>
        <p:spPr>
          <a:xfrm>
            <a:off x="685800" y="1676400"/>
            <a:ext cx="4114800" cy="4572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Quick-sort</a:t>
            </a:r>
            <a:r>
              <a:rPr lang="en-US" sz="24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là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thuật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toán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sătps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xếp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ngẫu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nhiên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dựa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trên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chiến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lược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chia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và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trị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:</a:t>
            </a:r>
            <a:endParaRPr lang="en-US" sz="2400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sz="2000" dirty="0" smtClean="0">
                <a:latin typeface="Helvetica" charset="0"/>
                <a:ea typeface="ＭＳ Ｐゴシック" charset="0"/>
              </a:rPr>
              <a:t>Chia: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Chọn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ngẫu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nhiên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một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phần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tử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x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(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gọi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là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khoá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)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và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phân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hoạch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vào</a:t>
            </a:r>
            <a:endParaRPr lang="en-US" sz="2000" dirty="0">
              <a:latin typeface="Helvetica" charset="0"/>
              <a:ea typeface="ＭＳ Ｐゴシック" charset="0"/>
            </a:endParaRPr>
          </a:p>
          <a:p>
            <a:pPr lvl="2"/>
            <a:r>
              <a:rPr lang="en-US" sz="1800" b="1" i="1" dirty="0">
                <a:latin typeface="Times New Roman" charset="0"/>
                <a:ea typeface="ＭＳ Ｐゴシック" charset="0"/>
              </a:rPr>
              <a:t>L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chứa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các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phần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tử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bé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hơn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x</a:t>
            </a:r>
          </a:p>
          <a:p>
            <a:pPr lvl="2"/>
            <a:r>
              <a:rPr lang="en-US" sz="1800" b="1" i="1" dirty="0">
                <a:latin typeface="Times New Roman" charset="0"/>
                <a:ea typeface="ＭＳ Ｐゴシック" charset="0"/>
              </a:rPr>
              <a:t>E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chứa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các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phần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tử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bằng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x</a:t>
            </a:r>
            <a:endParaRPr lang="en-US" sz="1800" dirty="0">
              <a:latin typeface="Helvetica" charset="0"/>
              <a:ea typeface="ＭＳ Ｐゴシック" charset="0"/>
            </a:endParaRPr>
          </a:p>
          <a:p>
            <a:pPr lvl="2"/>
            <a:r>
              <a:rPr lang="en-US" sz="1800" b="1" i="1" dirty="0">
                <a:latin typeface="Times New Roman" charset="0"/>
                <a:ea typeface="ＭＳ Ｐゴシック" charset="0"/>
              </a:rPr>
              <a:t>G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chứa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các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phần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tử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lớn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hơn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x</a:t>
            </a:r>
            <a:endParaRPr lang="en-US" sz="1800" dirty="0">
              <a:latin typeface="Helvetica" charset="0"/>
              <a:ea typeface="ＭＳ Ｐゴシック" charset="0"/>
            </a:endParaRPr>
          </a:p>
          <a:p>
            <a:pPr lvl="1"/>
            <a:r>
              <a:rPr lang="en-US" sz="2000" dirty="0" err="1" smtClean="0">
                <a:latin typeface="Helvetica" charset="0"/>
                <a:ea typeface="ＭＳ Ｐゴシック" charset="0"/>
              </a:rPr>
              <a:t>Đệ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quy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: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Sắp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xếp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L </a:t>
            </a:r>
            <a:r>
              <a:rPr lang="en-US" sz="2000" i="1" dirty="0" err="1" smtClean="0">
                <a:latin typeface="Times New Roman" charset="0"/>
                <a:ea typeface="ＭＳ Ｐゴシック" charset="0"/>
              </a:rPr>
              <a:t>và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 G</a:t>
            </a:r>
            <a:endParaRPr lang="en-US" sz="2000" dirty="0">
              <a:latin typeface="Helvetica" charset="0"/>
              <a:ea typeface="ＭＳ Ｐゴシック" charset="0"/>
            </a:endParaRPr>
          </a:p>
          <a:p>
            <a:pPr lvl="1"/>
            <a:r>
              <a:rPr lang="en-US" sz="2000" dirty="0" err="1" smtClean="0">
                <a:latin typeface="Helvetica" charset="0"/>
                <a:ea typeface="ＭＳ Ｐゴシック" charset="0"/>
              </a:rPr>
              <a:t>Trị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: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Kết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hợp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L</a:t>
            </a:r>
            <a:r>
              <a:rPr lang="en-US" sz="2000" dirty="0">
                <a:latin typeface="Helvetica" charset="0"/>
                <a:ea typeface="ＭＳ Ｐゴシック" charset="0"/>
              </a:rPr>
              <a:t>, </a:t>
            </a:r>
            <a:r>
              <a:rPr lang="en-US" sz="2000" b="1" i="1" dirty="0">
                <a:latin typeface="Times New Roman" charset="0"/>
                <a:ea typeface="ＭＳ Ｐゴシック" charset="0"/>
              </a:rPr>
              <a:t>E</a:t>
            </a:r>
            <a:r>
              <a:rPr lang="en-US" sz="2000" b="1" i="1" dirty="0">
                <a:latin typeface="Helvetica" charset="0"/>
                <a:ea typeface="ＭＳ Ｐゴシック" charset="0"/>
              </a:rPr>
              <a:t> </a:t>
            </a:r>
            <a:r>
              <a:rPr lang="en-US" sz="2000" i="1" dirty="0" err="1" smtClean="0">
                <a:latin typeface="Helvetica" charset="0"/>
                <a:ea typeface="ＭＳ Ｐゴシック" charset="0"/>
              </a:rPr>
              <a:t>và</a:t>
            </a:r>
            <a:r>
              <a:rPr lang="en-US" sz="2000" b="1" i="1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G</a:t>
            </a:r>
            <a:endParaRPr lang="en-US" sz="2000" b="1" i="1" dirty="0">
              <a:latin typeface="Times New Roman" charset="0"/>
              <a:ea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58</a:t>
            </a:fld>
            <a:endParaRPr lang="vi-VN"/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5410200" y="16351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5816600" y="2238375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68" name="Rectangle 9"/>
          <p:cNvSpPr>
            <a:spLocks noChangeArrowheads="1"/>
          </p:cNvSpPr>
          <p:nvPr/>
        </p:nvSpPr>
        <p:spPr bwMode="auto">
          <a:xfrm>
            <a:off x="6629400" y="2409825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69" name="Rectangle 10"/>
          <p:cNvSpPr>
            <a:spLocks noChangeArrowheads="1"/>
          </p:cNvSpPr>
          <p:nvPr/>
        </p:nvSpPr>
        <p:spPr bwMode="auto">
          <a:xfrm>
            <a:off x="7035800" y="206692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i="1">
                <a:latin typeface="Times New Roman" charset="0"/>
              </a:rPr>
              <a:t>x</a:t>
            </a:r>
          </a:p>
        </p:txBody>
      </p:sp>
      <p:sp>
        <p:nvSpPr>
          <p:cNvPr id="40970" name="Rectangle 11"/>
          <p:cNvSpPr>
            <a:spLocks noChangeArrowheads="1"/>
          </p:cNvSpPr>
          <p:nvPr/>
        </p:nvSpPr>
        <p:spPr bwMode="auto">
          <a:xfrm>
            <a:off x="7442200" y="17240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1" name="Rectangle 12"/>
          <p:cNvSpPr>
            <a:spLocks noChangeArrowheads="1"/>
          </p:cNvSpPr>
          <p:nvPr/>
        </p:nvSpPr>
        <p:spPr bwMode="auto">
          <a:xfrm>
            <a:off x="7848600" y="2352675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2" name="Rectangle 23"/>
          <p:cNvSpPr>
            <a:spLocks noChangeArrowheads="1"/>
          </p:cNvSpPr>
          <p:nvPr/>
        </p:nvSpPr>
        <p:spPr bwMode="auto">
          <a:xfrm>
            <a:off x="6223000" y="18954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3" name="Rectangle 24"/>
          <p:cNvSpPr>
            <a:spLocks noChangeArrowheads="1"/>
          </p:cNvSpPr>
          <p:nvPr/>
        </p:nvSpPr>
        <p:spPr bwMode="auto">
          <a:xfrm>
            <a:off x="7543800" y="30956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4" name="Rectangle 25"/>
          <p:cNvSpPr>
            <a:spLocks noChangeArrowheads="1"/>
          </p:cNvSpPr>
          <p:nvPr/>
        </p:nvSpPr>
        <p:spPr bwMode="auto">
          <a:xfrm>
            <a:off x="8382000" y="31845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5" name="Rectangle 26"/>
          <p:cNvSpPr>
            <a:spLocks noChangeArrowheads="1"/>
          </p:cNvSpPr>
          <p:nvPr/>
        </p:nvSpPr>
        <p:spPr bwMode="auto">
          <a:xfrm>
            <a:off x="7962900" y="33559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40976" name="Group 31"/>
          <p:cNvGrpSpPr>
            <a:grpSpLocks/>
          </p:cNvGrpSpPr>
          <p:nvPr/>
        </p:nvGrpSpPr>
        <p:grpSpPr bwMode="auto">
          <a:xfrm>
            <a:off x="5111750" y="3705225"/>
            <a:ext cx="1054100" cy="457200"/>
            <a:chOff x="3320" y="2304"/>
            <a:chExt cx="664" cy="384"/>
          </a:xfrm>
        </p:grpSpPr>
        <p:sp>
          <p:nvSpPr>
            <p:cNvPr id="40988" name="Rectangle 27"/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40989" name="Rectangle 28"/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40990" name="Rectangle 29"/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40977" name="Rectangle 30"/>
          <p:cNvSpPr>
            <a:spLocks noChangeArrowheads="1"/>
          </p:cNvSpPr>
          <p:nvPr/>
        </p:nvSpPr>
        <p:spPr bwMode="auto">
          <a:xfrm>
            <a:off x="6743700" y="353377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i="1">
                <a:latin typeface="Times New Roman" charset="0"/>
              </a:rPr>
              <a:t>x</a:t>
            </a:r>
          </a:p>
        </p:txBody>
      </p:sp>
      <p:sp>
        <p:nvSpPr>
          <p:cNvPr id="40978" name="AutoShape 33"/>
          <p:cNvSpPr>
            <a:spLocks/>
          </p:cNvSpPr>
          <p:nvPr/>
        </p:nvSpPr>
        <p:spPr bwMode="auto">
          <a:xfrm rot="-5400000">
            <a:off x="5486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/>
          <a:p>
            <a:r>
              <a:rPr lang="en-US" sz="2000" b="1" i="1">
                <a:latin typeface="Times New Roman" charset="0"/>
              </a:rPr>
              <a:t>L</a:t>
            </a:r>
          </a:p>
        </p:txBody>
      </p:sp>
      <p:sp>
        <p:nvSpPr>
          <p:cNvPr id="40979" name="AutoShape 35"/>
          <p:cNvSpPr>
            <a:spLocks/>
          </p:cNvSpPr>
          <p:nvPr/>
        </p:nvSpPr>
        <p:spPr bwMode="auto">
          <a:xfrm rot="-5400000">
            <a:off x="79248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/>
          <a:p>
            <a:r>
              <a:rPr lang="en-US" sz="2000" b="1" i="1">
                <a:latin typeface="Times New Roman" charset="0"/>
              </a:rPr>
              <a:t>G</a:t>
            </a:r>
          </a:p>
        </p:txBody>
      </p:sp>
      <p:sp>
        <p:nvSpPr>
          <p:cNvPr id="40980" name="AutoShape 36"/>
          <p:cNvSpPr>
            <a:spLocks/>
          </p:cNvSpPr>
          <p:nvPr/>
        </p:nvSpPr>
        <p:spPr bwMode="auto">
          <a:xfrm rot="-5400000">
            <a:off x="6705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/>
          <a:p>
            <a:r>
              <a:rPr lang="en-US" sz="2000" b="1" i="1">
                <a:latin typeface="Times New Roman" charset="0"/>
              </a:rPr>
              <a:t>E</a:t>
            </a:r>
          </a:p>
        </p:txBody>
      </p:sp>
      <p:sp>
        <p:nvSpPr>
          <p:cNvPr id="40981" name="Rectangle 38"/>
          <p:cNvSpPr>
            <a:spLocks noChangeArrowheads="1"/>
          </p:cNvSpPr>
          <p:nvPr/>
        </p:nvSpPr>
        <p:spPr bwMode="auto">
          <a:xfrm>
            <a:off x="7442200" y="5041900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82" name="Rectangle 39"/>
          <p:cNvSpPr>
            <a:spLocks noChangeArrowheads="1"/>
          </p:cNvSpPr>
          <p:nvPr/>
        </p:nvSpPr>
        <p:spPr bwMode="auto">
          <a:xfrm>
            <a:off x="7848600" y="4953000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83" name="Rectangle 42"/>
          <p:cNvSpPr>
            <a:spLocks noChangeArrowheads="1"/>
          </p:cNvSpPr>
          <p:nvPr/>
        </p:nvSpPr>
        <p:spPr bwMode="auto">
          <a:xfrm>
            <a:off x="6223000" y="5556250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84" name="Rectangle 45"/>
          <p:cNvSpPr>
            <a:spLocks noChangeArrowheads="1"/>
          </p:cNvSpPr>
          <p:nvPr/>
        </p:nvSpPr>
        <p:spPr bwMode="auto">
          <a:xfrm>
            <a:off x="6629400" y="5384800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i="1">
                <a:latin typeface="Times New Roman" charset="0"/>
              </a:rPr>
              <a:t>x</a:t>
            </a:r>
          </a:p>
        </p:txBody>
      </p:sp>
      <p:sp>
        <p:nvSpPr>
          <p:cNvPr id="40985" name="Rectangle 49"/>
          <p:cNvSpPr>
            <a:spLocks noChangeArrowheads="1"/>
          </p:cNvSpPr>
          <p:nvPr/>
        </p:nvSpPr>
        <p:spPr bwMode="auto">
          <a:xfrm>
            <a:off x="5410200" y="5727700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86" name="Rectangle 51"/>
          <p:cNvSpPr>
            <a:spLocks noChangeArrowheads="1"/>
          </p:cNvSpPr>
          <p:nvPr/>
        </p:nvSpPr>
        <p:spPr bwMode="auto">
          <a:xfrm>
            <a:off x="7035800" y="5213350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71986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 smtClean="0"/>
              <a:t>Cho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n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59</a:t>
            </a:fld>
            <a:endParaRPr lang="vi-VN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1447800" y="2057400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057400" y="2057400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2667000" y="2057400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3276600" y="2057400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886200" y="2057400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4495800" y="2057400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5105400" y="2057400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5715000" y="2057400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6324600" y="2057400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khoá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tiên</a:t>
            </a:r>
            <a:r>
              <a:rPr lang="en-US" sz="2400" dirty="0" smtClean="0"/>
              <a:t>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khoá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60</a:t>
            </a:fld>
            <a:endParaRPr lang="vi-VN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4478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0574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6670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32766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38862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44958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51054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57150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63246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017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Chỉ</a:t>
            </a:r>
            <a:r>
              <a:rPr lang="en-US" sz="1800" dirty="0" smtClean="0"/>
              <a:t> </a:t>
            </a:r>
            <a:r>
              <a:rPr lang="en-US" sz="1800" dirty="0" err="1" smtClean="0"/>
              <a:t>số</a:t>
            </a:r>
            <a:r>
              <a:rPr lang="en-US" sz="1800" dirty="0" smtClean="0"/>
              <a:t> </a:t>
            </a:r>
            <a:r>
              <a:rPr lang="en-US" sz="1800" dirty="0" err="1" smtClean="0"/>
              <a:t>khoá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2786050" y="5562600"/>
            <a:ext cx="2319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7072330" y="5576888"/>
            <a:ext cx="161447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8212" name="Line 20"/>
          <p:cNvSpPr>
            <a:spLocks noChangeShapeType="1"/>
          </p:cNvSpPr>
          <p:nvPr/>
        </p:nvSpPr>
        <p:spPr bwMode="auto">
          <a:xfrm flipV="1">
            <a:off x="7239000" y="5214950"/>
            <a:ext cx="47644" cy="4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13" name="Line 21"/>
          <p:cNvSpPr>
            <a:spLocks noChangeShapeType="1"/>
          </p:cNvSpPr>
          <p:nvPr/>
        </p:nvSpPr>
        <p:spPr bwMode="auto">
          <a:xfrm flipV="1">
            <a:off x="2971800" y="5214950"/>
            <a:ext cx="100002" cy="4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61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22098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smtClean="0"/>
              <a:t>        </a:t>
            </a:r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6858016" y="5576888"/>
            <a:ext cx="182878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 flipV="1">
            <a:off x="7239000" y="5214950"/>
            <a:ext cx="47644" cy="4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 flipV="1">
            <a:off x="2971800" y="5143512"/>
            <a:ext cx="45719" cy="495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394826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/>
              <a:t>While </a:t>
            </a:r>
            <a:r>
              <a:rPr lang="en-US" dirty="0" smtClean="0"/>
              <a:t>data[</a:t>
            </a:r>
            <a:r>
              <a:rPr lang="en-US" dirty="0" err="1" smtClean="0"/>
              <a:t>csd</a:t>
            </a:r>
            <a:r>
              <a:rPr lang="en-US" dirty="0" smtClean="0"/>
              <a:t>] </a:t>
            </a:r>
            <a:r>
              <a:rPr lang="en-US" dirty="0"/>
              <a:t>&lt;=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  <a:p>
            <a:pPr marL="457200" indent="-457200"/>
            <a:r>
              <a:rPr lang="en-US" dirty="0"/>
              <a:t>		</a:t>
            </a:r>
            <a:r>
              <a:rPr lang="en-US" dirty="0" smtClean="0"/>
              <a:t>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  <a:endParaRPr lang="en-US" dirty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14546" y="485776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62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=0</a:t>
            </a:r>
            <a:endParaRPr lang="en-US" sz="1800" dirty="0"/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27432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7000892" y="5576888"/>
            <a:ext cx="168590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V="1">
            <a:off x="3505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0893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63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csd</a:t>
            </a:r>
            <a:endParaRPr lang="en-US" sz="1800" dirty="0"/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7000892" y="5576888"/>
            <a:ext cx="168590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0893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64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100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dirty="0" err="1" smtClean="0"/>
              <a:t>csd</a:t>
            </a:r>
            <a:endParaRPr lang="en-US" sz="1800" dirty="0"/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7072330" y="5576888"/>
            <a:ext cx="161447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65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6286512" y="5576888"/>
            <a:ext cx="1714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66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6215074" y="5576888"/>
            <a:ext cx="1785926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6404" name="Freeform 20"/>
          <p:cNvSpPr>
            <a:spLocks/>
          </p:cNvSpPr>
          <p:nvPr/>
        </p:nvSpPr>
        <p:spPr bwMode="auto">
          <a:xfrm>
            <a:off x="4343400" y="3733800"/>
            <a:ext cx="2527300" cy="457200"/>
          </a:xfrm>
          <a:custGeom>
            <a:avLst/>
            <a:gdLst/>
            <a:ahLst/>
            <a:cxnLst>
              <a:cxn ang="0">
                <a:pos x="0" y="560"/>
              </a:cxn>
              <a:cxn ang="0">
                <a:pos x="384" y="80"/>
              </a:cxn>
              <a:cxn ang="0">
                <a:pos x="1392" y="80"/>
              </a:cxn>
              <a:cxn ang="0">
                <a:pos x="1584" y="560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67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csd</a:t>
            </a:r>
            <a:endParaRPr lang="en-US" sz="1800" dirty="0"/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6143636" y="5576888"/>
            <a:ext cx="185736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7426" name="Freeform 18"/>
          <p:cNvSpPr>
            <a:spLocks/>
          </p:cNvSpPr>
          <p:nvPr/>
        </p:nvSpPr>
        <p:spPr bwMode="auto">
          <a:xfrm>
            <a:off x="4343400" y="3733800"/>
            <a:ext cx="2527300" cy="457200"/>
          </a:xfrm>
          <a:custGeom>
            <a:avLst/>
            <a:gdLst/>
            <a:ahLst/>
            <a:cxnLst>
              <a:cxn ang="0">
                <a:pos x="0" y="560"/>
              </a:cxn>
              <a:cxn ang="0">
                <a:pos x="384" y="80"/>
              </a:cxn>
              <a:cxn ang="0">
                <a:pos x="1392" y="80"/>
              </a:cxn>
              <a:cxn ang="0">
                <a:pos x="1584" y="560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68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6286512" y="5576888"/>
            <a:ext cx="1714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69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6143636" y="5576888"/>
            <a:ext cx="185736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70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dirty="0" err="1" smtClean="0"/>
              <a:t>csd</a:t>
            </a:r>
            <a:endParaRPr lang="en-US" sz="1800" dirty="0"/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71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4429124" y="5562600"/>
            <a:ext cx="2428876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cs</a:t>
            </a:r>
            <a:r>
              <a:rPr lang="en-US" sz="1800" dirty="0" err="1" smtClean="0"/>
              <a:t>c</a:t>
            </a:r>
            <a:endParaRPr lang="en-US" sz="1800" dirty="0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72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412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= </a:t>
            </a:r>
            <a:r>
              <a:rPr lang="en-US" sz="1800" dirty="0"/>
              <a:t>0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4357686" y="5562600"/>
            <a:ext cx="2500314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6500826" y="5576888"/>
            <a:ext cx="150017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73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4572000" y="55626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6500826" y="5576888"/>
            <a:ext cx="150017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3571" name="Freeform 19"/>
          <p:cNvSpPr>
            <a:spLocks/>
          </p:cNvSpPr>
          <p:nvPr/>
        </p:nvSpPr>
        <p:spPr bwMode="auto">
          <a:xfrm>
            <a:off x="4953000" y="3733800"/>
            <a:ext cx="1219200" cy="457200"/>
          </a:xfrm>
          <a:custGeom>
            <a:avLst/>
            <a:gdLst/>
            <a:ahLst/>
            <a:cxnLst>
              <a:cxn ang="0">
                <a:pos x="0" y="560"/>
              </a:cxn>
              <a:cxn ang="0">
                <a:pos x="384" y="80"/>
              </a:cxn>
              <a:cxn ang="0">
                <a:pos x="1392" y="80"/>
              </a:cxn>
              <a:cxn ang="0">
                <a:pos x="1584" y="560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74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4595" name="Freeform 19"/>
          <p:cNvSpPr>
            <a:spLocks/>
          </p:cNvSpPr>
          <p:nvPr/>
        </p:nvSpPr>
        <p:spPr bwMode="auto">
          <a:xfrm>
            <a:off x="4953000" y="3733800"/>
            <a:ext cx="1219200" cy="457200"/>
          </a:xfrm>
          <a:custGeom>
            <a:avLst/>
            <a:gdLst/>
            <a:ahLst/>
            <a:cxnLst>
              <a:cxn ang="0">
                <a:pos x="0" y="560"/>
              </a:cxn>
              <a:cxn ang="0">
                <a:pos x="384" y="80"/>
              </a:cxn>
              <a:cxn ang="0">
                <a:pos x="1392" y="80"/>
              </a:cxn>
              <a:cxn ang="0">
                <a:pos x="1584" y="560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75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4572000" y="55626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csc</a:t>
            </a:r>
            <a:endParaRPr lang="en-US" sz="1800" dirty="0"/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>
            <a:off x="609600" y="3352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76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26638" name="Text Box 14"/>
          <p:cNvSpPr txBox="1">
            <a:spLocks noChangeArrowheads="1"/>
          </p:cNvSpPr>
          <p:nvPr/>
        </p:nvSpPr>
        <p:spPr bwMode="auto">
          <a:xfrm>
            <a:off x="4500562" y="5562600"/>
            <a:ext cx="23574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6429388" y="5576888"/>
            <a:ext cx="1571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77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4429124" y="5562600"/>
            <a:ext cx="2428876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78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12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= </a:t>
            </a:r>
            <a:r>
              <a:rPr lang="en-US" sz="1800" dirty="0"/>
              <a:t>0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6286512" y="5576888"/>
            <a:ext cx="1714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9713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9714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79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4143372" y="5562600"/>
            <a:ext cx="271462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smtClean="0"/>
              <a:t>   </a:t>
            </a:r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 flipH="1" flipV="1">
            <a:off x="5638800" y="5257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80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81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714348" y="2500306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82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/>
          </a:p>
          <a:p>
            <a:pPr marL="914400" lvl="1" indent="-457200">
              <a:buFontTx/>
              <a:buAutoNum type="arabicPeriod"/>
            </a:pPr>
            <a:endParaRPr lang="en-US" dirty="0"/>
          </a:p>
          <a:p>
            <a:pPr marL="457200" indent="-457200"/>
            <a:endParaRPr lang="en-US" dirty="0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6429388" y="5576888"/>
            <a:ext cx="1571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>
            <a:off x="571472" y="2786058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83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Swap data[</a:t>
            </a:r>
            <a:r>
              <a:rPr lang="en-US" dirty="0" err="1" smtClean="0"/>
              <a:t>csc</a:t>
            </a:r>
            <a:r>
              <a:rPr lang="en-US" dirty="0" smtClean="0"/>
              <a:t>] and 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</a:p>
          <a:p>
            <a:pPr marL="457200" indent="-457200"/>
            <a:endParaRPr lang="en-US" dirty="0"/>
          </a:p>
          <a:p>
            <a:pPr marL="914400" lvl="1" indent="-457200">
              <a:buFontTx/>
              <a:buAutoNum type="arabicPeriod"/>
            </a:pPr>
            <a:endParaRPr lang="en-US" dirty="0"/>
          </a:p>
          <a:p>
            <a:pPr marL="457200" indent="-457200"/>
            <a:endParaRPr lang="en-US" dirty="0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4429124" y="5562600"/>
            <a:ext cx="2428876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6500826" y="5576888"/>
            <a:ext cx="150017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>
            <a:off x="500034" y="3000372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84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/>
              <a:t>While </a:t>
            </a:r>
            <a:r>
              <a:rPr lang="en-US" dirty="0" smtClean="0"/>
              <a:t>(data[</a:t>
            </a:r>
            <a:r>
              <a:rPr lang="en-US" dirty="0" err="1" smtClean="0"/>
              <a:t>csd</a:t>
            </a:r>
            <a:r>
              <a:rPr lang="en-US" dirty="0" smtClean="0"/>
              <a:t>] </a:t>
            </a:r>
            <a:r>
              <a:rPr lang="en-US" dirty="0"/>
              <a:t>&lt;=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  <a:endParaRPr lang="en-US" dirty="0"/>
          </a:p>
          <a:p>
            <a:pPr marL="914400" lvl="1" indent="-457200"/>
            <a:r>
              <a:rPr lang="en-US" dirty="0"/>
              <a:t>	</a:t>
            </a:r>
            <a:r>
              <a:rPr lang="en-US" dirty="0" smtClean="0"/>
              <a:t>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  <a:endParaRPr lang="en-US" dirty="0"/>
          </a:p>
          <a:p>
            <a:pPr marL="457200" indent="-457200">
              <a:buFontTx/>
              <a:buAutoNum type="arabicPeriod"/>
            </a:pPr>
            <a:r>
              <a:rPr lang="en-US" dirty="0"/>
              <a:t>While data[</a:t>
            </a:r>
            <a:r>
              <a:rPr lang="en-US" dirty="0" err="1"/>
              <a:t>too_small_index</a:t>
            </a:r>
            <a:r>
              <a:rPr lang="en-US" dirty="0"/>
              <a:t>] &gt; data[pivot]</a:t>
            </a:r>
          </a:p>
          <a:p>
            <a:pPr marL="914400" lvl="1" indent="-457200"/>
            <a:r>
              <a:rPr lang="en-US" dirty="0"/>
              <a:t>	</a:t>
            </a:r>
            <a:r>
              <a:rPr lang="en-US" dirty="0" smtClean="0"/>
              <a:t>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  <a:endParaRPr lang="en-US" dirty="0"/>
          </a:p>
          <a:p>
            <a:pPr marL="457200" indent="-457200">
              <a:buFontTx/>
              <a:buAutoNum type="arabicPeriod"/>
            </a:pPr>
            <a:r>
              <a:rPr lang="en-US" dirty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/>
          </a:p>
          <a:p>
            <a:pPr marL="914400" lvl="1" indent="-457200"/>
            <a:r>
              <a:rPr lang="en-US" dirty="0"/>
              <a:t>	swap </a:t>
            </a:r>
            <a:r>
              <a:rPr lang="en-US" dirty="0" smtClean="0"/>
              <a:t>data[</a:t>
            </a:r>
            <a:r>
              <a:rPr lang="en-US" dirty="0" err="1" smtClean="0"/>
              <a:t>csd</a:t>
            </a:r>
            <a:r>
              <a:rPr lang="en-US" dirty="0" smtClean="0"/>
              <a:t>] </a:t>
            </a:r>
            <a:r>
              <a:rPr lang="en-US" dirty="0"/>
              <a:t>and </a:t>
            </a:r>
            <a:r>
              <a:rPr lang="en-US" dirty="0" smtClean="0"/>
              <a:t>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  <a:endParaRPr lang="en-US" dirty="0"/>
          </a:p>
          <a:p>
            <a:pPr marL="457200" indent="-457200">
              <a:buFontTx/>
              <a:buAutoNum type="arabicPeriod"/>
            </a:pPr>
            <a:r>
              <a:rPr lang="en-US" dirty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</a:t>
            </a:r>
            <a:r>
              <a:rPr lang="en-US" dirty="0"/>
              <a:t>go to 1.</a:t>
            </a:r>
          </a:p>
          <a:p>
            <a:pPr marL="457200" indent="-457200">
              <a:buFontTx/>
              <a:buAutoNum type="arabicPeriod"/>
            </a:pPr>
            <a:r>
              <a:rPr lang="en-US" dirty="0"/>
              <a:t>Swap </a:t>
            </a:r>
            <a:r>
              <a:rPr lang="en-US" dirty="0" smtClean="0"/>
              <a:t>data[</a:t>
            </a:r>
            <a:r>
              <a:rPr lang="en-US" dirty="0" err="1" smtClean="0"/>
              <a:t>csc</a:t>
            </a:r>
            <a:r>
              <a:rPr lang="en-US" dirty="0" smtClean="0"/>
              <a:t>] </a:t>
            </a:r>
            <a:r>
              <a:rPr lang="en-US" dirty="0"/>
              <a:t>and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  <a:p>
            <a:pPr marL="457200" indent="-457200"/>
            <a:endParaRPr lang="en-US" dirty="0"/>
          </a:p>
          <a:p>
            <a:pPr marL="914400" lvl="1" indent="-457200">
              <a:buFontTx/>
              <a:buAutoNum type="arabicPeriod"/>
            </a:pPr>
            <a:endParaRPr lang="en-US" dirty="0"/>
          </a:p>
          <a:p>
            <a:pPr marL="457200" indent="-457200"/>
            <a:endParaRPr lang="en-US" dirty="0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381000" y="4343400"/>
            <a:ext cx="1471878" cy="369332"/>
          </a:xfrm>
          <a:prstGeom prst="rect">
            <a:avLst/>
          </a:prstGeom>
          <a:solidFill>
            <a:srgbClr val="FF3300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khisokhoa</a:t>
            </a:r>
            <a:r>
              <a:rPr lang="en-US" sz="1800" dirty="0" smtClean="0"/>
              <a:t> </a:t>
            </a:r>
            <a:r>
              <a:rPr lang="en-US" sz="1800" dirty="0"/>
              <a:t>= 4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4357686" y="5562600"/>
            <a:ext cx="2500314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6286512" y="5576888"/>
            <a:ext cx="1714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>
            <a:off x="642910" y="307181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85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hoạch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86</a:t>
            </a:fld>
            <a:endParaRPr lang="vi-VN"/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1828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2438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3048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3657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4267200" y="25908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4876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5486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6096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6705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42672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>
            <a:off x="48768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 flipH="1">
            <a:off x="2209800" y="4114800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>
            <a:off x="4953000" y="4114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2286000" y="4191000"/>
            <a:ext cx="19670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&lt;=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7906" name="Text Box 18"/>
          <p:cNvSpPr txBox="1">
            <a:spLocks noChangeArrowheads="1"/>
          </p:cNvSpPr>
          <p:nvPr/>
        </p:nvSpPr>
        <p:spPr bwMode="auto">
          <a:xfrm>
            <a:off x="4953000" y="4191000"/>
            <a:ext cx="18516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&gt;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1897060" y="3286124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QuickSort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87</a:t>
            </a:fld>
            <a:endParaRPr lang="vi-VN"/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828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2438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3048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3657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4267200" y="25908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4876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5486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6096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6705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42672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8926" name="Line 14"/>
          <p:cNvSpPr>
            <a:spLocks noChangeShapeType="1"/>
          </p:cNvSpPr>
          <p:nvPr/>
        </p:nvSpPr>
        <p:spPr bwMode="auto">
          <a:xfrm>
            <a:off x="48768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8927" name="Line 15"/>
          <p:cNvSpPr>
            <a:spLocks noChangeShapeType="1"/>
          </p:cNvSpPr>
          <p:nvPr/>
        </p:nvSpPr>
        <p:spPr bwMode="auto">
          <a:xfrm flipH="1">
            <a:off x="2209800" y="4114800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8928" name="Line 16"/>
          <p:cNvSpPr>
            <a:spLocks noChangeShapeType="1"/>
          </p:cNvSpPr>
          <p:nvPr/>
        </p:nvSpPr>
        <p:spPr bwMode="auto">
          <a:xfrm>
            <a:off x="4953000" y="4114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2286000" y="4191000"/>
            <a:ext cx="19670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&lt;=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8930" name="Text Box 18"/>
          <p:cNvSpPr txBox="1">
            <a:spLocks noChangeArrowheads="1"/>
          </p:cNvSpPr>
          <p:nvPr/>
        </p:nvSpPr>
        <p:spPr bwMode="auto">
          <a:xfrm>
            <a:off x="4953000" y="4191000"/>
            <a:ext cx="18516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&gt;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8933" name="AutoShape 21"/>
          <p:cNvSpPr>
            <a:spLocks/>
          </p:cNvSpPr>
          <p:nvPr/>
        </p:nvSpPr>
        <p:spPr bwMode="auto">
          <a:xfrm rot="5400000" flipV="1">
            <a:off x="3009900" y="1257300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38934" name="AutoShape 22"/>
          <p:cNvSpPr>
            <a:spLocks/>
          </p:cNvSpPr>
          <p:nvPr/>
        </p:nvSpPr>
        <p:spPr bwMode="auto">
          <a:xfrm rot="5400000" flipV="1">
            <a:off x="6057900" y="1257300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1857356" y="3214686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Koi">
      <a:majorFont>
        <a:latin typeface="Helvetica"/>
        <a:ea typeface="ＭＳ Ｐゴシック"/>
        <a:cs typeface="ＭＳ Ｐゴシック"/>
      </a:majorFont>
      <a:minorFont>
        <a:latin typeface="Helvetica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Koi 1">
        <a:dk1>
          <a:srgbClr val="272776"/>
        </a:dk1>
        <a:lt1>
          <a:srgbClr val="F3F1E4"/>
        </a:lt1>
        <a:dk2>
          <a:srgbClr val="272776"/>
        </a:dk2>
        <a:lt2>
          <a:srgbClr val="808080"/>
        </a:lt2>
        <a:accent1>
          <a:srgbClr val="B8CFFB"/>
        </a:accent1>
        <a:accent2>
          <a:srgbClr val="DF8F74"/>
        </a:accent2>
        <a:accent3>
          <a:srgbClr val="F8F7EF"/>
        </a:accent3>
        <a:accent4>
          <a:srgbClr val="202064"/>
        </a:accent4>
        <a:accent5>
          <a:srgbClr val="D8E4FD"/>
        </a:accent5>
        <a:accent6>
          <a:srgbClr val="CA8168"/>
        </a:accent6>
        <a:hlink>
          <a:srgbClr val="7F97C2"/>
        </a:hlink>
        <a:folHlink>
          <a:srgbClr val="8BBE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i 2">
        <a:dk1>
          <a:srgbClr val="272776"/>
        </a:dk1>
        <a:lt1>
          <a:srgbClr val="F3F1E4"/>
        </a:lt1>
        <a:dk2>
          <a:srgbClr val="272776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8F7EF"/>
        </a:accent3>
        <a:accent4>
          <a:srgbClr val="202064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Lec1_introduction</Template>
  <TotalTime>288</TotalTime>
  <Words>4176</Words>
  <Application>Microsoft Office PowerPoint</Application>
  <PresentationFormat>On-screen Show (4:3)</PresentationFormat>
  <Paragraphs>1478</Paragraphs>
  <Slides>87</Slides>
  <Notes>36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88" baseType="lpstr">
      <vt:lpstr>Koi</vt:lpstr>
      <vt:lpstr>CÁC THUẬT TOÁN SẮP XẾP</vt:lpstr>
      <vt:lpstr>Các thuật toán sắp xếp</vt:lpstr>
      <vt:lpstr>Phát biểu bài toán</vt:lpstr>
      <vt:lpstr>Phát biểu bài toán</vt:lpstr>
      <vt:lpstr>Phát biểu bài toán</vt:lpstr>
      <vt:lpstr>Các thuật toán sắp xếp</vt:lpstr>
      <vt:lpstr>Selection Sort</vt:lpstr>
      <vt:lpstr>Selection Sort</vt:lpstr>
      <vt:lpstr>Selection Sort</vt:lpstr>
      <vt:lpstr>Selection Sort</vt:lpstr>
      <vt:lpstr>Bubble Sort</vt:lpstr>
      <vt:lpstr>Bubble Sort</vt:lpstr>
      <vt:lpstr>Bubble Sort</vt:lpstr>
      <vt:lpstr>Bubble Sort</vt:lpstr>
      <vt:lpstr>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Linear Insertion Sort</vt:lpstr>
      <vt:lpstr>Merge Sort</vt:lpstr>
      <vt:lpstr>Chia và trị (Divide and conquer)</vt:lpstr>
      <vt:lpstr>Merge-Sort</vt:lpstr>
      <vt:lpstr>Trộn 2 tập đã được sắp xếp</vt:lpstr>
      <vt:lpstr>Ví dụ</vt:lpstr>
      <vt:lpstr>Ví dụ (cont.)</vt:lpstr>
      <vt:lpstr>Ví dụ (cont.)</vt:lpstr>
      <vt:lpstr>Ví dụ (cont.)</vt:lpstr>
      <vt:lpstr>Ví dụ (cont.)</vt:lpstr>
      <vt:lpstr>Ví dụ (cont.)</vt:lpstr>
      <vt:lpstr>Ví dụ (cont.)</vt:lpstr>
      <vt:lpstr>Ví dụ (cont.)</vt:lpstr>
      <vt:lpstr>Ví dụ (cont.)</vt:lpstr>
      <vt:lpstr>Ví dụ (cont.)</vt:lpstr>
      <vt:lpstr>Phân tích thuật toán Merge-Sort</vt:lpstr>
      <vt:lpstr>Thuật toán Quicksort</vt:lpstr>
      <vt:lpstr>Quick-Sort</vt:lpstr>
      <vt:lpstr>Ví dụ</vt:lpstr>
      <vt:lpstr>Phần tử khoá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Kết quả phân hoạch</vt:lpstr>
      <vt:lpstr>Đệ quy: QuickSort các mảng con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THUẬT TOÁN SẮP XẾP</dc:title>
  <dc:creator>Bui Ngoc Thang</dc:creator>
  <cp:lastModifiedBy>DHQG</cp:lastModifiedBy>
  <cp:revision>92</cp:revision>
  <dcterms:created xsi:type="dcterms:W3CDTF">2008-11-13T21:18:02Z</dcterms:created>
  <dcterms:modified xsi:type="dcterms:W3CDTF">2019-10-08T01:39:34Z</dcterms:modified>
</cp:coreProperties>
</file>