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7099300" cy="10234613"/>
  <p:embeddedFontLst>
    <p:embeddedFont>
      <p:font typeface="Helvetica Neue" charset="0"/>
      <p:regular r:id="rId24"/>
      <p:bold r:id="rId25"/>
      <p:italic r:id="rId26"/>
      <p:boldItalic r:id="rId27"/>
    </p:embeddedFon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Tahoma" pitchFamily="3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7B1CF65D-FCD2-4DD9-9065-E694EA928A95}">
  <a:tblStyle styleId="{7B1CF65D-FCD2-4DD9-9065-E694EA928A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Sort</a:t>
            </a:r>
            <a:endParaRPr/>
          </a:p>
        </p:txBody>
      </p:sp>
      <p:sp>
        <p:nvSpPr>
          <p:cNvPr id="191" name="Google Shape;191;p6:notes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5/26/18 09:54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algorithms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14400" y="43434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Outlines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914400" y="2133600"/>
            <a:ext cx="71628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 and conquer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Greedy algorithms</a:t>
            </a:r>
            <a:endParaRPr/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Divide-and-Conquer 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0574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Divide-and conquer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general algorithm design paradigm: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divide the input data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two disjoint subsets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solve the subproblems associated with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Conquer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combine the solutions for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into a solution for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108" name="Google Shape;108;p15" descr="Rectangle: Click to edit Master text styles&#10;Second level&#10;Third level&#10;Fourth level&#10;Fifth level"/>
          <p:cNvSpPr txBox="1">
            <a:spLocks noGrp="1"/>
          </p:cNvSpPr>
          <p:nvPr>
            <p:ph type="body" idx="2"/>
          </p:nvPr>
        </p:nvSpPr>
        <p:spPr>
          <a:xfrm>
            <a:off x="4953000" y="2057400"/>
            <a:ext cx="3657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base case for the recursion are subproblems of size 0 or 1</a:t>
            </a:r>
            <a:endParaRPr/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Merge-sort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sorting algorithm based on the divide-and-conquer paradigm </a:t>
            </a: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Search Algorithm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609600" y="1828800"/>
            <a:ext cx="7772400" cy="470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Given a list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sorted increasingly. Your task is to write a function to check if an item X is in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Algorithm: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1: 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 A is empty, return False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Else: compare X with Y which is the item at the middle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2: 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X = Y, return True. 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X &lt; Y, search on the left half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X &gt; Y, search on the right half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O(log n)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/>
          </a:p>
        </p:txBody>
      </p:sp>
      <p:cxnSp>
        <p:nvCxnSpPr>
          <p:cNvPr id="122" name="Google Shape;122;p17"/>
          <p:cNvCxnSpPr/>
          <p:nvPr/>
        </p:nvCxnSpPr>
        <p:spPr>
          <a:xfrm>
            <a:off x="1249363" y="2903538"/>
            <a:ext cx="699135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7"/>
          <p:cNvSpPr/>
          <p:nvPr/>
        </p:nvSpPr>
        <p:spPr>
          <a:xfrm>
            <a:off x="15351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21447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27543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33639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39735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583113" y="2751138"/>
            <a:ext cx="304800" cy="30480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51927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8023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4119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70215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76311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82407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135" name="Google Shape;135;p17"/>
          <p:cNvCxnSpPr/>
          <p:nvPr/>
        </p:nvCxnSpPr>
        <p:spPr>
          <a:xfrm>
            <a:off x="1096963" y="3513138"/>
            <a:ext cx="714375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17"/>
          <p:cNvSpPr/>
          <p:nvPr/>
        </p:nvSpPr>
        <p:spPr>
          <a:xfrm>
            <a:off x="1535113" y="33607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2144713" y="3360738"/>
            <a:ext cx="304800" cy="30480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2754313" y="33607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363913" y="33607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3973513" y="33607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45831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1927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8023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64119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0215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6311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82407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148" name="Google Shape;148;p17"/>
          <p:cNvCxnSpPr/>
          <p:nvPr/>
        </p:nvCxnSpPr>
        <p:spPr>
          <a:xfrm>
            <a:off x="1173163" y="4122738"/>
            <a:ext cx="706755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17"/>
          <p:cNvSpPr/>
          <p:nvPr/>
        </p:nvSpPr>
        <p:spPr>
          <a:xfrm>
            <a:off x="15351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21447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2754313" y="39703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3363913" y="3970338"/>
            <a:ext cx="304800" cy="30480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3973513" y="39703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45831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1927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8023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64119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0215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6311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82407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161" name="Google Shape;161;p17"/>
          <p:cNvCxnSpPr/>
          <p:nvPr/>
        </p:nvCxnSpPr>
        <p:spPr>
          <a:xfrm>
            <a:off x="1249363" y="4732338"/>
            <a:ext cx="699135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17"/>
          <p:cNvSpPr/>
          <p:nvPr/>
        </p:nvSpPr>
        <p:spPr>
          <a:xfrm>
            <a:off x="15351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21447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27543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33639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3973513" y="4579938"/>
            <a:ext cx="304800" cy="30480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5831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1927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8023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64119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70215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76311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82407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94456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944563" y="33607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4456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954088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4559300" y="2997200"/>
            <a:ext cx="3429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44563" y="2998788"/>
            <a:ext cx="241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259763" y="2997200"/>
            <a:ext cx="265112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2116138" y="3617913"/>
            <a:ext cx="3429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944563" y="3619500"/>
            <a:ext cx="241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3973513" y="3617913"/>
            <a:ext cx="265112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3354388" y="4238625"/>
            <a:ext cx="3429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2773363" y="4240213"/>
            <a:ext cx="241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3973513" y="4238625"/>
            <a:ext cx="3048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725863" y="4854575"/>
            <a:ext cx="7858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16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US" sz="16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 Sort</a:t>
            </a:r>
            <a:endParaRPr/>
          </a:p>
        </p:txBody>
      </p:sp>
      <p:grpSp>
        <p:nvGrpSpPr>
          <p:cNvPr id="197" name="Google Shape;197;p18"/>
          <p:cNvGrpSpPr/>
          <p:nvPr/>
        </p:nvGrpSpPr>
        <p:grpSpPr>
          <a:xfrm>
            <a:off x="3352800" y="3322638"/>
            <a:ext cx="4486275" cy="2011362"/>
            <a:chOff x="1608" y="1824"/>
            <a:chExt cx="3426" cy="1536"/>
          </a:xfrm>
        </p:grpSpPr>
        <p:sp>
          <p:nvSpPr>
            <p:cNvPr id="198" name="Google Shape;198;p18"/>
            <p:cNvSpPr/>
            <p:nvPr/>
          </p:nvSpPr>
          <p:spPr>
            <a:xfrm>
              <a:off x="2160" y="1824"/>
              <a:ext cx="230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7  2 </a:t>
              </a:r>
              <a:r>
                <a:rPr lang="en-US" sz="1800" b="1" dirty="0">
                  <a:solidFill>
                    <a:schemeClr val="dk2"/>
                  </a:solidFill>
                  <a:latin typeface="Noto Sans Symbols"/>
                  <a:ea typeface="Calibri"/>
                  <a:cs typeface="Calibri"/>
                  <a:sym typeface="Noto Sans Symbols"/>
                </a:rPr>
                <a:t>|</a:t>
              </a:r>
              <a:r>
                <a:rPr lang="en-US" sz="1800" b="0" i="0" u="none" strike="noStrike" cap="none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9  4  </a:t>
              </a:r>
              <a:r>
                <a:rPr lang="en-US" sz="1800" b="1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n-US" sz="1800" b="0" i="0" u="none" strike="noStrike" cap="none" dirty="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2  4  7  9</a:t>
              </a:r>
              <a:endParaRPr dirty="0"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1680" y="2400"/>
              <a:ext cx="134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dirty="0" smtClean="0">
                  <a:solidFill>
                    <a:schemeClr val="dk2"/>
                  </a:solidFill>
                  <a:latin typeface="Noto Sans Symbols"/>
                  <a:ea typeface="Calibri"/>
                  <a:cs typeface="Calibri"/>
                  <a:sym typeface="Noto Sans Symbols"/>
                </a:rPr>
                <a:t>|</a:t>
              </a:r>
              <a:r>
                <a:rPr lang="en-US" sz="1800" b="0" i="0" u="none" strike="noStrike" cap="none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  </a:t>
              </a:r>
              <a:r>
                <a:rPr lang="en-US" sz="1800" b="1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n-US" sz="1800" b="0" i="0" u="none" strike="noStrike" cap="none" dirty="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2  7</a:t>
              </a:r>
              <a:endParaRPr dirty="0"/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3600" y="2400"/>
              <a:ext cx="134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 </a:t>
              </a:r>
              <a:r>
                <a:rPr lang="en-US" sz="1800" b="1" dirty="0" smtClean="0">
                  <a:solidFill>
                    <a:schemeClr val="dk2"/>
                  </a:solidFill>
                  <a:latin typeface="Noto Sans Symbols"/>
                  <a:ea typeface="Calibri"/>
                  <a:cs typeface="Calibri"/>
                  <a:sym typeface="Noto Sans Symbols"/>
                </a:rPr>
                <a:t>|</a:t>
              </a:r>
              <a:r>
                <a:rPr lang="en-US" sz="1800" b="0" i="0" u="none" strike="noStrike" cap="none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  </a:t>
              </a:r>
              <a:r>
                <a:rPr lang="en-US" sz="1800" b="1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n-US" sz="1800" b="0" i="0" u="none" strike="noStrike" cap="none" dirty="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4  9</a:t>
              </a:r>
              <a:endParaRPr dirty="0"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1608" y="2976"/>
              <a:ext cx="64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2496" y="2976"/>
              <a:ext cx="624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3522" y="2976"/>
              <a:ext cx="636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4416" y="2976"/>
              <a:ext cx="61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cxnSp>
          <p:nvCxnSpPr>
            <p:cNvPr id="205" name="Google Shape;205;p18"/>
            <p:cNvCxnSpPr>
              <a:stCxn id="199" idx="0"/>
              <a:endCxn id="198" idx="2"/>
            </p:cNvCxnSpPr>
            <p:nvPr/>
          </p:nvCxnSpPr>
          <p:spPr>
            <a:xfrm rot="10800000" flipH="1">
              <a:off x="2352" y="2100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18"/>
            <p:cNvCxnSpPr>
              <a:stCxn id="200" idx="0"/>
              <a:endCxn id="198" idx="2"/>
            </p:cNvCxnSpPr>
            <p:nvPr/>
          </p:nvCxnSpPr>
          <p:spPr>
            <a:xfrm rot="10800000">
              <a:off x="3372" y="2100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18"/>
            <p:cNvCxnSpPr>
              <a:stCxn id="201" idx="0"/>
              <a:endCxn id="199" idx="2"/>
            </p:cNvCxnSpPr>
            <p:nvPr/>
          </p:nvCxnSpPr>
          <p:spPr>
            <a:xfrm rot="10800000" flipH="1">
              <a:off x="1932" y="2676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18"/>
            <p:cNvCxnSpPr>
              <a:stCxn id="203" idx="0"/>
              <a:endCxn id="200" idx="2"/>
            </p:cNvCxnSpPr>
            <p:nvPr/>
          </p:nvCxnSpPr>
          <p:spPr>
            <a:xfrm rot="10800000" flipH="1">
              <a:off x="3840" y="2676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18"/>
            <p:cNvCxnSpPr>
              <a:stCxn id="199" idx="2"/>
              <a:endCxn id="202" idx="0"/>
            </p:cNvCxnSpPr>
            <p:nvPr/>
          </p:nvCxnSpPr>
          <p:spPr>
            <a:xfrm>
              <a:off x="2352" y="2784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18"/>
            <p:cNvCxnSpPr>
              <a:stCxn id="200" idx="2"/>
              <a:endCxn id="204" idx="0"/>
            </p:cNvCxnSpPr>
            <p:nvPr/>
          </p:nvCxnSpPr>
          <p:spPr>
            <a:xfrm>
              <a:off x="4272" y="2784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1" name="Google Shape;211;p18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Merge-Sort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1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3810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Merge-sort on an input sequence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elements consists of three steps: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partition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into two sequences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about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elements each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recursively sort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Conquer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merge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a unique sorted sequence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4724400" y="2057400"/>
            <a:ext cx="4095750" cy="3328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mergeSort</a:t>
            </a:r>
            <a:r>
              <a:rPr lang="en-US"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S, C</a:t>
            </a:r>
            <a:r>
              <a:rPr lang="en-US"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			elements, comparator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sorted</a:t>
            </a:r>
            <a:endParaRPr/>
          </a:p>
          <a:p>
            <a:pPr marL="3429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according to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S.size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lang="en-US" sz="2000" b="1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(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/2); </a:t>
            </a:r>
            <a:endParaRPr sz="20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mergeSort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0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mergeSort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0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</a:t>
            </a:r>
            <a:r>
              <a:rPr lang="en-US" sz="2000" b="0" i="0" u="none" strike="noStrike" cap="none" baseline="-25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000" b="1" i="1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Merging Two Sorted Sequences</a:t>
            </a:r>
            <a:endParaRPr/>
          </a:p>
        </p:txBody>
      </p:sp>
      <p:sp>
        <p:nvSpPr>
          <p:cNvPr id="225" name="Google Shape;225;p2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2895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conquer step of merge-sort consists of merging two sorted sequences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into a sorted sequence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containing the union of the elements of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Merging two sorted sequences, each with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elements and implemented by means of a doubly linked list, takes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3913094" y="1828800"/>
            <a:ext cx="4876800" cy="46243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B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sequences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</a:t>
            </a:r>
            <a:b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elements each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sorted sequence of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160"/>
              </a:spcBef>
              <a:spcAft>
                <a:spcPts val="0"/>
              </a:spcAft>
              <a:buClr>
                <a:schemeClr val="hlink"/>
              </a:buClr>
              <a:buSzPts val="880"/>
              <a:buFont typeface="Noto Sans Symbols"/>
              <a:buNone/>
            </a:pPr>
            <a:endParaRPr sz="800" b="1" i="1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 sequence</a:t>
            </a:r>
            <a:endParaRPr/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A.isEmpty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18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B.isEmpty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.element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.element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/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S.insertLast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A.remove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()));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 sz="18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S.insertLast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B.remove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()));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A.isEmpty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	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S.insertLast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A.remove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()));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B.isEmpty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	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S.insertLast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B.remove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()));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S;</a:t>
            </a:r>
            <a:endParaRPr sz="1800" b="1" i="1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</a:t>
            </a:r>
            <a:endParaRPr/>
          </a:p>
        </p:txBody>
      </p:sp>
      <p:sp>
        <p:nvSpPr>
          <p:cNvPr id="233" name="Google Shape;233;p21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Partition</a:t>
            </a:r>
            <a:endParaRPr/>
          </a:p>
        </p:txBody>
      </p:sp>
      <p:cxnSp>
        <p:nvCxnSpPr>
          <p:cNvPr id="234" name="Google Shape;234;p21"/>
          <p:cNvCxnSpPr>
            <a:stCxn id="235" idx="0"/>
            <a:endCxn id="236" idx="2"/>
          </p:cNvCxnSpPr>
          <p:nvPr/>
        </p:nvCxnSpPr>
        <p:spPr>
          <a:xfrm rot="10800000" flipH="1">
            <a:off x="14366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1"/>
          <p:cNvCxnSpPr>
            <a:stCxn id="238" idx="0"/>
            <a:endCxn id="236" idx="2"/>
          </p:cNvCxnSpPr>
          <p:nvPr/>
        </p:nvCxnSpPr>
        <p:spPr>
          <a:xfrm rot="10800000">
            <a:off x="2505075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1"/>
          <p:cNvCxnSpPr>
            <a:stCxn id="240" idx="0"/>
            <a:endCxn id="235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" name="Google Shape;241;p21"/>
          <p:cNvCxnSpPr>
            <a:stCxn id="242" idx="0"/>
            <a:endCxn id="238" idx="2"/>
          </p:cNvCxnSpPr>
          <p:nvPr/>
        </p:nvCxnSpPr>
        <p:spPr>
          <a:xfrm rot="10800000" flipH="1">
            <a:off x="30916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21"/>
          <p:cNvCxnSpPr>
            <a:stCxn id="235" idx="2"/>
            <a:endCxn id="244" idx="0"/>
          </p:cNvCxnSpPr>
          <p:nvPr/>
        </p:nvCxnSpPr>
        <p:spPr>
          <a:xfrm>
            <a:off x="14366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21"/>
          <p:cNvCxnSpPr>
            <a:stCxn id="238" idx="2"/>
            <a:endCxn id="246" idx="0"/>
          </p:cNvCxnSpPr>
          <p:nvPr/>
        </p:nvCxnSpPr>
        <p:spPr>
          <a:xfrm>
            <a:off x="3571875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7" name="Google Shape;247;p21"/>
          <p:cNvGrpSpPr/>
          <p:nvPr/>
        </p:nvGrpSpPr>
        <p:grpSpPr>
          <a:xfrm>
            <a:off x="1223963" y="3617913"/>
            <a:ext cx="6981825" cy="427037"/>
            <a:chOff x="771" y="2764"/>
            <a:chExt cx="4398" cy="269"/>
          </a:xfrm>
        </p:grpSpPr>
        <p:sp>
          <p:nvSpPr>
            <p:cNvPr id="236" name="Google Shape;236;p21"/>
            <p:cNvSpPr/>
            <p:nvPr/>
          </p:nvSpPr>
          <p:spPr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7  2  9  4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2  4  7  9</a:t>
              </a:r>
              <a:endParaRPr/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3  8  6  1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1  3  8  6</a:t>
              </a:r>
              <a:endParaRPr/>
            </a:p>
          </p:txBody>
        </p:sp>
      </p:grpSp>
      <p:grpSp>
        <p:nvGrpSpPr>
          <p:cNvPr id="249" name="Google Shape;249;p21"/>
          <p:cNvGrpSpPr/>
          <p:nvPr/>
        </p:nvGrpSpPr>
        <p:grpSpPr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235" name="Google Shape;235;p21"/>
            <p:cNvSpPr/>
            <p:nvPr/>
          </p:nvSpPr>
          <p:spPr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7  2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2  7</a:t>
              </a: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9  4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4  9</a:t>
              </a:r>
              <a:endParaRPr/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3  8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3  8</a:t>
              </a:r>
              <a:endParaRPr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6  1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1  6</a:t>
              </a:r>
              <a:endParaRPr/>
            </a:p>
          </p:txBody>
        </p:sp>
      </p:grpSp>
      <p:grpSp>
        <p:nvGrpSpPr>
          <p:cNvPr id="252" name="Google Shape;252;p21"/>
          <p:cNvGrpSpPr/>
          <p:nvPr/>
        </p:nvGrpSpPr>
        <p:grpSpPr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240" name="Google Shape;240;p21"/>
            <p:cNvSpPr/>
            <p:nvPr/>
          </p:nvSpPr>
          <p:spPr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7</a:t>
              </a:r>
              <a:endParaRPr/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2</a:t>
              </a:r>
              <a:endParaRPr/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9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9</a:t>
              </a:r>
              <a:endParaRPr/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4</a:t>
              </a:r>
              <a:endParaRPr/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3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3</a:t>
              </a:r>
              <a:endParaRPr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8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8</a:t>
              </a:r>
              <a:endParaRPr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6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6</a:t>
              </a:r>
              <a:endParaRPr/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1</a:t>
              </a:r>
              <a:endParaRPr/>
            </a:p>
          </p:txBody>
        </p:sp>
      </p:grpSp>
      <p:cxnSp>
        <p:nvCxnSpPr>
          <p:cNvPr id="257" name="Google Shape;257;p21"/>
          <p:cNvCxnSpPr>
            <a:stCxn id="250" idx="0"/>
            <a:endCxn id="248" idx="2"/>
          </p:cNvCxnSpPr>
          <p:nvPr/>
        </p:nvCxnSpPr>
        <p:spPr>
          <a:xfrm rot="10800000" flipH="1">
            <a:off x="58562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21"/>
          <p:cNvCxnSpPr>
            <a:stCxn id="251" idx="0"/>
            <a:endCxn id="248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21"/>
          <p:cNvCxnSpPr>
            <a:stCxn id="253" idx="0"/>
            <a:endCxn id="250" idx="2"/>
          </p:cNvCxnSpPr>
          <p:nvPr/>
        </p:nvCxnSpPr>
        <p:spPr>
          <a:xfrm rot="10800000" flipH="1">
            <a:off x="5389563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" name="Google Shape;260;p21"/>
          <p:cNvCxnSpPr>
            <a:stCxn id="255" idx="0"/>
            <a:endCxn id="251" idx="2"/>
          </p:cNvCxnSpPr>
          <p:nvPr/>
        </p:nvCxnSpPr>
        <p:spPr>
          <a:xfrm rot="10800000" flipH="1">
            <a:off x="75112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21"/>
          <p:cNvCxnSpPr>
            <a:stCxn id="250" idx="2"/>
            <a:endCxn id="254" idx="0"/>
          </p:cNvCxnSpPr>
          <p:nvPr/>
        </p:nvCxnSpPr>
        <p:spPr>
          <a:xfrm>
            <a:off x="58562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" name="Google Shape;262;p21"/>
          <p:cNvCxnSpPr>
            <a:stCxn id="251" idx="2"/>
            <a:endCxn id="256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21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264" name="Google Shape;264;p21"/>
          <p:cNvCxnSpPr>
            <a:stCxn id="236" idx="0"/>
            <a:endCxn id="263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1"/>
          <p:cNvCxnSpPr>
            <a:stCxn id="248" idx="0"/>
            <a:endCxn id="263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272" name="Google Shape;272;p2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partition</a:t>
            </a:r>
            <a:endParaRPr/>
          </a:p>
        </p:txBody>
      </p:sp>
      <p:cxnSp>
        <p:nvCxnSpPr>
          <p:cNvPr id="273" name="Google Shape;273;p22"/>
          <p:cNvCxnSpPr>
            <a:stCxn id="274" idx="0"/>
            <a:endCxn id="275" idx="2"/>
          </p:cNvCxnSpPr>
          <p:nvPr/>
        </p:nvCxnSpPr>
        <p:spPr>
          <a:xfrm rot="10800000" flipH="1">
            <a:off x="14366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2"/>
          <p:cNvCxnSpPr>
            <a:stCxn id="277" idx="0"/>
            <a:endCxn id="275" idx="2"/>
          </p:cNvCxnSpPr>
          <p:nvPr/>
        </p:nvCxnSpPr>
        <p:spPr>
          <a:xfrm rot="10800000">
            <a:off x="2505075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2"/>
          <p:cNvCxnSpPr>
            <a:stCxn id="279" idx="0"/>
            <a:endCxn id="274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2"/>
          <p:cNvCxnSpPr>
            <a:stCxn id="281" idx="0"/>
            <a:endCxn id="277" idx="2"/>
          </p:cNvCxnSpPr>
          <p:nvPr/>
        </p:nvCxnSpPr>
        <p:spPr>
          <a:xfrm rot="10800000" flipH="1">
            <a:off x="30916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2"/>
          <p:cNvCxnSpPr>
            <a:stCxn id="274" idx="2"/>
            <a:endCxn id="283" idx="0"/>
          </p:cNvCxnSpPr>
          <p:nvPr/>
        </p:nvCxnSpPr>
        <p:spPr>
          <a:xfrm>
            <a:off x="14366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22"/>
          <p:cNvCxnSpPr>
            <a:stCxn id="277" idx="2"/>
            <a:endCxn id="285" idx="0"/>
          </p:cNvCxnSpPr>
          <p:nvPr/>
        </p:nvCxnSpPr>
        <p:spPr>
          <a:xfrm>
            <a:off x="3571875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5" name="Google Shape;275;p22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grpSp>
        <p:nvGrpSpPr>
          <p:cNvPr id="287" name="Google Shape;287;p22"/>
          <p:cNvGrpSpPr/>
          <p:nvPr/>
        </p:nvGrpSpPr>
        <p:grpSpPr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274" name="Google Shape;274;p22"/>
            <p:cNvSpPr/>
            <p:nvPr/>
          </p:nvSpPr>
          <p:spPr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7  2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2  7</a:t>
              </a: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9  4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4  9</a:t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3  8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3  8</a:t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6  1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1  6</a:t>
              </a:r>
              <a:endParaRPr/>
            </a:p>
          </p:txBody>
        </p:sp>
      </p:grpSp>
      <p:grpSp>
        <p:nvGrpSpPr>
          <p:cNvPr id="290" name="Google Shape;290;p22"/>
          <p:cNvGrpSpPr/>
          <p:nvPr/>
        </p:nvGrpSpPr>
        <p:grpSpPr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279" name="Google Shape;279;p22"/>
            <p:cNvSpPr/>
            <p:nvPr/>
          </p:nvSpPr>
          <p:spPr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7</a:t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2</a:t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9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9</a:t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4</a:t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3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3</a:t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8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8</a:t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6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6</a:t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1</a:t>
              </a:r>
              <a:endParaRPr/>
            </a:p>
          </p:txBody>
        </p:sp>
      </p:grpSp>
      <p:cxnSp>
        <p:nvCxnSpPr>
          <p:cNvPr id="295" name="Google Shape;295;p22"/>
          <p:cNvCxnSpPr>
            <a:stCxn id="288" idx="0"/>
            <a:endCxn id="286" idx="2"/>
          </p:cNvCxnSpPr>
          <p:nvPr/>
        </p:nvCxnSpPr>
        <p:spPr>
          <a:xfrm rot="10800000" flipH="1">
            <a:off x="58562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22"/>
          <p:cNvCxnSpPr>
            <a:stCxn id="289" idx="0"/>
            <a:endCxn id="286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22"/>
          <p:cNvCxnSpPr>
            <a:stCxn id="291" idx="0"/>
            <a:endCxn id="288" idx="2"/>
          </p:cNvCxnSpPr>
          <p:nvPr/>
        </p:nvCxnSpPr>
        <p:spPr>
          <a:xfrm rot="10800000" flipH="1">
            <a:off x="5389563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" name="Google Shape;298;p22"/>
          <p:cNvCxnSpPr>
            <a:stCxn id="293" idx="0"/>
            <a:endCxn id="289" idx="2"/>
          </p:cNvCxnSpPr>
          <p:nvPr/>
        </p:nvCxnSpPr>
        <p:spPr>
          <a:xfrm rot="10800000" flipH="1">
            <a:off x="75112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" name="Google Shape;299;p22"/>
          <p:cNvCxnSpPr>
            <a:stCxn id="288" idx="2"/>
            <a:endCxn id="292" idx="0"/>
          </p:cNvCxnSpPr>
          <p:nvPr/>
        </p:nvCxnSpPr>
        <p:spPr>
          <a:xfrm>
            <a:off x="58562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p22"/>
          <p:cNvCxnSpPr>
            <a:stCxn id="289" idx="2"/>
            <a:endCxn id="294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" name="Google Shape;301;p22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302" name="Google Shape;302;p22"/>
          <p:cNvCxnSpPr>
            <a:stCxn id="275" idx="0"/>
            <a:endCxn id="301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22"/>
          <p:cNvCxnSpPr>
            <a:stCxn id="286" idx="0"/>
            <a:endCxn id="301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22"/>
          <p:cNvCxnSpPr/>
          <p:nvPr/>
        </p:nvCxnSpPr>
        <p:spPr>
          <a:xfrm flipH="1">
            <a:off x="2438400" y="3200400"/>
            <a:ext cx="533400" cy="1524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5" name="Google Shape;305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311" name="Google Shape;311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partition</a:t>
            </a:r>
            <a:endParaRPr/>
          </a:p>
        </p:txBody>
      </p:sp>
      <p:cxnSp>
        <p:nvCxnSpPr>
          <p:cNvPr id="312" name="Google Shape;312;p23"/>
          <p:cNvCxnSpPr>
            <a:stCxn id="313" idx="0"/>
            <a:endCxn id="314" idx="2"/>
          </p:cNvCxnSpPr>
          <p:nvPr/>
        </p:nvCxnSpPr>
        <p:spPr>
          <a:xfrm rot="10800000" flipH="1">
            <a:off x="14366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" name="Google Shape;315;p23"/>
          <p:cNvCxnSpPr>
            <a:stCxn id="316" idx="0"/>
            <a:endCxn id="314" idx="2"/>
          </p:cNvCxnSpPr>
          <p:nvPr/>
        </p:nvCxnSpPr>
        <p:spPr>
          <a:xfrm rot="10800000">
            <a:off x="25050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23"/>
          <p:cNvCxnSpPr>
            <a:stCxn id="318" idx="0"/>
            <a:endCxn id="313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23"/>
          <p:cNvCxnSpPr>
            <a:stCxn id="320" idx="0"/>
            <a:endCxn id="316" idx="2"/>
          </p:cNvCxnSpPr>
          <p:nvPr/>
        </p:nvCxnSpPr>
        <p:spPr>
          <a:xfrm rot="10800000" flipH="1">
            <a:off x="30916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3"/>
          <p:cNvCxnSpPr>
            <a:stCxn id="313" idx="2"/>
            <a:endCxn id="322" idx="0"/>
          </p:cNvCxnSpPr>
          <p:nvPr/>
        </p:nvCxnSpPr>
        <p:spPr>
          <a:xfrm>
            <a:off x="14366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3"/>
          <p:cNvCxnSpPr>
            <a:stCxn id="316" idx="2"/>
            <a:endCxn id="324" idx="0"/>
          </p:cNvCxnSpPr>
          <p:nvPr/>
        </p:nvCxnSpPr>
        <p:spPr>
          <a:xfrm>
            <a:off x="35718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" name="Google Shape;314;p23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325" name="Google Shape;325;p23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2  7</a:t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9  4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4  9</a:t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grpSp>
        <p:nvGrpSpPr>
          <p:cNvPr id="328" name="Google Shape;328;p23"/>
          <p:cNvGrpSpPr/>
          <p:nvPr/>
        </p:nvGrpSpPr>
        <p:grpSpPr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318" name="Google Shape;318;p23"/>
            <p:cNvSpPr/>
            <p:nvPr/>
          </p:nvSpPr>
          <p:spPr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7</a:t>
              </a:r>
              <a:endParaRPr/>
            </a:p>
          </p:txBody>
        </p:sp>
        <p:sp>
          <p:nvSpPr>
            <p:cNvPr id="322" name="Google Shape;322;p23"/>
            <p:cNvSpPr/>
            <p:nvPr/>
          </p:nvSpPr>
          <p:spPr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2</a:t>
              </a:r>
              <a:endParaRPr/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9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9</a:t>
              </a:r>
              <a:endParaRPr/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4</a:t>
              </a:r>
              <a:endParaRPr/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3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3</a:t>
              </a:r>
              <a:endParaRPr/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8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8</a:t>
              </a:r>
              <a:endParaRPr/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6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6</a:t>
              </a:r>
              <a:endParaRPr/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1</a:t>
              </a:r>
              <a:endParaRPr/>
            </a:p>
          </p:txBody>
        </p:sp>
      </p:grpSp>
      <p:cxnSp>
        <p:nvCxnSpPr>
          <p:cNvPr id="333" name="Google Shape;333;p23"/>
          <p:cNvCxnSpPr>
            <a:stCxn id="326" idx="0"/>
            <a:endCxn id="325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23"/>
          <p:cNvCxnSpPr>
            <a:stCxn id="327" idx="0"/>
            <a:endCxn id="325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23"/>
          <p:cNvCxnSpPr>
            <a:stCxn id="329" idx="0"/>
            <a:endCxn id="326" idx="2"/>
          </p:cNvCxnSpPr>
          <p:nvPr/>
        </p:nvCxnSpPr>
        <p:spPr>
          <a:xfrm rot="10800000" flipH="1">
            <a:off x="5389563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23"/>
          <p:cNvCxnSpPr>
            <a:stCxn id="331" idx="0"/>
            <a:endCxn id="327" idx="2"/>
          </p:cNvCxnSpPr>
          <p:nvPr/>
        </p:nvCxnSpPr>
        <p:spPr>
          <a:xfrm rot="10800000" flipH="1">
            <a:off x="75112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23"/>
          <p:cNvCxnSpPr>
            <a:stCxn id="326" idx="2"/>
            <a:endCxn id="330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" name="Google Shape;338;p23"/>
          <p:cNvCxnSpPr>
            <a:stCxn id="327" idx="2"/>
            <a:endCxn id="332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" name="Google Shape;339;p23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340" name="Google Shape;340;p23"/>
          <p:cNvCxnSpPr>
            <a:stCxn id="314" idx="0"/>
            <a:endCxn id="339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" name="Google Shape;341;p23"/>
          <p:cNvCxnSpPr>
            <a:stCxn id="325" idx="0"/>
            <a:endCxn id="339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42;p23"/>
          <p:cNvCxnSpPr/>
          <p:nvPr/>
        </p:nvCxnSpPr>
        <p:spPr>
          <a:xfrm flipH="1">
            <a:off x="1219200" y="4191000"/>
            <a:ext cx="533400" cy="3048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3" name="Google Shape;343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349" name="Google Shape;349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base case</a:t>
            </a:r>
            <a:endParaRPr/>
          </a:p>
        </p:txBody>
      </p:sp>
      <p:cxnSp>
        <p:nvCxnSpPr>
          <p:cNvPr id="350" name="Google Shape;350;p24"/>
          <p:cNvCxnSpPr>
            <a:stCxn id="351" idx="0"/>
            <a:endCxn id="352" idx="2"/>
          </p:cNvCxnSpPr>
          <p:nvPr/>
        </p:nvCxnSpPr>
        <p:spPr>
          <a:xfrm rot="10800000" flipH="1">
            <a:off x="14366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" name="Google Shape;353;p24"/>
          <p:cNvCxnSpPr>
            <a:stCxn id="354" idx="0"/>
            <a:endCxn id="352" idx="2"/>
          </p:cNvCxnSpPr>
          <p:nvPr/>
        </p:nvCxnSpPr>
        <p:spPr>
          <a:xfrm rot="10800000">
            <a:off x="2505075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24"/>
          <p:cNvCxnSpPr>
            <a:stCxn id="356" idx="0"/>
            <a:endCxn id="351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7" name="Google Shape;357;p24"/>
          <p:cNvCxnSpPr>
            <a:stCxn id="358" idx="0"/>
            <a:endCxn id="354" idx="2"/>
          </p:cNvCxnSpPr>
          <p:nvPr/>
        </p:nvCxnSpPr>
        <p:spPr>
          <a:xfrm rot="10800000" flipH="1">
            <a:off x="30916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24"/>
          <p:cNvCxnSpPr>
            <a:stCxn id="351" idx="2"/>
            <a:endCxn id="360" idx="0"/>
          </p:cNvCxnSpPr>
          <p:nvPr/>
        </p:nvCxnSpPr>
        <p:spPr>
          <a:xfrm>
            <a:off x="14366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24"/>
          <p:cNvCxnSpPr>
            <a:stCxn id="354" idx="2"/>
            <a:endCxn id="362" idx="0"/>
          </p:cNvCxnSpPr>
          <p:nvPr/>
        </p:nvCxnSpPr>
        <p:spPr>
          <a:xfrm>
            <a:off x="3571875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2" name="Google Shape;352;p24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grpSp>
        <p:nvGrpSpPr>
          <p:cNvPr id="364" name="Google Shape;364;p24"/>
          <p:cNvGrpSpPr/>
          <p:nvPr/>
        </p:nvGrpSpPr>
        <p:grpSpPr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351" name="Google Shape;351;p24"/>
            <p:cNvSpPr/>
            <p:nvPr/>
          </p:nvSpPr>
          <p:spPr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chemeClr val="dk2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⏐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2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2  7</a:t>
              </a:r>
              <a:endParaRPr/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9  4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4  9</a:t>
              </a:r>
              <a:endParaRPr/>
            </a:p>
          </p:txBody>
        </p:sp>
        <p:sp>
          <p:nvSpPr>
            <p:cNvPr id="365" name="Google Shape;365;p24"/>
            <p:cNvSpPr/>
            <p:nvPr/>
          </p:nvSpPr>
          <p:spPr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3  8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3  8</a:t>
              </a:r>
              <a:endParaRPr/>
            </a:p>
          </p:txBody>
        </p:sp>
        <p:sp>
          <p:nvSpPr>
            <p:cNvPr id="366" name="Google Shape;366;p24"/>
            <p:cNvSpPr/>
            <p:nvPr/>
          </p:nvSpPr>
          <p:spPr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6  1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1  6</a:t>
              </a:r>
              <a:endParaRPr/>
            </a:p>
          </p:txBody>
        </p:sp>
      </p:grpSp>
      <p:sp>
        <p:nvSpPr>
          <p:cNvPr id="356" name="Google Shape;356;p24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15970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endParaRPr/>
          </a:p>
        </p:txBody>
      </p:sp>
      <p:sp>
        <p:nvSpPr>
          <p:cNvPr id="358" name="Google Shape;358;p24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9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cxnSp>
        <p:nvCxnSpPr>
          <p:cNvPr id="371" name="Google Shape;371;p24"/>
          <p:cNvCxnSpPr>
            <a:stCxn id="365" idx="0"/>
            <a:endCxn id="363" idx="2"/>
          </p:cNvCxnSpPr>
          <p:nvPr/>
        </p:nvCxnSpPr>
        <p:spPr>
          <a:xfrm rot="10800000" flipH="1">
            <a:off x="58562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24"/>
          <p:cNvCxnSpPr>
            <a:stCxn id="366" idx="0"/>
            <a:endCxn id="363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24"/>
          <p:cNvCxnSpPr>
            <a:stCxn id="367" idx="0"/>
            <a:endCxn id="365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24"/>
          <p:cNvCxnSpPr>
            <a:stCxn id="369" idx="0"/>
            <a:endCxn id="366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24"/>
          <p:cNvCxnSpPr>
            <a:stCxn id="365" idx="2"/>
            <a:endCxn id="368" idx="0"/>
          </p:cNvCxnSpPr>
          <p:nvPr/>
        </p:nvCxnSpPr>
        <p:spPr>
          <a:xfrm>
            <a:off x="58562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24"/>
          <p:cNvCxnSpPr>
            <a:stCxn id="366" idx="2"/>
            <a:endCxn id="370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7" name="Google Shape;377;p24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378" name="Google Shape;378;p24"/>
          <p:cNvCxnSpPr>
            <a:stCxn id="352" idx="0"/>
            <a:endCxn id="377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24"/>
          <p:cNvCxnSpPr>
            <a:stCxn id="363" idx="0"/>
            <a:endCxn id="377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0" name="Google Shape;380;p24"/>
          <p:cNvCxnSpPr/>
          <p:nvPr/>
        </p:nvCxnSpPr>
        <p:spPr>
          <a:xfrm flipH="1">
            <a:off x="7620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1" name="Google Shape;381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387" name="Google Shape;387;p2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base case</a:t>
            </a:r>
            <a:endParaRPr/>
          </a:p>
        </p:txBody>
      </p:sp>
      <p:cxnSp>
        <p:nvCxnSpPr>
          <p:cNvPr id="388" name="Google Shape;388;p25"/>
          <p:cNvCxnSpPr>
            <a:stCxn id="389" idx="0"/>
            <a:endCxn id="390" idx="2"/>
          </p:cNvCxnSpPr>
          <p:nvPr/>
        </p:nvCxnSpPr>
        <p:spPr>
          <a:xfrm rot="10800000" flipH="1">
            <a:off x="14366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25"/>
          <p:cNvCxnSpPr>
            <a:stCxn id="392" idx="0"/>
            <a:endCxn id="390" idx="2"/>
          </p:cNvCxnSpPr>
          <p:nvPr/>
        </p:nvCxnSpPr>
        <p:spPr>
          <a:xfrm rot="10800000">
            <a:off x="25050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3" name="Google Shape;393;p25"/>
          <p:cNvCxnSpPr>
            <a:stCxn id="394" idx="0"/>
            <a:endCxn id="389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25"/>
          <p:cNvCxnSpPr>
            <a:stCxn id="396" idx="0"/>
            <a:endCxn id="392" idx="2"/>
          </p:cNvCxnSpPr>
          <p:nvPr/>
        </p:nvCxnSpPr>
        <p:spPr>
          <a:xfrm rot="10800000" flipH="1">
            <a:off x="30916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25"/>
          <p:cNvCxnSpPr>
            <a:stCxn id="389" idx="2"/>
            <a:endCxn id="398" idx="0"/>
          </p:cNvCxnSpPr>
          <p:nvPr/>
        </p:nvCxnSpPr>
        <p:spPr>
          <a:xfrm>
            <a:off x="1436687" y="5070475"/>
            <a:ext cx="5064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25"/>
          <p:cNvCxnSpPr>
            <a:stCxn id="392" idx="2"/>
            <a:endCxn id="400" idx="0"/>
          </p:cNvCxnSpPr>
          <p:nvPr/>
        </p:nvCxnSpPr>
        <p:spPr>
          <a:xfrm>
            <a:off x="35718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0" name="Google Shape;390;p25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401" name="Google Shape;401;p25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2  7</a:t>
            </a: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9  4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4  9</a:t>
            </a:r>
            <a:endParaRPr/>
          </a:p>
        </p:txBody>
      </p:sp>
      <p:sp>
        <p:nvSpPr>
          <p:cNvPr id="402" name="Google Shape;402;p25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403" name="Google Shape;403;p25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394" name="Google Shape;394;p25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98" name="Google Shape;398;p25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96" name="Google Shape;396;p25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9</a:t>
            </a:r>
            <a:endParaRPr/>
          </a:p>
        </p:txBody>
      </p:sp>
      <p:sp>
        <p:nvSpPr>
          <p:cNvPr id="400" name="Google Shape;400;p25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405" name="Google Shape;405;p25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endParaRPr/>
          </a:p>
        </p:txBody>
      </p:sp>
      <p:sp>
        <p:nvSpPr>
          <p:cNvPr id="406" name="Google Shape;406;p25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cxnSp>
        <p:nvCxnSpPr>
          <p:cNvPr id="408" name="Google Shape;408;p25"/>
          <p:cNvCxnSpPr>
            <a:stCxn id="402" idx="0"/>
            <a:endCxn id="401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25"/>
          <p:cNvCxnSpPr>
            <a:stCxn id="403" idx="0"/>
            <a:endCxn id="401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25"/>
          <p:cNvCxnSpPr>
            <a:stCxn id="404" idx="0"/>
            <a:endCxn id="402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25"/>
          <p:cNvCxnSpPr>
            <a:stCxn id="406" idx="0"/>
            <a:endCxn id="403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25"/>
          <p:cNvCxnSpPr>
            <a:stCxn id="402" idx="2"/>
            <a:endCxn id="405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25"/>
          <p:cNvCxnSpPr>
            <a:stCxn id="403" idx="2"/>
            <a:endCxn id="407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4" name="Google Shape;414;p25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415" name="Google Shape;415;p25"/>
          <p:cNvCxnSpPr>
            <a:stCxn id="390" idx="0"/>
            <a:endCxn id="414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25"/>
          <p:cNvCxnSpPr>
            <a:stCxn id="401" idx="0"/>
            <a:endCxn id="414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25"/>
          <p:cNvCxnSpPr/>
          <p:nvPr/>
        </p:nvCxnSpPr>
        <p:spPr>
          <a:xfrm>
            <a:off x="17526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8" name="Google Shape;418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424" name="Google Shape;424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</a:t>
            </a:r>
            <a:endParaRPr/>
          </a:p>
        </p:txBody>
      </p:sp>
      <p:cxnSp>
        <p:nvCxnSpPr>
          <p:cNvPr id="425" name="Google Shape;425;p26"/>
          <p:cNvCxnSpPr>
            <a:stCxn id="426" idx="0"/>
            <a:endCxn id="427" idx="2"/>
          </p:cNvCxnSpPr>
          <p:nvPr/>
        </p:nvCxnSpPr>
        <p:spPr>
          <a:xfrm rot="10800000" flipH="1">
            <a:off x="1447800" y="4044938"/>
            <a:ext cx="10572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26"/>
          <p:cNvCxnSpPr>
            <a:stCxn id="429" idx="0"/>
            <a:endCxn id="427" idx="2"/>
          </p:cNvCxnSpPr>
          <p:nvPr/>
        </p:nvCxnSpPr>
        <p:spPr>
          <a:xfrm rot="10800000">
            <a:off x="25050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26"/>
          <p:cNvCxnSpPr>
            <a:stCxn id="431" idx="0"/>
            <a:endCxn id="426" idx="2"/>
          </p:cNvCxnSpPr>
          <p:nvPr/>
        </p:nvCxnSpPr>
        <p:spPr>
          <a:xfrm rot="10800000" flipH="1">
            <a:off x="969962" y="5070463"/>
            <a:ext cx="4779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2" name="Google Shape;432;p26"/>
          <p:cNvCxnSpPr>
            <a:stCxn id="433" idx="0"/>
            <a:endCxn id="429" idx="2"/>
          </p:cNvCxnSpPr>
          <p:nvPr/>
        </p:nvCxnSpPr>
        <p:spPr>
          <a:xfrm rot="10800000" flipH="1">
            <a:off x="30916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4" name="Google Shape;434;p26"/>
          <p:cNvCxnSpPr>
            <a:stCxn id="426" idx="2"/>
            <a:endCxn id="435" idx="0"/>
          </p:cNvCxnSpPr>
          <p:nvPr/>
        </p:nvCxnSpPr>
        <p:spPr>
          <a:xfrm>
            <a:off x="1447800" y="5070475"/>
            <a:ext cx="495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6" name="Google Shape;436;p26"/>
          <p:cNvCxnSpPr>
            <a:stCxn id="429" idx="2"/>
            <a:endCxn id="437" idx="0"/>
          </p:cNvCxnSpPr>
          <p:nvPr/>
        </p:nvCxnSpPr>
        <p:spPr>
          <a:xfrm>
            <a:off x="35718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7" name="Google Shape;427;p26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438" name="Google Shape;438;p26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sp>
        <p:nvSpPr>
          <p:cNvPr id="426" name="Google Shape;426;p26"/>
          <p:cNvSpPr/>
          <p:nvPr/>
        </p:nvSpPr>
        <p:spPr>
          <a:xfrm>
            <a:off x="685800" y="4643438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2  7</a:t>
            </a:r>
            <a:endParaRPr/>
          </a:p>
        </p:txBody>
      </p:sp>
      <p:sp>
        <p:nvSpPr>
          <p:cNvPr id="429" name="Google Shape;429;p26"/>
          <p:cNvSpPr/>
          <p:nvPr/>
        </p:nvSpPr>
        <p:spPr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9  4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4  9</a:t>
            </a:r>
            <a:endParaRPr/>
          </a:p>
        </p:txBody>
      </p:sp>
      <p:sp>
        <p:nvSpPr>
          <p:cNvPr id="439" name="Google Shape;439;p26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431" name="Google Shape;431;p26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35" name="Google Shape;435;p26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33" name="Google Shape;433;p26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9</a:t>
            </a:r>
            <a:endParaRPr/>
          </a:p>
        </p:txBody>
      </p:sp>
      <p:sp>
        <p:nvSpPr>
          <p:cNvPr id="437" name="Google Shape;437;p26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441" name="Google Shape;441;p26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442" name="Google Shape;442;p26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endParaRPr/>
          </a:p>
        </p:txBody>
      </p:sp>
      <p:sp>
        <p:nvSpPr>
          <p:cNvPr id="443" name="Google Shape;443;p26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444" name="Google Shape;444;p26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cxnSp>
        <p:nvCxnSpPr>
          <p:cNvPr id="445" name="Google Shape;445;p26"/>
          <p:cNvCxnSpPr>
            <a:stCxn id="439" idx="0"/>
            <a:endCxn id="438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26"/>
          <p:cNvCxnSpPr>
            <a:stCxn id="440" idx="0"/>
            <a:endCxn id="438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26"/>
          <p:cNvCxnSpPr>
            <a:stCxn id="441" idx="0"/>
            <a:endCxn id="439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26"/>
          <p:cNvCxnSpPr>
            <a:stCxn id="443" idx="0"/>
            <a:endCxn id="440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9" name="Google Shape;449;p26"/>
          <p:cNvCxnSpPr>
            <a:stCxn id="439" idx="2"/>
            <a:endCxn id="442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0" name="Google Shape;450;p26"/>
          <p:cNvCxnSpPr>
            <a:stCxn id="440" idx="2"/>
            <a:endCxn id="444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1" name="Google Shape;451;p26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452" name="Google Shape;452;p26"/>
          <p:cNvCxnSpPr>
            <a:stCxn id="427" idx="0"/>
            <a:endCxn id="451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26"/>
          <p:cNvCxnSpPr>
            <a:stCxn id="438" idx="0"/>
            <a:endCxn id="451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26"/>
          <p:cNvCxnSpPr/>
          <p:nvPr/>
        </p:nvCxnSpPr>
        <p:spPr>
          <a:xfrm flipH="1">
            <a:off x="7620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55" name="Google Shape;455;p26"/>
          <p:cNvCxnSpPr/>
          <p:nvPr/>
        </p:nvCxnSpPr>
        <p:spPr>
          <a:xfrm>
            <a:off x="17526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56" name="Google Shape;456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462" name="Google Shape;462;p2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…, base case, merge</a:t>
            </a:r>
            <a:endParaRPr/>
          </a:p>
        </p:txBody>
      </p:sp>
      <p:cxnSp>
        <p:nvCxnSpPr>
          <p:cNvPr id="463" name="Google Shape;463;p27"/>
          <p:cNvCxnSpPr>
            <a:stCxn id="464" idx="0"/>
            <a:endCxn id="465" idx="2"/>
          </p:cNvCxnSpPr>
          <p:nvPr/>
        </p:nvCxnSpPr>
        <p:spPr>
          <a:xfrm rot="10800000" flipH="1">
            <a:off x="1447800" y="4044938"/>
            <a:ext cx="10572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27"/>
          <p:cNvCxnSpPr>
            <a:stCxn id="467" idx="0"/>
            <a:endCxn id="465" idx="2"/>
          </p:cNvCxnSpPr>
          <p:nvPr/>
        </p:nvCxnSpPr>
        <p:spPr>
          <a:xfrm rot="10800000">
            <a:off x="25050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27"/>
          <p:cNvCxnSpPr>
            <a:stCxn id="469" idx="0"/>
            <a:endCxn id="464" idx="2"/>
          </p:cNvCxnSpPr>
          <p:nvPr/>
        </p:nvCxnSpPr>
        <p:spPr>
          <a:xfrm rot="10800000" flipH="1">
            <a:off x="969962" y="5070463"/>
            <a:ext cx="4779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27"/>
          <p:cNvCxnSpPr>
            <a:endCxn id="467" idx="2"/>
          </p:cNvCxnSpPr>
          <p:nvPr/>
        </p:nvCxnSpPr>
        <p:spPr>
          <a:xfrm rot="10800000" flipH="1">
            <a:off x="3092476" y="5070475"/>
            <a:ext cx="479400" cy="57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27"/>
          <p:cNvCxnSpPr>
            <a:stCxn id="464" idx="2"/>
            <a:endCxn id="472" idx="0"/>
          </p:cNvCxnSpPr>
          <p:nvPr/>
        </p:nvCxnSpPr>
        <p:spPr>
          <a:xfrm>
            <a:off x="1447800" y="5070475"/>
            <a:ext cx="495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27"/>
          <p:cNvCxnSpPr>
            <a:stCxn id="467" idx="2"/>
          </p:cNvCxnSpPr>
          <p:nvPr/>
        </p:nvCxnSpPr>
        <p:spPr>
          <a:xfrm>
            <a:off x="3571876" y="5070475"/>
            <a:ext cx="504900" cy="57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5" name="Google Shape;465;p27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474" name="Google Shape;474;p27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sp>
        <p:nvSpPr>
          <p:cNvPr id="464" name="Google Shape;464;p27"/>
          <p:cNvSpPr/>
          <p:nvPr/>
        </p:nvSpPr>
        <p:spPr>
          <a:xfrm>
            <a:off x="685800" y="4643438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2  7</a:t>
            </a:r>
            <a:endParaRPr/>
          </a:p>
        </p:txBody>
      </p:sp>
      <p:sp>
        <p:nvSpPr>
          <p:cNvPr id="467" name="Google Shape;467;p27"/>
          <p:cNvSpPr/>
          <p:nvPr/>
        </p:nvSpPr>
        <p:spPr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9  4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4  9</a:t>
            </a:r>
            <a:endParaRPr/>
          </a:p>
        </p:txBody>
      </p:sp>
      <p:sp>
        <p:nvSpPr>
          <p:cNvPr id="475" name="Google Shape;475;p27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476" name="Google Shape;476;p27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72" name="Google Shape;472;p27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7" name="Google Shape;477;p27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478" name="Google Shape;478;p27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endParaRPr/>
          </a:p>
        </p:txBody>
      </p:sp>
      <p:sp>
        <p:nvSpPr>
          <p:cNvPr id="479" name="Google Shape;479;p27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cxnSp>
        <p:nvCxnSpPr>
          <p:cNvPr id="481" name="Google Shape;481;p27"/>
          <p:cNvCxnSpPr>
            <a:stCxn id="475" idx="0"/>
            <a:endCxn id="474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2" name="Google Shape;482;p27"/>
          <p:cNvCxnSpPr>
            <a:stCxn id="476" idx="0"/>
            <a:endCxn id="474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3" name="Google Shape;483;p27"/>
          <p:cNvCxnSpPr>
            <a:stCxn id="477" idx="0"/>
            <a:endCxn id="475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4" name="Google Shape;484;p27"/>
          <p:cNvCxnSpPr>
            <a:stCxn id="479" idx="0"/>
            <a:endCxn id="476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27"/>
          <p:cNvCxnSpPr>
            <a:stCxn id="475" idx="2"/>
            <a:endCxn id="478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27"/>
          <p:cNvCxnSpPr>
            <a:stCxn id="476" idx="2"/>
            <a:endCxn id="480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7" name="Google Shape;487;p27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488" name="Google Shape;488;p27"/>
          <p:cNvCxnSpPr>
            <a:stCxn id="465" idx="0"/>
            <a:endCxn id="487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9" name="Google Shape;489;p27"/>
          <p:cNvCxnSpPr>
            <a:stCxn id="474" idx="0"/>
            <a:endCxn id="487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0" name="Google Shape;490;p27"/>
          <p:cNvCxnSpPr/>
          <p:nvPr/>
        </p:nvCxnSpPr>
        <p:spPr>
          <a:xfrm flipH="1">
            <a:off x="28956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91" name="Google Shape;491;p27"/>
          <p:cNvCxnSpPr/>
          <p:nvPr/>
        </p:nvCxnSpPr>
        <p:spPr>
          <a:xfrm>
            <a:off x="38862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92" name="Google Shape;492;p27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494" name="Google Shape;494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500" name="Google Shape;500;p2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</a:t>
            </a:r>
            <a:endParaRPr/>
          </a:p>
        </p:txBody>
      </p:sp>
      <p:cxnSp>
        <p:nvCxnSpPr>
          <p:cNvPr id="501" name="Google Shape;501;p28"/>
          <p:cNvCxnSpPr>
            <a:stCxn id="502" idx="0"/>
            <a:endCxn id="503" idx="2"/>
          </p:cNvCxnSpPr>
          <p:nvPr/>
        </p:nvCxnSpPr>
        <p:spPr>
          <a:xfrm rot="10800000" flipH="1">
            <a:off x="14366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4" name="Google Shape;504;p28"/>
          <p:cNvCxnSpPr>
            <a:stCxn id="505" idx="0"/>
            <a:endCxn id="503" idx="2"/>
          </p:cNvCxnSpPr>
          <p:nvPr/>
        </p:nvCxnSpPr>
        <p:spPr>
          <a:xfrm rot="10800000">
            <a:off x="2505132" y="4044938"/>
            <a:ext cx="10977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6" name="Google Shape;506;p28"/>
          <p:cNvCxnSpPr>
            <a:stCxn id="507" idx="0"/>
            <a:endCxn id="502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8" name="Google Shape;508;p28"/>
          <p:cNvCxnSpPr>
            <a:stCxn id="509" idx="0"/>
            <a:endCxn id="505" idx="2"/>
          </p:cNvCxnSpPr>
          <p:nvPr/>
        </p:nvCxnSpPr>
        <p:spPr>
          <a:xfrm rot="10800000" flipH="1">
            <a:off x="3091657" y="5070463"/>
            <a:ext cx="5112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0" name="Google Shape;510;p28"/>
          <p:cNvCxnSpPr>
            <a:stCxn id="502" idx="2"/>
            <a:endCxn id="511" idx="0"/>
          </p:cNvCxnSpPr>
          <p:nvPr/>
        </p:nvCxnSpPr>
        <p:spPr>
          <a:xfrm>
            <a:off x="1436687" y="5070475"/>
            <a:ext cx="5064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2" name="Google Shape;512;p28"/>
          <p:cNvCxnSpPr>
            <a:stCxn id="505" idx="2"/>
            <a:endCxn id="513" idx="0"/>
          </p:cNvCxnSpPr>
          <p:nvPr/>
        </p:nvCxnSpPr>
        <p:spPr>
          <a:xfrm>
            <a:off x="3602832" y="5070475"/>
            <a:ext cx="4731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3" name="Google Shape;503;p28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2  4  7  9</a:t>
            </a:r>
            <a:endParaRPr/>
          </a:p>
        </p:txBody>
      </p:sp>
      <p:sp>
        <p:nvSpPr>
          <p:cNvPr id="514" name="Google Shape;514;p28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sp>
        <p:nvSpPr>
          <p:cNvPr id="502" name="Google Shape;502;p28"/>
          <p:cNvSpPr/>
          <p:nvPr/>
        </p:nvSpPr>
        <p:spPr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2  7</a:t>
            </a:r>
            <a:endParaRPr/>
          </a:p>
        </p:txBody>
      </p:sp>
      <p:sp>
        <p:nvSpPr>
          <p:cNvPr id="505" name="Google Shape;505;p28"/>
          <p:cNvSpPr/>
          <p:nvPr/>
        </p:nvSpPr>
        <p:spPr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9  4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4  9</a:t>
            </a:r>
            <a:endParaRPr/>
          </a:p>
        </p:txBody>
      </p:sp>
      <p:sp>
        <p:nvSpPr>
          <p:cNvPr id="515" name="Google Shape;515;p28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507" name="Google Shape;507;p28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11" name="Google Shape;511;p28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09" name="Google Shape;509;p28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13" name="Google Shape;513;p28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518" name="Google Shape;518;p28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endParaRPr/>
          </a:p>
        </p:txBody>
      </p:sp>
      <p:sp>
        <p:nvSpPr>
          <p:cNvPr id="519" name="Google Shape;519;p28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520" name="Google Shape;520;p28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cxnSp>
        <p:nvCxnSpPr>
          <p:cNvPr id="521" name="Google Shape;521;p28"/>
          <p:cNvCxnSpPr>
            <a:stCxn id="515" idx="0"/>
            <a:endCxn id="514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2" name="Google Shape;522;p28"/>
          <p:cNvCxnSpPr>
            <a:stCxn id="516" idx="0"/>
            <a:endCxn id="514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3" name="Google Shape;523;p28"/>
          <p:cNvCxnSpPr>
            <a:stCxn id="517" idx="0"/>
            <a:endCxn id="515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28"/>
          <p:cNvCxnSpPr>
            <a:stCxn id="519" idx="0"/>
            <a:endCxn id="516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5" name="Google Shape;525;p28"/>
          <p:cNvCxnSpPr>
            <a:stCxn id="515" idx="2"/>
            <a:endCxn id="518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6" name="Google Shape;526;p28"/>
          <p:cNvCxnSpPr>
            <a:stCxn id="516" idx="2"/>
            <a:endCxn id="520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7" name="Google Shape;527;p28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528" name="Google Shape;528;p28"/>
          <p:cNvCxnSpPr>
            <a:stCxn id="503" idx="0"/>
            <a:endCxn id="527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9" name="Google Shape;529;p28"/>
          <p:cNvCxnSpPr>
            <a:stCxn id="514" idx="0"/>
            <a:endCxn id="527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0" name="Google Shape;530;p28"/>
          <p:cNvCxnSpPr/>
          <p:nvPr/>
        </p:nvCxnSpPr>
        <p:spPr>
          <a:xfrm flipH="1">
            <a:off x="1143000" y="4191000"/>
            <a:ext cx="609600" cy="3048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31" name="Google Shape;531;p28"/>
          <p:cNvCxnSpPr/>
          <p:nvPr/>
        </p:nvCxnSpPr>
        <p:spPr>
          <a:xfrm>
            <a:off x="3276600" y="4191000"/>
            <a:ext cx="609600" cy="3048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32" name="Google Shape;532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538" name="Google Shape;538;p2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…, merge, merge</a:t>
            </a:r>
            <a:endParaRPr/>
          </a:p>
        </p:txBody>
      </p:sp>
      <p:cxnSp>
        <p:nvCxnSpPr>
          <p:cNvPr id="539" name="Google Shape;539;p29"/>
          <p:cNvCxnSpPr>
            <a:stCxn id="540" idx="0"/>
            <a:endCxn id="541" idx="2"/>
          </p:cNvCxnSpPr>
          <p:nvPr/>
        </p:nvCxnSpPr>
        <p:spPr>
          <a:xfrm rot="10800000" flipH="1">
            <a:off x="14366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2" name="Google Shape;542;p29"/>
          <p:cNvCxnSpPr>
            <a:stCxn id="543" idx="0"/>
            <a:endCxn id="541" idx="2"/>
          </p:cNvCxnSpPr>
          <p:nvPr/>
        </p:nvCxnSpPr>
        <p:spPr>
          <a:xfrm rot="10800000">
            <a:off x="2505132" y="4044938"/>
            <a:ext cx="10977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4" name="Google Shape;544;p29"/>
          <p:cNvCxnSpPr>
            <a:stCxn id="545" idx="0"/>
            <a:endCxn id="540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29"/>
          <p:cNvCxnSpPr>
            <a:stCxn id="547" idx="0"/>
            <a:endCxn id="543" idx="2"/>
          </p:cNvCxnSpPr>
          <p:nvPr/>
        </p:nvCxnSpPr>
        <p:spPr>
          <a:xfrm rot="10800000" flipH="1">
            <a:off x="3091657" y="5070463"/>
            <a:ext cx="5112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29"/>
          <p:cNvCxnSpPr>
            <a:stCxn id="540" idx="2"/>
            <a:endCxn id="549" idx="0"/>
          </p:cNvCxnSpPr>
          <p:nvPr/>
        </p:nvCxnSpPr>
        <p:spPr>
          <a:xfrm>
            <a:off x="1436687" y="5070475"/>
            <a:ext cx="5064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0" name="Google Shape;550;p29"/>
          <p:cNvCxnSpPr>
            <a:stCxn id="543" idx="2"/>
            <a:endCxn id="551" idx="0"/>
          </p:cNvCxnSpPr>
          <p:nvPr/>
        </p:nvCxnSpPr>
        <p:spPr>
          <a:xfrm>
            <a:off x="3602832" y="5070475"/>
            <a:ext cx="4731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p29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2  4  7  9</a:t>
            </a: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3  8  6  1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1  3  6  8</a:t>
            </a:r>
            <a:endParaRPr/>
          </a:p>
        </p:txBody>
      </p:sp>
      <p:sp>
        <p:nvSpPr>
          <p:cNvPr id="540" name="Google Shape;540;p29"/>
          <p:cNvSpPr/>
          <p:nvPr/>
        </p:nvSpPr>
        <p:spPr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2  7</a:t>
            </a:r>
            <a:endParaRPr/>
          </a:p>
        </p:txBody>
      </p:sp>
      <p:sp>
        <p:nvSpPr>
          <p:cNvPr id="543" name="Google Shape;543;p29"/>
          <p:cNvSpPr/>
          <p:nvPr/>
        </p:nvSpPr>
        <p:spPr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9  4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4  9</a:t>
            </a: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3  8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554" name="Google Shape;554;p29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6  1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49" name="Google Shape;549;p29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57" name="Google Shape;557;p29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58" name="Google Shape;558;p29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559" name="Google Shape;559;p29"/>
          <p:cNvCxnSpPr>
            <a:stCxn id="553" idx="0"/>
            <a:endCxn id="552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29"/>
          <p:cNvCxnSpPr>
            <a:stCxn id="554" idx="0"/>
            <a:endCxn id="552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29"/>
          <p:cNvCxnSpPr>
            <a:stCxn id="555" idx="0"/>
            <a:endCxn id="553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29"/>
          <p:cNvCxnSpPr>
            <a:stCxn id="557" idx="0"/>
            <a:endCxn id="554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3" name="Google Shape;563;p29"/>
          <p:cNvCxnSpPr>
            <a:stCxn id="553" idx="2"/>
            <a:endCxn id="556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29"/>
          <p:cNvCxnSpPr>
            <a:stCxn id="554" idx="2"/>
            <a:endCxn id="558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5" name="Google Shape;565;p29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566" name="Google Shape;566;p29"/>
          <p:cNvCxnSpPr>
            <a:stCxn id="541" idx="0"/>
            <a:endCxn id="565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7" name="Google Shape;567;p29"/>
          <p:cNvCxnSpPr>
            <a:stCxn id="552" idx="0"/>
            <a:endCxn id="565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8" name="Google Shape;568;p29"/>
          <p:cNvCxnSpPr/>
          <p:nvPr/>
        </p:nvCxnSpPr>
        <p:spPr>
          <a:xfrm flipH="1">
            <a:off x="5562600" y="4191000"/>
            <a:ext cx="609600" cy="3048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69" name="Google Shape;569;p29"/>
          <p:cNvCxnSpPr/>
          <p:nvPr/>
        </p:nvCxnSpPr>
        <p:spPr>
          <a:xfrm>
            <a:off x="7696200" y="4191000"/>
            <a:ext cx="609600" cy="3048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70" name="Google Shape;570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576" name="Google Shape;576;p3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</a:t>
            </a:r>
            <a:endParaRPr/>
          </a:p>
        </p:txBody>
      </p:sp>
      <p:cxnSp>
        <p:nvCxnSpPr>
          <p:cNvPr id="577" name="Google Shape;577;p30"/>
          <p:cNvCxnSpPr>
            <a:stCxn id="578" idx="0"/>
            <a:endCxn id="579" idx="2"/>
          </p:cNvCxnSpPr>
          <p:nvPr/>
        </p:nvCxnSpPr>
        <p:spPr>
          <a:xfrm rot="10800000" flipH="1">
            <a:off x="14366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0" name="Google Shape;580;p30"/>
          <p:cNvCxnSpPr>
            <a:stCxn id="581" idx="0"/>
            <a:endCxn id="579" idx="2"/>
          </p:cNvCxnSpPr>
          <p:nvPr/>
        </p:nvCxnSpPr>
        <p:spPr>
          <a:xfrm rot="10800000">
            <a:off x="2505132" y="4044938"/>
            <a:ext cx="10977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30"/>
          <p:cNvCxnSpPr>
            <a:stCxn id="583" idx="0"/>
            <a:endCxn id="578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30"/>
          <p:cNvCxnSpPr>
            <a:stCxn id="585" idx="0"/>
            <a:endCxn id="581" idx="2"/>
          </p:cNvCxnSpPr>
          <p:nvPr/>
        </p:nvCxnSpPr>
        <p:spPr>
          <a:xfrm rot="10800000" flipH="1">
            <a:off x="3091657" y="5070463"/>
            <a:ext cx="5112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6" name="Google Shape;586;p30"/>
          <p:cNvCxnSpPr>
            <a:stCxn id="578" idx="2"/>
            <a:endCxn id="587" idx="0"/>
          </p:cNvCxnSpPr>
          <p:nvPr/>
        </p:nvCxnSpPr>
        <p:spPr>
          <a:xfrm>
            <a:off x="1436687" y="5070475"/>
            <a:ext cx="5064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8" name="Google Shape;588;p30"/>
          <p:cNvCxnSpPr>
            <a:stCxn id="581" idx="2"/>
            <a:endCxn id="589" idx="0"/>
          </p:cNvCxnSpPr>
          <p:nvPr/>
        </p:nvCxnSpPr>
        <p:spPr>
          <a:xfrm>
            <a:off x="3602832" y="5070475"/>
            <a:ext cx="4731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9" name="Google Shape;579;p30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2  4  7  9</a:t>
            </a:r>
            <a:endParaRPr/>
          </a:p>
        </p:txBody>
      </p:sp>
      <p:sp>
        <p:nvSpPr>
          <p:cNvPr id="590" name="Google Shape;590;p30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3  8  6  1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1  3  6  8</a:t>
            </a:r>
            <a:endParaRPr/>
          </a:p>
        </p:txBody>
      </p:sp>
      <p:sp>
        <p:nvSpPr>
          <p:cNvPr id="578" name="Google Shape;578;p30"/>
          <p:cNvSpPr/>
          <p:nvPr/>
        </p:nvSpPr>
        <p:spPr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2  7</a:t>
            </a:r>
            <a:endParaRPr/>
          </a:p>
        </p:txBody>
      </p:sp>
      <p:sp>
        <p:nvSpPr>
          <p:cNvPr id="581" name="Google Shape;581;p30"/>
          <p:cNvSpPr/>
          <p:nvPr/>
        </p:nvSpPr>
        <p:spPr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9  4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4  9</a:t>
            </a:r>
            <a:endParaRPr/>
          </a:p>
        </p:txBody>
      </p:sp>
      <p:sp>
        <p:nvSpPr>
          <p:cNvPr id="591" name="Google Shape;591;p30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3  8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592" name="Google Shape;592;p30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6  1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583" name="Google Shape;583;p30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87" name="Google Shape;587;p30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5" name="Google Shape;585;p30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89" name="Google Shape;589;p30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593" name="Google Shape;593;p30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94" name="Google Shape;594;p30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95" name="Google Shape;595;p30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96" name="Google Shape;596;p30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597" name="Google Shape;597;p30"/>
          <p:cNvCxnSpPr>
            <a:stCxn id="591" idx="0"/>
            <a:endCxn id="590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8" name="Google Shape;598;p30"/>
          <p:cNvCxnSpPr>
            <a:stCxn id="592" idx="0"/>
            <a:endCxn id="590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30"/>
          <p:cNvCxnSpPr>
            <a:stCxn id="593" idx="0"/>
            <a:endCxn id="591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600;p30"/>
          <p:cNvCxnSpPr>
            <a:stCxn id="595" idx="0"/>
            <a:endCxn id="592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1" name="Google Shape;601;p30"/>
          <p:cNvCxnSpPr>
            <a:stCxn id="591" idx="2"/>
            <a:endCxn id="594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2" name="Google Shape;602;p30"/>
          <p:cNvCxnSpPr>
            <a:stCxn id="592" idx="2"/>
            <a:endCxn id="596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3" name="Google Shape;603;p30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604" name="Google Shape;604;p30"/>
          <p:cNvCxnSpPr>
            <a:stCxn id="579" idx="0"/>
            <a:endCxn id="603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5" name="Google Shape;605;p30"/>
          <p:cNvCxnSpPr>
            <a:stCxn id="590" idx="0"/>
            <a:endCxn id="603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6" name="Google Shape;606;p30"/>
          <p:cNvCxnSpPr/>
          <p:nvPr/>
        </p:nvCxnSpPr>
        <p:spPr>
          <a:xfrm flipH="1">
            <a:off x="2743200" y="3124200"/>
            <a:ext cx="685800" cy="2286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07" name="Google Shape;607;p30"/>
          <p:cNvCxnSpPr/>
          <p:nvPr/>
        </p:nvCxnSpPr>
        <p:spPr>
          <a:xfrm>
            <a:off x="6019800" y="3124200"/>
            <a:ext cx="685800" cy="2286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08" name="Google Shape;608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 of Merge-Sort</a:t>
            </a:r>
            <a:endParaRPr/>
          </a:p>
        </p:txBody>
      </p:sp>
      <p:sp>
        <p:nvSpPr>
          <p:cNvPr id="614" name="Google Shape;614;p31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31014" y="1828800"/>
            <a:ext cx="7924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height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the merge-sort tree is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(log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each recursive call we divide in half the sequence,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overall amount or work done at the nodes of depth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partition and merge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00" b="1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sequences of size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800" b="1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00" b="1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make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00" b="1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recursive calls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Thus, the total running time of merge-sort is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grpSp>
        <p:nvGrpSpPr>
          <p:cNvPr id="615" name="Google Shape;615;p31"/>
          <p:cNvGrpSpPr/>
          <p:nvPr/>
        </p:nvGrpSpPr>
        <p:grpSpPr>
          <a:xfrm>
            <a:off x="3429000" y="4391025"/>
            <a:ext cx="4191000" cy="1785938"/>
            <a:chOff x="384" y="1632"/>
            <a:chExt cx="5184" cy="2208"/>
          </a:xfrm>
        </p:grpSpPr>
        <p:cxnSp>
          <p:nvCxnSpPr>
            <p:cNvPr id="616" name="Google Shape;616;p31"/>
            <p:cNvCxnSpPr>
              <a:stCxn id="617" idx="0"/>
              <a:endCxn id="618" idx="2"/>
            </p:cNvCxnSpPr>
            <p:nvPr/>
          </p:nvCxnSpPr>
          <p:spPr>
            <a:xfrm rot="10800000" flipH="1">
              <a:off x="905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9" name="Google Shape;619;p31"/>
            <p:cNvCxnSpPr>
              <a:stCxn id="620" idx="0"/>
              <a:endCxn id="618" idx="2"/>
            </p:cNvCxnSpPr>
            <p:nvPr/>
          </p:nvCxnSpPr>
          <p:spPr>
            <a:xfrm rot="10800000">
              <a:off x="1650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1" name="Google Shape;621;p31"/>
            <p:cNvCxnSpPr>
              <a:stCxn id="622" idx="0"/>
              <a:endCxn id="617" idx="2"/>
            </p:cNvCxnSpPr>
            <p:nvPr/>
          </p:nvCxnSpPr>
          <p:spPr>
            <a:xfrm rot="10800000" flipH="1">
              <a:off x="611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31"/>
            <p:cNvCxnSpPr>
              <a:stCxn id="624" idx="0"/>
              <a:endCxn id="620" idx="2"/>
            </p:cNvCxnSpPr>
            <p:nvPr/>
          </p:nvCxnSpPr>
          <p:spPr>
            <a:xfrm rot="10800000" flipH="1">
              <a:off x="1948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5" name="Google Shape;625;p31"/>
            <p:cNvCxnSpPr>
              <a:stCxn id="617" idx="2"/>
              <a:endCxn id="626" idx="0"/>
            </p:cNvCxnSpPr>
            <p:nvPr/>
          </p:nvCxnSpPr>
          <p:spPr>
            <a:xfrm>
              <a:off x="905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7" name="Google Shape;627;p31"/>
            <p:cNvCxnSpPr>
              <a:stCxn id="620" idx="2"/>
              <a:endCxn id="628" idx="0"/>
            </p:cNvCxnSpPr>
            <p:nvPr/>
          </p:nvCxnSpPr>
          <p:spPr>
            <a:xfrm>
              <a:off x="2250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8" name="Google Shape;618;p31"/>
            <p:cNvSpPr/>
            <p:nvPr/>
          </p:nvSpPr>
          <p:spPr>
            <a:xfrm>
              <a:off x="771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3555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0" name="Google Shape;630;p31"/>
            <p:cNvGrpSpPr/>
            <p:nvPr/>
          </p:nvGrpSpPr>
          <p:grpSpPr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617" name="Google Shape;617;p31"/>
              <p:cNvSpPr/>
              <p:nvPr/>
            </p:nvSpPr>
            <p:spPr>
              <a:xfrm>
                <a:off x="468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31"/>
              <p:cNvSpPr/>
              <p:nvPr/>
            </p:nvSpPr>
            <p:spPr>
              <a:xfrm>
                <a:off x="1779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31"/>
              <p:cNvSpPr/>
              <p:nvPr/>
            </p:nvSpPr>
            <p:spPr>
              <a:xfrm>
                <a:off x="3252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31"/>
              <p:cNvSpPr/>
              <p:nvPr/>
            </p:nvSpPr>
            <p:spPr>
              <a:xfrm>
                <a:off x="4563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3" name="Google Shape;633;p31"/>
            <p:cNvGrpSpPr/>
            <p:nvPr/>
          </p:nvGrpSpPr>
          <p:grpSpPr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622" name="Google Shape;622;p31"/>
              <p:cNvSpPr/>
              <p:nvPr/>
            </p:nvSpPr>
            <p:spPr>
              <a:xfrm>
                <a:off x="384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31"/>
              <p:cNvSpPr/>
              <p:nvPr/>
            </p:nvSpPr>
            <p:spPr>
              <a:xfrm>
                <a:off x="1006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31"/>
              <p:cNvSpPr/>
              <p:nvPr/>
            </p:nvSpPr>
            <p:spPr>
              <a:xfrm>
                <a:off x="1725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31"/>
              <p:cNvSpPr/>
              <p:nvPr/>
            </p:nvSpPr>
            <p:spPr>
              <a:xfrm>
                <a:off x="2351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31"/>
              <p:cNvSpPr/>
              <p:nvPr/>
            </p:nvSpPr>
            <p:spPr>
              <a:xfrm>
                <a:off x="3168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31"/>
              <p:cNvSpPr/>
              <p:nvPr/>
            </p:nvSpPr>
            <p:spPr>
              <a:xfrm>
                <a:off x="3790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31"/>
              <p:cNvSpPr/>
              <p:nvPr/>
            </p:nvSpPr>
            <p:spPr>
              <a:xfrm>
                <a:off x="4509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31"/>
              <p:cNvSpPr/>
              <p:nvPr/>
            </p:nvSpPr>
            <p:spPr>
              <a:xfrm>
                <a:off x="5135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38" name="Google Shape;638;p31"/>
            <p:cNvCxnSpPr>
              <a:stCxn id="631" idx="0"/>
              <a:endCxn id="629" idx="2"/>
            </p:cNvCxnSpPr>
            <p:nvPr/>
          </p:nvCxnSpPr>
          <p:spPr>
            <a:xfrm rot="10800000" flipH="1">
              <a:off x="3689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31"/>
            <p:cNvCxnSpPr>
              <a:stCxn id="632" idx="0"/>
              <a:endCxn id="629" idx="2"/>
            </p:cNvCxnSpPr>
            <p:nvPr/>
          </p:nvCxnSpPr>
          <p:spPr>
            <a:xfrm rot="10800000">
              <a:off x="4434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31"/>
            <p:cNvCxnSpPr>
              <a:stCxn id="634" idx="0"/>
              <a:endCxn id="631" idx="2"/>
            </p:cNvCxnSpPr>
            <p:nvPr/>
          </p:nvCxnSpPr>
          <p:spPr>
            <a:xfrm rot="10800000" flipH="1">
              <a:off x="3395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1" name="Google Shape;641;p31"/>
            <p:cNvCxnSpPr>
              <a:stCxn id="636" idx="0"/>
              <a:endCxn id="632" idx="2"/>
            </p:cNvCxnSpPr>
            <p:nvPr/>
          </p:nvCxnSpPr>
          <p:spPr>
            <a:xfrm rot="10800000" flipH="1">
              <a:off x="4732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p31"/>
            <p:cNvCxnSpPr>
              <a:stCxn id="631" idx="2"/>
              <a:endCxn id="635" idx="0"/>
            </p:cNvCxnSpPr>
            <p:nvPr/>
          </p:nvCxnSpPr>
          <p:spPr>
            <a:xfrm>
              <a:off x="3689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31"/>
            <p:cNvCxnSpPr>
              <a:stCxn id="632" idx="2"/>
              <a:endCxn id="637" idx="0"/>
            </p:cNvCxnSpPr>
            <p:nvPr/>
          </p:nvCxnSpPr>
          <p:spPr>
            <a:xfrm>
              <a:off x="5034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4" name="Google Shape;644;p31"/>
            <p:cNvSpPr/>
            <p:nvPr/>
          </p:nvSpPr>
          <p:spPr>
            <a:xfrm>
              <a:off x="1440" y="1632"/>
              <a:ext cx="3072" cy="2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5" name="Google Shape;645;p31"/>
            <p:cNvCxnSpPr>
              <a:stCxn id="618" idx="0"/>
              <a:endCxn id="644" idx="2"/>
            </p:cNvCxnSpPr>
            <p:nvPr/>
          </p:nvCxnSpPr>
          <p:spPr>
            <a:xfrm rot="10800000" flipH="1">
              <a:off x="1578" y="1979"/>
              <a:ext cx="15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1"/>
            <p:cNvCxnSpPr>
              <a:stCxn id="629" idx="0"/>
              <a:endCxn id="644" idx="2"/>
            </p:cNvCxnSpPr>
            <p:nvPr/>
          </p:nvCxnSpPr>
          <p:spPr>
            <a:xfrm rot="10800000">
              <a:off x="2862" y="1979"/>
              <a:ext cx="15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647" name="Google Shape;647;p31"/>
          <p:cNvGraphicFramePr/>
          <p:nvPr/>
        </p:nvGraphicFramePr>
        <p:xfrm>
          <a:off x="1219200" y="4246240"/>
          <a:ext cx="2057400" cy="2381275"/>
        </p:xfrm>
        <a:graphic>
          <a:graphicData uri="http://schemas.openxmlformats.org/drawingml/2006/table">
            <a:tbl>
              <a:tblPr>
                <a:noFill/>
                <a:tableStyleId>{7B1CF65D-FCD2-4DD9-9065-E694EA928A95}</a:tableStyleId>
              </a:tblPr>
              <a:tblGrid>
                <a:gridCol w="685800"/>
                <a:gridCol w="685800"/>
                <a:gridCol w="6858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depth</a:t>
                      </a: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#seqs</a:t>
                      </a: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size</a:t>
                      </a: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/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b="1" i="1" u="none" strike="noStrike" cap="none" baseline="30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1800" b="1" i="1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800" b="0" i="0" u="none" strike="noStrike" cap="none" baseline="30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/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1800" b="1" i="1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648" name="Google Shape;648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 of Sorting Algorithms</a:t>
            </a:r>
            <a:endParaRPr/>
          </a:p>
        </p:txBody>
      </p:sp>
      <p:graphicFrame>
        <p:nvGraphicFramePr>
          <p:cNvPr id="654" name="Google Shape;654;p32"/>
          <p:cNvGraphicFramePr/>
          <p:nvPr/>
        </p:nvGraphicFramePr>
        <p:xfrm>
          <a:off x="1066799" y="1657495"/>
          <a:ext cx="7010400" cy="4648200"/>
        </p:xfrm>
        <a:graphic>
          <a:graphicData uri="http://schemas.openxmlformats.org/drawingml/2006/table">
            <a:tbl>
              <a:tblPr>
                <a:noFill/>
                <a:tableStyleId>{7B1CF65D-FCD2-4DD9-9065-E694EA928A95}</a:tableStyleId>
              </a:tblPr>
              <a:tblGrid>
                <a:gridCol w="1925750"/>
                <a:gridCol w="2008575"/>
                <a:gridCol w="3076075"/>
              </a:tblGrid>
              <a:tr h="84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6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2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Algorithm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6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2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Expected time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6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2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Notes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</a:tr>
              <a:tr h="732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selection-sort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slow</a:t>
                      </a:r>
                      <a:endParaRPr/>
                    </a:p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for small data sets (&lt; 1K)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</a:tr>
              <a:tr h="732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insertion-sort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slow</a:t>
                      </a:r>
                      <a:endParaRPr/>
                    </a:p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for small data sets (&lt; 1K)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</a:tr>
              <a:tr h="862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heap-sort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log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fast</a:t>
                      </a:r>
                      <a:endParaRPr/>
                    </a:p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for large data sets (1K — 1M)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</a:tr>
              <a:tr h="61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merge-sort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log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fast</a:t>
                      </a:r>
                      <a:endParaRPr/>
                    </a:p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for huge data sets (&gt; 1M)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</a:tr>
              <a:tr h="862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Quick-sort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log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fast and most common in practice</a:t>
                      </a:r>
                      <a:endParaRPr/>
                    </a:p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for huge data sets (&gt; 1M)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</a:tr>
            </a:tbl>
          </a:graphicData>
        </a:graphic>
      </p:graphicFrame>
      <p:sp>
        <p:nvSpPr>
          <p:cNvPr id="655" name="Google Shape;655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1</a:t>
            </a:r>
            <a:endParaRPr/>
          </a:p>
        </p:txBody>
      </p:sp>
      <p:sp>
        <p:nvSpPr>
          <p:cNvPr id="661" name="Google Shape;661;p33"/>
          <p:cNvSpPr txBox="1">
            <a:spLocks noGrp="1"/>
          </p:cNvSpPr>
          <p:nvPr>
            <p:ph type="body" idx="1"/>
          </p:nvPr>
        </p:nvSpPr>
        <p:spPr>
          <a:xfrm>
            <a:off x="381000" y="1844824"/>
            <a:ext cx="84582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illustrate the execution of the merge-sort algorithm on following numbers: 	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3, 13, 89, 34, 21, 44, 99, 56, 9</a:t>
            </a:r>
            <a:endParaRPr/>
          </a:p>
        </p:txBody>
      </p:sp>
      <p:sp>
        <p:nvSpPr>
          <p:cNvPr id="662" name="Google Shape;662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1525</Words>
  <Application>Microsoft Office PowerPoint</Application>
  <PresentationFormat>On-screen Show (4:3)</PresentationFormat>
  <Paragraphs>370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Helvetica Neue</vt:lpstr>
      <vt:lpstr>Times New Roman</vt:lpstr>
      <vt:lpstr>Calibri</vt:lpstr>
      <vt:lpstr>Noto Sans Symbols</vt:lpstr>
      <vt:lpstr>Tahoma</vt:lpstr>
      <vt:lpstr>Koi</vt:lpstr>
      <vt:lpstr>Advanced algorithms</vt:lpstr>
      <vt:lpstr>Outlines</vt:lpstr>
      <vt:lpstr>Divide-and-Conquer </vt:lpstr>
      <vt:lpstr>Binary Search Algorithm</vt:lpstr>
      <vt:lpstr>Example</vt:lpstr>
      <vt:lpstr>Merge Sort</vt:lpstr>
      <vt:lpstr>Merge-Sort</vt:lpstr>
      <vt:lpstr>Merging Two Sorted Sequences</vt:lpstr>
      <vt:lpstr>Execution Example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Analysis of Merge-Sort</vt:lpstr>
      <vt:lpstr>Summary of Sorting Algorithms</vt:lpstr>
      <vt:lpstr>Exercise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algorithms</dc:title>
  <cp:lastModifiedBy>DHQG</cp:lastModifiedBy>
  <cp:revision>2</cp:revision>
  <dcterms:modified xsi:type="dcterms:W3CDTF">2018-09-18T02:46:04Z</dcterms:modified>
</cp:coreProperties>
</file>