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embeddedFontLst>
    <p:embeddedFont>
      <p:font typeface="Calibri" pitchFamily="34" charset="0"/>
      <p:regular r:id="rId37"/>
      <p:bold r:id="rId38"/>
      <p:italic r:id="rId39"/>
      <p:boldItalic r:id="rId40"/>
    </p:embeddedFont>
  </p:embeddedFontLst>
  <p:custDataLst>
    <p:tags r:id="rId4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3CEBB87E-1C5C-4BA3-8081-08FC538EE975}">
  <a:tblStyle styleId="{3CEBB87E-1C5C-4BA3-8081-08FC538EE9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02078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250825" y="1828800"/>
            <a:ext cx="8642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54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1143000" y="1997224"/>
            <a:ext cx="73152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dirty="0"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(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Queue)</a:t>
            </a:r>
            <a:endParaRPr dirty="0"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 (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 Queue)</a:t>
            </a:r>
            <a:endParaRPr dirty="0"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Ngăn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(Stack)</a:t>
            </a:r>
            <a:endParaRPr dirty="0"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dirty="0"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914400" y="1916113"/>
            <a:ext cx="7315200" cy="440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phổ</a:t>
            </a:r>
            <a:r>
              <a:rPr lang="en-US" sz="2400" dirty="0" smtClean="0"/>
              <a:t> </a:t>
            </a:r>
            <a:r>
              <a:rPr lang="en-US" sz="2400" dirty="0" err="1" smtClean="0"/>
              <a:t>biết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 </a:t>
            </a:r>
            <a:r>
              <a:rPr lang="en-US" sz="2400" dirty="0" err="1" smtClean="0"/>
              <a:t>nhất</a:t>
            </a:r>
            <a:r>
              <a:rPr lang="en-US" sz="2400" dirty="0" smtClean="0"/>
              <a:t> </a:t>
            </a:r>
            <a:r>
              <a:rPr lang="en-US" sz="2400" dirty="0" err="1" smtClean="0"/>
              <a:t>thường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cùng</a:t>
            </a:r>
            <a:r>
              <a:rPr lang="en-US" sz="2400" dirty="0" smtClean="0"/>
              <a:t> </a:t>
            </a:r>
            <a:r>
              <a:rPr lang="en-US" sz="2400" dirty="0" err="1" smtClean="0"/>
              <a:t>kiểu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. </a:t>
            </a:r>
            <a:endParaRPr dirty="0"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chất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trọng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tục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Do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đó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 smtClean="0"/>
              <a:t>việc</a:t>
            </a:r>
            <a:r>
              <a:rPr lang="en-US" sz="2400" dirty="0" smtClean="0"/>
              <a:t> </a:t>
            </a:r>
            <a:r>
              <a:rPr lang="en-US" sz="2400" dirty="0" err="1" smtClean="0"/>
              <a:t>truy</a:t>
            </a:r>
            <a:r>
              <a:rPr lang="en-US" sz="2400" dirty="0" smtClean="0"/>
              <a:t> </a:t>
            </a:r>
            <a:r>
              <a:rPr lang="en-US" sz="2400" dirty="0" err="1" smtClean="0"/>
              <a:t>cập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thay</a:t>
            </a:r>
            <a:r>
              <a:rPr lang="en-US" sz="2400" dirty="0" smtClean="0"/>
              <a:t> </a:t>
            </a:r>
            <a:r>
              <a:rPr lang="en-US" sz="2400" dirty="0" err="1" smtClean="0"/>
              <a:t>đổi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rất</a:t>
            </a:r>
            <a:r>
              <a:rPr lang="en-US" sz="2400" dirty="0" smtClean="0"/>
              <a:t> </a:t>
            </a:r>
            <a:r>
              <a:rPr lang="en-US" sz="2400" dirty="0" err="1" smtClean="0"/>
              <a:t>dễ</a:t>
            </a:r>
            <a:r>
              <a:rPr lang="en-US" sz="2400" dirty="0" smtClean="0"/>
              <a:t> </a:t>
            </a:r>
            <a:r>
              <a:rPr lang="en-US" sz="2400" dirty="0" err="1" smtClean="0"/>
              <a:t>dàng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hiệu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. 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dirty="0"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447800" y="32004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447800" y="36576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447800" y="41148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1447800" y="45720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447800" y="50292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43434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0292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7150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4008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70866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3434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3434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3434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343400" y="50136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0292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4008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0866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0292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4008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0866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0292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7150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4008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0866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029200" y="5013664"/>
            <a:ext cx="68506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3520" y="50136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398580" y="50136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083640" y="5013664"/>
            <a:ext cx="68876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6"/>
          <p:cNvCxnSpPr/>
          <p:nvPr/>
        </p:nvCxnSpPr>
        <p:spPr>
          <a:xfrm>
            <a:off x="4648200" y="2819400"/>
            <a:ext cx="12954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5" name="Google Shape;145;p16"/>
          <p:cNvCxnSpPr/>
          <p:nvPr/>
        </p:nvCxnSpPr>
        <p:spPr>
          <a:xfrm>
            <a:off x="3962400" y="3329496"/>
            <a:ext cx="0" cy="70910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" name="Google Shape;146;p16"/>
          <p:cNvSpPr txBox="1"/>
          <p:nvPr/>
        </p:nvSpPr>
        <p:spPr>
          <a:xfrm>
            <a:off x="457200" y="2492514"/>
            <a:ext cx="167639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chiều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3124200" y="2469210"/>
            <a:ext cx="167639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chiều</a:t>
            </a:r>
            <a:endParaRPr dirty="0"/>
          </a:p>
        </p:txBody>
      </p:sp>
      <p:cxnSp>
        <p:nvCxnSpPr>
          <p:cNvPr id="148" name="Google Shape;148;p16"/>
          <p:cNvCxnSpPr/>
          <p:nvPr/>
        </p:nvCxnSpPr>
        <p:spPr>
          <a:xfrm>
            <a:off x="1066800" y="3329496"/>
            <a:ext cx="0" cy="70910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endParaRPr dirty="0"/>
          </a:p>
        </p:txBody>
      </p:sp>
      <p:sp>
        <p:nvSpPr>
          <p:cNvPr id="154" name="Google Shape;154;p1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87045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 (p) : 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(p, x): 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bắt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sẽ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lùi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vị</a:t>
            </a:r>
            <a:r>
              <a:rPr lang="en-US" sz="2400" dirty="0" smtClean="0"/>
              <a:t> </a:t>
            </a:r>
            <a:r>
              <a:rPr lang="en-US" sz="2400" dirty="0" err="1" smtClean="0"/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(p):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dịch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trước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514350" marR="0" lvl="0" indent="-3111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239000" y="22860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73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003524" y="23299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arr[0]</a:t>
            </a:r>
            <a:endParaRPr/>
          </a:p>
        </p:txBody>
      </p:sp>
      <p:cxnSp>
        <p:nvCxnSpPr>
          <p:cNvPr id="158" name="Google Shape;158;p17"/>
          <p:cNvCxnSpPr>
            <a:stCxn id="157" idx="3"/>
            <a:endCxn id="156" idx="1"/>
          </p:cNvCxnSpPr>
          <p:nvPr/>
        </p:nvCxnSpPr>
        <p:spPr>
          <a:xfrm>
            <a:off x="6726799" y="25146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9" name="Google Shape;159;p17"/>
          <p:cNvSpPr/>
          <p:nvPr/>
        </p:nvSpPr>
        <p:spPr>
          <a:xfrm>
            <a:off x="7239000" y="27432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98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003524" y="27871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arr[1]</a:t>
            </a:r>
            <a:endParaRPr/>
          </a:p>
        </p:txBody>
      </p:sp>
      <p:cxnSp>
        <p:nvCxnSpPr>
          <p:cNvPr id="161" name="Google Shape;161;p17"/>
          <p:cNvCxnSpPr>
            <a:stCxn id="160" idx="3"/>
            <a:endCxn id="159" idx="1"/>
          </p:cNvCxnSpPr>
          <p:nvPr/>
        </p:nvCxnSpPr>
        <p:spPr>
          <a:xfrm>
            <a:off x="6726799" y="29718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2" name="Google Shape;162;p17"/>
          <p:cNvSpPr/>
          <p:nvPr/>
        </p:nvSpPr>
        <p:spPr>
          <a:xfrm>
            <a:off x="7239000" y="32004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003524" y="32443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arr[2]</a:t>
            </a:r>
            <a:endParaRPr/>
          </a:p>
        </p:txBody>
      </p:sp>
      <p:cxnSp>
        <p:nvCxnSpPr>
          <p:cNvPr id="164" name="Google Shape;164;p17"/>
          <p:cNvCxnSpPr>
            <a:stCxn id="163" idx="3"/>
            <a:endCxn id="162" idx="1"/>
          </p:cNvCxnSpPr>
          <p:nvPr/>
        </p:nvCxnSpPr>
        <p:spPr>
          <a:xfrm>
            <a:off x="6726799" y="34290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5" name="Google Shape;165;p17"/>
          <p:cNvSpPr/>
          <p:nvPr/>
        </p:nvSpPr>
        <p:spPr>
          <a:xfrm>
            <a:off x="7239000" y="36576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003524" y="37015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arr[3]</a:t>
            </a:r>
            <a:endParaRPr/>
          </a:p>
        </p:txBody>
      </p:sp>
      <p:cxnSp>
        <p:nvCxnSpPr>
          <p:cNvPr id="167" name="Google Shape;167;p17"/>
          <p:cNvCxnSpPr>
            <a:stCxn id="166" idx="3"/>
            <a:endCxn id="165" idx="1"/>
          </p:cNvCxnSpPr>
          <p:nvPr/>
        </p:nvCxnSpPr>
        <p:spPr>
          <a:xfrm>
            <a:off x="6726799" y="38862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p17"/>
          <p:cNvSpPr/>
          <p:nvPr/>
        </p:nvSpPr>
        <p:spPr>
          <a:xfrm>
            <a:off x="7239000" y="41148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96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003524" y="41587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arr[4]</a:t>
            </a:r>
            <a:endParaRPr/>
          </a:p>
        </p:txBody>
      </p:sp>
      <p:cxnSp>
        <p:nvCxnSpPr>
          <p:cNvPr id="170" name="Google Shape;170;p17"/>
          <p:cNvCxnSpPr>
            <a:stCxn id="169" idx="3"/>
            <a:endCxn id="168" idx="1"/>
          </p:cNvCxnSpPr>
          <p:nvPr/>
        </p:nvCxnSpPr>
        <p:spPr>
          <a:xfrm>
            <a:off x="6726799" y="43434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endParaRPr dirty="0"/>
          </a:p>
        </p:txBody>
      </p:sp>
      <p:sp>
        <p:nvSpPr>
          <p:cNvPr id="176" name="Google Shape;176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9718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6576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3434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0292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29718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29718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36576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43434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0292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36576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3434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0292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29718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36576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43434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0292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90439" y="34304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2290439" y="38876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2290439" y="43448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2976239" y="4921928"/>
            <a:ext cx="273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endParaRPr dirty="0"/>
          </a:p>
        </p:txBody>
      </p:sp>
      <p:sp>
        <p:nvSpPr>
          <p:cNvPr id="197" name="Google Shape;197;p18"/>
          <p:cNvSpPr/>
          <p:nvPr/>
        </p:nvSpPr>
        <p:spPr>
          <a:xfrm>
            <a:off x="2209800" y="3581400"/>
            <a:ext cx="169230" cy="992080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/>
          <p:nvPr/>
        </p:nvSpPr>
        <p:spPr>
          <a:xfrm rot="5400000">
            <a:off x="4288468" y="1809010"/>
            <a:ext cx="114300" cy="2058879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3547964" y="2246844"/>
            <a:ext cx="15953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Chỉ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cột</a:t>
            </a:r>
            <a:endParaRPr dirty="0"/>
          </a:p>
        </p:txBody>
      </p:sp>
      <p:sp>
        <p:nvSpPr>
          <p:cNvPr id="200" name="Google Shape;200;p18"/>
          <p:cNvSpPr txBox="1"/>
          <p:nvPr/>
        </p:nvSpPr>
        <p:spPr>
          <a:xfrm rot="-5400000">
            <a:off x="1066936" y="3732406"/>
            <a:ext cx="1559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Chỉ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dòng</a:t>
            </a:r>
            <a:endParaRPr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C++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19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1" dirty="0" err="1" smtClean="0"/>
              <a:t>Mảng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một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chiều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Kiểu</a:t>
            </a:r>
            <a:r>
              <a:rPr lang="en-US" sz="2000" dirty="0" err="1" smtClean="0"/>
              <a:t>_dữ_liệu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Tên</a:t>
            </a:r>
            <a:r>
              <a:rPr lang="en-US" sz="2000" dirty="0" err="1" smtClean="0"/>
              <a:t>_mảng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scoreArr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[100];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Student	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[100];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err="1" smtClean="0"/>
              <a:t>Kiểu_dữ_liệu</a:t>
            </a:r>
            <a:r>
              <a:rPr lang="en-US" sz="2000" dirty="0" smtClean="0"/>
              <a:t> 	</a:t>
            </a:r>
            <a:r>
              <a:rPr lang="en-US" sz="2000" dirty="0" err="1" smtClean="0"/>
              <a:t>Tên_mảng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MAX2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err="1" smtClean="0"/>
              <a:t>Ví</a:t>
            </a:r>
            <a:r>
              <a:rPr lang="en-US" sz="2000" dirty="0" smtClean="0"/>
              <a:t> </a:t>
            </a:r>
            <a:r>
              <a:rPr lang="en-US" sz="2000" dirty="0" err="1" smtClean="0"/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chessBoard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[8][8];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20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</a:t>
            </a:r>
            <a:r>
              <a:rPr lang="en-US" sz="2400" dirty="0" err="1" smtClean="0"/>
              <a:t>o</a:t>
            </a:r>
            <a:r>
              <a:rPr lang="en-US" sz="2400" dirty="0" smtClean="0"/>
              <a:t> </a:t>
            </a:r>
            <a:r>
              <a:rPr lang="en-US" sz="2400" dirty="0" err="1" smtClean="0"/>
              <a:t>việc</a:t>
            </a:r>
            <a:r>
              <a:rPr lang="en-US" sz="2400" dirty="0" smtClean="0"/>
              <a:t> </a:t>
            </a:r>
            <a:r>
              <a:rPr lang="en-US" sz="2400" dirty="0" err="1" smtClean="0"/>
              <a:t>truy</a:t>
            </a:r>
            <a:r>
              <a:rPr lang="en-US" sz="2400" dirty="0" smtClean="0"/>
              <a:t> </a:t>
            </a:r>
            <a:r>
              <a:rPr lang="en-US" sz="2400" dirty="0" err="1" smtClean="0"/>
              <a:t>cập</a:t>
            </a:r>
            <a:r>
              <a:rPr lang="en-US" sz="2400" dirty="0" smtClean="0"/>
              <a:t> hay </a:t>
            </a:r>
            <a:r>
              <a:rPr lang="en-US" sz="2400" dirty="0" err="1" smtClean="0"/>
              <a:t>thay</a:t>
            </a:r>
            <a:r>
              <a:rPr lang="en-US" sz="2400" dirty="0" smtClean="0"/>
              <a:t> </a:t>
            </a:r>
            <a:r>
              <a:rPr lang="en-US" sz="2400" dirty="0" err="1" smtClean="0"/>
              <a:t>đổi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mảng</a:t>
            </a:r>
            <a:r>
              <a:rPr lang="en-US" sz="2400" dirty="0" smtClean="0"/>
              <a:t> </a:t>
            </a:r>
            <a:r>
              <a:rPr lang="en-US" sz="2400" dirty="0" err="1" smtClean="0"/>
              <a:t>lại</a:t>
            </a:r>
            <a:r>
              <a:rPr lang="en-US" sz="2400" dirty="0" smtClean="0"/>
              <a:t> </a:t>
            </a:r>
            <a:r>
              <a:rPr lang="en-US" sz="2400" dirty="0" err="1" smtClean="0"/>
              <a:t>đơn</a:t>
            </a:r>
            <a:r>
              <a:rPr lang="en-US" sz="2400" dirty="0" smtClean="0"/>
              <a:t> </a:t>
            </a:r>
            <a:r>
              <a:rPr lang="en-US" sz="2400" dirty="0" err="1" smtClean="0"/>
              <a:t>giản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hiểu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? 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dirty="0" err="1" smtClean="0"/>
              <a:t>Viết</a:t>
            </a:r>
            <a:r>
              <a:rPr lang="en-US" sz="2400" dirty="0" smtClean="0"/>
              <a:t> </a:t>
            </a:r>
            <a:r>
              <a:rPr lang="en-US" sz="2400" dirty="0" err="1" smtClean="0"/>
              <a:t>hàm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(p, x)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chèn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a.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delete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(p, x)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xóa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tại</a:t>
            </a:r>
            <a:r>
              <a:rPr lang="en-US" sz="2400" dirty="0" smtClean="0"/>
              <a:t> </a:t>
            </a:r>
            <a:r>
              <a:rPr lang="en-US" sz="2400" dirty="0" err="1" smtClean="0"/>
              <a:t>vị</a:t>
            </a:r>
            <a:r>
              <a:rPr lang="en-US" sz="2400" dirty="0" smtClean="0"/>
              <a:t> </a:t>
            </a:r>
            <a:r>
              <a:rPr lang="en-US" sz="2400" dirty="0" err="1" smtClean="0"/>
              <a:t>trí</a:t>
            </a:r>
            <a:r>
              <a:rPr lang="en-US" sz="2400" dirty="0" smtClean="0"/>
              <a:t> p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21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AutoNum type="arabicPeriod" startAt="4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viết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nhiệm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nhỏ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endParaRPr dirty="0"/>
          </a:p>
          <a:p>
            <a:pPr marL="1200150" lvl="3" indent="-342900">
              <a:spcBef>
                <a:spcPts val="320"/>
              </a:spcBef>
              <a:buSzPts val="1600"/>
              <a:buFont typeface="Noto Sans Symbols"/>
              <a:buChar char="❖"/>
            </a:pPr>
            <a:r>
              <a:rPr lang="en-US" sz="1600" dirty="0" err="1" smtClean="0"/>
              <a:t>Tìm</a:t>
            </a:r>
            <a:r>
              <a:rPr lang="en-US" sz="1600" dirty="0" smtClean="0"/>
              <a:t> </a:t>
            </a:r>
            <a:r>
              <a:rPr lang="en-US" sz="1600" dirty="0" err="1" smtClean="0"/>
              <a:t>số</a:t>
            </a:r>
            <a:r>
              <a:rPr lang="en-US" sz="1600" dirty="0" smtClean="0"/>
              <a:t> </a:t>
            </a:r>
            <a:r>
              <a:rPr lang="en-US" sz="1600" dirty="0" err="1" smtClean="0"/>
              <a:t>lớn</a:t>
            </a:r>
            <a:r>
              <a:rPr lang="en-US" sz="1600" dirty="0" smtClean="0"/>
              <a:t> </a:t>
            </a:r>
            <a:r>
              <a:rPr lang="en-US" sz="1600" dirty="0" err="1" smtClean="0"/>
              <a:t>nhất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 smtClean="0"/>
              <a:t>số</a:t>
            </a:r>
            <a:r>
              <a:rPr lang="en-US" sz="1600" dirty="0" smtClean="0"/>
              <a:t> </a:t>
            </a:r>
            <a:r>
              <a:rPr lang="en-US" sz="1600" dirty="0" err="1" smtClean="0"/>
              <a:t>lẻ</a:t>
            </a:r>
            <a:r>
              <a:rPr lang="en-US" sz="1600" dirty="0" smtClean="0"/>
              <a:t> </a:t>
            </a:r>
            <a:r>
              <a:rPr lang="en-US" sz="1600" dirty="0" err="1" smtClean="0"/>
              <a:t>trong</a:t>
            </a:r>
            <a:r>
              <a:rPr lang="en-US" sz="1600" dirty="0" smtClean="0"/>
              <a:t> </a:t>
            </a:r>
            <a:r>
              <a:rPr lang="en-US" sz="1600" dirty="0" err="1" smtClean="0"/>
              <a:t>mảng</a:t>
            </a:r>
            <a:endParaRPr dirty="0"/>
          </a:p>
          <a:p>
            <a:pPr marL="85725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 indent="-457200">
              <a:spcBef>
                <a:spcPts val="400"/>
              </a:spcBef>
              <a:buSzPts val="2000"/>
              <a:buFont typeface="Calibri"/>
              <a:buAutoNum type="arabicPeriod" startAt="4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chiều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dirty="0" err="1" smtClean="0"/>
              <a:t>x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nguyên</a:t>
            </a:r>
            <a:r>
              <a:rPr lang="en-US" sz="2000" dirty="0" smtClean="0"/>
              <a:t>, </a:t>
            </a:r>
            <a:r>
              <a:rPr lang="en-US" sz="2000" dirty="0" err="1" smtClean="0"/>
              <a:t>viết</a:t>
            </a:r>
            <a:r>
              <a:rPr lang="en-US" sz="2000" dirty="0" smtClean="0"/>
              <a:t> </a:t>
            </a:r>
            <a:r>
              <a:rPr lang="en-US" sz="2000" dirty="0" smtClean="0"/>
              <a:t>2 </a:t>
            </a:r>
            <a:r>
              <a:rPr lang="en-US" sz="2000" dirty="0" err="1" smtClean="0"/>
              <a:t>hàm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nhiệm</a:t>
            </a:r>
            <a:r>
              <a:rPr lang="en-US" sz="2000" dirty="0" smtClean="0"/>
              <a:t> </a:t>
            </a:r>
            <a:r>
              <a:rPr lang="en-US" sz="2000" dirty="0" err="1" smtClean="0"/>
              <a:t>vụ</a:t>
            </a:r>
            <a:r>
              <a:rPr lang="en-US" sz="2000" dirty="0" smtClean="0"/>
              <a:t> </a:t>
            </a:r>
            <a:r>
              <a:rPr lang="en-US" sz="2000" dirty="0" err="1" smtClean="0"/>
              <a:t>sau</a:t>
            </a:r>
            <a:r>
              <a:rPr lang="en-US" sz="2000" dirty="0" smtClean="0"/>
              <a:t>: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dòng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cột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dương</a:t>
            </a:r>
            <a:endParaRPr dirty="0"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cột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tổng</a:t>
            </a:r>
            <a:r>
              <a:rPr lang="en-US" sz="1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âm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Vector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C++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22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Vector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smtClean="0"/>
              <a:t> trong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thao</a:t>
            </a:r>
            <a:r>
              <a:rPr lang="en-US" sz="2400" dirty="0" smtClean="0"/>
              <a:t> </a:t>
            </a:r>
            <a:r>
              <a:rPr lang="en-US" sz="2400" dirty="0" err="1" smtClean="0"/>
              <a:t>tác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mảng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kích</a:t>
            </a:r>
            <a:r>
              <a:rPr lang="en-US" sz="2400" dirty="0" smtClean="0"/>
              <a:t> </a:t>
            </a:r>
            <a:r>
              <a:rPr lang="en-US" sz="2400" dirty="0" err="1" smtClean="0"/>
              <a:t>thước</a:t>
            </a:r>
            <a:r>
              <a:rPr lang="en-US" sz="2400" dirty="0" smtClean="0"/>
              <a:t> </a:t>
            </a:r>
            <a:r>
              <a:rPr lang="en-US" sz="2400" dirty="0" err="1" smtClean="0"/>
              <a:t>động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Example:</a:t>
            </a:r>
            <a:endParaRPr dirty="0"/>
          </a:p>
        </p:txBody>
      </p:sp>
      <p:sp>
        <p:nvSpPr>
          <p:cNvPr id="228" name="Google Shape;228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9" name="Google Shape;229;p22"/>
          <p:cNvGraphicFramePr/>
          <p:nvPr/>
        </p:nvGraphicFramePr>
        <p:xfrm>
          <a:off x="1066800" y="3276600"/>
          <a:ext cx="5562600" cy="329185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5562600"/>
              </a:tblGrid>
              <a:tr h="289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7000"/>
                          </a:solidFill>
                        </a:rPr>
                        <a:t>// vector::size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&lt;iostream&gt;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&lt;vector&gt;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 main () {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std::vector&lt;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&gt; myints;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”Size: " &lt;&lt; myints.size() &lt;&lt; '\n';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for</a:t>
                      </a:r>
                      <a:r>
                        <a:rPr lang="en-US" sz="1400" u="none" strike="noStrike" cap="none"/>
                        <a:t> (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 i=0; i&lt;10; i++)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    myints.push_back(i);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“Size: " &lt;&lt; myints.size() &lt;&lt; '\n';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myints.pop_back();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“Size: " &lt;&lt; myints.size() &lt;&lt; '\n';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return</a:t>
                      </a:r>
                      <a:r>
                        <a:rPr lang="en-US" sz="1400" u="none" strike="noStrike" cap="none"/>
                        <a:t> 0;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}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2"/>
          <p:cNvSpPr/>
          <p:nvPr/>
        </p:nvSpPr>
        <p:spPr>
          <a:xfrm>
            <a:off x="685800" y="2171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endParaRPr dirty="0"/>
          </a:p>
        </p:txBody>
      </p:sp>
      <p:sp>
        <p:nvSpPr>
          <p:cNvPr id="236" name="Google Shape;236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337050" cy="2579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đơn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dãy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node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Mỗi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tiếp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endParaRPr dirty="0"/>
          </a:p>
        </p:txBody>
      </p:sp>
      <p:sp>
        <p:nvSpPr>
          <p:cNvPr id="237" name="Google Shape;237;p23"/>
          <p:cNvSpPr/>
          <p:nvPr/>
        </p:nvSpPr>
        <p:spPr>
          <a:xfrm>
            <a:off x="54864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6934200" y="1981200"/>
            <a:ext cx="669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427663" y="3438525"/>
            <a:ext cx="725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857999" y="3352800"/>
            <a:ext cx="949569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181600" y="1828800"/>
            <a:ext cx="2590800" cy="213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0960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3"/>
          <p:cNvCxnSpPr/>
          <p:nvPr/>
        </p:nvCxnSpPr>
        <p:spPr>
          <a:xfrm>
            <a:off x="5791200" y="2438400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44" name="Google Shape;244;p23"/>
          <p:cNvCxnSpPr/>
          <p:nvPr/>
        </p:nvCxnSpPr>
        <p:spPr>
          <a:xfrm>
            <a:off x="6400800" y="24384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45" name="Google Shape;245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990600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1600200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23"/>
          <p:cNvCxnSpPr/>
          <p:nvPr/>
        </p:nvCxnSpPr>
        <p:spPr>
          <a:xfrm>
            <a:off x="1936133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49" name="Google Shape;249;p23"/>
          <p:cNvSpPr/>
          <p:nvPr/>
        </p:nvSpPr>
        <p:spPr>
          <a:xfrm>
            <a:off x="2573846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3183446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23"/>
          <p:cNvCxnSpPr/>
          <p:nvPr/>
        </p:nvCxnSpPr>
        <p:spPr>
          <a:xfrm>
            <a:off x="3519379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52" name="Google Shape;252;p23"/>
          <p:cNvSpPr/>
          <p:nvPr/>
        </p:nvSpPr>
        <p:spPr>
          <a:xfrm>
            <a:off x="4157092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4766692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3"/>
          <p:cNvCxnSpPr/>
          <p:nvPr/>
        </p:nvCxnSpPr>
        <p:spPr>
          <a:xfrm>
            <a:off x="5102625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55" name="Google Shape;255;p23"/>
          <p:cNvSpPr/>
          <p:nvPr/>
        </p:nvSpPr>
        <p:spPr>
          <a:xfrm>
            <a:off x="5740338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6349938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23"/>
          <p:cNvCxnSpPr/>
          <p:nvPr/>
        </p:nvCxnSpPr>
        <p:spPr>
          <a:xfrm>
            <a:off x="6685871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58" name="Google Shape;258;p23"/>
          <p:cNvSpPr txBox="1"/>
          <p:nvPr/>
        </p:nvSpPr>
        <p:spPr>
          <a:xfrm>
            <a:off x="7357454" y="5059362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896091" y="6019800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260" name="Google Shape;260;p23"/>
          <p:cNvCxnSpPr/>
          <p:nvPr/>
        </p:nvCxnSpPr>
        <p:spPr>
          <a:xfrm rot="10800000">
            <a:off x="1317933" y="556260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title"/>
          </p:nvPr>
        </p:nvSpPr>
        <p:spPr>
          <a:xfrm>
            <a:off x="678873" y="371658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endParaRPr dirty="0"/>
          </a:p>
        </p:txBody>
      </p:sp>
      <p:sp>
        <p:nvSpPr>
          <p:cNvPr id="266" name="Google Shape;266;p24"/>
          <p:cNvSpPr/>
          <p:nvPr/>
        </p:nvSpPr>
        <p:spPr>
          <a:xfrm>
            <a:off x="3488974" y="2200287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936774" y="2047887"/>
            <a:ext cx="669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3430237" y="3505212"/>
            <a:ext cx="725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4726745" y="3419487"/>
            <a:ext cx="870429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 dirty="0"/>
          </a:p>
        </p:txBody>
      </p:sp>
      <p:sp>
        <p:nvSpPr>
          <p:cNvPr id="270" name="Google Shape;270;p24"/>
          <p:cNvSpPr/>
          <p:nvPr/>
        </p:nvSpPr>
        <p:spPr>
          <a:xfrm>
            <a:off x="3184174" y="1895487"/>
            <a:ext cx="2590800" cy="213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098574" y="2200287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24"/>
          <p:cNvCxnSpPr/>
          <p:nvPr/>
        </p:nvCxnSpPr>
        <p:spPr>
          <a:xfrm>
            <a:off x="3793774" y="2505087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73" name="Google Shape;273;p24"/>
          <p:cNvCxnSpPr/>
          <p:nvPr/>
        </p:nvCxnSpPr>
        <p:spPr>
          <a:xfrm>
            <a:off x="4403374" y="2505087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4" name="Google Shape;274;p24"/>
          <p:cNvSpPr/>
          <p:nvPr/>
        </p:nvSpPr>
        <p:spPr>
          <a:xfrm>
            <a:off x="955964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1565564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24"/>
          <p:cNvCxnSpPr/>
          <p:nvPr/>
        </p:nvCxnSpPr>
        <p:spPr>
          <a:xfrm>
            <a:off x="1901497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7" name="Google Shape;277;p24"/>
          <p:cNvSpPr/>
          <p:nvPr/>
        </p:nvSpPr>
        <p:spPr>
          <a:xfrm>
            <a:off x="2539210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3148810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24"/>
          <p:cNvCxnSpPr/>
          <p:nvPr/>
        </p:nvCxnSpPr>
        <p:spPr>
          <a:xfrm>
            <a:off x="3484743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0" name="Google Shape;280;p24"/>
          <p:cNvSpPr/>
          <p:nvPr/>
        </p:nvSpPr>
        <p:spPr>
          <a:xfrm>
            <a:off x="4122456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4732056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24"/>
          <p:cNvCxnSpPr/>
          <p:nvPr/>
        </p:nvCxnSpPr>
        <p:spPr>
          <a:xfrm>
            <a:off x="5067989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3" name="Google Shape;283;p24"/>
          <p:cNvSpPr/>
          <p:nvPr/>
        </p:nvSpPr>
        <p:spPr>
          <a:xfrm>
            <a:off x="5705702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6315302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24"/>
          <p:cNvCxnSpPr/>
          <p:nvPr/>
        </p:nvCxnSpPr>
        <p:spPr>
          <a:xfrm>
            <a:off x="6651235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6" name="Google Shape;286;p24"/>
          <p:cNvSpPr txBox="1"/>
          <p:nvPr/>
        </p:nvSpPr>
        <p:spPr>
          <a:xfrm>
            <a:off x="7322818" y="4459022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861455" y="5419460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288" name="Google Shape;288;p24"/>
          <p:cNvCxnSpPr/>
          <p:nvPr/>
        </p:nvCxnSpPr>
        <p:spPr>
          <a:xfrm rot="10800000">
            <a:off x="1283297" y="496226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25"/>
          <p:cNvSpPr txBox="1">
            <a:spLocks noGrp="1"/>
          </p:cNvSpPr>
          <p:nvPr>
            <p:ph type="body" idx="1"/>
          </p:nvPr>
        </p:nvSpPr>
        <p:spPr>
          <a:xfrm>
            <a:off x="1219200" y="1916113"/>
            <a:ext cx="6400800" cy="150810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Method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move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(Node head):</a:t>
            </a:r>
            <a:endParaRPr sz="2000" b="0" i="0" u="none" strike="noStrike" cap="none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Node current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head;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(current != NULL)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current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current → next;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219200" y="3962007"/>
            <a:ext cx="6400800" cy="224676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Method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element</a:t>
            </a: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(head, p):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current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head;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index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(index &lt; p) </a:t>
            </a: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index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 index + 1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current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current → next;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return current;</a:t>
            </a:r>
            <a:endParaRPr/>
          </a:p>
        </p:txBody>
      </p:sp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(head, p): delete element at position p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1108043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1717643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26"/>
          <p:cNvCxnSpPr/>
          <p:nvPr/>
        </p:nvCxnSpPr>
        <p:spPr>
          <a:xfrm>
            <a:off x="2053576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07" name="Google Shape;307;p26"/>
          <p:cNvSpPr/>
          <p:nvPr/>
        </p:nvSpPr>
        <p:spPr>
          <a:xfrm>
            <a:off x="2691289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3300889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26"/>
          <p:cNvCxnSpPr/>
          <p:nvPr/>
        </p:nvCxnSpPr>
        <p:spPr>
          <a:xfrm>
            <a:off x="3636822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10" name="Google Shape;310;p26"/>
          <p:cNvSpPr/>
          <p:nvPr/>
        </p:nvSpPr>
        <p:spPr>
          <a:xfrm>
            <a:off x="4274535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4884135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26"/>
          <p:cNvCxnSpPr/>
          <p:nvPr/>
        </p:nvCxnSpPr>
        <p:spPr>
          <a:xfrm>
            <a:off x="5220068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13" name="Google Shape;313;p26"/>
          <p:cNvSpPr/>
          <p:nvPr/>
        </p:nvSpPr>
        <p:spPr>
          <a:xfrm>
            <a:off x="5857781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6467381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26"/>
          <p:cNvCxnSpPr/>
          <p:nvPr/>
        </p:nvCxnSpPr>
        <p:spPr>
          <a:xfrm>
            <a:off x="6803314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16" name="Google Shape;316;p26"/>
          <p:cNvSpPr txBox="1"/>
          <p:nvPr/>
        </p:nvSpPr>
        <p:spPr>
          <a:xfrm>
            <a:off x="7474897" y="3130410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1013534" y="4090848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318" name="Google Shape;318;p26"/>
          <p:cNvCxnSpPr/>
          <p:nvPr/>
        </p:nvCxnSpPr>
        <p:spPr>
          <a:xfrm rot="10800000">
            <a:off x="1435376" y="3633648"/>
            <a:ext cx="0" cy="4572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9" name="Google Shape;319;p26"/>
          <p:cNvCxnSpPr>
            <a:stCxn id="309" idx="0"/>
            <a:endCxn id="313" idx="0"/>
          </p:cNvCxnSpPr>
          <p:nvPr/>
        </p:nvCxnSpPr>
        <p:spPr>
          <a:xfrm rot="10800000" flipH="1">
            <a:off x="3636881" y="3024048"/>
            <a:ext cx="2525700" cy="308400"/>
          </a:xfrm>
          <a:prstGeom prst="bentConnector3">
            <a:avLst>
              <a:gd name="adj1" fmla="val -2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20" name="Google Shape;320;p26"/>
          <p:cNvCxnSpPr/>
          <p:nvPr/>
        </p:nvCxnSpPr>
        <p:spPr>
          <a:xfrm>
            <a:off x="3964155" y="3224971"/>
            <a:ext cx="226845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" name="Google Shape;321;p26"/>
          <p:cNvCxnSpPr/>
          <p:nvPr/>
        </p:nvCxnSpPr>
        <p:spPr>
          <a:xfrm flipH="1">
            <a:off x="3964155" y="3224971"/>
            <a:ext cx="226846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2" name="Google Shape;322;p26"/>
          <p:cNvCxnSpPr/>
          <p:nvPr/>
        </p:nvCxnSpPr>
        <p:spPr>
          <a:xfrm>
            <a:off x="5542730" y="3224970"/>
            <a:ext cx="226845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3" name="Google Shape;323;p26"/>
          <p:cNvCxnSpPr/>
          <p:nvPr/>
        </p:nvCxnSpPr>
        <p:spPr>
          <a:xfrm flipH="1">
            <a:off x="5542730" y="3224970"/>
            <a:ext cx="226846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4" name="Google Shape;324;p26"/>
          <p:cNvCxnSpPr/>
          <p:nvPr/>
        </p:nvCxnSpPr>
        <p:spPr>
          <a:xfrm>
            <a:off x="4457700" y="2895600"/>
            <a:ext cx="876300" cy="94269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5" name="Google Shape;325;p26"/>
          <p:cNvCxnSpPr/>
          <p:nvPr/>
        </p:nvCxnSpPr>
        <p:spPr>
          <a:xfrm flipH="1">
            <a:off x="4457700" y="2895600"/>
            <a:ext cx="876300" cy="94269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p2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(head, p, x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1007677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1617277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27"/>
          <p:cNvCxnSpPr/>
          <p:nvPr/>
        </p:nvCxnSpPr>
        <p:spPr>
          <a:xfrm>
            <a:off x="1953210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36" name="Google Shape;336;p27"/>
          <p:cNvSpPr/>
          <p:nvPr/>
        </p:nvSpPr>
        <p:spPr>
          <a:xfrm>
            <a:off x="2590923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37" name="Google Shape;337;p27"/>
          <p:cNvSpPr/>
          <p:nvPr/>
        </p:nvSpPr>
        <p:spPr>
          <a:xfrm>
            <a:off x="3200523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27"/>
          <p:cNvCxnSpPr/>
          <p:nvPr/>
        </p:nvCxnSpPr>
        <p:spPr>
          <a:xfrm>
            <a:off x="3536456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39" name="Google Shape;339;p27"/>
          <p:cNvSpPr/>
          <p:nvPr/>
        </p:nvSpPr>
        <p:spPr>
          <a:xfrm>
            <a:off x="4174169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40" name="Google Shape;340;p27"/>
          <p:cNvSpPr/>
          <p:nvPr/>
        </p:nvSpPr>
        <p:spPr>
          <a:xfrm>
            <a:off x="4783769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27"/>
          <p:cNvCxnSpPr/>
          <p:nvPr/>
        </p:nvCxnSpPr>
        <p:spPr>
          <a:xfrm>
            <a:off x="5119702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2" name="Google Shape;342;p27"/>
          <p:cNvSpPr/>
          <p:nvPr/>
        </p:nvSpPr>
        <p:spPr>
          <a:xfrm>
            <a:off x="5757415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>
            <a:off x="6367015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27"/>
          <p:cNvCxnSpPr/>
          <p:nvPr/>
        </p:nvCxnSpPr>
        <p:spPr>
          <a:xfrm>
            <a:off x="6702948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5" name="Google Shape;345;p27"/>
          <p:cNvSpPr txBox="1"/>
          <p:nvPr/>
        </p:nvSpPr>
        <p:spPr>
          <a:xfrm>
            <a:off x="7374531" y="2773362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913168" y="3733800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347" name="Google Shape;347;p27"/>
          <p:cNvCxnSpPr/>
          <p:nvPr/>
        </p:nvCxnSpPr>
        <p:spPr>
          <a:xfrm rot="10800000">
            <a:off x="1335010" y="327660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8" name="Google Shape;348;p27"/>
          <p:cNvSpPr/>
          <p:nvPr/>
        </p:nvSpPr>
        <p:spPr>
          <a:xfrm>
            <a:off x="3412169" y="382911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349" name="Google Shape;349;p27"/>
          <p:cNvSpPr/>
          <p:nvPr/>
        </p:nvSpPr>
        <p:spPr>
          <a:xfrm>
            <a:off x="4021769" y="382911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27"/>
          <p:cNvCxnSpPr/>
          <p:nvPr/>
        </p:nvCxnSpPr>
        <p:spPr>
          <a:xfrm>
            <a:off x="3887954" y="2867923"/>
            <a:ext cx="226845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" name="Google Shape;351;p27"/>
          <p:cNvCxnSpPr/>
          <p:nvPr/>
        </p:nvCxnSpPr>
        <p:spPr>
          <a:xfrm flipH="1">
            <a:off x="3887954" y="2867923"/>
            <a:ext cx="226846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" name="Google Shape;352;p27"/>
          <p:cNvCxnSpPr/>
          <p:nvPr/>
        </p:nvCxnSpPr>
        <p:spPr>
          <a:xfrm>
            <a:off x="3536456" y="2975499"/>
            <a:ext cx="180513" cy="85361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53" name="Google Shape;353;p27"/>
          <p:cNvCxnSpPr/>
          <p:nvPr/>
        </p:nvCxnSpPr>
        <p:spPr>
          <a:xfrm rot="10800000" flipH="1">
            <a:off x="4326570" y="3276600"/>
            <a:ext cx="152400" cy="85731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đôi</a:t>
            </a:r>
            <a:endParaRPr dirty="0"/>
          </a:p>
        </p:txBody>
      </p:sp>
      <p:sp>
        <p:nvSpPr>
          <p:cNvPr id="359" name="Google Shape;359;p28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019550" cy="273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90000"/>
              </a:lnSpc>
              <a:spcBef>
                <a:spcPts val="0"/>
              </a:spcBef>
              <a:buSzPts val="2400"/>
            </a:pPr>
            <a:r>
              <a:rPr lang="vi-VN" sz="2000" dirty="0" smtClean="0"/>
              <a:t>Danh sách liên kết </a:t>
            </a:r>
            <a:r>
              <a:rPr lang="en-US" sz="2000" dirty="0" err="1" smtClean="0"/>
              <a:t>đôi</a:t>
            </a:r>
            <a:r>
              <a:rPr lang="en-US" sz="2000" dirty="0" smtClean="0"/>
              <a:t> </a:t>
            </a:r>
            <a:r>
              <a:rPr lang="vi-VN" sz="2000" dirty="0" smtClean="0"/>
              <a:t>là </a:t>
            </a:r>
            <a:r>
              <a:rPr lang="vi-VN" sz="2000" dirty="0" smtClean="0"/>
              <a:t>một cấu trúc dữ liệu lưu trữ một dãy các node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Mỗi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đứng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node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đứng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trước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64008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7848600" y="1981200"/>
            <a:ext cx="669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6342063" y="3438525"/>
            <a:ext cx="725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7772400" y="3352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/>
          </a:p>
        </p:txBody>
      </p:sp>
      <p:sp>
        <p:nvSpPr>
          <p:cNvPr id="364" name="Google Shape;364;p28"/>
          <p:cNvSpPr/>
          <p:nvPr/>
        </p:nvSpPr>
        <p:spPr>
          <a:xfrm>
            <a:off x="4572000" y="1828800"/>
            <a:ext cx="4114800" cy="213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70104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28"/>
          <p:cNvCxnSpPr/>
          <p:nvPr/>
        </p:nvCxnSpPr>
        <p:spPr>
          <a:xfrm>
            <a:off x="6705600" y="2438400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67" name="Google Shape;367;p28"/>
          <p:cNvCxnSpPr/>
          <p:nvPr/>
        </p:nvCxnSpPr>
        <p:spPr>
          <a:xfrm>
            <a:off x="7315200" y="24384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68" name="Google Shape;368;p28"/>
          <p:cNvSpPr/>
          <p:nvPr/>
        </p:nvSpPr>
        <p:spPr>
          <a:xfrm>
            <a:off x="57912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8"/>
          <p:cNvCxnSpPr/>
          <p:nvPr/>
        </p:nvCxnSpPr>
        <p:spPr>
          <a:xfrm rot="10800000">
            <a:off x="5181600" y="24384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70" name="Google Shape;370;p28"/>
          <p:cNvSpPr txBox="1"/>
          <p:nvPr/>
        </p:nvSpPr>
        <p:spPr>
          <a:xfrm>
            <a:off x="4559300" y="1981200"/>
            <a:ext cx="11525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endParaRPr/>
          </a:p>
        </p:txBody>
      </p:sp>
      <p:sp>
        <p:nvSpPr>
          <p:cNvPr id="371" name="Google Shape;371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1487380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73" name="Google Shape;373;p28"/>
          <p:cNvSpPr/>
          <p:nvPr/>
        </p:nvSpPr>
        <p:spPr>
          <a:xfrm>
            <a:off x="2096980" y="49530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1182580" y="49530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28"/>
          <p:cNvCxnSpPr/>
          <p:nvPr/>
        </p:nvCxnSpPr>
        <p:spPr>
          <a:xfrm rot="10800000">
            <a:off x="915880" y="5257800"/>
            <a:ext cx="419100" cy="739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76" name="Google Shape;376;p28"/>
          <p:cNvSpPr/>
          <p:nvPr/>
        </p:nvSpPr>
        <p:spPr>
          <a:xfrm>
            <a:off x="3200400" y="4956699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77" name="Google Shape;377;p28"/>
          <p:cNvSpPr/>
          <p:nvPr/>
        </p:nvSpPr>
        <p:spPr>
          <a:xfrm>
            <a:off x="3810000" y="49566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2895600" y="49566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4913420" y="496039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80" name="Google Shape;380;p28"/>
          <p:cNvSpPr/>
          <p:nvPr/>
        </p:nvSpPr>
        <p:spPr>
          <a:xfrm>
            <a:off x="5523020" y="49603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4608620" y="49603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6626440" y="4964097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83" name="Google Shape;383;p28"/>
          <p:cNvSpPr/>
          <p:nvPr/>
        </p:nvSpPr>
        <p:spPr>
          <a:xfrm>
            <a:off x="7236040" y="4964097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6321640" y="4964097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28"/>
          <p:cNvCxnSpPr/>
          <p:nvPr/>
        </p:nvCxnSpPr>
        <p:spPr>
          <a:xfrm>
            <a:off x="7388440" y="5257800"/>
            <a:ext cx="46016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86" name="Google Shape;386;p28"/>
          <p:cNvSpPr txBox="1"/>
          <p:nvPr/>
        </p:nvSpPr>
        <p:spPr>
          <a:xfrm>
            <a:off x="7772400" y="502920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405183" y="502920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1295400" y="5943600"/>
            <a:ext cx="7553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6671640" y="593028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</a:t>
            </a:r>
            <a:endParaRPr/>
          </a:p>
        </p:txBody>
      </p:sp>
      <p:cxnSp>
        <p:nvCxnSpPr>
          <p:cNvPr id="390" name="Google Shape;390;p28"/>
          <p:cNvCxnSpPr/>
          <p:nvPr/>
        </p:nvCxnSpPr>
        <p:spPr>
          <a:xfrm rot="10800000">
            <a:off x="1676400" y="5562600"/>
            <a:ext cx="0" cy="4461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1" name="Google Shape;391;p28"/>
          <p:cNvCxnSpPr/>
          <p:nvPr/>
        </p:nvCxnSpPr>
        <p:spPr>
          <a:xfrm rot="10800000">
            <a:off x="6934200" y="5562600"/>
            <a:ext cx="0" cy="4461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2" name="Google Shape;392;p28"/>
          <p:cNvCxnSpPr>
            <a:endCxn id="376" idx="0"/>
          </p:cNvCxnSpPr>
          <p:nvPr/>
        </p:nvCxnSpPr>
        <p:spPr>
          <a:xfrm rot="10800000" flipH="1">
            <a:off x="2249400" y="4956699"/>
            <a:ext cx="1255800" cy="312300"/>
          </a:xfrm>
          <a:prstGeom prst="bentConnector4">
            <a:avLst>
              <a:gd name="adj1" fmla="val -312"/>
              <a:gd name="adj2" fmla="val 17319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3" name="Google Shape;393;p28"/>
          <p:cNvCxnSpPr/>
          <p:nvPr/>
        </p:nvCxnSpPr>
        <p:spPr>
          <a:xfrm rot="10800000" flipH="1">
            <a:off x="3962400" y="4945500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4" name="Google Shape;394;p28"/>
          <p:cNvCxnSpPr/>
          <p:nvPr/>
        </p:nvCxnSpPr>
        <p:spPr>
          <a:xfrm rot="10800000" flipH="1">
            <a:off x="5675419" y="4934402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5" name="Google Shape;395;p28"/>
          <p:cNvCxnSpPr>
            <a:endCxn id="379" idx="2"/>
          </p:cNvCxnSpPr>
          <p:nvPr/>
        </p:nvCxnSpPr>
        <p:spPr>
          <a:xfrm flipH="1">
            <a:off x="5218220" y="5265198"/>
            <a:ext cx="1255800" cy="304800"/>
          </a:xfrm>
          <a:prstGeom prst="bentConnector4">
            <a:avLst>
              <a:gd name="adj1" fmla="val -311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6" name="Google Shape;396;p28"/>
          <p:cNvCxnSpPr/>
          <p:nvPr/>
        </p:nvCxnSpPr>
        <p:spPr>
          <a:xfrm flipH="1">
            <a:off x="3505221" y="5257800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7" name="Google Shape;397;p28"/>
          <p:cNvCxnSpPr/>
          <p:nvPr/>
        </p:nvCxnSpPr>
        <p:spPr>
          <a:xfrm flipH="1">
            <a:off x="1792202" y="5250402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đôi</a:t>
            </a:r>
            <a:endParaRPr dirty="0"/>
          </a:p>
        </p:txBody>
      </p:sp>
      <p:sp>
        <p:nvSpPr>
          <p:cNvPr id="403" name="Google Shape;403;p29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append (tail, x): 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cuối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4" name="Google Shape;404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929797" y="31205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1539397" y="3120501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624997" y="3120501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29"/>
          <p:cNvCxnSpPr/>
          <p:nvPr/>
        </p:nvCxnSpPr>
        <p:spPr>
          <a:xfrm rot="10800000">
            <a:off x="777397" y="2838510"/>
            <a:ext cx="0" cy="59418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409" name="Google Shape;409;p29"/>
          <p:cNvSpPr/>
          <p:nvPr/>
        </p:nvSpPr>
        <p:spPr>
          <a:xfrm>
            <a:off x="2642817" y="31242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10" name="Google Shape;410;p29"/>
          <p:cNvSpPr/>
          <p:nvPr/>
        </p:nvSpPr>
        <p:spPr>
          <a:xfrm>
            <a:off x="3252417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2338017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4355837" y="3127899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13" name="Google Shape;413;p29"/>
          <p:cNvSpPr/>
          <p:nvPr/>
        </p:nvSpPr>
        <p:spPr>
          <a:xfrm>
            <a:off x="4965437" y="31278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4051037" y="31278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6068857" y="313159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16" name="Google Shape;416;p29"/>
          <p:cNvSpPr/>
          <p:nvPr/>
        </p:nvSpPr>
        <p:spPr>
          <a:xfrm>
            <a:off x="6678457" y="31315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5764057" y="31315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7406706" y="3196701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530068" y="249549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420" name="Google Shape;420;p29"/>
          <p:cNvSpPr txBox="1"/>
          <p:nvPr/>
        </p:nvSpPr>
        <p:spPr>
          <a:xfrm>
            <a:off x="737817" y="4111101"/>
            <a:ext cx="7553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6893424" y="4572000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</a:t>
            </a:r>
            <a:endParaRPr/>
          </a:p>
        </p:txBody>
      </p:sp>
      <p:cxnSp>
        <p:nvCxnSpPr>
          <p:cNvPr id="422" name="Google Shape;422;p29"/>
          <p:cNvCxnSpPr/>
          <p:nvPr/>
        </p:nvCxnSpPr>
        <p:spPr>
          <a:xfrm rot="10800000">
            <a:off x="1118817" y="3730101"/>
            <a:ext cx="0" cy="4461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3" name="Google Shape;423;p29"/>
          <p:cNvCxnSpPr/>
          <p:nvPr/>
        </p:nvCxnSpPr>
        <p:spPr>
          <a:xfrm rot="10800000">
            <a:off x="6376617" y="3730099"/>
            <a:ext cx="606640" cy="8418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4" name="Google Shape;424;p29"/>
          <p:cNvCxnSpPr>
            <a:endCxn id="409" idx="0"/>
          </p:cNvCxnSpPr>
          <p:nvPr/>
        </p:nvCxnSpPr>
        <p:spPr>
          <a:xfrm rot="10800000" flipH="1">
            <a:off x="1691817" y="3124200"/>
            <a:ext cx="1255800" cy="312300"/>
          </a:xfrm>
          <a:prstGeom prst="bentConnector4">
            <a:avLst>
              <a:gd name="adj1" fmla="val -312"/>
              <a:gd name="adj2" fmla="val 17319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5" name="Google Shape;425;p29"/>
          <p:cNvCxnSpPr/>
          <p:nvPr/>
        </p:nvCxnSpPr>
        <p:spPr>
          <a:xfrm rot="10800000" flipH="1">
            <a:off x="3404817" y="3113001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6" name="Google Shape;426;p29"/>
          <p:cNvCxnSpPr/>
          <p:nvPr/>
        </p:nvCxnSpPr>
        <p:spPr>
          <a:xfrm rot="10800000" flipH="1">
            <a:off x="5117836" y="3101903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7" name="Google Shape;427;p29"/>
          <p:cNvCxnSpPr>
            <a:endCxn id="412" idx="2"/>
          </p:cNvCxnSpPr>
          <p:nvPr/>
        </p:nvCxnSpPr>
        <p:spPr>
          <a:xfrm flipH="1">
            <a:off x="4660637" y="3432699"/>
            <a:ext cx="1255800" cy="304800"/>
          </a:xfrm>
          <a:prstGeom prst="bentConnector4">
            <a:avLst>
              <a:gd name="adj1" fmla="val -311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8" name="Google Shape;428;p29"/>
          <p:cNvCxnSpPr/>
          <p:nvPr/>
        </p:nvCxnSpPr>
        <p:spPr>
          <a:xfrm flipH="1">
            <a:off x="2947638" y="3425301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9" name="Google Shape;429;p29"/>
          <p:cNvCxnSpPr/>
          <p:nvPr/>
        </p:nvCxnSpPr>
        <p:spPr>
          <a:xfrm flipH="1">
            <a:off x="1234619" y="3417903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430" name="Google Shape;430;p29"/>
          <p:cNvSpPr/>
          <p:nvPr/>
        </p:nvSpPr>
        <p:spPr>
          <a:xfrm>
            <a:off x="7772400" y="31242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8382000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7467600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29"/>
          <p:cNvCxnSpPr/>
          <p:nvPr/>
        </p:nvCxnSpPr>
        <p:spPr>
          <a:xfrm rot="10800000">
            <a:off x="8534400" y="2838510"/>
            <a:ext cx="0" cy="57939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434" name="Google Shape;434;p29"/>
          <p:cNvSpPr txBox="1"/>
          <p:nvPr/>
        </p:nvSpPr>
        <p:spPr>
          <a:xfrm>
            <a:off x="8253783" y="249549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cxnSp>
        <p:nvCxnSpPr>
          <p:cNvPr id="435" name="Google Shape;435;p29"/>
          <p:cNvCxnSpPr/>
          <p:nvPr/>
        </p:nvCxnSpPr>
        <p:spPr>
          <a:xfrm rot="10800000" flipH="1">
            <a:off x="6830857" y="3113000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36" name="Google Shape;436;p29"/>
          <p:cNvCxnSpPr/>
          <p:nvPr/>
        </p:nvCxnSpPr>
        <p:spPr>
          <a:xfrm flipH="1">
            <a:off x="6381076" y="3440468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37" name="Google Shape;437;p29"/>
          <p:cNvCxnSpPr/>
          <p:nvPr/>
        </p:nvCxnSpPr>
        <p:spPr>
          <a:xfrm rot="10800000" flipH="1">
            <a:off x="7315200" y="3745265"/>
            <a:ext cx="762000" cy="82673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8" name="Google Shape;438;p29"/>
          <p:cNvCxnSpPr/>
          <p:nvPr/>
        </p:nvCxnSpPr>
        <p:spPr>
          <a:xfrm>
            <a:off x="6629400" y="4265008"/>
            <a:ext cx="286131" cy="6747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" name="Google Shape;439;p29"/>
          <p:cNvCxnSpPr/>
          <p:nvPr/>
        </p:nvCxnSpPr>
        <p:spPr>
          <a:xfrm flipH="1">
            <a:off x="6716757" y="4176205"/>
            <a:ext cx="56712" cy="24077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Câu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hỏi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30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sánh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</p:txBody>
      </p:sp>
      <p:sp>
        <p:nvSpPr>
          <p:cNvPr id="446" name="Google Shape;446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Tổng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C++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2" name="Google Shape;452;p31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biến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nó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địa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chỉ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endParaRPr sz="18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Khai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báo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 smtClean="0"/>
              <a:t> </a:t>
            </a:r>
            <a:r>
              <a:rPr lang="en-US" sz="1800" b="1" dirty="0" smtClean="0"/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Kieu_du_lieu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*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Ten_bien_con_tro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*p;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Cấp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phát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endParaRPr dirty="0"/>
          </a:p>
          <a:p>
            <a:pPr marL="742950" lvl="1" indent="-285750">
              <a:spcBef>
                <a:spcPts val="360"/>
              </a:spcBef>
              <a:buSzPts val="1400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dirty="0" smtClean="0"/>
              <a:t> </a:t>
            </a:r>
            <a:r>
              <a:rPr lang="en-US" sz="1800" dirty="0" err="1" smtClean="0"/>
              <a:t>Ten_bien_con_tro</a:t>
            </a:r>
            <a:r>
              <a:rPr lang="en-US" sz="1800" dirty="0" smtClean="0"/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new </a:t>
            </a:r>
            <a:r>
              <a:rPr lang="en-US" sz="1800" dirty="0" err="1" smtClean="0"/>
              <a:t>Kieu_du_lieu</a:t>
            </a:r>
            <a:r>
              <a:rPr lang="en-US" sz="1800" dirty="0" smtClean="0"/>
              <a:t> ;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= new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</a:t>
            </a:r>
            <a:r>
              <a:rPr lang="en-US" sz="1800" b="1" dirty="0" err="1" smtClean="0"/>
              <a:t>a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bộ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nhớ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được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cấp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phát</a:t>
            </a:r>
            <a:endParaRPr dirty="0"/>
          </a:p>
          <a:p>
            <a:pPr marL="742950" lvl="1" indent="-285750">
              <a:spcBef>
                <a:spcPts val="360"/>
              </a:spcBef>
              <a:buSzPts val="1800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delete </a:t>
            </a:r>
            <a:r>
              <a:rPr lang="en-US" sz="1800" dirty="0" err="1" smtClean="0"/>
              <a:t>Ten_bien_con_tro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p;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3" name="Google Shape;453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trỏ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quản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dãy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32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Khai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báo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cấp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phát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smtClean="0"/>
              <a:t> </a:t>
            </a:r>
            <a:r>
              <a:rPr lang="en-US" sz="2000" dirty="0" err="1" smtClean="0"/>
              <a:t>Kieu_du_lieu</a:t>
            </a:r>
            <a:r>
              <a:rPr lang="en-US" sz="2000" dirty="0" smtClean="0"/>
              <a:t> </a:t>
            </a:r>
            <a:r>
              <a:rPr lang="en-US" sz="2000" dirty="0" smtClean="0"/>
              <a:t>        * </a:t>
            </a:r>
            <a:r>
              <a:rPr lang="en-US" sz="2000" dirty="0" err="1" smtClean="0"/>
              <a:t>Ten_bien_con_tro</a:t>
            </a:r>
            <a:r>
              <a:rPr lang="en-US" sz="2000" dirty="0" smtClean="0"/>
              <a:t>;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smtClean="0"/>
              <a:t> </a:t>
            </a:r>
            <a:r>
              <a:rPr lang="en-US" sz="2000" dirty="0" err="1" smtClean="0"/>
              <a:t>Ten_bien_con_tro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new </a:t>
            </a:r>
            <a:r>
              <a:rPr lang="en-US" sz="2000" dirty="0" err="1" smtClean="0"/>
              <a:t>Kieu_du_lieu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[SIZE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new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[10];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cấp</a:t>
            </a:r>
            <a:r>
              <a:rPr lang="en-US" sz="20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phát</a:t>
            </a:r>
            <a:endParaRPr dirty="0"/>
          </a:p>
          <a:p>
            <a:pPr marL="742950" lvl="1" indent="-285750">
              <a:spcBef>
                <a:spcPts val="400"/>
              </a:spcBef>
              <a:buSzPts val="1600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[] </a:t>
            </a:r>
            <a:r>
              <a:rPr lang="en-US" sz="2000" dirty="0" err="1" smtClean="0"/>
              <a:t>Ten_bien_con_tro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[]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dirty="0"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0" name="Google Shape;460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6" name="Google Shape;466;p33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bởi</a:t>
            </a:r>
            <a:r>
              <a:rPr lang="en-US" sz="2400" dirty="0" smtClean="0"/>
              <a:t> con </a:t>
            </a:r>
            <a:r>
              <a:rPr lang="en-US" sz="2400" dirty="0" err="1" smtClean="0"/>
              <a:t>trỏ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nguyên</a:t>
            </a:r>
            <a:r>
              <a:rPr lang="en-US" sz="2400" dirty="0" smtClean="0"/>
              <a:t>, </a:t>
            </a:r>
            <a:r>
              <a:rPr lang="en-US" sz="2400" dirty="0" err="1" smtClean="0"/>
              <a:t>viết</a:t>
            </a:r>
            <a:r>
              <a:rPr lang="en-US" sz="2400" dirty="0" smtClean="0"/>
              <a:t> 2 </a:t>
            </a:r>
            <a:r>
              <a:rPr lang="en-US" sz="2400" dirty="0" err="1" smtClean="0"/>
              <a:t>hàm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nhiệm</a:t>
            </a:r>
            <a:r>
              <a:rPr lang="en-US" sz="2400" dirty="0" smtClean="0"/>
              <a:t> </a:t>
            </a:r>
            <a:r>
              <a:rPr lang="en-US" sz="2400" dirty="0" err="1" smtClean="0"/>
              <a:t>vụ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r>
              <a:rPr lang="en-US" sz="2400" dirty="0" smtClean="0"/>
              <a:t>: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0050" marR="0" lvl="1" indent="-1270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lơn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r>
              <a:rPr lang="en-US" sz="2000" dirty="0" smtClean="0"/>
              <a:t> </a:t>
            </a:r>
          </a:p>
          <a:p>
            <a:pPr marL="400050" marR="0" lvl="1" indent="-1270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Tính</a:t>
            </a:r>
            <a:r>
              <a:rPr lang="en-US" sz="2000" dirty="0" smtClean="0"/>
              <a:t> </a:t>
            </a:r>
            <a:r>
              <a:rPr lang="en-US" sz="2000" dirty="0" err="1" smtClean="0"/>
              <a:t>tổng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phần</a:t>
            </a:r>
            <a:r>
              <a:rPr lang="en-US" sz="2000" dirty="0" smtClean="0"/>
              <a:t> </a:t>
            </a:r>
            <a:r>
              <a:rPr lang="en-US" sz="2000" dirty="0" err="1" smtClean="0"/>
              <a:t>tử</a:t>
            </a:r>
            <a:r>
              <a:rPr lang="en-US" sz="2000" dirty="0" smtClean="0"/>
              <a:t> </a:t>
            </a:r>
            <a:r>
              <a:rPr lang="en-US" sz="2000" dirty="0" err="1" smtClean="0"/>
              <a:t>trong</a:t>
            </a:r>
            <a:r>
              <a:rPr lang="en-US" sz="2000" dirty="0" smtClean="0"/>
              <a:t> </a:t>
            </a:r>
            <a:r>
              <a:rPr lang="en-US" sz="2000" dirty="0" err="1" smtClean="0"/>
              <a:t>danh</a:t>
            </a:r>
            <a:r>
              <a:rPr lang="en-US" sz="2000" dirty="0" smtClean="0"/>
              <a:t> </a:t>
            </a:r>
            <a:r>
              <a:rPr lang="en-US" sz="2000" dirty="0" err="1" smtClean="0"/>
              <a:t>sách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7" name="Google Shape;467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</a:t>
            </a:r>
            <a:r>
              <a:rPr lang="en-US" sz="40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3" name="Google Shape;473;p34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Giới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Trong 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++,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như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đôi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5" name="Google Shape;475;p34"/>
          <p:cNvGraphicFramePr/>
          <p:nvPr/>
        </p:nvGraphicFramePr>
        <p:xfrm>
          <a:off x="685800" y="2971800"/>
          <a:ext cx="6781800" cy="274322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6781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&lt;iostream&gt;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&lt;list&gt;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 main () {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std::list&lt;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&gt; mylist{2};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mylist.push_front(1)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mylist.push_back (3)</a:t>
                      </a:r>
                      <a:endParaRPr sz="1400" u="none" strike="noStrike" cap="none"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"mylist contains:";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for</a:t>
                      </a:r>
                      <a:r>
                        <a:rPr lang="en-US" sz="1400" u="none" strike="noStrike" cap="none"/>
                        <a:t> (std::list&lt;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&gt;::iterator it=mylist.begin(); it!=mylist.end(); it++)</a:t>
                      </a:r>
                      <a:endParaRPr/>
                    </a:p>
                    <a:p>
                      <a:pPr marL="914400" marR="0" lvl="2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 std::cout &lt;&lt; ' ' &lt;&lt; *it;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return</a:t>
                      </a:r>
                      <a:r>
                        <a:rPr lang="en-US" sz="1400" u="none" strike="noStrike" cap="none"/>
                        <a:t> 0;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}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476" name="Google Shape;476;p34"/>
          <p:cNvSpPr/>
          <p:nvPr/>
        </p:nvSpPr>
        <p:spPr>
          <a:xfrm>
            <a:off x="685800" y="24463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2" name="Google Shape;482;p35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189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đợi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2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tại</a:t>
            </a:r>
            <a:r>
              <a:rPr lang="en-US" sz="2400" dirty="0" smtClean="0"/>
              <a:t> 2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 and tail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vé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xem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phim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3" name="Google Shape;483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3340223" y="46921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85" name="Google Shape;485;p35"/>
          <p:cNvSpPr/>
          <p:nvPr/>
        </p:nvSpPr>
        <p:spPr>
          <a:xfrm>
            <a:off x="4102223" y="46921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4864223" y="46921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487" name="Google Shape;487;p35"/>
          <p:cNvSpPr/>
          <p:nvPr/>
        </p:nvSpPr>
        <p:spPr>
          <a:xfrm>
            <a:off x="1981200" y="5534033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488" name="Google Shape;488;p35"/>
          <p:cNvSpPr/>
          <p:nvPr/>
        </p:nvSpPr>
        <p:spPr>
          <a:xfrm>
            <a:off x="6248400" y="5530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489" name="Google Shape;489;p35"/>
          <p:cNvCxnSpPr/>
          <p:nvPr/>
        </p:nvCxnSpPr>
        <p:spPr>
          <a:xfrm>
            <a:off x="2895600" y="4463534"/>
            <a:ext cx="30480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0" name="Google Shape;490;p35"/>
          <p:cNvCxnSpPr/>
          <p:nvPr/>
        </p:nvCxnSpPr>
        <p:spPr>
          <a:xfrm>
            <a:off x="2895600" y="5530334"/>
            <a:ext cx="30480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1" name="Google Shape;491;p35"/>
          <p:cNvSpPr/>
          <p:nvPr/>
        </p:nvSpPr>
        <p:spPr>
          <a:xfrm>
            <a:off x="2298577" y="4993332"/>
            <a:ext cx="798990" cy="509629"/>
          </a:xfrm>
          <a:custGeom>
            <a:avLst/>
            <a:gdLst/>
            <a:ahLst/>
            <a:cxnLst/>
            <a:rect l="l" t="t" r="r" b="b"/>
            <a:pathLst>
              <a:path w="798990" h="509629" extrusionOk="0">
                <a:moveTo>
                  <a:pt x="798990" y="3602"/>
                </a:moveTo>
                <a:cubicBezTo>
                  <a:pt x="590364" y="-3057"/>
                  <a:pt x="381739" y="-9715"/>
                  <a:pt x="248574" y="74623"/>
                </a:cubicBezTo>
                <a:cubicBezTo>
                  <a:pt x="115409" y="158961"/>
                  <a:pt x="57704" y="334295"/>
                  <a:pt x="0" y="509629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5734235" y="4970261"/>
            <a:ext cx="825623" cy="506067"/>
          </a:xfrm>
          <a:custGeom>
            <a:avLst/>
            <a:gdLst/>
            <a:ahLst/>
            <a:cxnLst/>
            <a:rect l="l" t="t" r="r" b="b"/>
            <a:pathLst>
              <a:path w="825623" h="506067" extrusionOk="0">
                <a:moveTo>
                  <a:pt x="825623" y="506067"/>
                </a:moveTo>
                <a:cubicBezTo>
                  <a:pt x="761260" y="335172"/>
                  <a:pt x="696897" y="164277"/>
                  <a:pt x="559293" y="79939"/>
                </a:cubicBezTo>
                <a:cubicBezTo>
                  <a:pt x="421689" y="-4399"/>
                  <a:pt x="0" y="40"/>
                  <a:pt x="0" y="4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5"/>
          <p:cNvSpPr txBox="1"/>
          <p:nvPr/>
        </p:nvSpPr>
        <p:spPr>
          <a:xfrm>
            <a:off x="5334000" y="4038600"/>
            <a:ext cx="17631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insert/enqueue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p35"/>
          <p:cNvSpPr txBox="1"/>
          <p:nvPr/>
        </p:nvSpPr>
        <p:spPr>
          <a:xfrm>
            <a:off x="1676400" y="4038600"/>
            <a:ext cx="17763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delete/dequeue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5" name="Google Shape;495;p35"/>
          <p:cNvSpPr txBox="1"/>
          <p:nvPr/>
        </p:nvSpPr>
        <p:spPr>
          <a:xfrm>
            <a:off x="3352800" y="5650468"/>
            <a:ext cx="258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(First In First Out)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3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9465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(Q, x):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tử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cuối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đợi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6"/>
          <p:cNvSpPr/>
          <p:nvPr/>
        </p:nvSpPr>
        <p:spPr>
          <a:xfrm>
            <a:off x="3340223" y="36539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04" name="Google Shape;504;p36"/>
          <p:cNvSpPr/>
          <p:nvPr/>
        </p:nvSpPr>
        <p:spPr>
          <a:xfrm>
            <a:off x="4102223" y="36539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05" name="Google Shape;505;p36"/>
          <p:cNvSpPr/>
          <p:nvPr/>
        </p:nvSpPr>
        <p:spPr>
          <a:xfrm>
            <a:off x="4864223" y="36539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506" name="Google Shape;506;p36"/>
          <p:cNvSpPr/>
          <p:nvPr/>
        </p:nvSpPr>
        <p:spPr>
          <a:xfrm>
            <a:off x="2514600" y="3657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6248400" y="44921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08" name="Google Shape;508;p36"/>
          <p:cNvCxnSpPr/>
          <p:nvPr/>
        </p:nvCxnSpPr>
        <p:spPr>
          <a:xfrm rot="10800000" flipH="1">
            <a:off x="2438400" y="3429001"/>
            <a:ext cx="3733800" cy="1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9" name="Google Shape;509;p36"/>
          <p:cNvCxnSpPr/>
          <p:nvPr/>
        </p:nvCxnSpPr>
        <p:spPr>
          <a:xfrm rot="10800000" flipH="1">
            <a:off x="2438400" y="4495800"/>
            <a:ext cx="3733800" cy="1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0" name="Google Shape;510;p36"/>
          <p:cNvSpPr/>
          <p:nvPr/>
        </p:nvSpPr>
        <p:spPr>
          <a:xfrm>
            <a:off x="5734235" y="3932028"/>
            <a:ext cx="825623" cy="506067"/>
          </a:xfrm>
          <a:custGeom>
            <a:avLst/>
            <a:gdLst/>
            <a:ahLst/>
            <a:cxnLst/>
            <a:rect l="l" t="t" r="r" b="b"/>
            <a:pathLst>
              <a:path w="825623" h="506067" extrusionOk="0">
                <a:moveTo>
                  <a:pt x="825623" y="506067"/>
                </a:moveTo>
                <a:cubicBezTo>
                  <a:pt x="761260" y="335172"/>
                  <a:pt x="696897" y="164277"/>
                  <a:pt x="559293" y="79939"/>
                </a:cubicBezTo>
                <a:cubicBezTo>
                  <a:pt x="421689" y="-4399"/>
                  <a:pt x="0" y="40"/>
                  <a:pt x="0" y="4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5257800" y="2971800"/>
            <a:ext cx="10833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3352800" y="4612235"/>
            <a:ext cx="258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(First In First Out)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8" name="Google Shape;518;p3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9465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(Q):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phẩn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ở </a:t>
            </a:r>
            <a:r>
              <a:rPr lang="en-US" sz="2000" dirty="0" err="1" smtClean="0"/>
              <a:t>đầu</a:t>
            </a:r>
            <a:r>
              <a:rPr lang="en-US" sz="2000" dirty="0" smtClean="0"/>
              <a:t> </a:t>
            </a:r>
            <a:r>
              <a:rPr lang="en-US" sz="2000" dirty="0" err="1" smtClean="0"/>
              <a:t>hàng</a:t>
            </a:r>
            <a:r>
              <a:rPr lang="en-US" sz="2000" dirty="0" smtClean="0"/>
              <a:t> </a:t>
            </a:r>
            <a:r>
              <a:rPr lang="en-US" sz="2000" dirty="0" err="1" smtClean="0"/>
              <a:t>đợi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</a:t>
            </a:r>
            <a:endParaRPr dirty="0"/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9" name="Google Shape;519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7"/>
          <p:cNvSpPr/>
          <p:nvPr/>
        </p:nvSpPr>
        <p:spPr>
          <a:xfrm>
            <a:off x="3340223" y="3625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21" name="Google Shape;521;p37"/>
          <p:cNvSpPr/>
          <p:nvPr/>
        </p:nvSpPr>
        <p:spPr>
          <a:xfrm>
            <a:off x="4102223" y="3625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22" name="Google Shape;522;p37"/>
          <p:cNvSpPr/>
          <p:nvPr/>
        </p:nvSpPr>
        <p:spPr>
          <a:xfrm>
            <a:off x="4864223" y="3625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523" name="Google Shape;523;p37"/>
          <p:cNvSpPr/>
          <p:nvPr/>
        </p:nvSpPr>
        <p:spPr>
          <a:xfrm>
            <a:off x="1981200" y="4467233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24" name="Google Shape;524;p37"/>
          <p:cNvSpPr/>
          <p:nvPr/>
        </p:nvSpPr>
        <p:spPr>
          <a:xfrm>
            <a:off x="5638800" y="3630930"/>
            <a:ext cx="609600" cy="58674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25" name="Google Shape;525;p37"/>
          <p:cNvCxnSpPr/>
          <p:nvPr/>
        </p:nvCxnSpPr>
        <p:spPr>
          <a:xfrm rot="10800000" flipH="1">
            <a:off x="2895600" y="3352800"/>
            <a:ext cx="3733800" cy="4393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6" name="Google Shape;526;p37"/>
          <p:cNvCxnSpPr/>
          <p:nvPr/>
        </p:nvCxnSpPr>
        <p:spPr>
          <a:xfrm>
            <a:off x="2895600" y="4463534"/>
            <a:ext cx="3733800" cy="3226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7" name="Google Shape;527;p37"/>
          <p:cNvSpPr/>
          <p:nvPr/>
        </p:nvSpPr>
        <p:spPr>
          <a:xfrm>
            <a:off x="2298577" y="3926532"/>
            <a:ext cx="798990" cy="509629"/>
          </a:xfrm>
          <a:custGeom>
            <a:avLst/>
            <a:gdLst/>
            <a:ahLst/>
            <a:cxnLst/>
            <a:rect l="l" t="t" r="r" b="b"/>
            <a:pathLst>
              <a:path w="798990" h="509629" extrusionOk="0">
                <a:moveTo>
                  <a:pt x="798990" y="3602"/>
                </a:moveTo>
                <a:cubicBezTo>
                  <a:pt x="590364" y="-3057"/>
                  <a:pt x="381739" y="-9715"/>
                  <a:pt x="248574" y="74623"/>
                </a:cubicBezTo>
                <a:cubicBezTo>
                  <a:pt x="115409" y="158961"/>
                  <a:pt x="57704" y="334295"/>
                  <a:pt x="0" y="509629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1905000" y="2971800"/>
            <a:ext cx="10833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9" name="Google Shape;529;p37"/>
          <p:cNvSpPr txBox="1"/>
          <p:nvPr/>
        </p:nvSpPr>
        <p:spPr>
          <a:xfrm>
            <a:off x="3352800" y="4583668"/>
            <a:ext cx="258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(First In First Out)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38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6096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j-lt"/>
              <a:buAutoNum type="arabicPeriod"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 indent="-457200">
              <a:spcBef>
                <a:spcPts val="480"/>
              </a:spcBef>
              <a:buSzPts val="2400"/>
              <a:buFont typeface="Calibri"/>
              <a:buAutoNum type="arabicPeriod"/>
            </a:pP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enqueue</a:t>
            </a:r>
            <a:r>
              <a:rPr lang="en-US" sz="2400" dirty="0" smtClean="0"/>
              <a:t>()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dequeue</a:t>
            </a:r>
            <a:r>
              <a:rPr lang="en-US" sz="2400" dirty="0" smtClean="0"/>
              <a:t>()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. 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ưu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tiên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39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260850" cy="433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đợi</a:t>
            </a:r>
            <a:r>
              <a:rPr lang="en-US" sz="2000" dirty="0" smtClean="0"/>
              <a:t> </a:t>
            </a:r>
            <a:r>
              <a:rPr lang="en-US" sz="2000" dirty="0" err="1" smtClean="0"/>
              <a:t>ưu</a:t>
            </a:r>
            <a:r>
              <a:rPr lang="en-US" sz="2000" dirty="0" smtClean="0"/>
              <a:t> </a:t>
            </a:r>
            <a:r>
              <a:rPr lang="en-US" sz="2000" dirty="0" err="1" smtClean="0"/>
              <a:t>tiên</a:t>
            </a:r>
            <a:r>
              <a:rPr lang="en-US" sz="2000" dirty="0" smtClean="0"/>
              <a:t> </a:t>
            </a:r>
            <a:r>
              <a:rPr lang="en-US" sz="2000" dirty="0" err="1" smtClean="0"/>
              <a:t>lưu</a:t>
            </a:r>
            <a:r>
              <a:rPr lang="en-US" sz="2000" dirty="0" smtClean="0"/>
              <a:t> </a:t>
            </a:r>
            <a:r>
              <a:rPr lang="en-US" sz="2000" dirty="0" err="1" smtClean="0"/>
              <a:t>trữ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tập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Mỗi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bao</a:t>
            </a:r>
            <a:r>
              <a:rPr lang="en-US" sz="2000" dirty="0" smtClean="0"/>
              <a:t> </a:t>
            </a:r>
            <a:r>
              <a:rPr lang="en-US" sz="2000" dirty="0" err="1" smtClean="0"/>
              <a:t>gồm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(key, value)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chính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ưu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tiên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x):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khóa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khóa</a:t>
            </a:r>
            <a:r>
              <a:rPr lang="en-US" sz="2000" dirty="0" smtClean="0"/>
              <a:t> </a:t>
            </a:r>
            <a:r>
              <a:rPr lang="en-US" sz="2000" dirty="0" err="1" smtClean="0"/>
              <a:t>lớn</a:t>
            </a:r>
            <a:r>
              <a:rPr lang="en-US" sz="2000" dirty="0" smtClean="0"/>
              <a:t> </a:t>
            </a:r>
            <a:r>
              <a:rPr lang="en-US" sz="2000" dirty="0" err="1" smtClean="0"/>
              <a:t>nhất</a:t>
            </a:r>
            <a:endParaRPr dirty="0"/>
          </a:p>
          <a:p>
            <a:pPr marL="457200" marR="0" lvl="1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43" name="Google Shape;543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5800" y="2438400"/>
            <a:ext cx="43561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ứng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đợi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ưu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tiên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40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lên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máy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bay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dirty="0" err="1" smtClean="0"/>
              <a:t>Đấu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Thị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chứng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khoán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Ngăn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7" name="Google Shape;557;p41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3727450" cy="433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dư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lưu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quản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tại</a:t>
            </a:r>
            <a:r>
              <a:rPr lang="en-US" sz="2400" dirty="0" smtClean="0"/>
              <a:t> 1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top”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400050" marR="0" lvl="1" indent="-127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 err="1" smtClean="0"/>
              <a:t>Lịch</a:t>
            </a:r>
            <a:r>
              <a:rPr lang="en-US" sz="2000" dirty="0" smtClean="0"/>
              <a:t> </a:t>
            </a:r>
            <a:r>
              <a:rPr lang="en-US" sz="2000" dirty="0" err="1" smtClean="0"/>
              <a:t>sử</a:t>
            </a:r>
            <a:r>
              <a:rPr lang="en-US" sz="2000" dirty="0" smtClean="0"/>
              <a:t> </a:t>
            </a:r>
            <a:r>
              <a:rPr lang="en-US" sz="2000" dirty="0" err="1" smtClean="0"/>
              <a:t>thăm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trang</a:t>
            </a:r>
            <a:r>
              <a:rPr lang="en-US" sz="2000" dirty="0" smtClean="0"/>
              <a:t> web</a:t>
            </a:r>
            <a:endParaRPr dirty="0"/>
          </a:p>
          <a:p>
            <a:pPr marL="400050" marR="0" lvl="1" indent="-127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phục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nội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dung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thảo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1"/>
          <p:cNvSpPr/>
          <p:nvPr/>
        </p:nvSpPr>
        <p:spPr>
          <a:xfrm>
            <a:off x="5105400" y="3581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0" name="Google Shape;560;p41"/>
          <p:cNvSpPr/>
          <p:nvPr/>
        </p:nvSpPr>
        <p:spPr>
          <a:xfrm>
            <a:off x="5105400" y="3962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1" name="Google Shape;561;p41"/>
          <p:cNvSpPr/>
          <p:nvPr/>
        </p:nvSpPr>
        <p:spPr>
          <a:xfrm>
            <a:off x="5105400" y="4343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2" name="Google Shape;562;p41"/>
          <p:cNvSpPr/>
          <p:nvPr/>
        </p:nvSpPr>
        <p:spPr>
          <a:xfrm>
            <a:off x="5105400" y="4724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3" name="Google Shape;563;p41"/>
          <p:cNvSpPr/>
          <p:nvPr/>
        </p:nvSpPr>
        <p:spPr>
          <a:xfrm>
            <a:off x="5105400" y="5105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4" name="Google Shape;564;p41"/>
          <p:cNvSpPr/>
          <p:nvPr/>
        </p:nvSpPr>
        <p:spPr>
          <a:xfrm>
            <a:off x="6858000" y="3581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5" name="Google Shape;565;p41"/>
          <p:cNvSpPr/>
          <p:nvPr/>
        </p:nvSpPr>
        <p:spPr>
          <a:xfrm>
            <a:off x="6858000" y="3962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6" name="Google Shape;566;p41"/>
          <p:cNvSpPr/>
          <p:nvPr/>
        </p:nvSpPr>
        <p:spPr>
          <a:xfrm>
            <a:off x="6858000" y="4343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7" name="Google Shape;567;p41"/>
          <p:cNvSpPr/>
          <p:nvPr/>
        </p:nvSpPr>
        <p:spPr>
          <a:xfrm>
            <a:off x="6858000" y="4724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8" name="Google Shape;568;p41"/>
          <p:cNvSpPr/>
          <p:nvPr/>
        </p:nvSpPr>
        <p:spPr>
          <a:xfrm>
            <a:off x="6858000" y="5105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9" name="Google Shape;569;p41"/>
          <p:cNvSpPr/>
          <p:nvPr/>
        </p:nvSpPr>
        <p:spPr>
          <a:xfrm rot="-1869830">
            <a:off x="4495800" y="25908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570" name="Google Shape;570;p41"/>
          <p:cNvCxnSpPr/>
          <p:nvPr/>
        </p:nvCxnSpPr>
        <p:spPr>
          <a:xfrm>
            <a:off x="5334000" y="2971800"/>
            <a:ext cx="342900" cy="4572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1" name="Google Shape;571;p41"/>
          <p:cNvSpPr/>
          <p:nvPr/>
        </p:nvSpPr>
        <p:spPr>
          <a:xfrm rot="1342059">
            <a:off x="7512093" y="252569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572" name="Google Shape;572;p41"/>
          <p:cNvCxnSpPr/>
          <p:nvPr/>
        </p:nvCxnSpPr>
        <p:spPr>
          <a:xfrm rot="10800000" flipH="1">
            <a:off x="7315200" y="2959223"/>
            <a:ext cx="419100" cy="4823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3" name="Google Shape;573;p41"/>
          <p:cNvSpPr txBox="1"/>
          <p:nvPr/>
        </p:nvSpPr>
        <p:spPr>
          <a:xfrm>
            <a:off x="4169546" y="3396734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endParaRPr/>
          </a:p>
        </p:txBody>
      </p:sp>
      <p:sp>
        <p:nvSpPr>
          <p:cNvPr id="574" name="Google Shape;574;p41"/>
          <p:cNvSpPr txBox="1"/>
          <p:nvPr/>
        </p:nvSpPr>
        <p:spPr>
          <a:xfrm>
            <a:off x="8153400" y="3352800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</a:t>
            </a:r>
            <a:endParaRPr/>
          </a:p>
        </p:txBody>
      </p:sp>
      <p:sp>
        <p:nvSpPr>
          <p:cNvPr id="575" name="Google Shape;575;p41"/>
          <p:cNvSpPr txBox="1"/>
          <p:nvPr/>
        </p:nvSpPr>
        <p:spPr>
          <a:xfrm>
            <a:off x="5299683" y="5638800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  <p:sp>
        <p:nvSpPr>
          <p:cNvPr id="576" name="Google Shape;576;p41"/>
          <p:cNvSpPr txBox="1"/>
          <p:nvPr/>
        </p:nvSpPr>
        <p:spPr>
          <a:xfrm>
            <a:off x="7086853" y="5638800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  <p:sp>
        <p:nvSpPr>
          <p:cNvPr id="577" name="Google Shape;577;p41"/>
          <p:cNvSpPr txBox="1"/>
          <p:nvPr/>
        </p:nvSpPr>
        <p:spPr>
          <a:xfrm>
            <a:off x="5680556" y="2977282"/>
            <a:ext cx="16065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Last In – First Out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ngăn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3" name="Google Shape;583;p42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59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(S, x):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đầu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ngăn</a:t>
            </a:r>
            <a:r>
              <a:rPr lang="en-US" sz="2400" dirty="0" smtClean="0"/>
              <a:t> </a:t>
            </a:r>
            <a:r>
              <a:rPr lang="en-US" sz="2400" dirty="0" err="1" smtClean="0"/>
              <a:t>xếp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4" name="Google Shape;584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2"/>
          <p:cNvSpPr/>
          <p:nvPr/>
        </p:nvSpPr>
        <p:spPr>
          <a:xfrm>
            <a:off x="3983854" y="3821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6" name="Google Shape;586;p42"/>
          <p:cNvSpPr/>
          <p:nvPr/>
        </p:nvSpPr>
        <p:spPr>
          <a:xfrm>
            <a:off x="3983854" y="4202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7" name="Google Shape;587;p42"/>
          <p:cNvSpPr/>
          <p:nvPr/>
        </p:nvSpPr>
        <p:spPr>
          <a:xfrm>
            <a:off x="3983854" y="4583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8" name="Google Shape;588;p42"/>
          <p:cNvSpPr/>
          <p:nvPr/>
        </p:nvSpPr>
        <p:spPr>
          <a:xfrm>
            <a:off x="3983854" y="4964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9" name="Google Shape;589;p42"/>
          <p:cNvSpPr/>
          <p:nvPr/>
        </p:nvSpPr>
        <p:spPr>
          <a:xfrm>
            <a:off x="3983854" y="5345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90" name="Google Shape;590;p42"/>
          <p:cNvSpPr/>
          <p:nvPr/>
        </p:nvSpPr>
        <p:spPr>
          <a:xfrm rot="-1869830">
            <a:off x="3374254" y="28310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591" name="Google Shape;591;p42"/>
          <p:cNvCxnSpPr/>
          <p:nvPr/>
        </p:nvCxnSpPr>
        <p:spPr>
          <a:xfrm>
            <a:off x="4212454" y="3212068"/>
            <a:ext cx="342900" cy="4572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2" name="Google Shape;592;p42"/>
          <p:cNvSpPr txBox="1"/>
          <p:nvPr/>
        </p:nvSpPr>
        <p:spPr>
          <a:xfrm>
            <a:off x="3048000" y="3637002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endParaRPr/>
          </a:p>
        </p:txBody>
      </p:sp>
      <p:sp>
        <p:nvSpPr>
          <p:cNvPr id="593" name="Google Shape;593;p42"/>
          <p:cNvSpPr txBox="1"/>
          <p:nvPr/>
        </p:nvSpPr>
        <p:spPr>
          <a:xfrm>
            <a:off x="4178137" y="5879068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9" name="Google Shape;599;p43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59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(S):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ở </a:t>
            </a:r>
            <a:r>
              <a:rPr lang="en-US" sz="2400" dirty="0" err="1" smtClean="0"/>
              <a:t>đầu</a:t>
            </a:r>
            <a:r>
              <a:rPr lang="en-US" sz="2400" dirty="0" smtClean="0"/>
              <a:t> </a:t>
            </a:r>
            <a:r>
              <a:rPr lang="en-US" sz="2400" dirty="0" err="1" smtClean="0"/>
              <a:t>ngăn</a:t>
            </a:r>
            <a:r>
              <a:rPr lang="en-US" sz="2400" dirty="0" smtClean="0"/>
              <a:t> </a:t>
            </a:r>
            <a:r>
              <a:rPr lang="en-US" sz="2400" dirty="0" err="1" smtClean="0"/>
              <a:t>xếp</a:t>
            </a:r>
            <a:r>
              <a:rPr lang="en-US" sz="2400" dirty="0" smtClean="0"/>
              <a:t> S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0" name="Google Shape;600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3"/>
          <p:cNvSpPr/>
          <p:nvPr/>
        </p:nvSpPr>
        <p:spPr>
          <a:xfrm>
            <a:off x="3824565" y="3745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2" name="Google Shape;602;p43"/>
          <p:cNvSpPr/>
          <p:nvPr/>
        </p:nvSpPr>
        <p:spPr>
          <a:xfrm>
            <a:off x="3824565" y="4126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3" name="Google Shape;603;p43"/>
          <p:cNvSpPr/>
          <p:nvPr/>
        </p:nvSpPr>
        <p:spPr>
          <a:xfrm>
            <a:off x="3824565" y="4507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4" name="Google Shape;604;p43"/>
          <p:cNvSpPr/>
          <p:nvPr/>
        </p:nvSpPr>
        <p:spPr>
          <a:xfrm>
            <a:off x="3824565" y="4888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5" name="Google Shape;605;p43"/>
          <p:cNvSpPr/>
          <p:nvPr/>
        </p:nvSpPr>
        <p:spPr>
          <a:xfrm>
            <a:off x="3824565" y="5269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6" name="Google Shape;606;p43"/>
          <p:cNvSpPr/>
          <p:nvPr/>
        </p:nvSpPr>
        <p:spPr>
          <a:xfrm rot="1342059">
            <a:off x="4478658" y="2689766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607" name="Google Shape;607;p43"/>
          <p:cNvCxnSpPr/>
          <p:nvPr/>
        </p:nvCxnSpPr>
        <p:spPr>
          <a:xfrm rot="10800000" flipH="1">
            <a:off x="4281765" y="3123291"/>
            <a:ext cx="419100" cy="4823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8" name="Google Shape;608;p43"/>
          <p:cNvSpPr txBox="1"/>
          <p:nvPr/>
        </p:nvSpPr>
        <p:spPr>
          <a:xfrm>
            <a:off x="5119965" y="3516868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</a:t>
            </a:r>
            <a:endParaRPr/>
          </a:p>
        </p:txBody>
      </p:sp>
      <p:sp>
        <p:nvSpPr>
          <p:cNvPr id="609" name="Google Shape;609;p43"/>
          <p:cNvSpPr txBox="1"/>
          <p:nvPr/>
        </p:nvSpPr>
        <p:spPr>
          <a:xfrm>
            <a:off x="4053418" y="5802868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ngăn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44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457200" marR="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cấu</a:t>
            </a:r>
            <a:r>
              <a:rPr lang="en-US" sz="2400" dirty="0" smtClean="0"/>
              <a:t> </a:t>
            </a:r>
            <a:r>
              <a:rPr lang="en-US" sz="2400" dirty="0" err="1" smtClean="0"/>
              <a:t>trúc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p4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600" dirty="0" err="1" smtClean="0"/>
              <a:t>đợi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36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</a:t>
            </a:r>
            <a:endParaRPr sz="36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2" name="Google Shape;622;p45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đợi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lưu</a:t>
            </a:r>
            <a:r>
              <a:rPr lang="en-US" sz="2400" dirty="0" smtClean="0"/>
              <a:t> </a:t>
            </a:r>
            <a:r>
              <a:rPr lang="en-US" sz="2400" dirty="0" err="1" smtClean="0"/>
              <a:t>trữ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xử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.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3" name="Google Shape;623;p4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4" name="Google Shape;624;p45"/>
          <p:cNvGraphicFramePr/>
          <p:nvPr/>
        </p:nvGraphicFramePr>
        <p:xfrm>
          <a:off x="990600" y="2895600"/>
          <a:ext cx="7162800" cy="326137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7162800"/>
              </a:tblGrid>
              <a:tr h="262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#include &lt;iostream&gt; 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#include &lt;queue&gt;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using namespace std;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int main 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queue &lt;int&gt; q;   // creates an empty queue of integer q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q.push&gt;(2);   // pushes 2 in the queue  , now front = back = 2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q.push(3);   // pushes 3 in the queue  , now front = 2 , and back = 3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q.pop() ;  // removes 2 from the stack , front = 3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}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625" name="Google Shape;625;p45"/>
          <p:cNvSpPr/>
          <p:nvPr/>
        </p:nvSpPr>
        <p:spPr>
          <a:xfrm>
            <a:off x="685800" y="27209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sz="3600" dirty="0" err="1" smtClean="0"/>
              <a:t>Lớp</a:t>
            </a:r>
            <a:r>
              <a:rPr lang="en-US" sz="3600" dirty="0" smtClean="0"/>
              <a:t> </a:t>
            </a:r>
            <a:r>
              <a:rPr lang="en-US" sz="3600" dirty="0" err="1" smtClean="0"/>
              <a:t>ngăn</a:t>
            </a:r>
            <a:r>
              <a:rPr lang="en-US" sz="3600" dirty="0" smtClean="0"/>
              <a:t> </a:t>
            </a:r>
            <a:r>
              <a:rPr lang="en-US" sz="3600" dirty="0" err="1" smtClean="0"/>
              <a:t>xếp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dirty="0" smtClean="0"/>
              <a:t>C++</a:t>
            </a:r>
            <a:endParaRPr sz="36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1" name="Google Shape;631;p4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vi-VN" sz="2400" dirty="0" smtClean="0"/>
              <a:t>Cấu trúc </a:t>
            </a:r>
            <a:r>
              <a:rPr lang="en-US" sz="2400" dirty="0" err="1" smtClean="0"/>
              <a:t>ngăn</a:t>
            </a:r>
            <a:r>
              <a:rPr lang="en-US" sz="2400" dirty="0" smtClean="0"/>
              <a:t> </a:t>
            </a:r>
            <a:r>
              <a:rPr lang="en-US" sz="2400" dirty="0" err="1" smtClean="0"/>
              <a:t>xếp</a:t>
            </a:r>
            <a:r>
              <a:rPr lang="en-US" sz="2400" dirty="0" smtClean="0"/>
              <a:t> </a:t>
            </a:r>
            <a:r>
              <a:rPr lang="vi-VN" sz="2400" dirty="0" smtClean="0"/>
              <a:t>là </a:t>
            </a:r>
            <a:r>
              <a:rPr lang="vi-VN" sz="2400" dirty="0" smtClean="0"/>
              <a:t>một lớp cơ bản trong C++ để lưu trữ và xử lý dữ liệu.</a:t>
            </a: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2" name="Google Shape;632;p4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3" name="Google Shape;633;p46"/>
          <p:cNvGraphicFramePr/>
          <p:nvPr/>
        </p:nvGraphicFramePr>
        <p:xfrm>
          <a:off x="838200" y="3124201"/>
          <a:ext cx="7162800" cy="350521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7162800"/>
              </a:tblGrid>
              <a:tr h="342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#include &lt;iostream&gt; 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#include &lt;stack&gt;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using namespace std;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int main 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stack&lt;int&gt; s;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// pushing elements into stack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s.push(2);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s.push(3);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s.push(4);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cout &lt;&lt; s.top();   // prints 4, as 4 is the topmost element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cout &lt;&lt; s.size();  // prints 3, as there are 3 elements in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}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634" name="Google Shape;634;p46"/>
          <p:cNvSpPr/>
          <p:nvPr/>
        </p:nvSpPr>
        <p:spPr>
          <a:xfrm>
            <a:off x="685800" y="27209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FOLDER" val="C:\Users\Administrator\Documents\CTDL&amp;GT\Cai tien MH CTDL_GT\CTDL_GT\Slides and exercises\Lecture02_basic_data_structures\Lecture2_basic_data_structures\"/>
  <p:tag name="ISPRING_PRESENTATION_PATH" val="C:\Users\Administrator\Documents\CTDL&amp;GT\Cai tien MH CTDL_GT\CTDL_GT\Slides and exercises\Lecture02_basic_data_structures\Lecture2_basic_data_structures.pptx"/>
  <p:tag name="ISPRING_PROJECT_VERSION" val="9"/>
  <p:tag name="ISPRING_PROJECT_FOLDER_UPDATED" val="1"/>
  <p:tag name="ISPRING_SCREEN_RECS_UPDATED" val="C:\Users\Administrator\Documents\CTDL&amp;GT\Cai tien MH CTDL_GT\CTDL_GT\Slides and exercises\Lecture02_basic_data_structures\Lecture2_basic_data_structures\"/>
  <p:tag name="FLASHSPRING_ZOOM_TAG" val="60"/>
  <p:tag name="ISPRING_PRESENTATION_INFO_2" val="&lt;?xml version=&quot;1.0&quot; encoding=&quot;UTF-8&quot; standalone=&quot;no&quot; ?&gt;&#10;&lt;presentation2&gt;&#10;&#10;  &lt;slides&gt;&#10;    &lt;slide id=&quot;{D9DF4A98-400F-4E9A-BB91-2AC12F8523B4}&quot; pptId=&quot;256&quot;/&gt;&#10;    &lt;slide id=&quot;{780650D8-E2AA-4C3E-9202-E80B255DD967}&quot; pptId=&quot;257&quot;/&gt;&#10;    &lt;slide id=&quot;{ECCB90B0-83BD-47A1-AE88-A25502E71BA2}&quot; pptId=&quot;258&quot;/&gt;&#10;    &lt;slide id=&quot;{190A38CC-36CF-4A95-B362-03BBAC538C00}&quot; pptId=&quot;259&quot;/&gt;&#10;    &lt;slide id=&quot;{E21F1278-38D1-4166-B769-8411889C67D6}&quot; pptId=&quot;260&quot;/&gt;&#10;    &lt;slide id=&quot;{86117522-D407-4F35-A655-DF319B3905BF}&quot; pptId=&quot;261&quot;/&gt;&#10;    &lt;slide id=&quot;{A52243EE-CC48-45EC-9FDA-3CB141A09051}&quot; pptId=&quot;262&quot;/&gt;&#10;    &lt;slide id=&quot;{CCEB009D-B046-4C90-93D5-4E2A2D04BF1E}&quot; pptId=&quot;263&quot;/&gt;&#10;    &lt;slide id=&quot;{2ABA321D-EC3F-45E4-9308-7A4119D72659}&quot; pptId=&quot;264&quot;/&gt;&#10;    &lt;slide id=&quot;{1F398342-D592-4977-B9E1-0899805340FD}&quot; pptId=&quot;265&quot;/&gt;&#10;    &lt;slide id=&quot;{564FA7A4-19C7-4613-88D4-9B8F52E89692}&quot; pptId=&quot;266&quot;/&gt;&#10;    &lt;slide id=&quot;{1B7996C6-41BC-41A2-92F5-51258B4F1164}&quot; pptId=&quot;267&quot;/&gt;&#10;    &lt;slide id=&quot;{068A2CCB-E61E-412C-923B-241A8D5EE413}&quot; pptId=&quot;268&quot;/&gt;&#10;    &lt;slide id=&quot;{5B9BDD74-0733-4727-B9C8-745D0A11CD91}&quot; pptId=&quot;269&quot;/&gt;&#10;    &lt;slide id=&quot;{1F925BA9-364F-4CD8-B956-7ADFBFA3DA3B}&quot; pptId=&quot;270&quot;/&gt;&#10;    &lt;slide id=&quot;{B329CDCE-294A-4DAF-8F29-2F19CC08F2A6}&quot; pptId=&quot;271&quot;/&gt;&#10;    &lt;slide id=&quot;{F136D226-48A7-4030-B2D1-79830382BB1E}&quot; pptId=&quot;272&quot;/&gt;&#10;    &lt;slide id=&quot;{E1BE875F-A075-4DC9-AC3A-CD67FB7E6480}&quot; pptId=&quot;273&quot;/&gt;&#10;    &lt;slide id=&quot;{226DE5EE-8DDE-41AB-8E82-9395EBCEB54E}&quot; pptId=&quot;274&quot;/&gt;&#10;    &lt;slide id=&quot;{8C2F73EA-B4B1-49FC-8731-455ABAE74BCD}&quot; pptId=&quot;275&quot;/&gt;&#10;    &lt;slide id=&quot;{A2AA3961-B8F8-461F-A115-997DE34752F3}&quot; pptId=&quot;276&quot;/&gt;&#10;    &lt;slide id=&quot;{2186FE44-98C2-473E-BD30-76C54F02559D}&quot; pptId=&quot;277&quot;/&gt;&#10;    &lt;slide id=&quot;{E0D07D98-01D4-4B21-82F1-87FF98835CC5}&quot; pptId=&quot;278&quot;/&gt;&#10;    &lt;slide id=&quot;{2975137D-43AF-4F4E-89C3-91D19ED77A64}&quot; pptId=&quot;279&quot;/&gt;&#10;    &lt;slide id=&quot;{758EC532-6003-4A57-9C03-DAAFA738C287}&quot; pptId=&quot;280&quot;/&gt;&#10;    &lt;slide id=&quot;{8477252B-2974-45EB-9DE4-A5810E1A0F78}&quot; pptId=&quot;281&quot;/&gt;&#10;    &lt;slide id=&quot;{1D6C9760-3962-4427-B410-70F6A2DB64FD}&quot; pptId=&quot;282&quot;/&gt;&#10;    &lt;slide id=&quot;{63DEFBDA-DA2A-49B4-9FAE-3C8068374763}&quot; pptId=&quot;283&quot;/&gt;&#10;    &lt;slide id=&quot;{B1341220-2271-498E-8429-242FF1E8DDC1}&quot; pptId=&quot;284&quot;/&gt;&#10;    &lt;slide id=&quot;{8F0C483A-F98F-4C93-AE60-339170679E46}&quot; pptId=&quot;285&quot;/&gt;&#10;    &lt;slide id=&quot;{ED9F687B-E2B7-4DDA-B03E-ECB84FE1563F}&quot; pptId=&quot;286&quot;/&gt;&#10;    &lt;slide id=&quot;{C88BEBAD-F78E-470B-982B-5E449B567E15}&quot; pptId=&quot;287&quot;/&gt;&#10;    &lt;slide id=&quot;{DF251EAA-7108-49DA-B1B5-D1E53DC5FCFF}&quot; pptId=&quot;288&quot;/&gt;&#10;    &lt;slide id=&quot;{8A4C2DF8-AEA6-4314-8D4B-94C31C25F676}&quot; pptId=&quot;289&quot;/&gt;&#10;  &lt;/slides&gt;&#10;&#10;  &lt;narration&gt;&#10;    &lt;audioTracks&gt;&#10;      &lt;audioTrack muted=&quot;false&quot; name=&quot;Lect 2 part 1&quot; resource=&quot;0e6e9b9a&quot; slideId=&quot;{D9DF4A98-400F-4E9A-BB91-2AC12F8523B4}&quot; startTime=&quot;0&quot; stepIndex=&quot;0&quot; volume=&quot;1&quot;&gt;&#10;        &lt;audio channels=&quot;1&quot; format=&quot;s16&quot; sampleRate=&quot;48000&quot;/&gt;&#10;      &lt;/audioTrack&gt;&#10;      &lt;audioTrack muted=&quot;false&quot; name=&quot;Lect 2 part 2&quot; resource=&quot;dbc3bdb3&quot; slideId=&quot;{5B9BDD74-0733-4727-B9C8-745D0A11CD91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06A11070-B3D4-4D69-BCDD-DDB7A495919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2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2_basic_data_structures"/>
  <p:tag name="ISPRING_UUID" val="{D0394F3E-2B56-4197-BB0B-0B102B2DAA1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9DF4A98-400F-4E9A-BB91-2AC12F8523B4}"/>
  <p:tag name="GENSWF_ADVANCE_TIME" val="2.864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80650D8-E2AA-4C3E-9202-E80B255DD967}"/>
  <p:tag name="GENSWF_ADVANCE_TIME" val="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CCB90B0-83BD-47A1-AE88-A25502E71BA2}"/>
  <p:tag name="GENSWF_ADVANCE_TIME" val="17.46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90A38CC-36CF-4A95-B362-03BBAC538C00}"/>
  <p:tag name="GENSWF_ADVANCE_TIME" val="3.22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21F1278-38D1-4166-B769-8411889C67D6}"/>
  <p:tag name="GENSWF_ADVANCE_TIME" val="36.328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6117522-D407-4F35-A655-DF319B3905BF}"/>
  <p:tag name="GENSWF_ADVANCE_TIME" val="5.712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52243EE-CC48-45EC-9FDA-3CB141A09051}"/>
  <p:tag name="GENSWF_ADVANCE_TIME" val="29.03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CEB009D-B046-4C90-93D5-4E2A2D04BF1E}"/>
  <p:tag name="GENSWF_ADVANCE_TIME" val="17.638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ABA321D-EC3F-45E4-9308-7A4119D72659}"/>
  <p:tag name="GENSWF_ADVANCE_TIME" val="19.418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F398342-D592-4977-B9E1-0899805340FD}"/>
  <p:tag name="GENSWF_ADVANCE_TIME" val="30.098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64FA7A4-19C7-4613-88D4-9B8F52E89692}"/>
  <p:tag name="GENSWF_ADVANCE_TIME" val="46.474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B7996C6-41BC-41A2-92F5-51258B4F1164}"/>
  <p:tag name="GENSWF_ADVANCE_TIME" val="7.136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68A2CCB-E61E-412C-923B-241A8D5EE413}"/>
  <p:tag name="GENSWF_ADVANCE_TIME" val="27.252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B9BDD74-0733-4727-B9C8-745D0A11CD91}"/>
  <p:tag name="GENSWF_ADVANCE_TIME" val="23.156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F925BA9-364F-4CD8-B956-7ADFBFA3DA3B}"/>
  <p:tag name="GENSWF_ADVANCE_TIME" val="20.486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329CDCE-294A-4DAF-8F29-2F19CC08F2A6}"/>
  <p:tag name="GENSWF_ADVANCE_TIME" val="20.664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136D226-48A7-4030-B2D1-79830382BB1E}"/>
  <p:tag name="GENSWF_ADVANCE_TIME" val="14.612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1BE875F-A075-4DC9-AC3A-CD67FB7E6480}"/>
  <p:tag name="GENSWF_ADVANCE_TIME" val="5.178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26DE5EE-8DDE-41AB-8E82-9395EBCEB54E}"/>
  <p:tag name="GENSWF_ADVANCE_TIME" val="22.622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C2F73EA-B4B1-49FC-8731-455ABAE74BCD}"/>
  <p:tag name="GENSWF_ADVANCE_TIME" val="3.754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2AA3961-B8F8-461F-A115-997DE34752F3}"/>
  <p:tag name="GENSWF_ADVANCE_TIME" val="11.23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186FE44-98C2-473E-BD30-76C54F02559D}"/>
  <p:tag name="GENSWF_ADVANCE_TIME" val="11.052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0D07D98-01D4-4B21-82F1-87FF98835CC5}"/>
  <p:tag name="GENSWF_ADVANCE_TIME" val="8.026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975137D-43AF-4F4E-89C3-91D19ED77A64}"/>
  <p:tag name="GENSWF_ADVANCE_TIME" val="3.754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58EC532-6003-4A57-9C03-DAAFA738C287}"/>
  <p:tag name="GENSWF_ADVANCE_TIME" val="12.12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477252B-2974-45EB-9DE4-A5810E1A0F78}"/>
  <p:tag name="GENSWF_ADVANCE_TIME" val="14.79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D6C9760-3962-4427-B410-70F6A2DB64FD}"/>
  <p:tag name="GENSWF_ADVANCE_TIME" val="33.302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3DEFBDA-DA2A-49B4-9FAE-3C8068374763}"/>
  <p:tag name="GENSWF_ADVANCE_TIME" val="0.372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1341220-2271-498E-8429-242FF1E8DDC1}"/>
  <p:tag name="GENSWF_ADVANCE_TIME" val="11.764"/>
  <p:tag name="ISPRING_CUSTOM_TIMING_US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F0C483A-F98F-4C93-AE60-339170679E46}"/>
  <p:tag name="GENSWF_ADVANCE_TIME" val="3.932"/>
  <p:tag name="ISPRING_CUSTOM_TIMING_US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D9F687B-E2B7-4DDA-B03E-ECB84FE1563F}"/>
  <p:tag name="GENSWF_ADVANCE_TIME" val="3.042"/>
  <p:tag name="ISPRING_CUSTOM_TIMING_USE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8BEBAD-F78E-470B-982B-5E449B567E15}"/>
  <p:tag name="GENSWF_ADVANCE_TIME" val="14.078"/>
  <p:tag name="ISPRING_CUSTOM_TIMING_USED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F251EAA-7108-49DA-B1B5-D1E53DC5FCFF}"/>
  <p:tag name="GENSWF_ADVANCE_TIME" val="5"/>
  <p:tag name="ISPRING_CUSTOM_TIMING_USED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A4C2DF8-AEA6-4314-8D4B-94C31C25F676}"/>
  <p:tag name="GENSWF_ADVANCE_TIME" val="3.411"/>
  <p:tag name="ISPRING_CUSTOM_TIMING_USED" val="1"/>
</p:tagLst>
</file>

<file path=ppt/theme/theme1.xml><?xml version="1.0" encoding="utf-8"?>
<a:theme xmlns:a="http://schemas.openxmlformats.org/drawingml/2006/main" name="lecture-template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1588</Words>
  <Application>Microsoft Office PowerPoint</Application>
  <PresentationFormat>On-screen Show (4:3)</PresentationFormat>
  <Paragraphs>381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Helvetica Neue</vt:lpstr>
      <vt:lpstr>Times New Roman</vt:lpstr>
      <vt:lpstr>Noto Sans Symbols</vt:lpstr>
      <vt:lpstr>Calibri</vt:lpstr>
      <vt:lpstr>Courier</vt:lpstr>
      <vt:lpstr>lecture-template</vt:lpstr>
      <vt:lpstr>Các cấu trúc dữ liệu cơ bản</vt:lpstr>
      <vt:lpstr>Outline</vt:lpstr>
      <vt:lpstr>Mảng</vt:lpstr>
      <vt:lpstr>Mảng</vt:lpstr>
      <vt:lpstr>Mảng 1 chiều</vt:lpstr>
      <vt:lpstr>Mảng 2 chiều</vt:lpstr>
      <vt:lpstr>Mảng trong C++</vt:lpstr>
      <vt:lpstr>Các bài tập trên mảng</vt:lpstr>
      <vt:lpstr>Các bài tập trên mảng</vt:lpstr>
      <vt:lpstr>Lớp Vector trong C++</vt:lpstr>
      <vt:lpstr>Danh sách liên kết đơn</vt:lpstr>
      <vt:lpstr>Danh sách liên kết đơn</vt:lpstr>
      <vt:lpstr>Các phép toán trên danh sách liên kết đơn</vt:lpstr>
      <vt:lpstr>Các phép toán trên danh sách liên kết đơn</vt:lpstr>
      <vt:lpstr>Các phép toán trên danh sách liên kết đơn</vt:lpstr>
      <vt:lpstr>Danh sách liên kết đôi</vt:lpstr>
      <vt:lpstr>Danh sách liên kết đôi</vt:lpstr>
      <vt:lpstr>Câu hỏi</vt:lpstr>
      <vt:lpstr>Tổng quan về con trỏ trong C++</vt:lpstr>
      <vt:lpstr>Con trỏ quản lý dãy phần tử</vt:lpstr>
      <vt:lpstr>Các bài tập trên danh sách liên kết</vt:lpstr>
      <vt:lpstr>Lớp danh sách liên kết trong C++</vt:lpstr>
      <vt:lpstr>Hàng đợi</vt:lpstr>
      <vt:lpstr>Các phép toán trên hàng đợi</vt:lpstr>
      <vt:lpstr>Các phép toán trên hàng đợi</vt:lpstr>
      <vt:lpstr>Các bài tập trên hàng đợi</vt:lpstr>
      <vt:lpstr>Hàng đợi ưu tiên</vt:lpstr>
      <vt:lpstr>Các ứng dụng của hàng đợi ưu tiên</vt:lpstr>
      <vt:lpstr>Ngăn xếp</vt:lpstr>
      <vt:lpstr>Các phép toán trên ngăn xếp</vt:lpstr>
      <vt:lpstr>Các phép toán trên ngăn xếp</vt:lpstr>
      <vt:lpstr>Các bài tập trên ngăn xếp</vt:lpstr>
      <vt:lpstr>Lớp hàng đợi trong C++</vt:lpstr>
      <vt:lpstr>Lớp ngăn xếp trong C++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Lecture2_basic_data_structures</dc:title>
  <dc:creator>Administrator</dc:creator>
  <cp:lastModifiedBy>DHQG</cp:lastModifiedBy>
  <cp:revision>36</cp:revision>
  <dcterms:modified xsi:type="dcterms:W3CDTF">2019-09-10T03:19:14Z</dcterms:modified>
</cp:coreProperties>
</file>