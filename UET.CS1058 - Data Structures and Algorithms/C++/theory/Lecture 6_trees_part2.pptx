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embeddedFontLst>
    <p:embeddedFont>
      <p:font typeface="Helvetica Neue" charset="0"/>
      <p:regular r:id="rId31"/>
      <p:bold r:id="rId32"/>
      <p:italic r:id="rId33"/>
      <p:boldItalic r:id="rId34"/>
    </p:embeddedFont>
    <p:embeddedFont>
      <p:font typeface="Calibri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505" name="Google Shape;505;p22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and Algorithms</a:t>
            </a:r>
            <a:b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Trees – Part 2</a:t>
            </a:r>
            <a:endParaRPr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4628728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Tree</a:t>
            </a:r>
            <a:endParaRPr/>
          </a:p>
        </p:txBody>
      </p:sp>
      <p:sp>
        <p:nvSpPr>
          <p:cNvPr id="100" name="Google Shape;100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8840"/>
            <a:ext cx="3352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computer science, a tree is an abstract model of a hierarchical structure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consists of nodes with a parent-child relation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Organization charts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systems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environments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657600" y="2204864"/>
            <a:ext cx="5240338" cy="3197225"/>
            <a:chOff x="2180" y="916"/>
            <a:chExt cx="3301" cy="2014"/>
          </a:xfrm>
        </p:grpSpPr>
        <p:sp>
          <p:nvSpPr>
            <p:cNvPr id="102" name="Google Shape;102;p14"/>
            <p:cNvSpPr/>
            <p:nvPr/>
          </p:nvSpPr>
          <p:spPr>
            <a:xfrm>
              <a:off x="3028" y="916"/>
              <a:ext cx="2148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 Computer Company</a:t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R&amp;D</a:t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Laptops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Desktops</a:t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</a:t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International</a:t>
              </a:r>
              <a:endParaRPr/>
            </a:p>
          </p:txBody>
        </p:sp>
        <p:cxnSp>
          <p:nvCxnSpPr>
            <p:cNvPr id="110" name="Google Shape;110;p14"/>
            <p:cNvCxnSpPr>
              <a:stCxn id="102" idx="2"/>
              <a:endCxn id="103" idx="0"/>
            </p:cNvCxnSpPr>
            <p:nvPr/>
          </p:nvCxnSpPr>
          <p:spPr>
            <a:xfrm flipH="1">
              <a:off x="29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4"/>
            <p:cNvCxnSpPr>
              <a:stCxn id="102" idx="2"/>
              <a:endCxn id="105" idx="0"/>
            </p:cNvCxnSpPr>
            <p:nvPr/>
          </p:nvCxnSpPr>
          <p:spPr>
            <a:xfrm>
              <a:off x="4102" y="115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4"/>
            <p:cNvCxnSpPr>
              <a:stCxn id="102" idx="2"/>
              <a:endCxn id="104" idx="0"/>
            </p:cNvCxnSpPr>
            <p:nvPr/>
          </p:nvCxnSpPr>
          <p:spPr>
            <a:xfrm>
              <a:off x="41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4"/>
            <p:cNvCxnSpPr>
              <a:stCxn id="105" idx="2"/>
              <a:endCxn id="107" idx="0"/>
            </p:cNvCxnSpPr>
            <p:nvPr/>
          </p:nvCxnSpPr>
          <p:spPr>
            <a:xfrm>
              <a:off x="44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4"/>
            <p:cNvCxnSpPr>
              <a:stCxn id="105" idx="2"/>
              <a:endCxn id="106" idx="0"/>
            </p:cNvCxnSpPr>
            <p:nvPr/>
          </p:nvCxnSpPr>
          <p:spPr>
            <a:xfrm flipH="1">
              <a:off x="41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4"/>
            <p:cNvCxnSpPr>
              <a:stCxn id="103" idx="2"/>
              <a:endCxn id="109" idx="0"/>
            </p:cNvCxnSpPr>
            <p:nvPr/>
          </p:nvCxnSpPr>
          <p:spPr>
            <a:xfrm>
              <a:off x="28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4"/>
            <p:cNvCxnSpPr>
              <a:stCxn id="103" idx="2"/>
              <a:endCxn id="108" idx="0"/>
            </p:cNvCxnSpPr>
            <p:nvPr/>
          </p:nvCxnSpPr>
          <p:spPr>
            <a:xfrm flipH="1">
              <a:off x="25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Asia</a:t>
              </a:r>
              <a:endParaRPr/>
            </a:p>
          </p:txBody>
        </p:sp>
        <p:cxnSp>
          <p:nvCxnSpPr>
            <p:cNvPr id="119" name="Google Shape;119;p14"/>
            <p:cNvCxnSpPr>
              <a:stCxn id="109" idx="2"/>
              <a:endCxn id="118" idx="0"/>
            </p:cNvCxnSpPr>
            <p:nvPr/>
          </p:nvCxnSpPr>
          <p:spPr>
            <a:xfrm>
              <a:off x="3218" y="2351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4"/>
            <p:cNvCxnSpPr>
              <a:stCxn id="109" idx="2"/>
              <a:endCxn id="117" idx="0"/>
            </p:cNvCxnSpPr>
            <p:nvPr/>
          </p:nvCxnSpPr>
          <p:spPr>
            <a:xfrm flipH="1">
              <a:off x="23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</a:t>
              </a:r>
              <a:endParaRPr/>
            </a:p>
          </p:txBody>
        </p:sp>
        <p:cxnSp>
          <p:nvCxnSpPr>
            <p:cNvPr id="122" name="Google Shape;122;p14"/>
            <p:cNvCxnSpPr>
              <a:stCxn id="109" idx="2"/>
              <a:endCxn id="121" idx="0"/>
            </p:cNvCxnSpPr>
            <p:nvPr/>
          </p:nvCxnSpPr>
          <p:spPr>
            <a:xfrm>
              <a:off x="32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Children Tree Presentation</a:t>
            </a:r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31" name="Google Shape;131;p15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32" name="Google Shape;132;p15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33" name="Google Shape;133;p15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34" name="Google Shape;134;p15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35" name="Google Shape;135;p15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6" name="Google Shape;136;p15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7" name="Google Shape;137;p15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8" name="Google Shape;138;p15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39" name="Google Shape;139;p15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40" name="Google Shape;140;p15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41" name="Google Shape;141;p15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" name="Google Shape;142;p15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43" name="Google Shape;143;p15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44" name="Google Shape;144;p15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5" name="Google Shape;145;p15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46" name="Google Shape;146;p15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7" name="Google Shape;147;p15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148;p15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15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0" name="Google Shape;150;p15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root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52" name="Google Shape;152;p15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7" name="Google Shape;157;p15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8" name="Google Shape;158;p15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9" name="Google Shape;159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endParaRPr/>
          </a:p>
        </p:txBody>
      </p:sp>
      <p:sp>
        <p:nvSpPr>
          <p:cNvPr id="165" name="Google Shape;165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queue stores a collection of entries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entry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pair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(key, value)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methods of the Priority Queue ADT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inserts an entry with key k and value 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removes and returns the entry with smallest key</a:t>
            </a:r>
            <a:endParaRPr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2057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endParaRPr/>
          </a:p>
        </p:txBody>
      </p:sp>
      <p:sp>
        <p:nvSpPr>
          <p:cNvPr id="173" name="Google Shape;173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79625"/>
            <a:ext cx="7924800" cy="300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methods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returns, but does not remove, an entry with smallest key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(), </a:t>
            </a:r>
            <a:r>
              <a:rPr lang="en-US" sz="1800" b="0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isEmpty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endParaRPr dirty="0"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Standby flyers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Auctions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market</a:t>
            </a:r>
            <a:endParaRPr dirty="0"/>
          </a:p>
        </p:txBody>
      </p:sp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116013" y="1930971"/>
            <a:ext cx="6911975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 tree is a binary tree where the value of any internal node is greater or equal to theirs children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Application: Build the priority queue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275336" y="350100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3" name="Google Shape;183;p18"/>
          <p:cNvCxnSpPr>
            <a:stCxn id="182" idx="3"/>
            <a:endCxn id="184" idx="7"/>
          </p:cNvCxnSpPr>
          <p:nvPr/>
        </p:nvCxnSpPr>
        <p:spPr>
          <a:xfrm flipH="1">
            <a:off x="3307003" y="381450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8"/>
          <p:cNvCxnSpPr>
            <a:stCxn id="182" idx="5"/>
            <a:endCxn id="186" idx="1"/>
          </p:cNvCxnSpPr>
          <p:nvPr/>
        </p:nvCxnSpPr>
        <p:spPr>
          <a:xfrm>
            <a:off x="4669143" y="381450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p18"/>
          <p:cNvSpPr/>
          <p:nvPr/>
        </p:nvSpPr>
        <p:spPr>
          <a:xfrm>
            <a:off x="2915246" y="426256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544284" y="510430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" name="Google Shape;188;p18"/>
          <p:cNvCxnSpPr>
            <a:stCxn id="184" idx="3"/>
            <a:endCxn id="189" idx="0"/>
          </p:cNvCxnSpPr>
          <p:nvPr/>
        </p:nvCxnSpPr>
        <p:spPr>
          <a:xfrm flipH="1">
            <a:off x="2475437" y="4577812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8"/>
          <p:cNvCxnSpPr>
            <a:stCxn id="184" idx="5"/>
            <a:endCxn id="187" idx="0"/>
          </p:cNvCxnSpPr>
          <p:nvPr/>
        </p:nvCxnSpPr>
        <p:spPr>
          <a:xfrm>
            <a:off x="3306865" y="4577812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" name="Google Shape;189;p18"/>
          <p:cNvSpPr/>
          <p:nvPr/>
        </p:nvSpPr>
        <p:spPr>
          <a:xfrm>
            <a:off x="2245883" y="51043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520914" y="427012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400196" y="51044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2" name="Google Shape;192;p18"/>
          <p:cNvCxnSpPr>
            <a:stCxn id="186" idx="3"/>
            <a:endCxn id="193" idx="0"/>
          </p:cNvCxnSpPr>
          <p:nvPr/>
        </p:nvCxnSpPr>
        <p:spPr>
          <a:xfrm flipH="1">
            <a:off x="5145006" y="4585373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8"/>
          <p:cNvCxnSpPr>
            <a:stCxn id="186" idx="5"/>
            <a:endCxn id="191" idx="1"/>
          </p:cNvCxnSpPr>
          <p:nvPr/>
        </p:nvCxnSpPr>
        <p:spPr>
          <a:xfrm>
            <a:off x="5912535" y="4585373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8"/>
          <p:cNvSpPr/>
          <p:nvPr/>
        </p:nvSpPr>
        <p:spPr>
          <a:xfrm>
            <a:off x="4915610" y="510449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2849083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6" name="Google Shape;196;p18"/>
          <p:cNvCxnSpPr>
            <a:stCxn id="189" idx="3"/>
            <a:endCxn id="197" idx="0"/>
          </p:cNvCxnSpPr>
          <p:nvPr/>
        </p:nvCxnSpPr>
        <p:spPr>
          <a:xfrm flipH="1">
            <a:off x="1779974" y="541955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18"/>
          <p:cNvCxnSpPr>
            <a:stCxn id="189" idx="5"/>
            <a:endCxn id="195" idx="0"/>
          </p:cNvCxnSpPr>
          <p:nvPr/>
        </p:nvCxnSpPr>
        <p:spPr>
          <a:xfrm>
            <a:off x="2637504" y="541955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8"/>
          <p:cNvSpPr/>
          <p:nvPr/>
        </p:nvSpPr>
        <p:spPr>
          <a:xfrm>
            <a:off x="1550682" y="598611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594197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0" name="Google Shape;200;p18"/>
          <p:cNvCxnSpPr>
            <a:stCxn id="187" idx="4"/>
            <a:endCxn id="199" idx="0"/>
          </p:cNvCxnSpPr>
          <p:nvPr/>
        </p:nvCxnSpPr>
        <p:spPr>
          <a:xfrm>
            <a:off x="3774971" y="547364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50035" y="2060848"/>
            <a:ext cx="69119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operation: get the node with maximum value (the root)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9" name="Google Shape;209;p19"/>
          <p:cNvCxnSpPr>
            <a:stCxn id="208" idx="3"/>
            <a:endCxn id="21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19"/>
          <p:cNvCxnSpPr>
            <a:stCxn id="208" idx="5"/>
            <a:endCxn id="21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19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4" name="Google Shape;214;p19"/>
          <p:cNvCxnSpPr>
            <a:stCxn id="210" idx="3"/>
            <a:endCxn id="21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9"/>
          <p:cNvCxnSpPr>
            <a:stCxn id="210" idx="5"/>
            <a:endCxn id="21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" name="Google Shape;215;p19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8" name="Google Shape;218;p19"/>
          <p:cNvCxnSpPr>
            <a:stCxn id="212" idx="3"/>
            <a:endCxn id="21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9"/>
          <p:cNvCxnSpPr>
            <a:stCxn id="212" idx="5"/>
            <a:endCxn id="21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19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2" name="Google Shape;222;p19"/>
          <p:cNvCxnSpPr>
            <a:stCxn id="215" idx="3"/>
            <a:endCxn id="22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9"/>
          <p:cNvCxnSpPr>
            <a:stCxn id="215" idx="5"/>
            <a:endCxn id="22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" name="Google Shape;223;p19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6" name="Google Shape;226;p19"/>
          <p:cNvCxnSpPr>
            <a:stCxn id="213" idx="4"/>
            <a:endCxn id="22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4" name="Google Shape;234;p20"/>
          <p:cNvCxnSpPr>
            <a:stCxn id="233" idx="3"/>
            <a:endCxn id="235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p20"/>
          <p:cNvCxnSpPr>
            <a:stCxn id="233" idx="5"/>
            <a:endCxn id="237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20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9" name="Google Shape;239;p20"/>
          <p:cNvCxnSpPr>
            <a:stCxn id="235" idx="3"/>
            <a:endCxn id="240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20"/>
          <p:cNvCxnSpPr>
            <a:stCxn id="235" idx="5"/>
            <a:endCxn id="238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0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3" name="Google Shape;243;p20"/>
          <p:cNvCxnSpPr>
            <a:stCxn id="237" idx="3"/>
            <a:endCxn id="244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0"/>
          <p:cNvCxnSpPr>
            <a:stCxn id="237" idx="5"/>
            <a:endCxn id="242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" name="Google Shape;244;p20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7" name="Google Shape;247;p20"/>
          <p:cNvCxnSpPr>
            <a:stCxn id="240" idx="3"/>
            <a:endCxn id="248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20"/>
          <p:cNvCxnSpPr>
            <a:stCxn id="240" idx="5"/>
            <a:endCxn id="246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p20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1" name="Google Shape;251;p20"/>
          <p:cNvCxnSpPr>
            <a:stCxn id="238" idx="4"/>
            <a:endCxn id="250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rgbClr val="1313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20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0" name="Google Shape;260;p21"/>
          <p:cNvCxnSpPr>
            <a:stCxn id="259" idx="3"/>
            <a:endCxn id="261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1"/>
          <p:cNvCxnSpPr>
            <a:stCxn id="259" idx="5"/>
            <a:endCxn id="263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21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cxnSp>
        <p:nvCxnSpPr>
          <p:cNvPr id="265" name="Google Shape;265;p21"/>
          <p:cNvCxnSpPr>
            <a:stCxn id="261" idx="3"/>
            <a:endCxn id="266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21"/>
          <p:cNvCxnSpPr>
            <a:stCxn id="261" idx="5"/>
            <a:endCxn id="264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6" name="Google Shape;266;p21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9" name="Google Shape;269;p21"/>
          <p:cNvCxnSpPr>
            <a:stCxn id="263" idx="3"/>
            <a:endCxn id="270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1"/>
          <p:cNvCxnSpPr>
            <a:stCxn id="263" idx="5"/>
            <a:endCxn id="268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21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3" name="Google Shape;273;p21"/>
          <p:cNvCxnSpPr>
            <a:stCxn id="266" idx="3"/>
            <a:endCxn id="274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Google Shape;275;p21"/>
          <p:cNvCxnSpPr>
            <a:stCxn id="266" idx="5"/>
            <a:endCxn id="272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1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277" name="Google Shape;277;p21"/>
          <p:cNvCxnSpPr>
            <a:stCxn id="264" idx="4"/>
            <a:endCxn id="276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21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6" name="Google Shape;286;p22"/>
          <p:cNvCxnSpPr>
            <a:stCxn id="285" idx="3"/>
            <a:endCxn id="28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2"/>
          <p:cNvCxnSpPr>
            <a:stCxn id="285" idx="5"/>
            <a:endCxn id="28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2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291" name="Google Shape;291;p22"/>
          <p:cNvCxnSpPr>
            <a:stCxn id="287" idx="3"/>
            <a:endCxn id="29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p22"/>
          <p:cNvCxnSpPr>
            <a:stCxn id="287" idx="5"/>
            <a:endCxn id="29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22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5" name="Google Shape;295;p22"/>
          <p:cNvCxnSpPr>
            <a:stCxn id="289" idx="3"/>
            <a:endCxn id="29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Google Shape;297;p22"/>
          <p:cNvCxnSpPr>
            <a:stCxn id="289" idx="5"/>
            <a:endCxn id="29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22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9" name="Google Shape;299;p22"/>
          <p:cNvCxnSpPr>
            <a:stCxn id="292" idx="3"/>
            <a:endCxn id="30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22"/>
          <p:cNvCxnSpPr>
            <a:stCxn id="292" idx="5"/>
            <a:endCxn id="29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0" name="Google Shape;300;p22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03" name="Google Shape;303;p22"/>
          <p:cNvCxnSpPr>
            <a:stCxn id="290" idx="4"/>
            <a:endCxn id="30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p22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539552" y="2133600"/>
            <a:ext cx="7488436" cy="28315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1 − Create a new node at the end of heap.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2 − Start the new node, compare the value at this node to its parent. If it is larger than its parent, swap them,  move up and continue Step 2.</a:t>
            </a:r>
            <a:endParaRPr/>
          </a:p>
        </p:txBody>
      </p:sp>
      <p:sp>
        <p:nvSpPr>
          <p:cNvPr id="311" name="Google Shape;311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a max heap tree including: 52, 69, 38, 79, 66, 64, 72, 3, 16, 89, 15, 37, 0, 28, 73, 95.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the following numbers into the above max heap tree: 5, 3, 9, 7, 2, 4, 6, 1, 8.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6" name="Google Shape;326;p25"/>
          <p:cNvCxnSpPr>
            <a:stCxn id="325" idx="3"/>
            <a:endCxn id="32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5"/>
          <p:cNvCxnSpPr>
            <a:stCxn id="325" idx="5"/>
            <a:endCxn id="32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7" name="Google Shape;327;p25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31" name="Google Shape;331;p25"/>
          <p:cNvCxnSpPr>
            <a:stCxn id="327" idx="3"/>
            <a:endCxn id="33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oogle Shape;333;p25"/>
          <p:cNvCxnSpPr>
            <a:stCxn id="327" idx="5"/>
            <a:endCxn id="33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5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5" name="Google Shape;335;p25"/>
          <p:cNvCxnSpPr>
            <a:stCxn id="329" idx="3"/>
            <a:endCxn id="33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25"/>
          <p:cNvCxnSpPr>
            <a:stCxn id="329" idx="5"/>
            <a:endCxn id="33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25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9" name="Google Shape;339;p25"/>
          <p:cNvCxnSpPr>
            <a:stCxn id="332" idx="3"/>
            <a:endCxn id="34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p25"/>
          <p:cNvCxnSpPr>
            <a:stCxn id="332" idx="5"/>
            <a:endCxn id="33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5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43" name="Google Shape;343;p25"/>
          <p:cNvCxnSpPr>
            <a:stCxn id="330" idx="4"/>
            <a:endCxn id="34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" name="Google Shape;344;p25"/>
          <p:cNvSpPr txBox="1"/>
          <p:nvPr/>
        </p:nvSpPr>
        <p:spPr>
          <a:xfrm>
            <a:off x="1394825" y="2517715"/>
            <a:ext cx="23599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value 95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50" name="Google Shape;350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52" name="Google Shape;352;p26"/>
          <p:cNvCxnSpPr>
            <a:stCxn id="351" idx="3"/>
            <a:endCxn id="353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Google Shape;354;p26"/>
          <p:cNvCxnSpPr>
            <a:stCxn id="351" idx="5"/>
            <a:endCxn id="355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26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57" name="Google Shape;357;p26"/>
          <p:cNvCxnSpPr>
            <a:stCxn id="353" idx="3"/>
            <a:endCxn id="358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6"/>
          <p:cNvCxnSpPr>
            <a:stCxn id="353" idx="5"/>
            <a:endCxn id="356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26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6"/>
          <p:cNvCxnSpPr>
            <a:stCxn id="355" idx="3"/>
            <a:endCxn id="362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6"/>
          <p:cNvCxnSpPr>
            <a:stCxn id="355" idx="5"/>
            <a:endCxn id="360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6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5" name="Google Shape;365;p26"/>
          <p:cNvCxnSpPr>
            <a:stCxn id="358" idx="3"/>
            <a:endCxn id="366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6"/>
          <p:cNvCxnSpPr>
            <a:stCxn id="358" idx="5"/>
            <a:endCxn id="364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6" name="Google Shape;366;p26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deletion</a:t>
            </a:r>
            <a:endParaRPr/>
          </a:p>
        </p:txBody>
      </p:sp>
      <p:sp>
        <p:nvSpPr>
          <p:cNvPr id="373" name="Google Shape;373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75" name="Google Shape;375;p27"/>
          <p:cNvCxnSpPr>
            <a:stCxn id="374" idx="3"/>
            <a:endCxn id="376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27"/>
          <p:cNvCxnSpPr>
            <a:stCxn id="374" idx="5"/>
            <a:endCxn id="378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p27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80" name="Google Shape;380;p27"/>
          <p:cNvCxnSpPr>
            <a:stCxn id="376" idx="3"/>
            <a:endCxn id="381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7"/>
          <p:cNvCxnSpPr>
            <a:stCxn id="376" idx="5"/>
            <a:endCxn id="379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7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27"/>
          <p:cNvCxnSpPr>
            <a:stCxn id="378" idx="3"/>
            <a:endCxn id="385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" name="Google Shape;386;p27"/>
          <p:cNvCxnSpPr>
            <a:stCxn id="378" idx="5"/>
            <a:endCxn id="383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27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8" name="Google Shape;388;p27"/>
          <p:cNvCxnSpPr>
            <a:stCxn id="381" idx="3"/>
            <a:endCxn id="389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p27"/>
          <p:cNvCxnSpPr>
            <a:stCxn id="381" idx="5"/>
            <a:endCxn id="387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27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396" name="Google Shape;396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98" name="Google Shape;398;p28"/>
          <p:cNvCxnSpPr>
            <a:stCxn id="397" idx="3"/>
            <a:endCxn id="399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28"/>
          <p:cNvCxnSpPr>
            <a:stCxn id="397" idx="5"/>
            <a:endCxn id="401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28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403" name="Google Shape;403;p28"/>
          <p:cNvCxnSpPr>
            <a:stCxn id="399" idx="3"/>
            <a:endCxn id="404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28"/>
          <p:cNvCxnSpPr>
            <a:stCxn id="399" idx="5"/>
            <a:endCxn id="402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p28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406" name="Google Shape;406;p28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7" name="Google Shape;407;p28"/>
          <p:cNvCxnSpPr>
            <a:stCxn id="401" idx="3"/>
            <a:endCxn id="408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9" name="Google Shape;409;p28"/>
          <p:cNvCxnSpPr>
            <a:stCxn id="401" idx="5"/>
            <a:endCxn id="406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8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1" name="Google Shape;411;p28"/>
          <p:cNvCxnSpPr>
            <a:stCxn id="404" idx="3"/>
            <a:endCxn id="412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3" name="Google Shape;413;p28"/>
          <p:cNvCxnSpPr>
            <a:stCxn id="404" idx="5"/>
            <a:endCxn id="410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2" name="Google Shape;412;p28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max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683568" y="2060848"/>
            <a:ext cx="7848872" cy="338554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remove_max 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1 − Remove the root node.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2 − Move the last element of the heap to the root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3 − Start from the root, compare the value at the node to their children. If it is smaller than the largest child, swap them, move down and continue Step 2.</a:t>
            </a:r>
            <a:endParaRPr/>
          </a:p>
        </p:txBody>
      </p:sp>
      <p:sp>
        <p:nvSpPr>
          <p:cNvPr id="420" name="Google Shape;42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3</a:t>
            </a:r>
            <a:endParaRPr/>
          </a:p>
        </p:txBody>
      </p:sp>
      <p:sp>
        <p:nvSpPr>
          <p:cNvPr id="426" name="Google Shape;42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683568" y="1844824"/>
            <a:ext cx="75608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step by step of removing max from the following max heap tree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9" name="Google Shape;429;p30"/>
          <p:cNvCxnSpPr>
            <a:stCxn id="428" idx="3"/>
            <a:endCxn id="43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" name="Google Shape;431;p30"/>
          <p:cNvCxnSpPr>
            <a:stCxn id="428" idx="5"/>
            <a:endCxn id="43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Google Shape;430;p30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4" name="Google Shape;434;p30"/>
          <p:cNvCxnSpPr>
            <a:stCxn id="430" idx="3"/>
            <a:endCxn id="43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30"/>
          <p:cNvCxnSpPr>
            <a:stCxn id="430" idx="5"/>
            <a:endCxn id="43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5" name="Google Shape;435;p30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8" name="Google Shape;438;p30"/>
          <p:cNvCxnSpPr>
            <a:stCxn id="432" idx="3"/>
            <a:endCxn id="43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30"/>
          <p:cNvCxnSpPr>
            <a:stCxn id="432" idx="5"/>
            <a:endCxn id="43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p30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2" name="Google Shape;442;p30"/>
          <p:cNvCxnSpPr>
            <a:stCxn id="435" idx="3"/>
            <a:endCxn id="44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30"/>
          <p:cNvCxnSpPr>
            <a:stCxn id="435" idx="5"/>
            <a:endCxn id="44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3" name="Google Shape;443;p30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6" name="Google Shape;446;p30"/>
          <p:cNvCxnSpPr>
            <a:stCxn id="433" idx="4"/>
            <a:endCxn id="44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performance</a:t>
            </a:r>
            <a:endParaRPr/>
          </a:p>
        </p:txBody>
      </p:sp>
      <p:sp>
        <p:nvSpPr>
          <p:cNvPr id="452" name="Google Shape;452;p31"/>
          <p:cNvSpPr txBox="1"/>
          <p:nvPr/>
        </p:nvSpPr>
        <p:spPr>
          <a:xfrm>
            <a:off x="612701" y="1773238"/>
            <a:ext cx="4751387" cy="594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operation:  O(1)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Insertion operation:  The height of the tree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Deletion operation: The height of the tree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height of the tree: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Worse case: O(n)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 O(log n) when the heap tree is balanced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the heap tree:  If insertions and deletions make the heap tree unbalanced, perform balancing operations to make balanced again.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31"/>
          <p:cNvGrpSpPr/>
          <p:nvPr/>
        </p:nvGrpSpPr>
        <p:grpSpPr>
          <a:xfrm>
            <a:off x="5724525" y="2060575"/>
            <a:ext cx="2570163" cy="1812925"/>
            <a:chOff x="3120" y="960"/>
            <a:chExt cx="1893" cy="1335"/>
          </a:xfrm>
        </p:grpSpPr>
        <p:sp>
          <p:nvSpPr>
            <p:cNvPr id="454" name="Google Shape;454;p31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5" name="Google Shape;455;p31"/>
            <p:cNvCxnSpPr>
              <a:stCxn id="456" idx="3"/>
              <a:endCxn id="457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31"/>
            <p:cNvCxnSpPr>
              <a:stCxn id="454" idx="3"/>
              <a:endCxn id="456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1"/>
            <p:cNvCxnSpPr>
              <a:stCxn id="460" idx="7"/>
              <a:endCxn id="461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2" name="Google Shape;462;p31"/>
            <p:cNvCxnSpPr>
              <a:stCxn id="461" idx="7"/>
              <a:endCxn id="457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0" name="Google Shape;460;p31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31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31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31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3" name="Google Shape;463;p31"/>
          <p:cNvSpPr/>
          <p:nvPr/>
        </p:nvSpPr>
        <p:spPr>
          <a:xfrm>
            <a:off x="6924675" y="4575175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4" name="Google Shape;464;p31"/>
          <p:cNvCxnSpPr>
            <a:stCxn id="463" idx="3"/>
            <a:endCxn id="465" idx="7"/>
          </p:cNvCxnSpPr>
          <p:nvPr/>
        </p:nvCxnSpPr>
        <p:spPr>
          <a:xfrm flipH="1">
            <a:off x="6108222" y="4817723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1"/>
          <p:cNvCxnSpPr>
            <a:stCxn id="467" idx="1"/>
            <a:endCxn id="463" idx="5"/>
          </p:cNvCxnSpPr>
          <p:nvPr/>
        </p:nvCxnSpPr>
        <p:spPr>
          <a:xfrm rot="10800000">
            <a:off x="7168440" y="4817722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31"/>
          <p:cNvSpPr/>
          <p:nvPr/>
        </p:nvSpPr>
        <p:spPr>
          <a:xfrm>
            <a:off x="5865813" y="50307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388100" y="5486400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31"/>
          <p:cNvCxnSpPr>
            <a:stCxn id="470" idx="7"/>
            <a:endCxn id="465" idx="3"/>
          </p:cNvCxnSpPr>
          <p:nvPr/>
        </p:nvCxnSpPr>
        <p:spPr>
          <a:xfrm rot="10800000" flipH="1">
            <a:off x="5586073" y="5274747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1"/>
          <p:cNvCxnSpPr>
            <a:stCxn id="468" idx="1"/>
            <a:endCxn id="465" idx="5"/>
          </p:cNvCxnSpPr>
          <p:nvPr/>
        </p:nvCxnSpPr>
        <p:spPr>
          <a:xfrm rot="10800000">
            <a:off x="6108347" y="5274747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31"/>
          <p:cNvSpPr/>
          <p:nvPr/>
        </p:nvSpPr>
        <p:spPr>
          <a:xfrm>
            <a:off x="5343525" y="54864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7985125" y="503237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8507413" y="5487988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3" name="Google Shape;473;p31"/>
          <p:cNvCxnSpPr>
            <a:stCxn id="474" idx="7"/>
            <a:endCxn id="467" idx="3"/>
          </p:cNvCxnSpPr>
          <p:nvPr/>
        </p:nvCxnSpPr>
        <p:spPr>
          <a:xfrm rot="10800000" flipH="1">
            <a:off x="7705386" y="5276335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1"/>
          <p:cNvCxnSpPr>
            <a:stCxn id="472" idx="1"/>
            <a:endCxn id="467" idx="5"/>
          </p:cNvCxnSpPr>
          <p:nvPr/>
        </p:nvCxnSpPr>
        <p:spPr>
          <a:xfrm rot="10800000">
            <a:off x="8227660" y="5276335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1"/>
          <p:cNvSpPr/>
          <p:nvPr/>
        </p:nvSpPr>
        <p:spPr>
          <a:xfrm>
            <a:off x="7462838" y="54879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heap tree library</a:t>
            </a:r>
            <a:endParaRPr/>
          </a:p>
        </p:txBody>
      </p:sp>
      <p:sp>
        <p:nvSpPr>
          <p:cNvPr id="482" name="Google Shape;482;p32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make_heap, pop_heap, push_heap, and sort_heap from the algorithm library of C++ programming language to implement the following tasks: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a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the max from the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node to the heap tree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 elements in the heap tree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7689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Trees</a:t>
            </a:r>
            <a:endParaRPr/>
          </a:p>
        </p:txBody>
      </p:sp>
      <p:sp>
        <p:nvSpPr>
          <p:cNvPr id="489" name="Google Shape;489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650" y="1881336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binary search tree is a binary tree such that the value at the parent node is larger or equal to values of the left child, and smaller or equal to values of the right child.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inorder traversal of a binary search trees visits the keys in increasing order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33"/>
          <p:cNvGrpSpPr/>
          <p:nvPr/>
        </p:nvGrpSpPr>
        <p:grpSpPr>
          <a:xfrm>
            <a:off x="4543869" y="2205037"/>
            <a:ext cx="3797404" cy="2338827"/>
            <a:chOff x="3110" y="2544"/>
            <a:chExt cx="1958" cy="836"/>
          </a:xfrm>
        </p:grpSpPr>
        <p:sp>
          <p:nvSpPr>
            <p:cNvPr id="492" name="Google Shape;492;p33"/>
            <p:cNvSpPr/>
            <p:nvPr/>
          </p:nvSpPr>
          <p:spPr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4867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3480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3850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496" name="Google Shape;496;p33"/>
            <p:cNvCxnSpPr>
              <a:stCxn id="492" idx="3"/>
              <a:endCxn id="494" idx="7"/>
            </p:cNvCxnSpPr>
            <p:nvPr/>
          </p:nvCxnSpPr>
          <p:spPr>
            <a:xfrm flipH="1">
              <a:off x="3652" y="2716"/>
              <a:ext cx="458" cy="1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33"/>
            <p:cNvCxnSpPr>
              <a:stCxn id="493" idx="1"/>
              <a:endCxn id="492" idx="5"/>
            </p:cNvCxnSpPr>
            <p:nvPr/>
          </p:nvCxnSpPr>
          <p:spPr>
            <a:xfrm flipH="1" flipV="1">
              <a:off x="4252" y="2716"/>
              <a:ext cx="644" cy="1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33"/>
            <p:cNvCxnSpPr>
              <a:stCxn id="499" idx="7"/>
              <a:endCxn id="493" idx="4"/>
            </p:cNvCxnSpPr>
            <p:nvPr/>
          </p:nvCxnSpPr>
          <p:spPr>
            <a:xfrm flipV="1">
              <a:off x="4830" y="3068"/>
              <a:ext cx="138" cy="1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33"/>
            <p:cNvCxnSpPr>
              <a:stCxn id="501" idx="7"/>
              <a:endCxn id="494" idx="4"/>
            </p:cNvCxnSpPr>
            <p:nvPr/>
          </p:nvCxnSpPr>
          <p:spPr>
            <a:xfrm flipV="1">
              <a:off x="3282" y="3068"/>
              <a:ext cx="299" cy="1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33"/>
            <p:cNvCxnSpPr>
              <a:stCxn id="495" idx="1"/>
              <a:endCxn id="494" idx="4"/>
            </p:cNvCxnSpPr>
            <p:nvPr/>
          </p:nvCxnSpPr>
          <p:spPr>
            <a:xfrm flipH="1" flipV="1">
              <a:off x="3581" y="3068"/>
              <a:ext cx="299" cy="14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1" name="Google Shape;501;p33"/>
            <p:cNvSpPr/>
            <p:nvPr/>
          </p:nvSpPr>
          <p:spPr>
            <a:xfrm>
              <a:off x="3110" y="317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4658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</a:t>
            </a:r>
            <a:endParaRPr/>
          </a:p>
        </p:txBody>
      </p:sp>
      <p:sp>
        <p:nvSpPr>
          <p:cNvPr id="511" name="Google Shape;511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16113"/>
            <a:ext cx="3276600" cy="417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search for a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we trace a downward path starting at the root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next node visited depends on the outcome of the comparison of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the key of the current node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reach a leaf, the key is not found and we return null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TreeSearch(4,root)</a:t>
            </a:r>
            <a:endParaRPr/>
          </a:p>
        </p:txBody>
      </p:sp>
      <p:sp>
        <p:nvSpPr>
          <p:cNvPr id="512" name="Google Shape;512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3962400" y="1908175"/>
            <a:ext cx="4838700" cy="27749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T.isExternal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 smtClean="0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&lt;</a:t>
            </a:r>
            <a:r>
              <a:rPr lang="en-US" sz="1800" b="0" i="0" u="none" strike="noStrike" cap="none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T.left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 sz="18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en-US" sz="1800" b="1" i="1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 smtClean="0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&gt;</a:t>
            </a:r>
            <a:r>
              <a:rPr lang="en-US" sz="1800" b="0" i="0" u="none" strike="noStrike" cap="none" dirty="0" smtClean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}</a:t>
            </a:r>
            <a:endParaRPr dirty="0"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T.right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dirty="0"/>
          </a:p>
        </p:txBody>
      </p:sp>
      <p:sp>
        <p:nvSpPr>
          <p:cNvPr id="514" name="Google Shape;514;p34"/>
          <p:cNvSpPr/>
          <p:nvPr/>
        </p:nvSpPr>
        <p:spPr>
          <a:xfrm>
            <a:off x="6040438" y="4881563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7451725" y="53927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5087938" y="5392738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5675313" y="58880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18" name="Google Shape;518;p34"/>
          <p:cNvCxnSpPr>
            <a:stCxn id="514" idx="3"/>
            <a:endCxn id="516" idx="7"/>
          </p:cNvCxnSpPr>
          <p:nvPr/>
        </p:nvCxnSpPr>
        <p:spPr>
          <a:xfrm flipH="1">
            <a:off x="5360200" y="5153921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34"/>
          <p:cNvCxnSpPr>
            <a:stCxn id="515" idx="1"/>
            <a:endCxn id="514" idx="5"/>
          </p:cNvCxnSpPr>
          <p:nvPr/>
        </p:nvCxnSpPr>
        <p:spPr>
          <a:xfrm rot="10800000">
            <a:off x="6314054" y="5153800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520;p34"/>
          <p:cNvCxnSpPr>
            <a:stCxn id="521" idx="7"/>
            <a:endCxn id="515" idx="3"/>
          </p:cNvCxnSpPr>
          <p:nvPr/>
        </p:nvCxnSpPr>
        <p:spPr>
          <a:xfrm rot="10800000" flipH="1">
            <a:off x="7268238" y="5666525"/>
            <a:ext cx="2301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34"/>
          <p:cNvCxnSpPr>
            <a:stCxn id="523" idx="7"/>
            <a:endCxn id="516" idx="3"/>
          </p:cNvCxnSpPr>
          <p:nvPr/>
        </p:nvCxnSpPr>
        <p:spPr>
          <a:xfrm rot="10800000" flipH="1">
            <a:off x="4772921" y="5666500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34"/>
          <p:cNvCxnSpPr>
            <a:stCxn id="517" idx="1"/>
            <a:endCxn id="516" idx="5"/>
          </p:cNvCxnSpPr>
          <p:nvPr/>
        </p:nvCxnSpPr>
        <p:spPr>
          <a:xfrm rot="10800000">
            <a:off x="5360175" y="5666500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34"/>
          <p:cNvSpPr/>
          <p:nvPr/>
        </p:nvSpPr>
        <p:spPr>
          <a:xfrm>
            <a:off x="4500563" y="58880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6994525" y="5872163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25" name="Google Shape;525;p34"/>
          <p:cNvSpPr txBox="1"/>
          <p:nvPr/>
        </p:nvSpPr>
        <p:spPr>
          <a:xfrm>
            <a:off x="5489575" y="49133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5489575" y="54467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7" name="Google Shape;527;p34"/>
          <p:cNvSpPr txBox="1"/>
          <p:nvPr/>
        </p:nvSpPr>
        <p:spPr>
          <a:xfrm>
            <a:off x="6003925" y="58404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</a:t>
            </a:r>
            <a:endParaRPr/>
          </a:p>
        </p:txBody>
      </p:sp>
      <p:sp>
        <p:nvSpPr>
          <p:cNvPr id="533" name="Google Shape;533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65920"/>
            <a:ext cx="3657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value k into the binary tree.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Algorithm: Start from the root, compare k to the value at this node. If k is smaller, insert k into the left tree, otherwise insert k into the right tree.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Example: insert 5</a:t>
            </a:r>
            <a:endParaRPr/>
          </a:p>
        </p:txBody>
      </p:sp>
      <p:sp>
        <p:nvSpPr>
          <p:cNvPr id="534" name="Google Shape;534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/>
          <p:nvPr/>
        </p:nvSpPr>
        <p:spPr>
          <a:xfrm>
            <a:off x="6765925" y="3886200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36" name="Google Shape;536;p35"/>
          <p:cNvSpPr/>
          <p:nvPr/>
        </p:nvSpPr>
        <p:spPr>
          <a:xfrm>
            <a:off x="7964488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>
            <a:off x="5408613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5995988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39" name="Google Shape;539;p35"/>
          <p:cNvCxnSpPr>
            <a:stCxn id="535" idx="3"/>
            <a:endCxn id="537" idx="7"/>
          </p:cNvCxnSpPr>
          <p:nvPr/>
        </p:nvCxnSpPr>
        <p:spPr>
          <a:xfrm flipH="1">
            <a:off x="5680987" y="4158559"/>
            <a:ext cx="11319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35"/>
          <p:cNvCxnSpPr>
            <a:stCxn id="536" idx="1"/>
            <a:endCxn id="535" idx="5"/>
          </p:cNvCxnSpPr>
          <p:nvPr/>
        </p:nvCxnSpPr>
        <p:spPr>
          <a:xfrm rot="10800000">
            <a:off x="7039517" y="4158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5"/>
          <p:cNvCxnSpPr>
            <a:stCxn id="542" idx="7"/>
            <a:endCxn id="536" idx="3"/>
          </p:cNvCxnSpPr>
          <p:nvPr/>
        </p:nvCxnSpPr>
        <p:spPr>
          <a:xfrm rot="10800000" flipH="1">
            <a:off x="7744488" y="4671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5"/>
          <p:cNvCxnSpPr>
            <a:stCxn id="544" idx="1"/>
            <a:endCxn id="538" idx="5"/>
          </p:cNvCxnSpPr>
          <p:nvPr/>
        </p:nvCxnSpPr>
        <p:spPr>
          <a:xfrm rot="10800000">
            <a:off x="6269712" y="5166462"/>
            <a:ext cx="197100" cy="29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35"/>
          <p:cNvCxnSpPr>
            <a:stCxn id="546" idx="7"/>
            <a:endCxn id="537" idx="3"/>
          </p:cNvCxnSpPr>
          <p:nvPr/>
        </p:nvCxnSpPr>
        <p:spPr>
          <a:xfrm rot="10800000" flipH="1">
            <a:off x="5093596" y="4671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5"/>
          <p:cNvCxnSpPr>
            <a:stCxn id="538" idx="1"/>
            <a:endCxn id="537" idx="5"/>
          </p:cNvCxnSpPr>
          <p:nvPr/>
        </p:nvCxnSpPr>
        <p:spPr>
          <a:xfrm rot="10800000">
            <a:off x="5680850" y="4671137"/>
            <a:ext cx="3621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35"/>
          <p:cNvSpPr/>
          <p:nvPr/>
        </p:nvSpPr>
        <p:spPr>
          <a:xfrm>
            <a:off x="4821238" y="4892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7470775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8" name="Google Shape;548;p35"/>
          <p:cNvSpPr/>
          <p:nvPr/>
        </p:nvSpPr>
        <p:spPr>
          <a:xfrm>
            <a:off x="6553200" y="15240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7964488" y="20351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5600700" y="2035175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51" name="Google Shape;551;p35"/>
          <p:cNvSpPr/>
          <p:nvPr/>
        </p:nvSpPr>
        <p:spPr>
          <a:xfrm>
            <a:off x="6188075" y="25304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6526213" y="3106738"/>
            <a:ext cx="231775" cy="230187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35"/>
          <p:cNvCxnSpPr>
            <a:stCxn id="548" idx="3"/>
            <a:endCxn id="550" idx="7"/>
          </p:cNvCxnSpPr>
          <p:nvPr/>
        </p:nvCxnSpPr>
        <p:spPr>
          <a:xfrm flipH="1">
            <a:off x="5872962" y="1796359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5"/>
          <p:cNvCxnSpPr>
            <a:stCxn id="549" idx="1"/>
            <a:endCxn id="548" idx="5"/>
          </p:cNvCxnSpPr>
          <p:nvPr/>
        </p:nvCxnSpPr>
        <p:spPr>
          <a:xfrm rot="10800000">
            <a:off x="6826817" y="1796237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35"/>
          <p:cNvCxnSpPr>
            <a:stCxn id="556" idx="7"/>
            <a:endCxn id="549" idx="3"/>
          </p:cNvCxnSpPr>
          <p:nvPr/>
        </p:nvCxnSpPr>
        <p:spPr>
          <a:xfrm rot="10800000" flipH="1">
            <a:off x="7744488" y="23089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35"/>
          <p:cNvCxnSpPr>
            <a:stCxn id="552" idx="0"/>
            <a:endCxn id="551" idx="5"/>
          </p:cNvCxnSpPr>
          <p:nvPr/>
        </p:nvCxnSpPr>
        <p:spPr>
          <a:xfrm rot="10800000">
            <a:off x="6461800" y="2804338"/>
            <a:ext cx="180300" cy="3024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5"/>
          <p:cNvCxnSpPr>
            <a:stCxn id="559" idx="7"/>
            <a:endCxn id="550" idx="3"/>
          </p:cNvCxnSpPr>
          <p:nvPr/>
        </p:nvCxnSpPr>
        <p:spPr>
          <a:xfrm rot="10800000" flipH="1">
            <a:off x="5285684" y="23089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5"/>
          <p:cNvCxnSpPr>
            <a:stCxn id="551" idx="1"/>
            <a:endCxn id="550" idx="5"/>
          </p:cNvCxnSpPr>
          <p:nvPr/>
        </p:nvCxnSpPr>
        <p:spPr>
          <a:xfrm rot="10800000">
            <a:off x="5872937" y="23089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35"/>
          <p:cNvSpPr/>
          <p:nvPr/>
        </p:nvSpPr>
        <p:spPr>
          <a:xfrm>
            <a:off x="5013325" y="2530475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56" name="Google Shape;556;p35"/>
          <p:cNvSpPr/>
          <p:nvPr/>
        </p:nvSpPr>
        <p:spPr>
          <a:xfrm>
            <a:off x="7470775" y="25304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4" name="Google Shape;544;p35"/>
          <p:cNvSpPr/>
          <p:nvPr/>
        </p:nvSpPr>
        <p:spPr>
          <a:xfrm>
            <a:off x="6419850" y="5410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61" name="Google Shape;561;p35"/>
          <p:cNvSpPr txBox="1"/>
          <p:nvPr/>
        </p:nvSpPr>
        <p:spPr>
          <a:xfrm>
            <a:off x="6029325" y="15811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2" name="Google Shape;562;p35"/>
          <p:cNvSpPr txBox="1"/>
          <p:nvPr/>
        </p:nvSpPr>
        <p:spPr>
          <a:xfrm>
            <a:off x="6029325" y="21145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3" name="Google Shape;563;p35"/>
          <p:cNvSpPr txBox="1"/>
          <p:nvPr/>
        </p:nvSpPr>
        <p:spPr>
          <a:xfrm>
            <a:off x="6534150" y="266700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4" name="Google Shape;564;p35"/>
          <p:cNvSpPr txBox="1"/>
          <p:nvPr/>
        </p:nvSpPr>
        <p:spPr>
          <a:xfrm>
            <a:off x="6461125" y="3276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65" name="Google Shape;565;p35"/>
          <p:cNvSpPr txBox="1"/>
          <p:nvPr/>
        </p:nvSpPr>
        <p:spPr>
          <a:xfrm>
            <a:off x="6629400" y="51054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</a:t>
            </a:r>
            <a:endParaRPr/>
          </a:p>
        </p:txBody>
      </p:sp>
      <p:sp>
        <p:nvSpPr>
          <p:cNvPr id="571" name="Google Shape;571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90575" y="1961728"/>
            <a:ext cx="378142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perform operation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we search for key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key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 the tree, and let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 the node storing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leaf, remove v. If v has one child,  remove v and connect its child to its parent.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remove 4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6781800" y="16002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74" name="Google Shape;574;p36"/>
          <p:cNvSpPr/>
          <p:nvPr/>
        </p:nvSpPr>
        <p:spPr>
          <a:xfrm>
            <a:off x="7980363" y="2111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5424488" y="2111375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6011863" y="26066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77" name="Google Shape;577;p36"/>
          <p:cNvCxnSpPr>
            <a:stCxn id="573" idx="3"/>
            <a:endCxn id="575" idx="7"/>
          </p:cNvCxnSpPr>
          <p:nvPr/>
        </p:nvCxnSpPr>
        <p:spPr>
          <a:xfrm flipH="1">
            <a:off x="5696862" y="1872559"/>
            <a:ext cx="11319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6"/>
          <p:cNvCxnSpPr>
            <a:stCxn id="574" idx="1"/>
            <a:endCxn id="573" idx="5"/>
          </p:cNvCxnSpPr>
          <p:nvPr/>
        </p:nvCxnSpPr>
        <p:spPr>
          <a:xfrm rot="10800000">
            <a:off x="7055392" y="1872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36"/>
          <p:cNvCxnSpPr>
            <a:stCxn id="580" idx="7"/>
            <a:endCxn id="574" idx="3"/>
          </p:cNvCxnSpPr>
          <p:nvPr/>
        </p:nvCxnSpPr>
        <p:spPr>
          <a:xfrm rot="10800000" flipH="1">
            <a:off x="7760363" y="2385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36"/>
          <p:cNvCxnSpPr>
            <a:stCxn id="582" idx="1"/>
            <a:endCxn id="576" idx="5"/>
          </p:cNvCxnSpPr>
          <p:nvPr/>
        </p:nvCxnSpPr>
        <p:spPr>
          <a:xfrm rot="10800000">
            <a:off x="6285587" y="2880462"/>
            <a:ext cx="197100" cy="290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6"/>
          <p:cNvCxnSpPr>
            <a:stCxn id="584" idx="7"/>
            <a:endCxn id="575" idx="3"/>
          </p:cNvCxnSpPr>
          <p:nvPr/>
        </p:nvCxnSpPr>
        <p:spPr>
          <a:xfrm rot="10800000" flipH="1">
            <a:off x="5109471" y="2385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36"/>
          <p:cNvCxnSpPr>
            <a:stCxn id="576" idx="1"/>
            <a:endCxn id="575" idx="5"/>
          </p:cNvCxnSpPr>
          <p:nvPr/>
        </p:nvCxnSpPr>
        <p:spPr>
          <a:xfrm rot="10800000">
            <a:off x="5696725" y="23851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p36"/>
          <p:cNvSpPr/>
          <p:nvPr/>
        </p:nvSpPr>
        <p:spPr>
          <a:xfrm>
            <a:off x="4837113" y="2606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80" name="Google Shape;580;p36"/>
          <p:cNvSpPr/>
          <p:nvPr/>
        </p:nvSpPr>
        <p:spPr>
          <a:xfrm>
            <a:off x="7486650" y="2606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2" name="Google Shape;582;p36"/>
          <p:cNvSpPr/>
          <p:nvPr/>
        </p:nvSpPr>
        <p:spPr>
          <a:xfrm>
            <a:off x="6435725" y="3124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6" name="Google Shape;586;p36"/>
          <p:cNvSpPr txBox="1"/>
          <p:nvPr/>
        </p:nvSpPr>
        <p:spPr>
          <a:xfrm>
            <a:off x="6324600" y="2498725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87" name="Google Shape;587;p36"/>
          <p:cNvSpPr/>
          <p:nvPr/>
        </p:nvSpPr>
        <p:spPr>
          <a:xfrm>
            <a:off x="6553200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7964488" y="4762500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5600700" y="4762500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90" name="Google Shape;590;p36"/>
          <p:cNvSpPr/>
          <p:nvPr/>
        </p:nvSpPr>
        <p:spPr>
          <a:xfrm>
            <a:off x="6188075" y="52578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cxnSp>
        <p:nvCxnSpPr>
          <p:cNvPr id="591" name="Google Shape;591;p36"/>
          <p:cNvCxnSpPr>
            <a:stCxn id="587" idx="3"/>
            <a:endCxn id="589" idx="7"/>
          </p:cNvCxnSpPr>
          <p:nvPr/>
        </p:nvCxnSpPr>
        <p:spPr>
          <a:xfrm flipH="1">
            <a:off x="5872962" y="4523684"/>
            <a:ext cx="7272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stCxn id="588" idx="1"/>
            <a:endCxn id="587" idx="5"/>
          </p:cNvCxnSpPr>
          <p:nvPr/>
        </p:nvCxnSpPr>
        <p:spPr>
          <a:xfrm rot="10800000">
            <a:off x="6826817" y="4523562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36"/>
          <p:cNvCxnSpPr>
            <a:stCxn id="594" idx="7"/>
            <a:endCxn id="588" idx="3"/>
          </p:cNvCxnSpPr>
          <p:nvPr/>
        </p:nvCxnSpPr>
        <p:spPr>
          <a:xfrm rot="10800000" flipH="1">
            <a:off x="7744488" y="5036262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5" name="Google Shape;595;p36"/>
          <p:cNvCxnSpPr>
            <a:stCxn id="596" idx="7"/>
            <a:endCxn id="589" idx="3"/>
          </p:cNvCxnSpPr>
          <p:nvPr/>
        </p:nvCxnSpPr>
        <p:spPr>
          <a:xfrm rot="10800000" flipH="1">
            <a:off x="5285684" y="5036262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stCxn id="590" idx="1"/>
            <a:endCxn id="589" idx="5"/>
          </p:cNvCxnSpPr>
          <p:nvPr/>
        </p:nvCxnSpPr>
        <p:spPr>
          <a:xfrm rot="10800000">
            <a:off x="5872937" y="5036262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6" name="Google Shape;596;p36"/>
          <p:cNvSpPr/>
          <p:nvPr/>
        </p:nvSpPr>
        <p:spPr>
          <a:xfrm>
            <a:off x="5013325" y="52578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94" name="Google Shape;594;p36"/>
          <p:cNvSpPr/>
          <p:nvPr/>
        </p:nvSpPr>
        <p:spPr>
          <a:xfrm>
            <a:off x="7470775" y="5257800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98" name="Google Shape;598;p36"/>
          <p:cNvSpPr txBox="1"/>
          <p:nvPr/>
        </p:nvSpPr>
        <p:spPr>
          <a:xfrm>
            <a:off x="6019800" y="16605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99" name="Google Shape;599;p36"/>
          <p:cNvSpPr txBox="1"/>
          <p:nvPr/>
        </p:nvSpPr>
        <p:spPr>
          <a:xfrm>
            <a:off x="5791200" y="21939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 (cont.)</a:t>
            </a:r>
            <a:endParaRPr/>
          </a:p>
        </p:txBody>
      </p:sp>
      <p:sp>
        <p:nvSpPr>
          <p:cNvPr id="605" name="Google Shape;605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388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consider the case where the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removed is stored at a node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two children: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find the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follows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an inorder traversal (the most-left leaf of the right child of v).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replace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remove node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remove 3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37"/>
          <p:cNvSpPr/>
          <p:nvPr/>
        </p:nvSpPr>
        <p:spPr>
          <a:xfrm flipH="1">
            <a:off x="6248400" y="234315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07" name="Google Shape;607;p37"/>
          <p:cNvSpPr/>
          <p:nvPr/>
        </p:nvSpPr>
        <p:spPr>
          <a:xfrm flipH="1">
            <a:off x="5257800" y="1960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08" name="Google Shape;608;p37"/>
          <p:cNvSpPr/>
          <p:nvPr/>
        </p:nvSpPr>
        <p:spPr>
          <a:xfrm flipH="1">
            <a:off x="7586663" y="2722563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09" name="Google Shape;609;p37"/>
          <p:cNvSpPr/>
          <p:nvPr/>
        </p:nvSpPr>
        <p:spPr>
          <a:xfrm flipH="1">
            <a:off x="6997700" y="31956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10" name="Google Shape;610;p37"/>
          <p:cNvCxnSpPr>
            <a:stCxn id="606" idx="3"/>
            <a:endCxn id="608" idx="7"/>
          </p:cNvCxnSpPr>
          <p:nvPr/>
        </p:nvCxnSpPr>
        <p:spPr>
          <a:xfrm>
            <a:off x="6522113" y="2615509"/>
            <a:ext cx="11112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7"/>
          <p:cNvCxnSpPr>
            <a:stCxn id="607" idx="3"/>
            <a:endCxn id="606" idx="7"/>
          </p:cNvCxnSpPr>
          <p:nvPr/>
        </p:nvCxnSpPr>
        <p:spPr>
          <a:xfrm>
            <a:off x="5530159" y="2234276"/>
            <a:ext cx="765300" cy="155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7"/>
          <p:cNvCxnSpPr>
            <a:stCxn id="613" idx="1"/>
            <a:endCxn id="609" idx="5"/>
          </p:cNvCxnSpPr>
          <p:nvPr/>
        </p:nvCxnSpPr>
        <p:spPr>
          <a:xfrm rot="10800000" flipH="1">
            <a:off x="6847552" y="3469350"/>
            <a:ext cx="197100" cy="2622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p37"/>
          <p:cNvCxnSpPr>
            <a:stCxn id="615" idx="7"/>
            <a:endCxn id="608" idx="3"/>
          </p:cNvCxnSpPr>
          <p:nvPr/>
        </p:nvCxnSpPr>
        <p:spPr>
          <a:xfrm rot="10800000">
            <a:off x="7858967" y="2996300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37"/>
          <p:cNvCxnSpPr>
            <a:stCxn id="609" idx="1"/>
            <a:endCxn id="608" idx="5"/>
          </p:cNvCxnSpPr>
          <p:nvPr/>
        </p:nvCxnSpPr>
        <p:spPr>
          <a:xfrm rot="10800000" flipH="1">
            <a:off x="7271413" y="2996300"/>
            <a:ext cx="362100" cy="2463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37"/>
          <p:cNvSpPr/>
          <p:nvPr/>
        </p:nvSpPr>
        <p:spPr>
          <a:xfrm flipH="1">
            <a:off x="8174038" y="31956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13" name="Google Shape;613;p37"/>
          <p:cNvSpPr/>
          <p:nvPr/>
        </p:nvSpPr>
        <p:spPr>
          <a:xfrm flipH="1">
            <a:off x="6573838" y="368458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17" name="Google Shape;617;p37"/>
          <p:cNvSpPr txBox="1"/>
          <p:nvPr/>
        </p:nvSpPr>
        <p:spPr>
          <a:xfrm flipH="1">
            <a:off x="6477000" y="2052638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18" name="Google Shape;618;p37"/>
          <p:cNvSpPr txBox="1"/>
          <p:nvPr/>
        </p:nvSpPr>
        <p:spPr>
          <a:xfrm flipH="1">
            <a:off x="6286500" y="3449638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619" name="Google Shape;619;p37"/>
          <p:cNvSpPr/>
          <p:nvPr/>
        </p:nvSpPr>
        <p:spPr>
          <a:xfrm flipH="1">
            <a:off x="5486400" y="2722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20" name="Google Shape;620;p37"/>
          <p:cNvCxnSpPr>
            <a:stCxn id="619" idx="1"/>
            <a:endCxn id="606" idx="5"/>
          </p:cNvCxnSpPr>
          <p:nvPr/>
        </p:nvCxnSpPr>
        <p:spPr>
          <a:xfrm rot="10800000" flipH="1">
            <a:off x="5758759" y="2615625"/>
            <a:ext cx="5367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1" name="Google Shape;621;p37"/>
          <p:cNvSpPr/>
          <p:nvPr/>
        </p:nvSpPr>
        <p:spPr>
          <a:xfrm flipH="1">
            <a:off x="6324600" y="4725988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22" name="Google Shape;622;p37"/>
          <p:cNvSpPr/>
          <p:nvPr/>
        </p:nvSpPr>
        <p:spPr>
          <a:xfrm flipH="1">
            <a:off x="5334000" y="43434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23" name="Google Shape;623;p37"/>
          <p:cNvSpPr/>
          <p:nvPr/>
        </p:nvSpPr>
        <p:spPr>
          <a:xfrm flipH="1">
            <a:off x="7662863" y="50752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24" name="Google Shape;624;p37"/>
          <p:cNvSpPr/>
          <p:nvPr/>
        </p:nvSpPr>
        <p:spPr>
          <a:xfrm flipH="1">
            <a:off x="7073900" y="5548313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25" name="Google Shape;625;p37"/>
          <p:cNvCxnSpPr>
            <a:stCxn id="621" idx="3"/>
            <a:endCxn id="623" idx="7"/>
          </p:cNvCxnSpPr>
          <p:nvPr/>
        </p:nvCxnSpPr>
        <p:spPr>
          <a:xfrm>
            <a:off x="6598313" y="4998346"/>
            <a:ext cx="11112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stCxn id="622" idx="3"/>
            <a:endCxn id="621" idx="7"/>
          </p:cNvCxnSpPr>
          <p:nvPr/>
        </p:nvCxnSpPr>
        <p:spPr>
          <a:xfrm>
            <a:off x="5606359" y="4617113"/>
            <a:ext cx="7653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37"/>
          <p:cNvCxnSpPr>
            <a:stCxn id="628" idx="7"/>
            <a:endCxn id="623" idx="3"/>
          </p:cNvCxnSpPr>
          <p:nvPr/>
        </p:nvCxnSpPr>
        <p:spPr>
          <a:xfrm rot="10800000">
            <a:off x="7935167" y="5348975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stCxn id="624" idx="1"/>
            <a:endCxn id="623" idx="5"/>
          </p:cNvCxnSpPr>
          <p:nvPr/>
        </p:nvCxnSpPr>
        <p:spPr>
          <a:xfrm rot="10800000" flipH="1">
            <a:off x="7347613" y="5348975"/>
            <a:ext cx="3621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8" name="Google Shape;628;p37"/>
          <p:cNvSpPr/>
          <p:nvPr/>
        </p:nvSpPr>
        <p:spPr>
          <a:xfrm flipH="1">
            <a:off x="8250238" y="5548313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30" name="Google Shape;630;p37"/>
          <p:cNvSpPr txBox="1"/>
          <p:nvPr/>
        </p:nvSpPr>
        <p:spPr>
          <a:xfrm flipH="1">
            <a:off x="655320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31" name="Google Shape;631;p37"/>
          <p:cNvSpPr/>
          <p:nvPr/>
        </p:nvSpPr>
        <p:spPr>
          <a:xfrm flipH="1">
            <a:off x="5562600" y="50752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32" name="Google Shape;632;p37"/>
          <p:cNvCxnSpPr>
            <a:stCxn id="631" idx="1"/>
            <a:endCxn id="621" idx="5"/>
          </p:cNvCxnSpPr>
          <p:nvPr/>
        </p:nvCxnSpPr>
        <p:spPr>
          <a:xfrm rot="10800000" flipH="1">
            <a:off x="5834959" y="4998300"/>
            <a:ext cx="5367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</a:t>
            </a:r>
            <a:endParaRPr/>
          </a:p>
        </p:txBody>
      </p:sp>
      <p:sp>
        <p:nvSpPr>
          <p:cNvPr id="639" name="Google Shape;639;p3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3733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Operations: Searching, insertion, deletion: The height of the tree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height of the tree: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Worse case: O(n)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 case: O(log n) when the heap tree is balanced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the binary search tree:  If insertions and deletions make the binary search tree unbalanced, perform balancing operations to make it balanced again.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38"/>
          <p:cNvGrpSpPr/>
          <p:nvPr/>
        </p:nvGrpSpPr>
        <p:grpSpPr>
          <a:xfrm>
            <a:off x="5429250" y="1676400"/>
            <a:ext cx="2570163" cy="1812925"/>
            <a:chOff x="3120" y="960"/>
            <a:chExt cx="1893" cy="1335"/>
          </a:xfrm>
        </p:grpSpPr>
        <p:sp>
          <p:nvSpPr>
            <p:cNvPr id="642" name="Google Shape;642;p38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3" name="Google Shape;643;p38"/>
            <p:cNvCxnSpPr>
              <a:stCxn id="644" idx="3"/>
              <a:endCxn id="645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8"/>
            <p:cNvCxnSpPr>
              <a:stCxn id="642" idx="3"/>
              <a:endCxn id="644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8"/>
            <p:cNvCxnSpPr>
              <a:stCxn id="648" idx="7"/>
              <a:endCxn id="649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38"/>
            <p:cNvCxnSpPr>
              <a:stCxn id="649" idx="7"/>
              <a:endCxn id="645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8" name="Google Shape;648;p38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38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38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38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51" name="Google Shape;651;p38"/>
          <p:cNvSpPr/>
          <p:nvPr/>
        </p:nvSpPr>
        <p:spPr>
          <a:xfrm>
            <a:off x="6629400" y="4191000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2" name="Google Shape;652;p38"/>
          <p:cNvCxnSpPr>
            <a:stCxn id="651" idx="3"/>
            <a:endCxn id="653" idx="7"/>
          </p:cNvCxnSpPr>
          <p:nvPr/>
        </p:nvCxnSpPr>
        <p:spPr>
          <a:xfrm flipH="1">
            <a:off x="5812947" y="4433548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38"/>
          <p:cNvCxnSpPr>
            <a:stCxn id="655" idx="1"/>
            <a:endCxn id="651" idx="5"/>
          </p:cNvCxnSpPr>
          <p:nvPr/>
        </p:nvCxnSpPr>
        <p:spPr>
          <a:xfrm rot="10800000">
            <a:off x="6873165" y="4433547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8"/>
          <p:cNvSpPr/>
          <p:nvPr/>
        </p:nvSpPr>
        <p:spPr>
          <a:xfrm>
            <a:off x="5570538" y="46466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6092825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7" name="Google Shape;657;p38"/>
          <p:cNvCxnSpPr>
            <a:stCxn id="658" idx="7"/>
            <a:endCxn id="653" idx="3"/>
          </p:cNvCxnSpPr>
          <p:nvPr/>
        </p:nvCxnSpPr>
        <p:spPr>
          <a:xfrm rot="10800000" flipH="1">
            <a:off x="5290798" y="4890572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8"/>
          <p:cNvCxnSpPr>
            <a:stCxn id="656" idx="1"/>
            <a:endCxn id="653" idx="5"/>
          </p:cNvCxnSpPr>
          <p:nvPr/>
        </p:nvCxnSpPr>
        <p:spPr>
          <a:xfrm rot="10800000">
            <a:off x="5813072" y="4890572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8" name="Google Shape;658;p38"/>
          <p:cNvSpPr/>
          <p:nvPr/>
        </p:nvSpPr>
        <p:spPr>
          <a:xfrm>
            <a:off x="5048250" y="510222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7689850" y="46482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8212138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1" name="Google Shape;661;p38"/>
          <p:cNvCxnSpPr>
            <a:stCxn id="662" idx="7"/>
            <a:endCxn id="655" idx="3"/>
          </p:cNvCxnSpPr>
          <p:nvPr/>
        </p:nvCxnSpPr>
        <p:spPr>
          <a:xfrm rot="10800000" flipH="1">
            <a:off x="7410111" y="4892160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8"/>
          <p:cNvCxnSpPr>
            <a:stCxn id="660" idx="1"/>
            <a:endCxn id="655" idx="5"/>
          </p:cNvCxnSpPr>
          <p:nvPr/>
        </p:nvCxnSpPr>
        <p:spPr>
          <a:xfrm rot="10800000">
            <a:off x="7932385" y="4892160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38"/>
          <p:cNvSpPr/>
          <p:nvPr/>
        </p:nvSpPr>
        <p:spPr>
          <a:xfrm>
            <a:off x="7167563" y="51038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4</a:t>
            </a:r>
            <a:endParaRPr/>
          </a:p>
        </p:txBody>
      </p:sp>
      <p:sp>
        <p:nvSpPr>
          <p:cNvPr id="669" name="Google Shape;669;p39"/>
          <p:cNvSpPr txBox="1">
            <a:spLocks noGrp="1"/>
          </p:cNvSpPr>
          <p:nvPr>
            <p:ph type="body" idx="1"/>
          </p:nvPr>
        </p:nvSpPr>
        <p:spPr>
          <a:xfrm>
            <a:off x="539552" y="1844824"/>
            <a:ext cx="8208912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binary search tree from following numbers: 34, 15, 65, 62, 69, 42, 40, 80, 50, 59, 23, 46, 57, 3, 29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BSTs after deleting keys 62, 42 and 3 from the above tree.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5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p4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the BST for items with keys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A S Y Q U E S T I O N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the BST for items with keys </a:t>
            </a:r>
            <a:endParaRPr/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A T A S T R U C T R E S A N D A L G O R I T H M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1161</Words>
  <Application>Microsoft Office PowerPoint</Application>
  <PresentationFormat>On-screen Show (4:3)</PresentationFormat>
  <Paragraphs>350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Helvetica Neue</vt:lpstr>
      <vt:lpstr>Times New Roman</vt:lpstr>
      <vt:lpstr>Noto Sans Symbols</vt:lpstr>
      <vt:lpstr>Calibri</vt:lpstr>
      <vt:lpstr>1_Koi</vt:lpstr>
      <vt:lpstr>Data Structures and Algorithms </vt:lpstr>
      <vt:lpstr>What is a Tree</vt:lpstr>
      <vt:lpstr>List of Children Tree Presentation</vt:lpstr>
      <vt:lpstr>Priority Queue</vt:lpstr>
      <vt:lpstr>Priority Queue</vt:lpstr>
      <vt:lpstr>Heap tree</vt:lpstr>
      <vt:lpstr>Heap tree</vt:lpstr>
      <vt:lpstr>Heap tree insertion</vt:lpstr>
      <vt:lpstr>Heap tree insertion</vt:lpstr>
      <vt:lpstr>Heap tree insertion</vt:lpstr>
      <vt:lpstr>Heap tree insertion</vt:lpstr>
      <vt:lpstr>Exercise 2</vt:lpstr>
      <vt:lpstr>Remove max</vt:lpstr>
      <vt:lpstr>Remove max</vt:lpstr>
      <vt:lpstr>Heap tree deletion</vt:lpstr>
      <vt:lpstr>Remove max</vt:lpstr>
      <vt:lpstr>Remove max</vt:lpstr>
      <vt:lpstr>Exercise 3</vt:lpstr>
      <vt:lpstr>Heap tree performance</vt:lpstr>
      <vt:lpstr>Using heap tree library</vt:lpstr>
      <vt:lpstr>Binary Search Trees</vt:lpstr>
      <vt:lpstr>Search</vt:lpstr>
      <vt:lpstr>Insertion</vt:lpstr>
      <vt:lpstr>Deletion</vt:lpstr>
      <vt:lpstr>Deletion (cont.)</vt:lpstr>
      <vt:lpstr>Performance</vt:lpstr>
      <vt:lpstr>Exercise 4</vt:lpstr>
      <vt:lpstr>Exercise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Administrator</dc:creator>
  <cp:lastModifiedBy>DHQG</cp:lastModifiedBy>
  <cp:revision>4</cp:revision>
  <dcterms:modified xsi:type="dcterms:W3CDTF">2018-09-26T03:20:34Z</dcterms:modified>
</cp:coreProperties>
</file>