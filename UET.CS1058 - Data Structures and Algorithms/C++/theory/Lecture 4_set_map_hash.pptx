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29.xml" ContentType="application/vnd.openxmlformats-officedocument.presentationml.notesSlid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Override PartName="/ppt/notesSlides/notesSlide27.xml" ContentType="application/vnd.openxmlformats-officedocument.presentationml.notesSlide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Default Extension="fntdata" ContentType="application/x-fontdata"/>
  <Override PartName="/ppt/notesSlides/notesSlide16.xml" ContentType="application/vnd.openxmlformats-officedocument.presentationml.notesSlide+xml"/>
  <Override PartName="/ppt/notesSlides/notesSlide25.xml" ContentType="application/vnd.openxmlformats-officedocument.presentationml.notesSlide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4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Default Extension="png" ContentType="image/png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Default Extension="jpeg" ContentType="image/jpeg"/>
  <Override PartName="/ppt/notesSlides/notesSlide17.xml" ContentType="application/vnd.openxmlformats-officedocument.presentationml.notesSlide+xml"/>
  <Override PartName="/ppt/notesSlides/notesSlide28.xml" ContentType="application/vnd.openxmlformats-officedocument.presentationml.notesSlid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6.xml" ContentType="application/vnd.openxmlformats-officedocument.presentationml.notesSlide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notesSlides/notesSlide13.xml" ContentType="application/vnd.openxmlformats-officedocument.presentationml.notesSlide+xml"/>
  <Override PartName="/ppt/notesSlides/notesSlide22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3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sldSz cx="9144000" cy="6858000" type="screen4x3"/>
  <p:notesSz cx="6858000" cy="9144000"/>
  <p:embeddedFontLst>
    <p:embeddedFont>
      <p:font typeface="Helvetica Neue" charset="0"/>
      <p:regular r:id="rId32"/>
      <p:bold r:id="rId33"/>
      <p:italic r:id="rId34"/>
      <p:boldItalic r:id="rId35"/>
    </p:embeddedFont>
    <p:embeddedFont>
      <p:font typeface="Verdana" pitchFamily="34" charset="0"/>
      <p:regular r:id="rId36"/>
      <p:bold r:id="rId37"/>
      <p:italic r:id="rId38"/>
      <p:boldItalic r:id="rId39"/>
    </p:embeddedFont>
    <p:embeddedFont>
      <p:font typeface="Helvetica" pitchFamily="34" charset="0"/>
      <p:regular r:id="rId40"/>
      <p:bold r:id="rId41"/>
      <p:italic r:id="rId42"/>
      <p:boldItalic r:id="rId43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{2D200454-40CA-4A62-9FC3-DE9A4176ACB9}">
      <p15:notesGuideLst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>
        <p15:guide id="1" orient="horz" pos="2880">
          <p15:clr>
            <a:srgbClr val="000000"/>
          </p15:clr>
        </p15:guide>
        <p15:guide id="2" pos="2160">
          <p15:clr>
            <a:srgbClr val="000000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C0A538C6-32B3-4E5F-A80F-B44198F3D54E}">
  <a:tblStyle styleId="{C0A538C6-32B3-4E5F-A80F-B44198F3D54E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3FD1FBFC-49AE-4151-AE41-D187641FCE7F}" styleName="Table_1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rgbClr val="E7E7EA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7E7EA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50800" cap="flat" cmpd="sng">
              <a:solidFill>
                <a:schemeClr val="accent4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l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4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88447AB1-F131-4BD1-A201-F5CB30871751}" styleName="Table_2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8FAFF"/>
          </a:solidFill>
        </a:fill>
      </a:tcStyle>
    </a:wholeTbl>
    <a:band1H>
      <a:tcTxStyle/>
      <a:tcStyle>
        <a:tcBdr/>
        <a:fill>
          <a:solidFill>
            <a:srgbClr val="F0F5FE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F0F5FE"/>
          </a:solidFill>
        </a:fill>
      </a:tcStyle>
    </a:band1V>
    <a:band2V>
      <a:tcTxStyle/>
      <a:tcStyle>
        <a:tcBdr/>
      </a:tcStyle>
    </a:band2V>
    <a:lastCol>
      <a:tcTxStyle b="on" i="off"/>
      <a:tcStyle>
        <a:tcBdr/>
      </a:tcStyle>
    </a:lastCol>
    <a:firstCol>
      <a:tcTxStyle b="on" i="off"/>
      <a:tcStyle>
        <a:tcBdr/>
      </a:tcStyle>
    </a:firstCol>
    <a:lastRow>
      <a:tcTxStyle b="on" i="off"/>
      <a:tcStyle>
        <a:tcBdr>
          <a:top>
            <a:ln w="254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rgbClr val="F8FAFF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/>
      <a:tcStyle>
        <a:tcBdr/>
        <a:fill>
          <a:solidFill>
            <a:srgbClr val="F8FAFF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  <a:tblStyle styleId="{FD9FBFB1-054C-4FA9-A618-B47986797892}" styleName="Table_3">
    <a:wholeTbl>
      <a:tcTxStyle b="off" i="off">
        <a:font>
          <a:latin typeface="Helvetica"/>
          <a:ea typeface="Helvetica"/>
          <a:cs typeface="Helvetica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3F6FE"/>
          </a:solidFill>
        </a:fill>
      </a:tcStyle>
    </a:wholeTbl>
    <a:band1H>
      <a:tcTxStyle/>
      <a:tcStyle>
        <a:tcBdr/>
        <a:fill>
          <a:solidFill>
            <a:srgbClr val="E6EDFD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E6EDFD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Helvetica"/>
          <a:ea typeface="Helvetica"/>
          <a:cs typeface="Helvetica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-1446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880"/>
        <p:guide pos="2160"/>
      </p:guideLst>
    </p:cSldViewPr>
  </p:notes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3.fntdata"/><Relationship Id="rId42" Type="http://schemas.openxmlformats.org/officeDocument/2006/relationships/font" Target="fonts/font11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2.fntdata"/><Relationship Id="rId38" Type="http://schemas.openxmlformats.org/officeDocument/2006/relationships/font" Target="fonts/font7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1.fntdata"/><Relationship Id="rId37" Type="http://schemas.openxmlformats.org/officeDocument/2006/relationships/font" Target="fonts/font6.fntdata"/><Relationship Id="rId40" Type="http://schemas.openxmlformats.org/officeDocument/2006/relationships/font" Target="fonts/font9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5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4.fntdata"/><Relationship Id="rId43" Type="http://schemas.openxmlformats.org/officeDocument/2006/relationships/font" Target="fonts/font1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spcBef>
                <a:spcPts val="36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1" name="Google Shape;141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1" name="Google Shape;17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1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8" name="Google Shape;17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5" name="Google Shape;185;p1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6" name="Google Shape;186;p11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11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1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0" name="Google Shape;240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7" name="Google Shape;247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1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4" name="Google Shape;254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8" name="Google Shape;278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9:notes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Dictionaries</a:t>
            </a:r>
            <a:endParaRPr/>
          </a:p>
        </p:txBody>
      </p:sp>
      <p:sp>
        <p:nvSpPr>
          <p:cNvPr id="285" name="Google Shape;285;p19:notes"/>
          <p:cNvSpPr txBox="1">
            <a:spLocks noGrp="1"/>
          </p:cNvSpPr>
          <p:nvPr>
            <p:ph type="dt" idx="10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4/25/18 11:30</a:t>
            </a: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19:notes"/>
          <p:cNvSpPr txBox="1">
            <a:spLocks noGrp="1"/>
          </p:cNvSpPr>
          <p:nvPr>
            <p:ph type="sldNum" idx="12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None/>
              </a:pPr>
              <a:t>19</a:t>
            </a:fld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7" name="Google Shape;287;p19:notes"/>
          <p:cNvSpPr>
            <a:spLocks noGrp="1" noRot="1" noChangeAspect="1"/>
          </p:cNvSpPr>
          <p:nvPr>
            <p:ph type="sldImg" idx="3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8" name="Google Shape;288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0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3" name="Google Shape;293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1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3" name="Google Shape;303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22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Google Shape;322;p23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3" name="Google Shape;323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p24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6" name="Google Shape;35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25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17" name="Google Shape;417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3" name="Google Shape;423;p26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4" name="Google Shape;424;p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27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28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2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>
              <a:spcBef>
                <a:spcPts val="36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6" name="Google Shape;446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oogle Shape;18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2"/>
          <p:cNvSpPr txBox="1">
            <a:spLocks noGrp="1"/>
          </p:cNvSpPr>
          <p:nvPr>
            <p:ph type="ctrTitle"/>
          </p:nvPr>
        </p:nvSpPr>
        <p:spPr>
          <a:xfrm>
            <a:off x="914400" y="1600200"/>
            <a:ext cx="7315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ubTitle" idx="1"/>
          </p:nvPr>
        </p:nvSpPr>
        <p:spPr>
          <a:xfrm>
            <a:off x="914400" y="2895600"/>
            <a:ext cx="73152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dt" idx="10"/>
          </p:nvPr>
        </p:nvSpPr>
        <p:spPr>
          <a:xfrm>
            <a:off x="9144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ftr" idx="11"/>
          </p:nvPr>
        </p:nvSpPr>
        <p:spPr>
          <a:xfrm>
            <a:off x="3124200" y="6096000"/>
            <a:ext cx="28956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3" name="Google Shape;23;p2"/>
          <p:cNvSpPr txBox="1">
            <a:spLocks noGrp="1"/>
          </p:cNvSpPr>
          <p:nvPr>
            <p:ph type="sldNum" idx="12"/>
          </p:nvPr>
        </p:nvSpPr>
        <p:spPr>
          <a:xfrm>
            <a:off x="6553200" y="6096000"/>
            <a:ext cx="1676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3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body" idx="1"/>
          </p:nvPr>
        </p:nvSpPr>
        <p:spPr>
          <a:xfrm>
            <a:off x="685800" y="1844824"/>
            <a:ext cx="7772400" cy="417497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Char char="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❖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9" name="Google Shape;29;p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2"/>
          </p:nvPr>
        </p:nvSpPr>
        <p:spPr>
          <a:xfrm>
            <a:off x="4648200" y="1981200"/>
            <a:ext cx="38100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•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–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•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–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»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L="457200" marR="0" lvl="0" indent="-2286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None/>
              <a:defRPr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None/>
              <a:defRPr sz="16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Helvetica Neue"/>
              <a:buChar char="•"/>
              <a:defRPr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–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30200" algn="l" rtl="0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Helvetica Neue"/>
              <a:buChar char="»"/>
              <a:defRPr sz="16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5" name="Google Shape;55;p7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8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6" name="Google Shape;66;p9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0" name="Google Shape;70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228600" algn="l" rtl="0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elvetica Neue"/>
              <a:buNone/>
              <a:defRPr sz="1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228600" algn="l" rtl="0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Helvetica Neue"/>
              <a:buNone/>
              <a:defRPr sz="1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2286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Helvetica Neue"/>
              <a:buNone/>
              <a:defRPr sz="1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28600" algn="l" rtl="0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Helvetica Neue"/>
              <a:buNone/>
              <a:defRPr sz="9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3" name="Google Shape;73;p10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4" name="Google Shape;74;p1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body" idx="1"/>
          </p:nvPr>
        </p:nvSpPr>
        <p:spPr>
          <a:xfrm rot="5400000">
            <a:off x="2552700" y="114300"/>
            <a:ext cx="4038600" cy="777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78" name="Google Shape;78;p1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0" name="Google Shape;80;p1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2"/>
          <p:cNvSpPr txBox="1">
            <a:spLocks noGrp="1"/>
          </p:cNvSpPr>
          <p:nvPr>
            <p:ph type="title"/>
          </p:nvPr>
        </p:nvSpPr>
        <p:spPr>
          <a:xfrm rot="5400000">
            <a:off x="4705350" y="2266950"/>
            <a:ext cx="5562600" cy="194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body" idx="1"/>
          </p:nvPr>
        </p:nvSpPr>
        <p:spPr>
          <a:xfrm rot="5400000">
            <a:off x="742950" y="400050"/>
            <a:ext cx="5562600" cy="5676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4" name="Google Shape;84;p12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5" name="Google Shape;85;p12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6" name="Google Shape;86;p1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-1588" y="-1588"/>
            <a:ext cx="9145588" cy="68595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1219200" y="1600200"/>
            <a:ext cx="5926138" cy="95250"/>
          </a:xfrm>
          <a:prstGeom prst="rect">
            <a:avLst/>
          </a:prstGeom>
          <a:noFill/>
          <a:ln>
            <a:noFill/>
          </a:ln>
        </p:spPr>
      </p:pic>
      <p:sp>
        <p:nvSpPr>
          <p:cNvPr id="12" name="Google Shape;12;p1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body" idx="1"/>
          </p:nvPr>
        </p:nvSpPr>
        <p:spPr>
          <a:xfrm>
            <a:off x="685800" y="1981200"/>
            <a:ext cx="7772400" cy="40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Char char="•"/>
              <a:defRPr sz="3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Char char="–"/>
              <a:defRPr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Char char="•"/>
              <a:defRPr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–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Char char="»"/>
              <a:defRPr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dt" idx="10"/>
          </p:nvPr>
        </p:nvSpPr>
        <p:spPr>
          <a:xfrm>
            <a:off x="45720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" name="Google Shape;15;p1"/>
          <p:cNvSpPr txBox="1">
            <a:spLocks noGrp="1"/>
          </p:cNvSpPr>
          <p:nvPr>
            <p:ph type="ftr" idx="11"/>
          </p:nvPr>
        </p:nvSpPr>
        <p:spPr>
          <a:xfrm>
            <a:off x="685800" y="6172200"/>
            <a:ext cx="32004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/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" name="Google Shape;16;p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spcAft>
                <a:spcPts val="0"/>
              </a:spcAft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pPr marL="0" lvl="0" indent="0">
                <a:spcBef>
                  <a:spcPts val="0"/>
                </a:spcBef>
                <a:spcAft>
                  <a:spcPts val="0"/>
                </a:spcAft>
                <a:buNone/>
              </a:pPr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3"/>
          <p:cNvSpPr txBox="1">
            <a:spLocks noGrp="1"/>
          </p:cNvSpPr>
          <p:nvPr>
            <p:ph type="ctrTitle"/>
          </p:nvPr>
        </p:nvSpPr>
        <p:spPr>
          <a:xfrm>
            <a:off x="250825" y="1143000"/>
            <a:ext cx="864235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Set, Map and Hash table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93" name="Google Shape;93;p13"/>
          <p:cNvSpPr txBox="1"/>
          <p:nvPr/>
        </p:nvSpPr>
        <p:spPr>
          <a:xfrm>
            <a:off x="914400" y="3886200"/>
            <a:ext cx="70866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University of Technology and Engineering</a:t>
            </a:r>
            <a:endParaRPr/>
          </a:p>
          <a:p>
            <a:pPr marL="0" marR="0" lvl="0" indent="0" algn="ctr" rtl="0">
              <a:spcBef>
                <a:spcPts val="52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Times New Roman"/>
              <a:buNone/>
            </a:pPr>
            <a:r>
              <a:rPr lang="en-US" sz="26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Vietnam National University Hanoi</a:t>
            </a:r>
            <a:endParaRPr/>
          </a:p>
          <a:p>
            <a:pPr marL="0" marR="0" lvl="0" indent="0" algn="ctr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ctr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Helvetica Neue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4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</a:t>
            </a:r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3744913" cy="30972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set is a collection of elements which are not in any particular order</a:t>
            </a:r>
            <a:endParaRPr/>
          </a:p>
          <a:p>
            <a:pPr marL="342900" marR="0" lvl="0" indent="-1651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All elements of a set are different</a:t>
            </a:r>
            <a:endParaRPr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00" name="Google Shape;100;p1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1" name="Google Shape;101;p1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427984" y="1979035"/>
            <a:ext cx="3993151" cy="42582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operations</a:t>
            </a:r>
            <a:endParaRPr/>
          </a:p>
        </p:txBody>
      </p:sp>
      <p:sp>
        <p:nvSpPr>
          <p:cNvPr id="107" name="Google Shape;107;p1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3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1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733550" y="2425799"/>
            <a:ext cx="5676900" cy="3019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6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operations Union</a:t>
            </a:r>
            <a:endParaRPr/>
          </a:p>
        </p:txBody>
      </p:sp>
      <p:sp>
        <p:nvSpPr>
          <p:cNvPr id="114" name="Google Shape;114;p16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Definition</a:t>
            </a: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Let A and B be sets, the union of two sets A and B is the set that contains all elements in A, B, or both. </a:t>
            </a:r>
            <a:endParaRPr/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A={0,1,3, 5,8} </a:t>
            </a:r>
            <a:endParaRPr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B= {2,5,8,9} </a:t>
            </a:r>
            <a:endParaRPr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A∪B = {0,1,2,3,5,8,9}</a:t>
            </a:r>
            <a:endParaRPr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A∪B  = B∪A </a:t>
            </a:r>
            <a:endParaRPr/>
          </a:p>
        </p:txBody>
      </p:sp>
      <p:sp>
        <p:nvSpPr>
          <p:cNvPr id="115" name="Google Shape;115;p1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4</a:t>
            </a:fld>
            <a:endParaRPr sz="14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6" name="Google Shape;116;p1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34343" y="2932628"/>
            <a:ext cx="4363676" cy="329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762058" y="3846239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6"/>
          <p:cNvSpPr txBox="1"/>
          <p:nvPr/>
        </p:nvSpPr>
        <p:spPr>
          <a:xfrm>
            <a:off x="5799988" y="4551511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6"/>
          <p:cNvSpPr txBox="1"/>
          <p:nvPr/>
        </p:nvSpPr>
        <p:spPr>
          <a:xfrm>
            <a:off x="4716016" y="3733824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6"/>
          <p:cNvSpPr txBox="1"/>
          <p:nvPr/>
        </p:nvSpPr>
        <p:spPr>
          <a:xfrm>
            <a:off x="4217201" y="4557125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6"/>
          <p:cNvSpPr txBox="1"/>
          <p:nvPr/>
        </p:nvSpPr>
        <p:spPr>
          <a:xfrm>
            <a:off x="4860032" y="4941168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6"/>
          <p:cNvSpPr txBox="1"/>
          <p:nvPr/>
        </p:nvSpPr>
        <p:spPr>
          <a:xfrm>
            <a:off x="6808100" y="4221088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6"/>
          <p:cNvSpPr txBox="1"/>
          <p:nvPr/>
        </p:nvSpPr>
        <p:spPr>
          <a:xfrm>
            <a:off x="7380312" y="4424486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7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operations Intersection</a:t>
            </a:r>
            <a:endParaRPr/>
          </a:p>
        </p:txBody>
      </p:sp>
      <p:sp>
        <p:nvSpPr>
          <p:cNvPr id="129" name="Google Shape;129;p17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Definition</a:t>
            </a: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Let A and B be sets, the intersection of two sets A and B is the set of elements that are in both A and B. </a:t>
            </a:r>
            <a:endParaRPr/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A={1,2, 3,4,5} </a:t>
            </a:r>
            <a:endParaRPr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B= {1,3,9,12} </a:t>
            </a:r>
            <a:endParaRPr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∩B = {1,3}</a:t>
            </a:r>
            <a:endParaRPr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Note: A∩B  = B∩A </a:t>
            </a:r>
            <a:endParaRPr/>
          </a:p>
        </p:txBody>
      </p:sp>
      <p:sp>
        <p:nvSpPr>
          <p:cNvPr id="130" name="Google Shape;130;p1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1" name="Google Shape;131;p1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851920" y="2924944"/>
            <a:ext cx="4320480" cy="3264363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/>
        </p:nvSpPr>
        <p:spPr>
          <a:xfrm>
            <a:off x="5762058" y="3846239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7"/>
          <p:cNvSpPr txBox="1"/>
          <p:nvPr/>
        </p:nvSpPr>
        <p:spPr>
          <a:xfrm>
            <a:off x="5799988" y="4551511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34" name="Google Shape;134;p17"/>
          <p:cNvSpPr txBox="1"/>
          <p:nvPr/>
        </p:nvSpPr>
        <p:spPr>
          <a:xfrm>
            <a:off x="4716016" y="3733824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7"/>
          <p:cNvSpPr txBox="1"/>
          <p:nvPr/>
        </p:nvSpPr>
        <p:spPr>
          <a:xfrm>
            <a:off x="4217201" y="4557125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4860032" y="4941168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37" name="Google Shape;137;p17"/>
          <p:cNvSpPr txBox="1"/>
          <p:nvPr/>
        </p:nvSpPr>
        <p:spPr>
          <a:xfrm>
            <a:off x="6808100" y="4221088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sp>
        <p:nvSpPr>
          <p:cNvPr id="138" name="Google Shape;138;p17"/>
          <p:cNvSpPr txBox="1"/>
          <p:nvPr/>
        </p:nvSpPr>
        <p:spPr>
          <a:xfrm>
            <a:off x="7380312" y="4424486"/>
            <a:ext cx="527709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Set operations Minus</a:t>
            </a:r>
            <a:endParaRPr/>
          </a:p>
        </p:txBody>
      </p:sp>
      <p:sp>
        <p:nvSpPr>
          <p:cNvPr id="144" name="Google Shape;144;p18"/>
          <p:cNvSpPr txBox="1">
            <a:spLocks noGrp="1"/>
          </p:cNvSpPr>
          <p:nvPr>
            <p:ph type="body" idx="1"/>
          </p:nvPr>
        </p:nvSpPr>
        <p:spPr>
          <a:xfrm>
            <a:off x="539750" y="1916113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1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Definition</a:t>
            </a: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Let A and B be sets, the difference of A minus B (A – B) is the set of elements that are in A, but not in B. </a:t>
            </a:r>
            <a:endParaRPr dirty="0"/>
          </a:p>
          <a:p>
            <a:pPr marL="0" marR="0" lvl="0" indent="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None/>
            </a:pPr>
            <a:endParaRPr sz="28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➢"/>
            </a:pPr>
            <a:r>
              <a:rPr lang="en-US" sz="28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A={1,2,3} 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B= {2,3,4} </a:t>
            </a:r>
            <a:endParaRPr dirty="0"/>
          </a:p>
          <a:p>
            <a:pPr marL="400050" marR="0" lvl="1" indent="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 dirty="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- B = {1}</a:t>
            </a:r>
            <a:endParaRPr dirty="0"/>
          </a:p>
          <a:p>
            <a:pPr marL="0" marR="0" lvl="0" indent="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Noto Sans Symbols"/>
              <a:buNone/>
            </a:pPr>
            <a:endParaRPr sz="3200" b="0" i="0" u="none" strike="noStrike" cap="none" dirty="0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45" name="Google Shape;145;p1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6" name="Google Shape;146;p1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923928" y="3284984"/>
            <a:ext cx="4098103" cy="309634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4539063" y="4170275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endParaRPr/>
          </a:p>
        </p:txBody>
      </p:sp>
      <p:sp>
        <p:nvSpPr>
          <p:cNvPr id="148" name="Google Shape;148;p18"/>
          <p:cNvSpPr txBox="1"/>
          <p:nvPr/>
        </p:nvSpPr>
        <p:spPr>
          <a:xfrm>
            <a:off x="5586987" y="3849290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 sz="2400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8"/>
          <p:cNvSpPr txBox="1"/>
          <p:nvPr/>
        </p:nvSpPr>
        <p:spPr>
          <a:xfrm>
            <a:off x="5543135" y="4401108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18"/>
          <p:cNvSpPr txBox="1"/>
          <p:nvPr/>
        </p:nvSpPr>
        <p:spPr>
          <a:xfrm>
            <a:off x="6732240" y="4401106"/>
            <a:ext cx="356188" cy="4616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19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Using set library</a:t>
            </a:r>
            <a:endParaRPr/>
          </a:p>
        </p:txBody>
      </p:sp>
      <p:sp>
        <p:nvSpPr>
          <p:cNvPr id="156" name="Google Shape;156;p19"/>
          <p:cNvSpPr txBox="1">
            <a:spLocks noGrp="1"/>
          </p:cNvSpPr>
          <p:nvPr>
            <p:ph type="body" idx="1"/>
          </p:nvPr>
        </p:nvSpPr>
        <p:spPr>
          <a:xfrm>
            <a:off x="539750" y="1628105"/>
            <a:ext cx="7920038" cy="4321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Unordered sets are containers that store unique elements in no particular order</a:t>
            </a:r>
            <a:b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</a:b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57" name="Google Shape;157;p1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8" name="Google Shape;158;p19"/>
          <p:cNvGraphicFramePr/>
          <p:nvPr/>
        </p:nvGraphicFramePr>
        <p:xfrm>
          <a:off x="2123728" y="2636912"/>
          <a:ext cx="4968550" cy="3246500"/>
        </p:xfrm>
        <a:graphic>
          <a:graphicData uri="http://schemas.openxmlformats.org/drawingml/2006/table">
            <a:tbl>
              <a:tblPr>
                <a:noFill/>
                <a:tableStyleId>{C0A538C6-32B3-4E5F-A80F-B44198F3D54E}</a:tableStyleId>
              </a:tblPr>
              <a:tblGrid>
                <a:gridCol w="4968550"/>
              </a:tblGrid>
              <a:tr h="32465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// unordered_set::insert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50007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#include &lt;iostream&gt;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50007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#include &lt;string&gt;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50007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#include &lt;array&gt;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50007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#include &lt;unordered_set&gt;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B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main () {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std::unordered_set&lt;std::string&gt; myset = {"yellow","green","blue"};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std::array&lt;std::string,2&gt; myarray = {"black","white"};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std::string mystring = "red";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myset.insert (mystring); </a:t>
                      </a:r>
                      <a:r>
                        <a:rPr lang="en-US" sz="1000" b="0" i="0" u="none" strike="noStrike" cap="none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// copy insertion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myset.insert (myarray.begin(), myarray.end()); </a:t>
                      </a:r>
                      <a:r>
                        <a:rPr lang="en-US" sz="1000" b="0" i="0" u="none" strike="noStrike" cap="none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// range insertion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myset.insert ( {"purple","orange"} ); </a:t>
                      </a:r>
                      <a:r>
                        <a:rPr lang="en-US" sz="1000" b="0" i="0" u="none" strike="noStrike" cap="none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// initializer list insertion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std::cout &lt;&lt; "myset contains:";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</a:t>
                      </a:r>
                      <a:r>
                        <a:rPr lang="en-US" sz="1000" b="0" i="0" u="none" strike="noStrike" cap="none">
                          <a:solidFill>
                            <a:srgbClr val="0000B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for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(</a:t>
                      </a:r>
                      <a:r>
                        <a:rPr lang="en-US" sz="1000" b="0" i="0" u="none" strike="noStrike" cap="none">
                          <a:solidFill>
                            <a:srgbClr val="0000B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const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std::string&amp; x: myset) std::cout &lt;&lt; " " &lt;&lt; x;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std::cout &lt;&lt; std::endl;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</a:t>
                      </a:r>
                      <a:r>
                        <a:rPr lang="en-US" sz="1000" b="0" i="0" u="none" strike="noStrike" cap="none">
                          <a:solidFill>
                            <a:srgbClr val="0000B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return</a:t>
                      </a: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0; 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000" b="0" i="0" u="none" strike="noStrike" cap="none">
                          <a:solidFill>
                            <a:srgbClr val="000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}</a:t>
                      </a:r>
                      <a:endParaRPr sz="1000" b="0" i="0" u="none" strike="noStrike" cap="none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53150" marR="53150" marT="26575" marB="2657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FF"/>
                    </a:solidFill>
                  </a:tcPr>
                </a:tc>
              </a:tr>
            </a:tbl>
          </a:graphicData>
        </a:graphic>
      </p:graphicFrame>
      <p:sp>
        <p:nvSpPr>
          <p:cNvPr id="159" name="Google Shape;159;p19"/>
          <p:cNvSpPr txBox="1"/>
          <p:nvPr/>
        </p:nvSpPr>
        <p:spPr>
          <a:xfrm>
            <a:off x="2339752" y="5877272"/>
            <a:ext cx="4464496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 Insert elements to a set</a:t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0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Maps</a:t>
            </a:r>
            <a:endParaRPr/>
          </a:p>
        </p:txBody>
      </p:sp>
      <p:pic>
        <p:nvPicPr>
          <p:cNvPr id="165" name="Google Shape;165;p20" descr="j0312176"/>
          <p:cNvPicPr preferRelativeResize="0">
            <a:picLocks noGrp="1"/>
          </p:cNvPicPr>
          <p:nvPr>
            <p:ph type="body" idx="1"/>
          </p:nvPr>
        </p:nvPicPr>
        <p:blipFill rotWithShape="1">
          <a:blip r:embed="rId3">
            <a:alphaModFix/>
          </a:blip>
          <a:srcRect/>
          <a:stretch/>
        </p:blipFill>
        <p:spPr>
          <a:xfrm>
            <a:off x="7315200" y="304800"/>
            <a:ext cx="1425575" cy="1447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20" descr="Rectangle: Click to edit Master text styles&#10;Second level&#10;Third level&#10;Fourth level&#10;Fifth level"/>
          <p:cNvSpPr txBox="1">
            <a:spLocks noGrp="1"/>
          </p:cNvSpPr>
          <p:nvPr>
            <p:ph type="body" idx="4294967295"/>
          </p:nvPr>
        </p:nvSpPr>
        <p:spPr>
          <a:xfrm>
            <a:off x="755650" y="1989138"/>
            <a:ext cx="7848600" cy="43354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map models a searchable collection of key-value entries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Multiple entries with the same key are </a:t>
            </a:r>
            <a:r>
              <a:rPr lang="en-US" sz="24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not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allowed</a:t>
            </a:r>
            <a:endParaRPr/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167" name="Google Shape;167;p20"/>
          <p:cNvGraphicFramePr/>
          <p:nvPr/>
        </p:nvGraphicFramePr>
        <p:xfrm>
          <a:off x="1403648" y="3573016"/>
          <a:ext cx="6096000" cy="2248925"/>
        </p:xfrm>
        <a:graphic>
          <a:graphicData uri="http://schemas.openxmlformats.org/drawingml/2006/table">
            <a:tbl>
              <a:tblPr firstRow="1" bandRow="1">
                <a:noFill/>
                <a:tableStyleId>{3FD1FBFC-49AE-4151-AE41-D187641FCE7F}</a:tableStyleId>
              </a:tblPr>
              <a:tblGrid>
                <a:gridCol w="3048000"/>
                <a:gridCol w="3048000"/>
              </a:tblGrid>
              <a:tr h="36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u="none" strike="noStrike" cap="none"/>
                        <a:t>Key</a:t>
                      </a:r>
                      <a:endParaRPr sz="1800"/>
                    </a:p>
                  </a:txBody>
                  <a:tcPr marL="91450" marR="91450" marT="45675" marB="45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 sz="1800"/>
                    </a:p>
                  </a:txBody>
                  <a:tcPr marL="91450" marR="91450" marT="45675" marB="45675"/>
                </a:tc>
              </a:tr>
              <a:tr h="36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0000001</a:t>
                      </a:r>
                      <a:endParaRPr sz="1800"/>
                    </a:p>
                  </a:txBody>
                  <a:tcPr marL="91450" marR="91450" marT="45675" marB="45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Le Sy Vinh</a:t>
                      </a:r>
                      <a:endParaRPr sz="1800"/>
                    </a:p>
                  </a:txBody>
                  <a:tcPr marL="91450" marR="91450" marT="45675" marB="45675"/>
                </a:tc>
              </a:tr>
              <a:tr h="4205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0000002</a:t>
                      </a:r>
                      <a:endParaRPr sz="1800"/>
                    </a:p>
                  </a:txBody>
                  <a:tcPr marL="91450" marR="91450" marT="45675" marB="45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Nguyen Van An</a:t>
                      </a:r>
                      <a:endParaRPr sz="1800"/>
                    </a:p>
                  </a:txBody>
                  <a:tcPr marL="91450" marR="91450" marT="45675" marB="45675"/>
                </a:tc>
              </a:tr>
              <a:tr h="36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0000003</a:t>
                      </a:r>
                      <a:endParaRPr sz="1800"/>
                    </a:p>
                  </a:txBody>
                  <a:tcPr marL="91450" marR="91450" marT="45675" marB="45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Tran Quoc Hung</a:t>
                      </a:r>
                      <a:endParaRPr sz="1800"/>
                    </a:p>
                  </a:txBody>
                  <a:tcPr marL="91450" marR="91450" marT="45675" marB="45675"/>
                </a:tc>
              </a:tr>
              <a:tr h="36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675" marB="45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675" marB="45675"/>
                </a:tc>
              </a:tr>
              <a:tr h="365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675" marB="45675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675" marB="45675"/>
                </a:tc>
              </a:tr>
            </a:tbl>
          </a:graphicData>
        </a:graphic>
      </p:graphicFrame>
      <p:sp>
        <p:nvSpPr>
          <p:cNvPr id="168" name="Google Shape;168;p2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map operations</a:t>
            </a:r>
            <a:endParaRPr/>
          </a:p>
        </p:txBody>
      </p:sp>
      <p:sp>
        <p:nvSpPr>
          <p:cNvPr id="174" name="Google Shape;174;p21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16113"/>
            <a:ext cx="7772400" cy="44846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(k): if the map M has an entry with key k, return its associated value; else, return null 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(k, v): insert entry (k, v) into the map M; if key k is not already in M, then return null; else, return old value associated with k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(k): if the map M has an entry with key k, remove it from M and return its associated value; else, return null </a:t>
            </a:r>
            <a:endParaRPr/>
          </a:p>
        </p:txBody>
      </p:sp>
      <p:sp>
        <p:nvSpPr>
          <p:cNvPr id="175" name="Google Shape;175;p2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2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</a:t>
            </a:r>
            <a:endParaRPr/>
          </a:p>
        </p:txBody>
      </p:sp>
      <p:sp>
        <p:nvSpPr>
          <p:cNvPr id="181" name="Google Shape;181;p22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89138"/>
            <a:ext cx="7848600" cy="40306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Operation	Output		Map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1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,C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,C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,C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		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get(7)		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get(4)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get(2)		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(5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,A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remove(5)	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(2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,E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remove(2)	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get(2)		</a:t>
            </a:r>
            <a:r>
              <a:rPr lang="en-US" sz="18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null		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(7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,B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(8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,D</a:t>
            </a:r>
            <a:r>
              <a:rPr lang="en-US" sz="1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</a:t>
            </a:r>
            <a:r>
              <a:rPr lang="en-US" sz="1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</p:txBody>
      </p:sp>
      <p:sp>
        <p:nvSpPr>
          <p:cNvPr id="182" name="Google Shape;182;p2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23"/>
          <p:cNvGrpSpPr/>
          <p:nvPr/>
        </p:nvGrpSpPr>
        <p:grpSpPr>
          <a:xfrm>
            <a:off x="2225675" y="4500563"/>
            <a:ext cx="609600" cy="304800"/>
            <a:chOff x="4992" y="3456"/>
            <a:chExt cx="384" cy="192"/>
          </a:xfrm>
        </p:grpSpPr>
        <p:sp>
          <p:nvSpPr>
            <p:cNvPr id="189" name="Google Shape;189;p23"/>
            <p:cNvSpPr/>
            <p:nvPr/>
          </p:nvSpPr>
          <p:spPr>
            <a:xfrm>
              <a:off x="4992" y="3456"/>
              <a:ext cx="384" cy="192"/>
            </a:xfrm>
            <a:prstGeom prst="roundRect">
              <a:avLst>
                <a:gd name="adj" fmla="val 16667"/>
              </a:avLst>
            </a:prstGeom>
            <a:solidFill>
              <a:srgbClr val="F8F0D0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0" name="Google Shape;190;p23"/>
            <p:cNvCxnSpPr/>
            <p:nvPr/>
          </p:nvCxnSpPr>
          <p:spPr>
            <a:xfrm>
              <a:off x="5184" y="3456"/>
              <a:ext cx="0" cy="192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1" name="Google Shape;191;p23"/>
          <p:cNvGrpSpPr/>
          <p:nvPr/>
        </p:nvGrpSpPr>
        <p:grpSpPr>
          <a:xfrm>
            <a:off x="3825875" y="4500563"/>
            <a:ext cx="609600" cy="304800"/>
            <a:chOff x="4992" y="3456"/>
            <a:chExt cx="384" cy="192"/>
          </a:xfrm>
        </p:grpSpPr>
        <p:sp>
          <p:nvSpPr>
            <p:cNvPr id="192" name="Google Shape;192;p23"/>
            <p:cNvSpPr/>
            <p:nvPr/>
          </p:nvSpPr>
          <p:spPr>
            <a:xfrm>
              <a:off x="4992" y="3456"/>
              <a:ext cx="384" cy="192"/>
            </a:xfrm>
            <a:prstGeom prst="roundRect">
              <a:avLst>
                <a:gd name="adj" fmla="val 16667"/>
              </a:avLst>
            </a:prstGeom>
            <a:solidFill>
              <a:srgbClr val="F8F0D0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3" name="Google Shape;193;p23"/>
            <p:cNvCxnSpPr/>
            <p:nvPr/>
          </p:nvCxnSpPr>
          <p:spPr>
            <a:xfrm>
              <a:off x="5184" y="3456"/>
              <a:ext cx="0" cy="192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94" name="Google Shape;194;p23"/>
          <p:cNvGrpSpPr/>
          <p:nvPr/>
        </p:nvGrpSpPr>
        <p:grpSpPr>
          <a:xfrm>
            <a:off x="5273675" y="4500563"/>
            <a:ext cx="609600" cy="304800"/>
            <a:chOff x="4992" y="3456"/>
            <a:chExt cx="384" cy="192"/>
          </a:xfrm>
        </p:grpSpPr>
        <p:sp>
          <p:nvSpPr>
            <p:cNvPr id="195" name="Google Shape;195;p23"/>
            <p:cNvSpPr/>
            <p:nvPr/>
          </p:nvSpPr>
          <p:spPr>
            <a:xfrm>
              <a:off x="4992" y="3456"/>
              <a:ext cx="384" cy="192"/>
            </a:xfrm>
            <a:prstGeom prst="roundRect">
              <a:avLst>
                <a:gd name="adj" fmla="val 16667"/>
              </a:avLst>
            </a:prstGeom>
            <a:solidFill>
              <a:srgbClr val="F8F0D0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196" name="Google Shape;196;p23"/>
            <p:cNvCxnSpPr/>
            <p:nvPr/>
          </p:nvCxnSpPr>
          <p:spPr>
            <a:xfrm>
              <a:off x="5184" y="3456"/>
              <a:ext cx="0" cy="192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97" name="Google Shape;197;p23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Simple List-Based Map</a:t>
            </a:r>
            <a:endParaRPr/>
          </a:p>
        </p:txBody>
      </p:sp>
      <p:sp>
        <p:nvSpPr>
          <p:cNvPr id="198" name="Google Shape;198;p23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752600"/>
            <a:ext cx="7696200" cy="1389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We can easily implement a map using a singly linked list</a:t>
            </a:r>
            <a:endParaRPr/>
          </a:p>
        </p:txBody>
      </p:sp>
      <p:sp>
        <p:nvSpPr>
          <p:cNvPr id="199" name="Google Shape;199;p23"/>
          <p:cNvSpPr/>
          <p:nvPr/>
        </p:nvSpPr>
        <p:spPr>
          <a:xfrm>
            <a:off x="22256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0" name="Google Shape;200;p23"/>
          <p:cNvSpPr/>
          <p:nvPr/>
        </p:nvSpPr>
        <p:spPr>
          <a:xfrm>
            <a:off x="25304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2682875" y="3752850"/>
            <a:ext cx="1039813" cy="133350"/>
          </a:xfrm>
          <a:custGeom>
            <a:avLst/>
            <a:gdLst/>
            <a:ahLst/>
            <a:cxnLst/>
            <a:rect l="l" t="t" r="r" b="b"/>
            <a:pathLst>
              <a:path w="480" h="88" extrusionOk="0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2" name="Google Shape;202;p23"/>
          <p:cNvSpPr/>
          <p:nvPr/>
        </p:nvSpPr>
        <p:spPr>
          <a:xfrm>
            <a:off x="37496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23"/>
          <p:cNvSpPr/>
          <p:nvPr/>
        </p:nvSpPr>
        <p:spPr>
          <a:xfrm>
            <a:off x="40544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3"/>
          <p:cNvSpPr/>
          <p:nvPr/>
        </p:nvSpPr>
        <p:spPr>
          <a:xfrm>
            <a:off x="4206875" y="3752850"/>
            <a:ext cx="1028700" cy="133350"/>
          </a:xfrm>
          <a:custGeom>
            <a:avLst/>
            <a:gdLst/>
            <a:ahLst/>
            <a:cxnLst/>
            <a:rect l="l" t="t" r="r" b="b"/>
            <a:pathLst>
              <a:path w="480" h="88" extrusionOk="0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3"/>
          <p:cNvSpPr/>
          <p:nvPr/>
        </p:nvSpPr>
        <p:spPr>
          <a:xfrm>
            <a:off x="52736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6" name="Google Shape;206;p23"/>
          <p:cNvSpPr/>
          <p:nvPr/>
        </p:nvSpPr>
        <p:spPr>
          <a:xfrm>
            <a:off x="55784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23"/>
          <p:cNvSpPr/>
          <p:nvPr/>
        </p:nvSpPr>
        <p:spPr>
          <a:xfrm>
            <a:off x="5730875" y="3752850"/>
            <a:ext cx="1089025" cy="133350"/>
          </a:xfrm>
          <a:custGeom>
            <a:avLst/>
            <a:gdLst/>
            <a:ahLst/>
            <a:cxnLst/>
            <a:rect l="l" t="t" r="r" b="b"/>
            <a:pathLst>
              <a:path w="480" h="88" extrusionOk="0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67976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23"/>
          <p:cNvSpPr/>
          <p:nvPr/>
        </p:nvSpPr>
        <p:spPr>
          <a:xfrm>
            <a:off x="7102475" y="3738563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0" name="Google Shape;210;p23"/>
          <p:cNvSpPr/>
          <p:nvPr/>
        </p:nvSpPr>
        <p:spPr>
          <a:xfrm>
            <a:off x="2305050" y="3890963"/>
            <a:ext cx="168275" cy="552450"/>
          </a:xfrm>
          <a:custGeom>
            <a:avLst/>
            <a:gdLst/>
            <a:ahLst/>
            <a:cxnLst/>
            <a:rect l="l" t="t" r="r" b="b"/>
            <a:pathLst>
              <a:path w="106" h="348" extrusionOk="0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1" name="Google Shape;211;p23"/>
          <p:cNvSpPr/>
          <p:nvPr/>
        </p:nvSpPr>
        <p:spPr>
          <a:xfrm>
            <a:off x="3825875" y="3890963"/>
            <a:ext cx="168275" cy="552450"/>
          </a:xfrm>
          <a:custGeom>
            <a:avLst/>
            <a:gdLst/>
            <a:ahLst/>
            <a:cxnLst/>
            <a:rect l="l" t="t" r="r" b="b"/>
            <a:pathLst>
              <a:path w="106" h="348" extrusionOk="0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2" name="Google Shape;212;p23"/>
          <p:cNvSpPr/>
          <p:nvPr/>
        </p:nvSpPr>
        <p:spPr>
          <a:xfrm>
            <a:off x="5346700" y="3890963"/>
            <a:ext cx="168275" cy="552450"/>
          </a:xfrm>
          <a:custGeom>
            <a:avLst/>
            <a:gdLst/>
            <a:ahLst/>
            <a:cxnLst/>
            <a:rect l="l" t="t" r="r" b="b"/>
            <a:pathLst>
              <a:path w="106" h="348" extrusionOk="0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3" name="Google Shape;213;p23"/>
          <p:cNvSpPr/>
          <p:nvPr/>
        </p:nvSpPr>
        <p:spPr>
          <a:xfrm>
            <a:off x="6867525" y="3890963"/>
            <a:ext cx="168275" cy="552450"/>
          </a:xfrm>
          <a:custGeom>
            <a:avLst/>
            <a:gdLst/>
            <a:ahLst/>
            <a:cxnLst/>
            <a:rect l="l" t="t" r="r" b="b"/>
            <a:pathLst>
              <a:path w="106" h="348" extrusionOk="0">
                <a:moveTo>
                  <a:pt x="46" y="0"/>
                </a:moveTo>
                <a:cubicBezTo>
                  <a:pt x="40" y="31"/>
                  <a:pt x="0" y="128"/>
                  <a:pt x="10" y="186"/>
                </a:cubicBezTo>
                <a:cubicBezTo>
                  <a:pt x="20" y="244"/>
                  <a:pt x="86" y="314"/>
                  <a:pt x="106" y="348"/>
                </a:cubicBezTo>
              </a:path>
            </a:pathLst>
          </a:custGeom>
          <a:noFill/>
          <a:ln w="1905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4" name="Google Shape;214;p23"/>
          <p:cNvSpPr/>
          <p:nvPr/>
        </p:nvSpPr>
        <p:spPr>
          <a:xfrm>
            <a:off x="1490663" y="3743325"/>
            <a:ext cx="762000" cy="139700"/>
          </a:xfrm>
          <a:custGeom>
            <a:avLst/>
            <a:gdLst/>
            <a:ahLst/>
            <a:cxnLst/>
            <a:rect l="l" t="t" r="r" b="b"/>
            <a:pathLst>
              <a:path w="480" h="88" extrusionOk="0">
                <a:moveTo>
                  <a:pt x="0" y="87"/>
                </a:moveTo>
                <a:cubicBezTo>
                  <a:pt x="39" y="73"/>
                  <a:pt x="157" y="0"/>
                  <a:pt x="237" y="0"/>
                </a:cubicBezTo>
                <a:cubicBezTo>
                  <a:pt x="317" y="0"/>
                  <a:pt x="430" y="70"/>
                  <a:pt x="480" y="88"/>
                </a:cubicBezTo>
              </a:path>
            </a:pathLst>
          </a:cu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3"/>
          <p:cNvSpPr txBox="1"/>
          <p:nvPr/>
        </p:nvSpPr>
        <p:spPr>
          <a:xfrm>
            <a:off x="684213" y="3644900"/>
            <a:ext cx="754062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head</a:t>
            </a:r>
            <a:endParaRPr/>
          </a:p>
        </p:txBody>
      </p:sp>
      <p:sp>
        <p:nvSpPr>
          <p:cNvPr id="216" name="Google Shape;216;p23"/>
          <p:cNvSpPr/>
          <p:nvPr/>
        </p:nvSpPr>
        <p:spPr>
          <a:xfrm>
            <a:off x="1692275" y="3357563"/>
            <a:ext cx="5867400" cy="8382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1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7" name="Google Shape;217;p23"/>
          <p:cNvSpPr/>
          <p:nvPr/>
        </p:nvSpPr>
        <p:spPr>
          <a:xfrm>
            <a:off x="1920875" y="4348163"/>
            <a:ext cx="5638800" cy="914400"/>
          </a:xfrm>
          <a:prstGeom prst="roundRect">
            <a:avLst>
              <a:gd name="adj" fmla="val 16667"/>
            </a:avLst>
          </a:prstGeom>
          <a:noFill/>
          <a:ln w="9525" cap="flat" cmpd="sng">
            <a:solidFill>
              <a:schemeClr val="dk2"/>
            </a:solidFill>
            <a:prstDash val="lgDash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8" name="Google Shape;218;p23"/>
          <p:cNvSpPr txBox="1"/>
          <p:nvPr/>
        </p:nvSpPr>
        <p:spPr>
          <a:xfrm>
            <a:off x="6492874" y="4881564"/>
            <a:ext cx="1089611" cy="3656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entries</a:t>
            </a:r>
            <a:endParaRPr/>
          </a:p>
        </p:txBody>
      </p:sp>
      <p:sp>
        <p:nvSpPr>
          <p:cNvPr id="219" name="Google Shape;219;p23"/>
          <p:cNvSpPr txBox="1"/>
          <p:nvPr/>
        </p:nvSpPr>
        <p:spPr>
          <a:xfrm>
            <a:off x="2195513" y="4440238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220" name="Google Shape;220;p23"/>
          <p:cNvSpPr txBox="1"/>
          <p:nvPr/>
        </p:nvSpPr>
        <p:spPr>
          <a:xfrm>
            <a:off x="2484438" y="4438650"/>
            <a:ext cx="2968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221" name="Google Shape;221;p23"/>
          <p:cNvSpPr txBox="1"/>
          <p:nvPr/>
        </p:nvSpPr>
        <p:spPr>
          <a:xfrm>
            <a:off x="3795713" y="4440238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222" name="Google Shape;222;p23"/>
          <p:cNvSpPr txBox="1"/>
          <p:nvPr/>
        </p:nvSpPr>
        <p:spPr>
          <a:xfrm>
            <a:off x="4084638" y="4438650"/>
            <a:ext cx="2968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223" name="Google Shape;223;p23"/>
          <p:cNvSpPr txBox="1"/>
          <p:nvPr/>
        </p:nvSpPr>
        <p:spPr>
          <a:xfrm>
            <a:off x="5243513" y="442595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5532438" y="4424363"/>
            <a:ext cx="2968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grpSp>
        <p:nvGrpSpPr>
          <p:cNvPr id="225" name="Google Shape;225;p23"/>
          <p:cNvGrpSpPr/>
          <p:nvPr/>
        </p:nvGrpSpPr>
        <p:grpSpPr>
          <a:xfrm>
            <a:off x="6721475" y="4500563"/>
            <a:ext cx="609600" cy="304800"/>
            <a:chOff x="4992" y="3456"/>
            <a:chExt cx="384" cy="192"/>
          </a:xfrm>
        </p:grpSpPr>
        <p:sp>
          <p:nvSpPr>
            <p:cNvPr id="226" name="Google Shape;226;p23"/>
            <p:cNvSpPr/>
            <p:nvPr/>
          </p:nvSpPr>
          <p:spPr>
            <a:xfrm>
              <a:off x="4992" y="3456"/>
              <a:ext cx="384" cy="192"/>
            </a:xfrm>
            <a:prstGeom prst="roundRect">
              <a:avLst>
                <a:gd name="adj" fmla="val 16667"/>
              </a:avLst>
            </a:prstGeom>
            <a:solidFill>
              <a:srgbClr val="F8F0D0"/>
            </a:solidFill>
            <a:ln w="19050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cxnSp>
          <p:nvCxnSpPr>
            <p:cNvPr id="227" name="Google Shape;227;p23"/>
            <p:cNvCxnSpPr/>
            <p:nvPr/>
          </p:nvCxnSpPr>
          <p:spPr>
            <a:xfrm>
              <a:off x="5184" y="3456"/>
              <a:ext cx="0" cy="192"/>
            </a:xfrm>
            <a:prstGeom prst="straightConnector1">
              <a:avLst/>
            </a:prstGeom>
            <a:noFill/>
            <a:ln w="19050" cap="flat" cmpd="sng">
              <a:solidFill>
                <a:schemeClr val="dk2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8" name="Google Shape;228;p23"/>
          <p:cNvSpPr txBox="1"/>
          <p:nvPr/>
        </p:nvSpPr>
        <p:spPr>
          <a:xfrm>
            <a:off x="6767513" y="4425950"/>
            <a:ext cx="311150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7056438" y="4424363"/>
            <a:ext cx="296862" cy="3968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1" i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</a:t>
            </a:r>
            <a:endParaRPr/>
          </a:p>
        </p:txBody>
      </p:sp>
      <p:sp>
        <p:nvSpPr>
          <p:cNvPr id="230" name="Google Shape;230;p2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4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get(k) Algorithm</a:t>
            </a:r>
            <a:endParaRPr/>
          </a:p>
        </p:txBody>
      </p:sp>
      <p:sp>
        <p:nvSpPr>
          <p:cNvPr id="236" name="Google Shape;236;p24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8001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get(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p = head;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while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is not null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if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p→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=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	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return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p→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p = p→next;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null </a:t>
            </a: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{there is no entry with key equal to </a:t>
            </a:r>
            <a:r>
              <a:rPr lang="en-US" sz="2400" b="0" i="1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1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Complexity?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37" name="Google Shape;237;p2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5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put(k,v) Algorithm</a:t>
            </a:r>
            <a:endParaRPr/>
          </a:p>
        </p:txBody>
      </p:sp>
      <p:sp>
        <p:nvSpPr>
          <p:cNvPr id="243" name="Google Shape;243;p2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80010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k,v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			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p = head;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while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is not null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p.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=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  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	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p→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value;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p→element.value = v;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	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{return the old value};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p = p→next;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insertLast((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k,v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));		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null	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{there was no previous entry with key equal to </a:t>
            </a:r>
            <a:r>
              <a:rPr lang="en-US" sz="2000" b="0" i="1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};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Complexity?</a:t>
            </a:r>
            <a:endParaRPr sz="1800" b="0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44" name="Google Shape;244;p2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6"/>
          <p:cNvSpPr txBox="1">
            <a:spLocks noGrp="1"/>
          </p:cNvSpPr>
          <p:nvPr>
            <p:ph type="title"/>
          </p:nvPr>
        </p:nvSpPr>
        <p:spPr>
          <a:xfrm>
            <a:off x="685800" y="422275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remove(k) Algorithm</a:t>
            </a:r>
            <a:endParaRPr/>
          </a:p>
        </p:txBody>
      </p:sp>
      <p:sp>
        <p:nvSpPr>
          <p:cNvPr id="250" name="Google Shape;250;p2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82296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remove(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	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p = head;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while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 is not null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do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if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p.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key =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  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then	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=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p→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element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value;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remove (p);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	</a:t>
            </a: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return 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  </a:t>
            </a: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{return the old value};</a:t>
            </a:r>
            <a:r>
              <a:rPr lang="en-US" sz="24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	p = p→next; 	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null </a:t>
            </a: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{there is no entry with key equal to </a:t>
            </a:r>
            <a:r>
              <a:rPr lang="en-US" sz="2400" b="0" i="1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};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Complexity?</a:t>
            </a:r>
            <a:endParaRPr/>
          </a:p>
        </p:txBody>
      </p:sp>
      <p:sp>
        <p:nvSpPr>
          <p:cNvPr id="251" name="Google Shape;251;p2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Performance of a List-Based Map</a:t>
            </a:r>
            <a:endParaRPr/>
          </a:p>
        </p:txBody>
      </p:sp>
      <p:sp>
        <p:nvSpPr>
          <p:cNvPr id="257" name="Google Shape;257;p2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89138"/>
            <a:ext cx="7772400" cy="4106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(k):  O(n)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(k, v):  O(n)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Noto Sans Symbols"/>
              <a:buChar char="➢"/>
            </a:pPr>
            <a:r>
              <a:rPr lang="en-US" sz="24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(k): O(n)</a:t>
            </a:r>
            <a:endParaRPr/>
          </a:p>
          <a:p>
            <a:pPr marL="342900" marR="0" lvl="0" indent="-19050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Need a data structure to implement map efficiently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58" name="Google Shape;258;p2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8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Using map library</a:t>
            </a:r>
            <a:endParaRPr/>
          </a:p>
        </p:txBody>
      </p:sp>
      <p:sp>
        <p:nvSpPr>
          <p:cNvPr id="264" name="Google Shape;264;p2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265" name="Google Shape;265;p28"/>
          <p:cNvGraphicFramePr/>
          <p:nvPr/>
        </p:nvGraphicFramePr>
        <p:xfrm>
          <a:off x="2051720" y="2204864"/>
          <a:ext cx="4896550" cy="3561925"/>
        </p:xfrm>
        <a:graphic>
          <a:graphicData uri="http://schemas.openxmlformats.org/drawingml/2006/table">
            <a:tbl>
              <a:tblPr>
                <a:noFill/>
                <a:tableStyleId>{C0A538C6-32B3-4E5F-A80F-B44198F3D54E}</a:tableStyleId>
              </a:tblPr>
              <a:tblGrid>
                <a:gridCol w="4896550"/>
              </a:tblGrid>
              <a:tr h="356192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#include &lt;iostream&gt;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#include &lt;string&gt;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#include &lt;map&gt;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>
                        <a:solidFill>
                          <a:srgbClr val="007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int main (){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std::map&lt;char,int&gt; mymap;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mymap['a']=10;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mymap['b']=20;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mymap['c']=30;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 b="0" i="0">
                        <a:solidFill>
                          <a:srgbClr val="007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mymap.at('a') = 15;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mymap.at('b') = 50;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std::map&lt;char,int&gt;::iterator it;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for (it=mymap.begin(); it!=mymap.end(); ++it)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    std::cout &lt;&lt; it-&gt;first &lt;&lt; ": " &lt;&lt; it-&gt;second &lt;&lt; '\n';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    return 0;</a:t>
                      </a:r>
                      <a:endParaRPr/>
                    </a:p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200" b="0" i="0">
                          <a:solidFill>
                            <a:srgbClr val="007000"/>
                          </a:solidFill>
                          <a:latin typeface="Verdana"/>
                          <a:ea typeface="Verdana"/>
                          <a:cs typeface="Verdana"/>
                          <a:sym typeface="Verdana"/>
                        </a:rPr>
                        <a:t>}</a:t>
                      </a:r>
                      <a:endParaRPr sz="1200" b="0" i="0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27850" marR="27850" marT="13925" marB="1392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Simple map</a:t>
            </a:r>
            <a:endParaRPr/>
          </a:p>
        </p:txBody>
      </p:sp>
      <p:sp>
        <p:nvSpPr>
          <p:cNvPr id="271" name="Google Shape;271;p29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55576" y="2078757"/>
            <a:ext cx="7772400" cy="4086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How to implement a simple map whose keys are integer numbers in range 0…1000?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None/>
            </a:pP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graphicFrame>
        <p:nvGraphicFramePr>
          <p:cNvPr id="272" name="Google Shape;272;p29"/>
          <p:cNvGraphicFramePr/>
          <p:nvPr/>
        </p:nvGraphicFramePr>
        <p:xfrm>
          <a:off x="1572344" y="2996952"/>
          <a:ext cx="6096000" cy="741350"/>
        </p:xfrm>
        <a:graphic>
          <a:graphicData uri="http://schemas.openxmlformats.org/drawingml/2006/table">
            <a:tbl>
              <a:tblPr firstRow="1" bandRow="1">
                <a:noFill/>
                <a:tableStyleId>{88447AB1-F131-4BD1-A201-F5CB30871751}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Key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1000</a:t>
                      </a:r>
                      <a:endParaRPr sz="1800"/>
                    </a:p>
                  </a:txBody>
                  <a:tcPr marL="91450" marR="91450" marT="45700" marB="45700"/>
                </a:tc>
              </a:tr>
              <a:tr h="37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91450" marR="91450" marT="45700" marB="45700"/>
                </a:tc>
              </a:tr>
            </a:tbl>
          </a:graphicData>
        </a:graphic>
      </p:graphicFrame>
      <p:graphicFrame>
        <p:nvGraphicFramePr>
          <p:cNvPr id="273" name="Google Shape;273;p29"/>
          <p:cNvGraphicFramePr/>
          <p:nvPr/>
        </p:nvGraphicFramePr>
        <p:xfrm>
          <a:off x="1042988" y="4076700"/>
          <a:ext cx="7129500" cy="741350"/>
        </p:xfrm>
        <a:graphic>
          <a:graphicData uri="http://schemas.openxmlformats.org/drawingml/2006/table">
            <a:tbl>
              <a:tblPr firstRow="1" bandRow="1">
                <a:noFill/>
                <a:tableStyleId>{FD9FBFB1-054C-4FA9-A618-B47986797892}</a:tableStyleId>
              </a:tblPr>
              <a:tblGrid>
                <a:gridCol w="712950"/>
                <a:gridCol w="712950"/>
                <a:gridCol w="712950"/>
                <a:gridCol w="712950"/>
                <a:gridCol w="712950"/>
                <a:gridCol w="712950"/>
                <a:gridCol w="712950"/>
                <a:gridCol w="712950"/>
                <a:gridCol w="712950"/>
                <a:gridCol w="712950"/>
              </a:tblGrid>
              <a:tr h="37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500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1000</a:t>
                      </a:r>
                      <a:endParaRPr sz="1800"/>
                    </a:p>
                  </a:txBody>
                  <a:tcPr marL="91450" marR="91450" marT="45700" marB="45700"/>
                </a:tc>
              </a:tr>
              <a:tr h="37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91450" marR="91450" marT="45700" marB="45700"/>
                </a:tc>
              </a:tr>
            </a:tbl>
          </a:graphicData>
        </a:graphic>
      </p:graphicFrame>
      <p:sp>
        <p:nvSpPr>
          <p:cNvPr id="274" name="Google Shape;274;p29"/>
          <p:cNvSpPr txBox="1"/>
          <p:nvPr/>
        </p:nvSpPr>
        <p:spPr>
          <a:xfrm>
            <a:off x="1331913" y="4941888"/>
            <a:ext cx="6985000" cy="4603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Using an array of 1001 elements to store a map</a:t>
            </a:r>
            <a:endParaRPr/>
          </a:p>
        </p:txBody>
      </p:sp>
      <p:sp>
        <p:nvSpPr>
          <p:cNvPr id="275" name="Google Shape;275;p2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 txBox="1">
            <a:spLocks noGrp="1"/>
          </p:cNvSpPr>
          <p:nvPr>
            <p:ph type="title"/>
          </p:nvPr>
        </p:nvSpPr>
        <p:spPr>
          <a:xfrm>
            <a:off x="107950" y="457200"/>
            <a:ext cx="8640763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 of simple map operations</a:t>
            </a:r>
            <a:endParaRPr/>
          </a:p>
        </p:txBody>
      </p:sp>
      <p:sp>
        <p:nvSpPr>
          <p:cNvPr id="281" name="Google Shape;281;p30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844675"/>
            <a:ext cx="7772400" cy="4556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</a:t>
            </a: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(k): 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M[k];	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 Complexity: O(1)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</a:t>
            </a: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(k, v): 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old_value = M[k]; 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M[k] = v; </a:t>
            </a:r>
            <a:endParaRPr/>
          </a:p>
          <a:p>
            <a:pPr marL="457200" marR="0" lvl="1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old_value;</a:t>
            </a:r>
            <a:endParaRPr sz="2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457200" marR="0" lvl="1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Complexity: O(1)</a:t>
            </a:r>
            <a:endParaRPr/>
          </a:p>
          <a:p>
            <a:pPr marL="342900" marR="0" lvl="0" indent="-34290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2200"/>
              <a:buFont typeface="Noto Sans Symbols"/>
              <a:buChar char="➢"/>
            </a:pPr>
            <a:r>
              <a:rPr lang="en-US" sz="22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</a:t>
            </a: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(k): 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M[k] = Null;</a:t>
            </a:r>
            <a:endParaRPr/>
          </a:p>
          <a:p>
            <a:pPr marL="0" marR="0" lvl="0" indent="0" algn="l" rtl="0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rPr lang="en-US" sz="22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   Complexity: O(1)</a:t>
            </a:r>
            <a:endParaRPr sz="22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82" name="Google Shape;282;p3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18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31"/>
          <p:cNvSpPr txBox="1">
            <a:spLocks noGrp="1"/>
          </p:cNvSpPr>
          <p:nvPr>
            <p:ph type="ctrTitle"/>
          </p:nvPr>
        </p:nvSpPr>
        <p:spPr>
          <a:xfrm>
            <a:off x="914400" y="1676400"/>
            <a:ext cx="7772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Hash Tables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"/>
          <p:cNvSpPr txBox="1">
            <a:spLocks noGrp="1"/>
          </p:cNvSpPr>
          <p:nvPr>
            <p:ph type="title"/>
          </p:nvPr>
        </p:nvSpPr>
        <p:spPr>
          <a:xfrm>
            <a:off x="609600" y="381000"/>
            <a:ext cx="57150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Hash Functions</a:t>
            </a:r>
            <a:endParaRPr/>
          </a:p>
        </p:txBody>
      </p:sp>
      <p:sp>
        <p:nvSpPr>
          <p:cNvPr id="296" name="Google Shape;296;p32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83568" y="2060848"/>
            <a:ext cx="8001000" cy="36877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hash function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maps keys of a given type to integers in a fixed interval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[0,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1" i="1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− 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1]. </a:t>
            </a: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The integer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</a:t>
            </a: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is called the </a:t>
            </a:r>
            <a:r>
              <a:rPr lang="en-US" sz="2000" b="0" i="0" u="none" strike="noStrike" cap="none">
                <a:solidFill>
                  <a:schemeClr val="dk2"/>
                </a:solidFill>
                <a:latin typeface="Verdana"/>
                <a:ea typeface="Verdana"/>
                <a:cs typeface="Verdana"/>
                <a:sym typeface="Verdana"/>
              </a:rPr>
              <a:t>hash value</a:t>
            </a: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 of key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endParaRPr/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Times New Roman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    </a:t>
            </a:r>
            <a:r>
              <a:rPr lang="en-US" sz="2000" b="0" i="0" u="none" strike="noStrike" cap="none">
                <a:solidFill>
                  <a:schemeClr val="dk1"/>
                </a:solidFill>
                <a:latin typeface="Verdana"/>
                <a:ea typeface="Verdana"/>
                <a:cs typeface="Verdana"/>
                <a:sym typeface="Verdana"/>
              </a:rPr>
              <a:t>Example: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0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mod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b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2000" b="1" i="1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297" name="Google Shape;297;p3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77013" y="130175"/>
            <a:ext cx="2109787" cy="1774825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8" name="Google Shape;298;p32"/>
          <p:cNvGraphicFramePr/>
          <p:nvPr/>
        </p:nvGraphicFramePr>
        <p:xfrm>
          <a:off x="1187624" y="4077072"/>
          <a:ext cx="6096000" cy="1112850"/>
        </p:xfrm>
        <a:graphic>
          <a:graphicData uri="http://schemas.openxmlformats.org/drawingml/2006/table">
            <a:tbl>
              <a:tblPr firstRow="1" bandRow="1">
                <a:noFill/>
                <a:tableStyleId>{88447AB1-F131-4BD1-A201-F5CB30871751}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Key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1005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h(key)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299" name="Google Shape;299;p32"/>
          <p:cNvSpPr txBox="1"/>
          <p:nvPr/>
        </p:nvSpPr>
        <p:spPr>
          <a:xfrm>
            <a:off x="2411413" y="5229225"/>
            <a:ext cx="3529012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h(key) = key mod 1000</a:t>
            </a:r>
            <a:endParaRPr/>
          </a:p>
        </p:txBody>
      </p:sp>
      <p:sp>
        <p:nvSpPr>
          <p:cNvPr id="300" name="Google Shape;300;p32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20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3"/>
          <p:cNvSpPr txBox="1">
            <a:spLocks noGrp="1"/>
          </p:cNvSpPr>
          <p:nvPr>
            <p:ph type="title"/>
          </p:nvPr>
        </p:nvSpPr>
        <p:spPr>
          <a:xfrm>
            <a:off x="2339975" y="381000"/>
            <a:ext cx="3984625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Hash Tables </a:t>
            </a:r>
            <a:endParaRPr/>
          </a:p>
        </p:txBody>
      </p:sp>
      <p:graphicFrame>
        <p:nvGraphicFramePr>
          <p:cNvPr id="306" name="Google Shape;306;p33"/>
          <p:cNvGraphicFramePr/>
          <p:nvPr/>
        </p:nvGraphicFramePr>
        <p:xfrm>
          <a:off x="1619668" y="5373688"/>
          <a:ext cx="6912750" cy="741350"/>
        </p:xfrm>
        <a:graphic>
          <a:graphicData uri="http://schemas.openxmlformats.org/drawingml/2006/table">
            <a:tbl>
              <a:tblPr firstRow="1" bandRow="1">
                <a:noFill/>
                <a:tableStyleId>{FD9FBFB1-054C-4FA9-A618-B47986797892}</a:tableStyleId>
              </a:tblPr>
              <a:tblGrid>
                <a:gridCol w="691275"/>
                <a:gridCol w="691275"/>
                <a:gridCol w="691275"/>
                <a:gridCol w="691275"/>
                <a:gridCol w="691275"/>
                <a:gridCol w="691275"/>
                <a:gridCol w="691275"/>
                <a:gridCol w="691275"/>
                <a:gridCol w="691275"/>
                <a:gridCol w="691275"/>
              </a:tblGrid>
              <a:tr h="37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1000</a:t>
                      </a:r>
                      <a:endParaRPr sz="1800"/>
                    </a:p>
                  </a:txBody>
                  <a:tcPr marL="91450" marR="91450" marT="45700" marB="45700"/>
                </a:tc>
              </a:tr>
              <a:tr h="370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800"/>
                    </a:p>
                  </a:txBody>
                  <a:tcPr marL="91450" marR="91450" marT="45700" marB="45700"/>
                </a:tc>
              </a:tr>
            </a:tbl>
          </a:graphicData>
        </a:graphic>
      </p:graphicFrame>
      <p:sp>
        <p:nvSpPr>
          <p:cNvPr id="307" name="Google Shape;307;p33"/>
          <p:cNvSpPr txBox="1"/>
          <p:nvPr/>
        </p:nvSpPr>
        <p:spPr>
          <a:xfrm>
            <a:off x="684213" y="2060575"/>
            <a:ext cx="8101012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A hash table is used to store a map after hashing the keys</a:t>
            </a:r>
            <a:endParaRPr/>
          </a:p>
        </p:txBody>
      </p:sp>
      <p:graphicFrame>
        <p:nvGraphicFramePr>
          <p:cNvPr id="308" name="Google Shape;308;p33"/>
          <p:cNvGraphicFramePr/>
          <p:nvPr/>
        </p:nvGraphicFramePr>
        <p:xfrm>
          <a:off x="1475656" y="3284984"/>
          <a:ext cx="6096000" cy="1112850"/>
        </p:xfrm>
        <a:graphic>
          <a:graphicData uri="http://schemas.openxmlformats.org/drawingml/2006/table">
            <a:tbl>
              <a:tblPr firstRow="1" bandRow="1">
                <a:noFill/>
                <a:tableStyleId>{88447AB1-F131-4BD1-A201-F5CB30871751}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Key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1005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h(key)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2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309" name="Google Shape;309;p33"/>
          <p:cNvSpPr txBox="1"/>
          <p:nvPr/>
        </p:nvSpPr>
        <p:spPr>
          <a:xfrm>
            <a:off x="1476375" y="4868863"/>
            <a:ext cx="3527425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Hash table</a:t>
            </a:r>
            <a:endParaRPr/>
          </a:p>
        </p:txBody>
      </p:sp>
      <p:sp>
        <p:nvSpPr>
          <p:cNvPr id="310" name="Google Shape;310;p33"/>
          <p:cNvSpPr txBox="1"/>
          <p:nvPr/>
        </p:nvSpPr>
        <p:spPr>
          <a:xfrm>
            <a:off x="755650" y="2708275"/>
            <a:ext cx="7920038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     Example: Hashing keys by a hash function</a:t>
            </a:r>
            <a:endParaRPr/>
          </a:p>
        </p:txBody>
      </p:sp>
      <p:sp>
        <p:nvSpPr>
          <p:cNvPr id="311" name="Google Shape;311;p33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21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4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Collision</a:t>
            </a:r>
            <a:endParaRPr/>
          </a:p>
        </p:txBody>
      </p:sp>
      <p:graphicFrame>
        <p:nvGraphicFramePr>
          <p:cNvPr id="317" name="Google Shape;317;p34"/>
          <p:cNvGraphicFramePr/>
          <p:nvPr/>
        </p:nvGraphicFramePr>
        <p:xfrm>
          <a:off x="1403350" y="3789363"/>
          <a:ext cx="6096000" cy="1112850"/>
        </p:xfrm>
        <a:graphic>
          <a:graphicData uri="http://schemas.openxmlformats.org/drawingml/2006/table">
            <a:tbl>
              <a:tblPr firstRow="1" bandRow="1">
                <a:noFill/>
                <a:tableStyleId>{88447AB1-F131-4BD1-A201-F5CB30871751}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Key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1003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1005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h(key)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50" marR="91450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91450" marR="91450" marT="45725" marB="45725"/>
                </a:tc>
              </a:tr>
            </a:tbl>
          </a:graphicData>
        </a:graphic>
      </p:graphicFrame>
      <p:sp>
        <p:nvSpPr>
          <p:cNvPr id="318" name="Google Shape;318;p34"/>
          <p:cNvSpPr txBox="1"/>
          <p:nvPr/>
        </p:nvSpPr>
        <p:spPr>
          <a:xfrm>
            <a:off x="2700338" y="5013325"/>
            <a:ext cx="3527425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h(key) = key mod 1000</a:t>
            </a:r>
            <a:endParaRPr/>
          </a:p>
        </p:txBody>
      </p:sp>
      <p:sp>
        <p:nvSpPr>
          <p:cNvPr id="319" name="Google Shape;319;p34"/>
          <p:cNvSpPr txBox="1"/>
          <p:nvPr/>
        </p:nvSpPr>
        <p:spPr>
          <a:xfrm>
            <a:off x="611188" y="2060575"/>
            <a:ext cx="7921625" cy="1570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The hash values of two keys might have the same value (collision) causing</a:t>
            </a:r>
            <a:r>
              <a:rPr lang="en-US" sz="2400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different elements are mapped to the same cell on the hash table.</a:t>
            </a:r>
            <a:endParaRPr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0" name="Google Shape;320;p34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22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35"/>
          <p:cNvSpPr txBox="1">
            <a:spLocks noGrp="1"/>
          </p:cNvSpPr>
          <p:nvPr>
            <p:ph type="title"/>
          </p:nvPr>
        </p:nvSpPr>
        <p:spPr>
          <a:xfrm>
            <a:off x="2411413" y="333375"/>
            <a:ext cx="50292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Collision Handling</a:t>
            </a:r>
            <a:endParaRPr/>
          </a:p>
        </p:txBody>
      </p:sp>
      <p:sp>
        <p:nvSpPr>
          <p:cNvPr id="326" name="Google Shape;326;p35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609600" y="1905000"/>
            <a:ext cx="7634288" cy="10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Separate Chaining</a:t>
            </a: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: let each cell in the table point to a linked list of entries that map there</a:t>
            </a:r>
            <a:endParaRPr/>
          </a:p>
        </p:txBody>
      </p:sp>
      <p:grpSp>
        <p:nvGrpSpPr>
          <p:cNvPr id="327" name="Google Shape;327;p35"/>
          <p:cNvGrpSpPr/>
          <p:nvPr/>
        </p:nvGrpSpPr>
        <p:grpSpPr>
          <a:xfrm>
            <a:off x="6011863" y="3273425"/>
            <a:ext cx="1800225" cy="1676400"/>
            <a:chOff x="2155" y="2160"/>
            <a:chExt cx="1195" cy="1056"/>
          </a:xfrm>
        </p:grpSpPr>
        <p:sp>
          <p:nvSpPr>
            <p:cNvPr id="328" name="Google Shape;328;p35"/>
            <p:cNvSpPr/>
            <p:nvPr/>
          </p:nvSpPr>
          <p:spPr>
            <a:xfrm>
              <a:off x="2372" y="2208"/>
              <a:ext cx="192" cy="192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29" name="Google Shape;329;p35"/>
            <p:cNvSpPr/>
            <p:nvPr/>
          </p:nvSpPr>
          <p:spPr>
            <a:xfrm>
              <a:off x="2372" y="2400"/>
              <a:ext cx="192" cy="192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0" name="Google Shape;330;p35"/>
            <p:cNvSpPr/>
            <p:nvPr/>
          </p:nvSpPr>
          <p:spPr>
            <a:xfrm>
              <a:off x="2372" y="2592"/>
              <a:ext cx="192" cy="192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1" name="Google Shape;331;p35"/>
            <p:cNvSpPr/>
            <p:nvPr/>
          </p:nvSpPr>
          <p:spPr>
            <a:xfrm>
              <a:off x="2372" y="2784"/>
              <a:ext cx="192" cy="192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Helvetica Neue"/>
                <a:buNone/>
              </a:pPr>
              <a:endParaRPr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2" name="Google Shape;332;p35"/>
            <p:cNvSpPr/>
            <p:nvPr/>
          </p:nvSpPr>
          <p:spPr>
            <a:xfrm>
              <a:off x="2372" y="2976"/>
              <a:ext cx="192" cy="192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Helvetica Neue"/>
                <a:buNone/>
              </a:pPr>
              <a:endParaRPr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33" name="Google Shape;333;p35"/>
            <p:cNvSpPr txBox="1"/>
            <p:nvPr/>
          </p:nvSpPr>
          <p:spPr>
            <a:xfrm>
              <a:off x="2155" y="2160"/>
              <a:ext cx="22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0</a:t>
              </a:r>
              <a:endParaRPr/>
            </a:p>
          </p:txBody>
        </p:sp>
        <p:sp>
          <p:nvSpPr>
            <p:cNvPr id="334" name="Google Shape;334;p35"/>
            <p:cNvSpPr txBox="1"/>
            <p:nvPr/>
          </p:nvSpPr>
          <p:spPr>
            <a:xfrm>
              <a:off x="2155" y="2352"/>
              <a:ext cx="22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1</a:t>
              </a:r>
              <a:endParaRPr/>
            </a:p>
          </p:txBody>
        </p:sp>
        <p:sp>
          <p:nvSpPr>
            <p:cNvPr id="335" name="Google Shape;335;p35"/>
            <p:cNvSpPr txBox="1"/>
            <p:nvPr/>
          </p:nvSpPr>
          <p:spPr>
            <a:xfrm>
              <a:off x="2155" y="2544"/>
              <a:ext cx="22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2</a:t>
              </a:r>
              <a:endParaRPr/>
            </a:p>
          </p:txBody>
        </p:sp>
        <p:sp>
          <p:nvSpPr>
            <p:cNvPr id="336" name="Google Shape;336;p35"/>
            <p:cNvSpPr txBox="1"/>
            <p:nvPr/>
          </p:nvSpPr>
          <p:spPr>
            <a:xfrm>
              <a:off x="2155" y="2736"/>
              <a:ext cx="22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3</a:t>
              </a:r>
              <a:endParaRPr/>
            </a:p>
          </p:txBody>
        </p:sp>
        <p:sp>
          <p:nvSpPr>
            <p:cNvPr id="337" name="Google Shape;337;p35"/>
            <p:cNvSpPr txBox="1"/>
            <p:nvPr/>
          </p:nvSpPr>
          <p:spPr>
            <a:xfrm>
              <a:off x="2155" y="2928"/>
              <a:ext cx="224" cy="288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2400"/>
                <a:buFont typeface="Times New Roman"/>
                <a:buNone/>
              </a:pPr>
              <a:r>
                <a:rPr lang="en-US" sz="2400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rPr>
                <a:t>4</a:t>
              </a:r>
              <a:endParaRPr/>
            </a:p>
          </p:txBody>
        </p:sp>
        <p:cxnSp>
          <p:nvCxnSpPr>
            <p:cNvPr id="338" name="Google Shape;338;p35"/>
            <p:cNvCxnSpPr/>
            <p:nvPr/>
          </p:nvCxnSpPr>
          <p:spPr>
            <a:xfrm>
              <a:off x="3063" y="2893"/>
              <a:ext cx="287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  <p:cxnSp>
          <p:nvCxnSpPr>
            <p:cNvPr id="339" name="Google Shape;339;p35"/>
            <p:cNvCxnSpPr/>
            <p:nvPr/>
          </p:nvCxnSpPr>
          <p:spPr>
            <a:xfrm>
              <a:off x="2468" y="2496"/>
              <a:ext cx="268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oval" w="med" len="med"/>
              <a:tailEnd type="triangle" w="med" len="med"/>
            </a:ln>
          </p:spPr>
        </p:cxnSp>
      </p:grpSp>
      <p:sp>
        <p:nvSpPr>
          <p:cNvPr id="340" name="Google Shape;340;p35"/>
          <p:cNvSpPr/>
          <p:nvPr/>
        </p:nvSpPr>
        <p:spPr>
          <a:xfrm>
            <a:off x="6875463" y="3357563"/>
            <a:ext cx="707023" cy="243766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0,A</a:t>
            </a:r>
            <a:endParaRPr dirty="0"/>
          </a:p>
        </p:txBody>
      </p:sp>
      <p:cxnSp>
        <p:nvCxnSpPr>
          <p:cNvPr id="341" name="Google Shape;341;p35"/>
          <p:cNvCxnSpPr/>
          <p:nvPr/>
        </p:nvCxnSpPr>
        <p:spPr>
          <a:xfrm>
            <a:off x="6472238" y="3509963"/>
            <a:ext cx="40322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42" name="Google Shape;342;p35"/>
          <p:cNvSpPr/>
          <p:nvPr/>
        </p:nvSpPr>
        <p:spPr>
          <a:xfrm>
            <a:off x="6875463" y="3716338"/>
            <a:ext cx="1114986" cy="29295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1001,B</a:t>
            </a:r>
            <a:endParaRPr/>
          </a:p>
        </p:txBody>
      </p:sp>
      <p:cxnSp>
        <p:nvCxnSpPr>
          <p:cNvPr id="343" name="Google Shape;343;p35"/>
          <p:cNvCxnSpPr/>
          <p:nvPr/>
        </p:nvCxnSpPr>
        <p:spPr>
          <a:xfrm>
            <a:off x="6516688" y="4437063"/>
            <a:ext cx="40322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44" name="Google Shape;344;p35"/>
          <p:cNvSpPr/>
          <p:nvPr/>
        </p:nvSpPr>
        <p:spPr>
          <a:xfrm>
            <a:off x="6875463" y="4292600"/>
            <a:ext cx="622617" cy="26533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3,B</a:t>
            </a:r>
            <a:endParaRPr/>
          </a:p>
        </p:txBody>
      </p:sp>
      <p:sp>
        <p:nvSpPr>
          <p:cNvPr id="345" name="Google Shape;345;p35"/>
          <p:cNvSpPr/>
          <p:nvPr/>
        </p:nvSpPr>
        <p:spPr>
          <a:xfrm>
            <a:off x="7812088" y="4292601"/>
            <a:ext cx="980220" cy="26533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 dirty="0" err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1003,G</a:t>
            </a:r>
            <a:endParaRPr dirty="0"/>
          </a:p>
        </p:txBody>
      </p:sp>
      <p:graphicFrame>
        <p:nvGraphicFramePr>
          <p:cNvPr id="346" name="Google Shape;346;p35"/>
          <p:cNvGraphicFramePr/>
          <p:nvPr/>
        </p:nvGraphicFramePr>
        <p:xfrm>
          <a:off x="684213" y="3573463"/>
          <a:ext cx="4967250" cy="1112850"/>
        </p:xfrm>
        <a:graphic>
          <a:graphicData uri="http://schemas.openxmlformats.org/drawingml/2006/table">
            <a:tbl>
              <a:tblPr firstRow="1" bandRow="1">
                <a:noFill/>
                <a:tableStyleId>{88447AB1-F131-4BD1-A201-F5CB30871751}</a:tableStyleId>
              </a:tblPr>
              <a:tblGrid>
                <a:gridCol w="827875"/>
                <a:gridCol w="827875"/>
                <a:gridCol w="827875"/>
                <a:gridCol w="827875"/>
                <a:gridCol w="827875"/>
                <a:gridCol w="827875"/>
              </a:tblGrid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Key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3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1001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1003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1005</a:t>
                      </a:r>
                      <a:endParaRPr sz="1800"/>
                    </a:p>
                  </a:txBody>
                  <a:tcPr marL="91425" marR="91425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h(key)</a:t>
                      </a:r>
                      <a:endParaRPr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0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1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>
                          <a:solidFill>
                            <a:srgbClr val="FF0000"/>
                          </a:solidFill>
                        </a:rPr>
                        <a:t>3</a:t>
                      </a:r>
                      <a:endParaRPr sz="1800">
                        <a:solidFill>
                          <a:srgbClr val="FF0000"/>
                        </a:solidFill>
                      </a:endParaRPr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5</a:t>
                      </a:r>
                      <a:endParaRPr sz="1800"/>
                    </a:p>
                  </a:txBody>
                  <a:tcPr marL="91425" marR="91425" marT="45725" marB="45725"/>
                </a:tc>
              </a:tr>
              <a:tr h="3709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Value</a:t>
                      </a:r>
                      <a:endParaRPr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A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B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G</a:t>
                      </a:r>
                      <a:endParaRPr sz="1800"/>
                    </a:p>
                  </a:txBody>
                  <a:tcPr marL="91425" marR="91425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/>
                        <a:t>F</a:t>
                      </a:r>
                      <a:endParaRPr sz="1800"/>
                    </a:p>
                  </a:txBody>
                  <a:tcPr marL="91425" marR="91425" marT="45725" marB="45725"/>
                </a:tc>
              </a:tr>
            </a:tbl>
          </a:graphicData>
        </a:graphic>
      </p:graphicFrame>
      <p:sp>
        <p:nvSpPr>
          <p:cNvPr id="347" name="Google Shape;347;p35"/>
          <p:cNvSpPr/>
          <p:nvPr/>
        </p:nvSpPr>
        <p:spPr>
          <a:xfrm>
            <a:off x="6337300" y="4868863"/>
            <a:ext cx="288925" cy="3048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8" name="Google Shape;348;p35"/>
          <p:cNvSpPr txBox="1"/>
          <p:nvPr/>
        </p:nvSpPr>
        <p:spPr>
          <a:xfrm>
            <a:off x="6005513" y="4772025"/>
            <a:ext cx="338137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Times New Roman"/>
              <a:buNone/>
            </a:pPr>
            <a:r>
              <a:rPr lang="en-US" sz="24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349" name="Google Shape;349;p35"/>
          <p:cNvSpPr/>
          <p:nvPr/>
        </p:nvSpPr>
        <p:spPr>
          <a:xfrm>
            <a:off x="6875463" y="4852988"/>
            <a:ext cx="936625" cy="304800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en-US" sz="1600" b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1005, F</a:t>
            </a:r>
            <a:endParaRPr/>
          </a:p>
        </p:txBody>
      </p:sp>
      <p:cxnSp>
        <p:nvCxnSpPr>
          <p:cNvPr id="350" name="Google Shape;350;p35"/>
          <p:cNvCxnSpPr/>
          <p:nvPr/>
        </p:nvCxnSpPr>
        <p:spPr>
          <a:xfrm>
            <a:off x="6472238" y="5013325"/>
            <a:ext cx="403225" cy="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oval" w="med" len="med"/>
            <a:tailEnd type="triangle" w="med" len="med"/>
          </a:ln>
        </p:spPr>
      </p:cxnSp>
      <p:sp>
        <p:nvSpPr>
          <p:cNvPr id="351" name="Google Shape;351;p35"/>
          <p:cNvSpPr/>
          <p:nvPr/>
        </p:nvSpPr>
        <p:spPr>
          <a:xfrm>
            <a:off x="1547813" y="4797425"/>
            <a:ext cx="3324225" cy="4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h(key) = key mod 1000</a:t>
            </a:r>
            <a:endParaRPr/>
          </a:p>
        </p:txBody>
      </p:sp>
      <p:sp>
        <p:nvSpPr>
          <p:cNvPr id="352" name="Google Shape;352;p35"/>
          <p:cNvSpPr/>
          <p:nvPr/>
        </p:nvSpPr>
        <p:spPr>
          <a:xfrm>
            <a:off x="6443663" y="5373688"/>
            <a:ext cx="1657350" cy="4619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lang="en-US" sz="2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Hash table</a:t>
            </a:r>
            <a:endParaRPr/>
          </a:p>
        </p:txBody>
      </p:sp>
      <p:sp>
        <p:nvSpPr>
          <p:cNvPr id="353" name="Google Shape;353;p35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23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6"/>
          <p:cNvSpPr txBox="1">
            <a:spLocks noGrp="1"/>
          </p:cNvSpPr>
          <p:nvPr>
            <p:ph type="title"/>
          </p:nvPr>
        </p:nvSpPr>
        <p:spPr>
          <a:xfrm>
            <a:off x="1187624" y="764703"/>
            <a:ext cx="6984775" cy="7116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Linear probing collions</a:t>
            </a:r>
            <a:endParaRPr sz="4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359" name="Google Shape;359;p36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323528" y="1905000"/>
            <a:ext cx="4032448" cy="43323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Open addressing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: the colliding item is placed in a different cell of the table</a:t>
            </a:r>
            <a:endParaRPr sz="2000" b="1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Linear probing</a:t>
            </a: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handles collisions by placing the colliding item in the next (circularly) available table cell</a:t>
            </a:r>
            <a:endParaRPr dirty="0"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Each table cell inspected is referred to as a “probe”</a:t>
            </a:r>
            <a:endParaRPr sz="2000" b="0" i="0" u="none" strike="noStrike" cap="none" dirty="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Colliding items lump together, causing future collisions to cause a longer sequence of probes</a:t>
            </a:r>
            <a:endParaRPr dirty="0"/>
          </a:p>
        </p:txBody>
      </p:sp>
      <p:sp>
        <p:nvSpPr>
          <p:cNvPr id="360" name="Google Shape;360;p36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24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1" name="Google Shape;361;p36" descr="Rectangle: Click to edit Master text styles&#10;Second level&#10;Third level&#10;Fourth level&#10;Fifth level"/>
          <p:cNvSpPr txBox="1"/>
          <p:nvPr/>
        </p:nvSpPr>
        <p:spPr>
          <a:xfrm>
            <a:off x="4644008" y="1700808"/>
            <a:ext cx="3810000" cy="220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Example: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h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x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) =</a:t>
            </a:r>
            <a:r>
              <a:rPr lang="en-US" sz="20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x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mod</a:t>
            </a:r>
            <a:r>
              <a:rPr lang="en-US" sz="2000" b="1" i="1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  <a:p>
            <a:pPr marL="342900" marR="0" lvl="0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US" sz="20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Insert keys 18, 41, 22, 44, 59, 32, 31, 73</a:t>
            </a:r>
            <a:endParaRPr/>
          </a:p>
          <a:p>
            <a:pPr marL="742950" marR="0" lvl="1" indent="-15875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2" name="Google Shape;362;p36"/>
          <p:cNvSpPr/>
          <p:nvPr/>
        </p:nvSpPr>
        <p:spPr>
          <a:xfrm>
            <a:off x="47202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3" name="Google Shape;363;p36"/>
          <p:cNvSpPr/>
          <p:nvPr/>
        </p:nvSpPr>
        <p:spPr>
          <a:xfrm>
            <a:off x="50250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4" name="Google Shape;364;p36"/>
          <p:cNvSpPr/>
          <p:nvPr/>
        </p:nvSpPr>
        <p:spPr>
          <a:xfrm>
            <a:off x="53298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5" name="Google Shape;365;p36"/>
          <p:cNvSpPr/>
          <p:nvPr/>
        </p:nvSpPr>
        <p:spPr>
          <a:xfrm>
            <a:off x="56346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6" name="Google Shape;366;p36"/>
          <p:cNvSpPr/>
          <p:nvPr/>
        </p:nvSpPr>
        <p:spPr>
          <a:xfrm>
            <a:off x="59394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7" name="Google Shape;367;p36"/>
          <p:cNvSpPr/>
          <p:nvPr/>
        </p:nvSpPr>
        <p:spPr>
          <a:xfrm>
            <a:off x="62442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8" name="Google Shape;368;p36"/>
          <p:cNvSpPr/>
          <p:nvPr/>
        </p:nvSpPr>
        <p:spPr>
          <a:xfrm>
            <a:off x="65490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69" name="Google Shape;369;p36"/>
          <p:cNvSpPr/>
          <p:nvPr/>
        </p:nvSpPr>
        <p:spPr>
          <a:xfrm>
            <a:off x="68538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70" name="Google Shape;370;p36"/>
          <p:cNvSpPr/>
          <p:nvPr/>
        </p:nvSpPr>
        <p:spPr>
          <a:xfrm>
            <a:off x="71586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 </a:t>
            </a:r>
            <a:endParaRPr/>
          </a:p>
        </p:txBody>
      </p:sp>
      <p:sp>
        <p:nvSpPr>
          <p:cNvPr id="371" name="Google Shape;371;p36"/>
          <p:cNvSpPr/>
          <p:nvPr/>
        </p:nvSpPr>
        <p:spPr>
          <a:xfrm>
            <a:off x="74634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72" name="Google Shape;372;p36"/>
          <p:cNvSpPr/>
          <p:nvPr/>
        </p:nvSpPr>
        <p:spPr>
          <a:xfrm>
            <a:off x="77682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73" name="Google Shape;373;p36"/>
          <p:cNvSpPr/>
          <p:nvPr/>
        </p:nvSpPr>
        <p:spPr>
          <a:xfrm>
            <a:off x="80730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74" name="Google Shape;374;p36"/>
          <p:cNvSpPr/>
          <p:nvPr/>
        </p:nvSpPr>
        <p:spPr>
          <a:xfrm>
            <a:off x="8377808" y="4291608"/>
            <a:ext cx="304800" cy="304800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</p:txBody>
      </p:sp>
      <p:sp>
        <p:nvSpPr>
          <p:cNvPr id="375" name="Google Shape;375;p36"/>
          <p:cNvSpPr txBox="1"/>
          <p:nvPr/>
        </p:nvSpPr>
        <p:spPr>
          <a:xfrm>
            <a:off x="4723383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376" name="Google Shape;376;p36"/>
          <p:cNvSpPr txBox="1"/>
          <p:nvPr/>
        </p:nvSpPr>
        <p:spPr>
          <a:xfrm>
            <a:off x="5025008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/>
          </a:p>
        </p:txBody>
      </p:sp>
      <p:sp>
        <p:nvSpPr>
          <p:cNvPr id="377" name="Google Shape;377;p36"/>
          <p:cNvSpPr txBox="1"/>
          <p:nvPr/>
        </p:nvSpPr>
        <p:spPr>
          <a:xfrm>
            <a:off x="5326633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378" name="Google Shape;378;p36"/>
          <p:cNvSpPr txBox="1"/>
          <p:nvPr/>
        </p:nvSpPr>
        <p:spPr>
          <a:xfrm>
            <a:off x="5628258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379" name="Google Shape;379;p36"/>
          <p:cNvSpPr txBox="1"/>
          <p:nvPr/>
        </p:nvSpPr>
        <p:spPr>
          <a:xfrm>
            <a:off x="5929883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380" name="Google Shape;380;p36"/>
          <p:cNvSpPr txBox="1"/>
          <p:nvPr/>
        </p:nvSpPr>
        <p:spPr>
          <a:xfrm>
            <a:off x="6231508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381" name="Google Shape;381;p36"/>
          <p:cNvSpPr txBox="1"/>
          <p:nvPr/>
        </p:nvSpPr>
        <p:spPr>
          <a:xfrm>
            <a:off x="6533133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382" name="Google Shape;382;p36"/>
          <p:cNvSpPr txBox="1"/>
          <p:nvPr/>
        </p:nvSpPr>
        <p:spPr>
          <a:xfrm>
            <a:off x="6834758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383" name="Google Shape;383;p36"/>
          <p:cNvSpPr txBox="1"/>
          <p:nvPr/>
        </p:nvSpPr>
        <p:spPr>
          <a:xfrm>
            <a:off x="7136383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384" name="Google Shape;384;p36"/>
          <p:cNvSpPr txBox="1"/>
          <p:nvPr/>
        </p:nvSpPr>
        <p:spPr>
          <a:xfrm>
            <a:off x="7438008" y="45583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385" name="Google Shape;385;p36"/>
          <p:cNvSpPr txBox="1"/>
          <p:nvPr/>
        </p:nvSpPr>
        <p:spPr>
          <a:xfrm>
            <a:off x="7682483" y="4558308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386" name="Google Shape;386;p36"/>
          <p:cNvSpPr txBox="1"/>
          <p:nvPr/>
        </p:nvSpPr>
        <p:spPr>
          <a:xfrm>
            <a:off x="7984108" y="4558308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sp>
        <p:nvSpPr>
          <p:cNvPr id="387" name="Google Shape;387;p36"/>
          <p:cNvSpPr txBox="1"/>
          <p:nvPr/>
        </p:nvSpPr>
        <p:spPr>
          <a:xfrm>
            <a:off x="8285733" y="4558308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/>
          </a:p>
        </p:txBody>
      </p:sp>
      <p:sp>
        <p:nvSpPr>
          <p:cNvPr id="388" name="Google Shape;388;p36"/>
          <p:cNvSpPr/>
          <p:nvPr/>
        </p:nvSpPr>
        <p:spPr>
          <a:xfrm>
            <a:off x="45016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/>
          </a:p>
        </p:txBody>
      </p:sp>
      <p:sp>
        <p:nvSpPr>
          <p:cNvPr id="389" name="Google Shape;389;p36"/>
          <p:cNvSpPr/>
          <p:nvPr/>
        </p:nvSpPr>
        <p:spPr>
          <a:xfrm>
            <a:off x="48064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/>
          </a:p>
        </p:txBody>
      </p:sp>
      <p:sp>
        <p:nvSpPr>
          <p:cNvPr id="390" name="Google Shape;390;p36"/>
          <p:cNvSpPr/>
          <p:nvPr/>
        </p:nvSpPr>
        <p:spPr>
          <a:xfrm>
            <a:off x="51112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41</a:t>
            </a:r>
            <a:endParaRPr sz="1200" dirty="0"/>
          </a:p>
        </p:txBody>
      </p:sp>
      <p:sp>
        <p:nvSpPr>
          <p:cNvPr id="391" name="Google Shape;391;p36"/>
          <p:cNvSpPr/>
          <p:nvPr/>
        </p:nvSpPr>
        <p:spPr>
          <a:xfrm>
            <a:off x="54160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/>
          </a:p>
        </p:txBody>
      </p:sp>
      <p:sp>
        <p:nvSpPr>
          <p:cNvPr id="392" name="Google Shape;392;p36"/>
          <p:cNvSpPr/>
          <p:nvPr/>
        </p:nvSpPr>
        <p:spPr>
          <a:xfrm>
            <a:off x="57208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/>
          </a:p>
        </p:txBody>
      </p:sp>
      <p:sp>
        <p:nvSpPr>
          <p:cNvPr id="393" name="Google Shape;393;p36"/>
          <p:cNvSpPr/>
          <p:nvPr/>
        </p:nvSpPr>
        <p:spPr>
          <a:xfrm>
            <a:off x="60256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18</a:t>
            </a:r>
            <a:endParaRPr sz="1200"/>
          </a:p>
        </p:txBody>
      </p:sp>
      <p:sp>
        <p:nvSpPr>
          <p:cNvPr id="394" name="Google Shape;394;p36"/>
          <p:cNvSpPr/>
          <p:nvPr/>
        </p:nvSpPr>
        <p:spPr>
          <a:xfrm>
            <a:off x="63304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44</a:t>
            </a:r>
            <a:endParaRPr sz="1200"/>
          </a:p>
        </p:txBody>
      </p:sp>
      <p:sp>
        <p:nvSpPr>
          <p:cNvPr id="395" name="Google Shape;395;p36"/>
          <p:cNvSpPr/>
          <p:nvPr/>
        </p:nvSpPr>
        <p:spPr>
          <a:xfrm>
            <a:off x="66352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59</a:t>
            </a:r>
            <a:endParaRPr sz="1200"/>
          </a:p>
        </p:txBody>
      </p:sp>
      <p:sp>
        <p:nvSpPr>
          <p:cNvPr id="396" name="Google Shape;396;p36"/>
          <p:cNvSpPr/>
          <p:nvPr/>
        </p:nvSpPr>
        <p:spPr>
          <a:xfrm>
            <a:off x="69400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32</a:t>
            </a:r>
            <a:endParaRPr sz="1200"/>
          </a:p>
        </p:txBody>
      </p:sp>
      <p:sp>
        <p:nvSpPr>
          <p:cNvPr id="397" name="Google Shape;397;p36"/>
          <p:cNvSpPr/>
          <p:nvPr/>
        </p:nvSpPr>
        <p:spPr>
          <a:xfrm>
            <a:off x="72448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22</a:t>
            </a:r>
            <a:endParaRPr sz="1200"/>
          </a:p>
        </p:txBody>
      </p:sp>
      <p:sp>
        <p:nvSpPr>
          <p:cNvPr id="398" name="Google Shape;398;p36"/>
          <p:cNvSpPr/>
          <p:nvPr/>
        </p:nvSpPr>
        <p:spPr>
          <a:xfrm>
            <a:off x="75496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31</a:t>
            </a:r>
            <a:endParaRPr sz="1200"/>
          </a:p>
        </p:txBody>
      </p:sp>
      <p:sp>
        <p:nvSpPr>
          <p:cNvPr id="399" name="Google Shape;399;p36"/>
          <p:cNvSpPr/>
          <p:nvPr/>
        </p:nvSpPr>
        <p:spPr>
          <a:xfrm>
            <a:off x="78544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73</a:t>
            </a:r>
            <a:endParaRPr sz="1200"/>
          </a:p>
        </p:txBody>
      </p:sp>
      <p:sp>
        <p:nvSpPr>
          <p:cNvPr id="400" name="Google Shape;400;p36"/>
          <p:cNvSpPr/>
          <p:nvPr/>
        </p:nvSpPr>
        <p:spPr>
          <a:xfrm>
            <a:off x="8159262" y="5510808"/>
            <a:ext cx="523346" cy="327284"/>
          </a:xfrm>
          <a:prstGeom prst="rect">
            <a:avLst/>
          </a:prstGeom>
          <a:solidFill>
            <a:schemeClr val="accent1"/>
          </a:solidFill>
          <a:ln w="19050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sz="1200"/>
          </a:p>
        </p:txBody>
      </p:sp>
      <p:sp>
        <p:nvSpPr>
          <p:cNvPr id="401" name="Google Shape;401;p36"/>
          <p:cNvSpPr txBox="1"/>
          <p:nvPr/>
        </p:nvSpPr>
        <p:spPr>
          <a:xfrm>
            <a:off x="4540499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</a:t>
            </a:r>
            <a:endParaRPr/>
          </a:p>
        </p:txBody>
      </p:sp>
      <p:sp>
        <p:nvSpPr>
          <p:cNvPr id="402" name="Google Shape;402;p36"/>
          <p:cNvSpPr txBox="1"/>
          <p:nvPr/>
        </p:nvSpPr>
        <p:spPr>
          <a:xfrm>
            <a:off x="4842124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r>
            <a:endParaRPr dirty="0"/>
          </a:p>
        </p:txBody>
      </p:sp>
      <p:sp>
        <p:nvSpPr>
          <p:cNvPr id="403" name="Google Shape;403;p36"/>
          <p:cNvSpPr txBox="1"/>
          <p:nvPr/>
        </p:nvSpPr>
        <p:spPr>
          <a:xfrm>
            <a:off x="5143749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r>
            <a:endParaRPr/>
          </a:p>
        </p:txBody>
      </p:sp>
      <p:sp>
        <p:nvSpPr>
          <p:cNvPr id="404" name="Google Shape;404;p36"/>
          <p:cNvSpPr txBox="1"/>
          <p:nvPr/>
        </p:nvSpPr>
        <p:spPr>
          <a:xfrm>
            <a:off x="5445374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3</a:t>
            </a:r>
            <a:endParaRPr/>
          </a:p>
        </p:txBody>
      </p:sp>
      <p:sp>
        <p:nvSpPr>
          <p:cNvPr id="405" name="Google Shape;405;p36"/>
          <p:cNvSpPr txBox="1"/>
          <p:nvPr/>
        </p:nvSpPr>
        <p:spPr>
          <a:xfrm>
            <a:off x="5746999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4</a:t>
            </a:r>
            <a:endParaRPr/>
          </a:p>
        </p:txBody>
      </p:sp>
      <p:sp>
        <p:nvSpPr>
          <p:cNvPr id="406" name="Google Shape;406;p36"/>
          <p:cNvSpPr txBox="1"/>
          <p:nvPr/>
        </p:nvSpPr>
        <p:spPr>
          <a:xfrm>
            <a:off x="6048624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5</a:t>
            </a:r>
            <a:endParaRPr/>
          </a:p>
        </p:txBody>
      </p:sp>
      <p:sp>
        <p:nvSpPr>
          <p:cNvPr id="407" name="Google Shape;407;p36"/>
          <p:cNvSpPr txBox="1"/>
          <p:nvPr/>
        </p:nvSpPr>
        <p:spPr>
          <a:xfrm>
            <a:off x="6350249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</a:t>
            </a:r>
            <a:endParaRPr/>
          </a:p>
        </p:txBody>
      </p:sp>
      <p:sp>
        <p:nvSpPr>
          <p:cNvPr id="408" name="Google Shape;408;p36"/>
          <p:cNvSpPr txBox="1"/>
          <p:nvPr/>
        </p:nvSpPr>
        <p:spPr>
          <a:xfrm>
            <a:off x="6651874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endParaRPr/>
          </a:p>
        </p:txBody>
      </p:sp>
      <p:sp>
        <p:nvSpPr>
          <p:cNvPr id="409" name="Google Shape;409;p36"/>
          <p:cNvSpPr txBox="1"/>
          <p:nvPr/>
        </p:nvSpPr>
        <p:spPr>
          <a:xfrm>
            <a:off x="6953499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</a:t>
            </a:r>
            <a:endParaRPr/>
          </a:p>
        </p:txBody>
      </p:sp>
      <p:sp>
        <p:nvSpPr>
          <p:cNvPr id="410" name="Google Shape;410;p36"/>
          <p:cNvSpPr txBox="1"/>
          <p:nvPr/>
        </p:nvSpPr>
        <p:spPr>
          <a:xfrm>
            <a:off x="7255124" y="5777508"/>
            <a:ext cx="2984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9</a:t>
            </a:r>
            <a:endParaRPr/>
          </a:p>
        </p:txBody>
      </p:sp>
      <p:sp>
        <p:nvSpPr>
          <p:cNvPr id="411" name="Google Shape;411;p36"/>
          <p:cNvSpPr txBox="1"/>
          <p:nvPr/>
        </p:nvSpPr>
        <p:spPr>
          <a:xfrm>
            <a:off x="7499599" y="5777508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10</a:t>
            </a:r>
            <a:endParaRPr/>
          </a:p>
        </p:txBody>
      </p:sp>
      <p:sp>
        <p:nvSpPr>
          <p:cNvPr id="412" name="Google Shape;412;p36"/>
          <p:cNvSpPr txBox="1"/>
          <p:nvPr/>
        </p:nvSpPr>
        <p:spPr>
          <a:xfrm>
            <a:off x="7801224" y="5777508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11</a:t>
            </a:r>
            <a:endParaRPr/>
          </a:p>
        </p:txBody>
      </p:sp>
      <p:sp>
        <p:nvSpPr>
          <p:cNvPr id="413" name="Google Shape;413;p36"/>
          <p:cNvSpPr txBox="1"/>
          <p:nvPr/>
        </p:nvSpPr>
        <p:spPr>
          <a:xfrm>
            <a:off x="8102849" y="5777508"/>
            <a:ext cx="412750" cy="3667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12</a:t>
            </a:r>
            <a:endParaRPr/>
          </a:p>
        </p:txBody>
      </p:sp>
      <p:sp>
        <p:nvSpPr>
          <p:cNvPr id="414" name="Google Shape;414;p36"/>
          <p:cNvSpPr/>
          <p:nvPr/>
        </p:nvSpPr>
        <p:spPr>
          <a:xfrm>
            <a:off x="6549008" y="4977408"/>
            <a:ext cx="304800" cy="304800"/>
          </a:xfrm>
          <a:prstGeom prst="downArrow">
            <a:avLst>
              <a:gd name="adj1" fmla="val 50000"/>
              <a:gd name="adj2" fmla="val 25000"/>
            </a:avLst>
          </a:prstGeom>
          <a:noFill/>
          <a:ln w="28575" cap="flat" cmpd="sng">
            <a:solidFill>
              <a:schemeClr val="dk1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7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Hash Functions</a:t>
            </a:r>
            <a:endParaRPr/>
          </a:p>
        </p:txBody>
      </p:sp>
      <p:sp>
        <p:nvSpPr>
          <p:cNvPr id="420" name="Google Shape;420;p37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762000" y="2057400"/>
            <a:ext cx="8130480" cy="426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 hash function: </a:t>
            </a:r>
            <a:r>
              <a:rPr lang="en-US" sz="28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h(key)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= </a:t>
            </a: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8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</a:t>
            </a: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mod </a:t>
            </a:r>
            <a:r>
              <a:rPr lang="en-US" sz="2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endParaRPr sz="2800" b="0" i="1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number </a:t>
            </a:r>
            <a:r>
              <a:rPr lang="en-US" sz="28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</a:t>
            </a: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should be a prime number to avoid 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as many collisions as possible.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r>
              <a:rPr lang="en-US" sz="28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Example:</a:t>
            </a:r>
            <a:endParaRPr/>
          </a:p>
          <a:p>
            <a:pPr marL="342900" marR="0" lvl="1" indent="-3429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Helvetica Neue"/>
              <a:buNone/>
            </a:pPr>
            <a:r>
              <a:rPr lang="en-US" sz="24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{200, 205, 210, 215,.., 600}: </a:t>
            </a:r>
            <a:endParaRPr sz="24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74295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3 collisions with N=100</a:t>
            </a:r>
            <a:endParaRPr/>
          </a:p>
          <a:p>
            <a:pPr marL="742950" marR="0" lvl="2" indent="-3429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❖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No collision with N=101</a:t>
            </a:r>
            <a:endParaRPr/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900" marR="0" lvl="0" indent="-3429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Helvetica Neue"/>
              <a:buNone/>
            </a:pPr>
            <a:endParaRPr sz="2800" b="0" i="0" u="none" strike="noStrike" cap="non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21" name="Google Shape;421;p37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25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p38"/>
          <p:cNvSpPr txBox="1">
            <a:spLocks noGrp="1"/>
          </p:cNvSpPr>
          <p:nvPr>
            <p:ph type="title"/>
          </p:nvPr>
        </p:nvSpPr>
        <p:spPr>
          <a:xfrm>
            <a:off x="685800" y="494184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Applications</a:t>
            </a:r>
            <a:endParaRPr/>
          </a:p>
        </p:txBody>
      </p:sp>
      <p:graphicFrame>
        <p:nvGraphicFramePr>
          <p:cNvPr id="427" name="Google Shape;427;p38"/>
          <p:cNvGraphicFramePr/>
          <p:nvPr/>
        </p:nvGraphicFramePr>
        <p:xfrm>
          <a:off x="685800" y="1966277"/>
          <a:ext cx="7630625" cy="3931930"/>
        </p:xfrm>
        <a:graphic>
          <a:graphicData uri="http://schemas.openxmlformats.org/drawingml/2006/table">
            <a:tbl>
              <a:tblPr>
                <a:noFill/>
                <a:tableStyleId>{C0A538C6-32B3-4E5F-A80F-B44198F3D54E}</a:tableStyleId>
              </a:tblPr>
              <a:tblGrid>
                <a:gridCol w="7630625"/>
              </a:tblGrid>
              <a:tr h="3838975">
                <a:tc>
                  <a:txBody>
                    <a:bodyPr/>
                    <a:lstStyle/>
                    <a:p>
                      <a:pPr marL="285750" marR="0" lvl="0" indent="-2857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Char char="➢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Digital signatures </a:t>
                      </a:r>
                      <a:endParaRPr/>
                    </a:p>
                    <a:p>
                      <a:pPr marL="285750" marR="0" lvl="0" indent="-2857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Char char="➢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Message-authentication code (MAC)</a:t>
                      </a:r>
                      <a:endParaRPr/>
                    </a:p>
                    <a:p>
                      <a:pPr marL="285750" marR="0" lvl="0" indent="-2857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Char char="➢"/>
                      </a:pPr>
                      <a:r>
                        <a:rPr lang="en-US" sz="2800">
                          <a:solidFill>
                            <a:schemeClr val="dk1"/>
                          </a:solidFill>
                        </a:rPr>
                        <a:t>Password tables </a:t>
                      </a:r>
                      <a:endParaRPr/>
                    </a:p>
                    <a:p>
                      <a:pPr marL="285750" marR="0" lvl="0" indent="-2857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Char char="➢"/>
                      </a:pPr>
                      <a:r>
                        <a:rPr lang="en-US" sz="2800" b="0" i="0">
                          <a:solidFill>
                            <a:schemeClr val="dk1"/>
                          </a:solidFill>
                          <a:latin typeface="Helvetica Neue"/>
                          <a:ea typeface="Helvetica Neue"/>
                          <a:cs typeface="Helvetica Neue"/>
                          <a:sym typeface="Helvetica Neue"/>
                        </a:rPr>
                        <a:t>Key updating: key is hashed at specific intervals resulting in new key</a:t>
                      </a:r>
                      <a:endParaRPr/>
                    </a:p>
                    <a:p>
                      <a:pPr marL="285750" marR="0" lvl="0" indent="-107950" algn="l" rtl="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800"/>
                        <a:buFont typeface="Noto Sans Symbols"/>
                        <a:buNone/>
                      </a:pPr>
                      <a:endParaRPr sz="2800" b="0" i="0">
                        <a:solidFill>
                          <a:srgbClr val="000000"/>
                        </a:solidFill>
                        <a:latin typeface="Verdana"/>
                        <a:ea typeface="Verdana"/>
                        <a:cs typeface="Verdana"/>
                        <a:sym typeface="Verdana"/>
                      </a:endParaRPr>
                    </a:p>
                  </a:txBody>
                  <a:tcPr marL="91450" marR="91450" marT="45725" marB="45725">
                    <a:lnL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C0C0D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428" name="Google Shape;428;p38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26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3" name="Google Shape;433;p39"/>
          <p:cNvSpPr txBox="1">
            <a:spLocks noGrp="1"/>
          </p:cNvSpPr>
          <p:nvPr>
            <p:ph type="title"/>
          </p:nvPr>
        </p:nvSpPr>
        <p:spPr>
          <a:xfrm>
            <a:off x="685800" y="457200"/>
            <a:ext cx="7772400" cy="1066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Map operations with Separate Chaining used for Collisions</a:t>
            </a:r>
            <a:endParaRPr/>
          </a:p>
        </p:txBody>
      </p:sp>
      <p:sp>
        <p:nvSpPr>
          <p:cNvPr id="434" name="Google Shape;434;p39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524000"/>
            <a:ext cx="7772400" cy="518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Let A[h(k)] </a:t>
            </a: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be a linked list to store the map of all elements whose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hash values are h(k).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sz="2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		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)]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get(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); 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sz="2000" b="1" i="0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k,v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A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)]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put(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k,v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);	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Algorithm</a:t>
            </a: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):		</a:t>
            </a:r>
            <a:endParaRPr/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return A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[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h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)]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.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remove(</a:t>
            </a:r>
            <a:r>
              <a:rPr lang="en-US" sz="2000" b="0" i="1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k);</a:t>
            </a:r>
            <a:endParaRPr sz="2000" b="0" i="1" u="none" strike="noStrike" cap="none">
              <a:solidFill>
                <a:schemeClr val="dk2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8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None/>
            </a:pPr>
            <a:r>
              <a:rPr lang="en-US" sz="2000" b="1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</a:t>
            </a: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35" name="Google Shape;435;p39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27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40"/>
          <p:cNvSpPr txBox="1">
            <a:spLocks noGrp="1"/>
          </p:cNvSpPr>
          <p:nvPr>
            <p:ph type="title"/>
          </p:nvPr>
        </p:nvSpPr>
        <p:spPr>
          <a:xfrm>
            <a:off x="900113" y="908050"/>
            <a:ext cx="5562600" cy="527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Performance and applications</a:t>
            </a:r>
            <a:endParaRPr/>
          </a:p>
        </p:txBody>
      </p:sp>
      <p:sp>
        <p:nvSpPr>
          <p:cNvPr id="441" name="Google Shape;441;p40" descr="Rectangle: Click to edit Master text styles&#10;Second level&#10;Third level&#10;Fourth level&#10;Fifth level"/>
          <p:cNvSpPr txBox="1">
            <a:spLocks noGrp="1"/>
          </p:cNvSpPr>
          <p:nvPr>
            <p:ph type="body" idx="1"/>
          </p:nvPr>
        </p:nvSpPr>
        <p:spPr>
          <a:xfrm>
            <a:off x="838200" y="1916113"/>
            <a:ext cx="7262813" cy="4179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the worst case, searches, insertions and removals on a hash table take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)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time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load factor </a:t>
            </a:r>
            <a:r>
              <a:rPr lang="en-US" sz="2000" b="1" i="1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α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=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US" sz="2000" b="0" i="0" u="none" strike="noStrike" cap="none">
                <a:solidFill>
                  <a:schemeClr val="dk1"/>
                </a:solidFill>
                <a:latin typeface="Noto Sans Symbols"/>
                <a:ea typeface="Noto Sans Symbols"/>
                <a:cs typeface="Noto Sans Symbols"/>
                <a:sym typeface="Noto Sans Symbols"/>
              </a:rPr>
              <a:t>/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 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affects the performance of a hash table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In practice, hashing is very fast provided the load factor is not close to 100%</a:t>
            </a:r>
            <a:endParaRPr/>
          </a:p>
          <a:p>
            <a:pPr marL="342900" marR="0" lvl="0" indent="-342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➢"/>
            </a:pP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The expected running time of map operations in a hash table is </a:t>
            </a:r>
            <a:r>
              <a:rPr lang="en-US" sz="2000" b="1" i="1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</a:t>
            </a:r>
            <a:r>
              <a:rPr lang="en-US" sz="2000" b="0" i="0" u="none" strike="noStrike" cap="non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</a:t>
            </a:r>
            <a:r>
              <a:rPr lang="en-US" sz="20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 </a:t>
            </a:r>
            <a:endParaRPr/>
          </a:p>
          <a:p>
            <a:pPr marL="0" marR="0" lvl="0" indent="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215900" algn="l" rtl="0">
              <a:lnSpc>
                <a:spcPct val="15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Helvetica Neue"/>
              <a:buNone/>
            </a:pPr>
            <a:endParaRPr sz="2000" b="0" i="0" u="none" strike="noStrike" cap="none">
              <a:solidFill>
                <a:schemeClr val="dk1"/>
              </a:solidFill>
              <a:latin typeface="Noto Sans Symbols"/>
              <a:ea typeface="Noto Sans Symbols"/>
              <a:cs typeface="Noto Sans Symbols"/>
              <a:sym typeface="Noto Sans Symbols"/>
            </a:endParaRPr>
          </a:p>
        </p:txBody>
      </p:sp>
      <p:pic>
        <p:nvPicPr>
          <p:cNvPr id="442" name="Google Shape;442;p40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096000" y="76200"/>
            <a:ext cx="2462213" cy="1676400"/>
          </a:xfrm>
          <a:prstGeom prst="rect">
            <a:avLst/>
          </a:prstGeom>
          <a:noFill/>
          <a:ln>
            <a:noFill/>
          </a:ln>
        </p:spPr>
      </p:pic>
      <p:sp>
        <p:nvSpPr>
          <p:cNvPr id="443" name="Google Shape;443;p40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28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1"/>
          <p:cNvSpPr txBox="1">
            <a:spLocks noGrp="1"/>
          </p:cNvSpPr>
          <p:nvPr>
            <p:ph type="title"/>
          </p:nvPr>
        </p:nvSpPr>
        <p:spPr>
          <a:xfrm>
            <a:off x="685800" y="493713"/>
            <a:ext cx="7772400" cy="99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2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Exercises</a:t>
            </a:r>
            <a:endParaRPr/>
          </a:p>
        </p:txBody>
      </p:sp>
      <p:sp>
        <p:nvSpPr>
          <p:cNvPr id="449" name="Google Shape;449;p41"/>
          <p:cNvSpPr txBox="1">
            <a:spLocks noGrp="1"/>
          </p:cNvSpPr>
          <p:nvPr>
            <p:ph type="body" idx="1"/>
          </p:nvPr>
        </p:nvSpPr>
        <p:spPr>
          <a:xfrm>
            <a:off x="685800" y="1844675"/>
            <a:ext cx="7772400" cy="417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marR="0" lvl="0" indent="-34290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40"/>
              <a:buFont typeface="Noto Sans Symbols"/>
              <a:buChar char="➢"/>
            </a:pPr>
            <a:r>
              <a:rPr lang="en-US" sz="204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list of students (id, name): 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Noto Sans Symbols"/>
              <a:buNone/>
            </a:pPr>
            <a:r>
              <a:rPr lang="en-US" sz="204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(1,A), (3,B), (10, C), (54, D) , (9, A)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task is to propose a hash function, and draw the hash table with the proposed hash function using both collision handling methods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None/>
            </a:pPr>
            <a:endParaRPr sz="17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342900" marR="0" lvl="0" indent="-342900" algn="l" rtl="0">
              <a:lnSpc>
                <a:spcPct val="14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Noto Sans Symbols"/>
              <a:buChar char="➢"/>
            </a:pPr>
            <a:r>
              <a:rPr lang="en-US" sz="204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Given a list of students (id, name): </a:t>
            </a:r>
            <a:endParaRPr/>
          </a:p>
          <a:p>
            <a:pPr marL="0" marR="0" lvl="0" indent="0" algn="l" rtl="0">
              <a:lnSpc>
                <a:spcPct val="140000"/>
              </a:lnSpc>
              <a:spcBef>
                <a:spcPts val="408"/>
              </a:spcBef>
              <a:spcAft>
                <a:spcPts val="0"/>
              </a:spcAft>
              <a:buClr>
                <a:schemeClr val="dk1"/>
              </a:buClr>
              <a:buSzPts val="2040"/>
              <a:buFont typeface="Noto Sans Symbols"/>
              <a:buNone/>
            </a:pPr>
            <a:r>
              <a:rPr lang="en-US" sz="204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	(7,A), (3,B), (11, C), (4, D) , (8, G), (16, E), (21, B), (5, G)</a:t>
            </a:r>
            <a:endParaRPr sz="204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None/>
            </a:pPr>
            <a:r>
              <a:rPr lang="en-US" sz="1700" b="0" i="0" u="none" strike="noStrike" cap="none">
                <a:solidFill>
                  <a:schemeClr val="dk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Your task is to propose a hash function, and draw the hash table with the proposed hash function using both collision handling methods</a:t>
            </a:r>
            <a:endParaRPr sz="17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marL="0" marR="0" lvl="0" indent="0" algn="l" rtl="0">
              <a:lnSpc>
                <a:spcPct val="140000"/>
              </a:lnSpc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None/>
            </a:pPr>
            <a:endParaRPr sz="1700" b="0" i="0" u="none" strike="noStrike" cap="none">
              <a:solidFill>
                <a:schemeClr val="dk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450" name="Google Shape;450;p41"/>
          <p:cNvSpPr txBox="1">
            <a:spLocks noGrp="1"/>
          </p:cNvSpPr>
          <p:nvPr>
            <p:ph type="sldNum" idx="12"/>
          </p:nvPr>
        </p:nvSpPr>
        <p:spPr>
          <a:xfrm>
            <a:off x="6553200" y="61722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fld id="{00000000-1234-1234-1234-123412341234}" type="slidenum">
              <a:rPr lang="en-US" sz="14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400"/>
                <a:buFont typeface="Arial"/>
                <a:buNone/>
              </a:pPr>
              <a:t>29</a:t>
            </a:fld>
            <a:endParaRPr sz="14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Koi">
  <a:themeElements>
    <a:clrScheme name="Koi 1">
      <a:dk1>
        <a:srgbClr val="272776"/>
      </a:dk1>
      <a:lt1>
        <a:srgbClr val="F3F1E4"/>
      </a:lt1>
      <a:dk2>
        <a:srgbClr val="272776"/>
      </a:dk2>
      <a:lt2>
        <a:srgbClr val="808080"/>
      </a:lt2>
      <a:accent1>
        <a:srgbClr val="B8CFFB"/>
      </a:accent1>
      <a:accent2>
        <a:srgbClr val="DF8F74"/>
      </a:accent2>
      <a:accent3>
        <a:srgbClr val="F8F7EF"/>
      </a:accent3>
      <a:accent4>
        <a:srgbClr val="202064"/>
      </a:accent4>
      <a:accent5>
        <a:srgbClr val="D8E4FD"/>
      </a:accent5>
      <a:accent6>
        <a:srgbClr val="CA8168"/>
      </a:accent6>
      <a:hlink>
        <a:srgbClr val="7F97C2"/>
      </a:hlink>
      <a:folHlink>
        <a:srgbClr val="8BBE8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1348</Words>
  <Application>Microsoft Office PowerPoint</Application>
  <PresentationFormat>On-screen Show (4:3)</PresentationFormat>
  <Paragraphs>463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6" baseType="lpstr">
      <vt:lpstr>Arial</vt:lpstr>
      <vt:lpstr>Helvetica Neue</vt:lpstr>
      <vt:lpstr>Times New Roman</vt:lpstr>
      <vt:lpstr>Noto Sans Symbols</vt:lpstr>
      <vt:lpstr>Verdana</vt:lpstr>
      <vt:lpstr>Helvetica</vt:lpstr>
      <vt:lpstr>1_Koi</vt:lpstr>
      <vt:lpstr>Set, Map and Hash table</vt:lpstr>
      <vt:lpstr>Set</vt:lpstr>
      <vt:lpstr>Set operations</vt:lpstr>
      <vt:lpstr>Set operations Union</vt:lpstr>
      <vt:lpstr>Set operations Intersection</vt:lpstr>
      <vt:lpstr>Set operations Minus</vt:lpstr>
      <vt:lpstr>Using set library</vt:lpstr>
      <vt:lpstr>Maps</vt:lpstr>
      <vt:lpstr>The map operations</vt:lpstr>
      <vt:lpstr>Example</vt:lpstr>
      <vt:lpstr>A Simple List-Based Map</vt:lpstr>
      <vt:lpstr>The get(k) Algorithm</vt:lpstr>
      <vt:lpstr>The put(k,v) Algorithm</vt:lpstr>
      <vt:lpstr>The remove(k) Algorithm</vt:lpstr>
      <vt:lpstr>Performance of a List-Based Map</vt:lpstr>
      <vt:lpstr>Using map library</vt:lpstr>
      <vt:lpstr>Simple map</vt:lpstr>
      <vt:lpstr>Complexity of simple map operations</vt:lpstr>
      <vt:lpstr>Hash Tables</vt:lpstr>
      <vt:lpstr>Hash Functions</vt:lpstr>
      <vt:lpstr>Hash Tables </vt:lpstr>
      <vt:lpstr>Collision</vt:lpstr>
      <vt:lpstr>Collision Handling</vt:lpstr>
      <vt:lpstr>Linear probing collions</vt:lpstr>
      <vt:lpstr>Hash Functions</vt:lpstr>
      <vt:lpstr>Applications</vt:lpstr>
      <vt:lpstr>Map operations with Separate Chaining used for Collisions</vt:lpstr>
      <vt:lpstr>Performance and applications</vt:lpstr>
      <vt:lpstr>Exercises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Set, Map and Hash table</dc:title>
  <cp:lastModifiedBy>DHQG</cp:lastModifiedBy>
  <cp:revision>4</cp:revision>
  <dcterms:modified xsi:type="dcterms:W3CDTF">2018-09-18T04:28:40Z</dcterms:modified>
</cp:coreProperties>
</file>