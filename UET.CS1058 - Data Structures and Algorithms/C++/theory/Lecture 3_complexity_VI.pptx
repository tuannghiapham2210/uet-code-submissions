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embeddedFontLst>
    <p:embeddedFont>
      <p:font typeface="Arial Narrow" pitchFamily="34" charset="0"/>
      <p:regular r:id="rId34"/>
      <p:bold r:id="rId35"/>
      <p:italic r:id="rId36"/>
      <p:boldItalic r:id="rId37"/>
    </p:embeddedFont>
    <p:embeddedFont>
      <p:font typeface="Calibri" pitchFamily="34" charset="0"/>
      <p:regular r:id="rId38"/>
      <p:bold r:id="rId39"/>
      <p:italic r:id="rId40"/>
      <p:boldItalic r:id="rId41"/>
    </p:embeddedFont>
  </p:embeddedFontLst>
  <p:custDataLst>
    <p:tags r:id="rId4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577853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2727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</a:t>
            </a:r>
            <a:r>
              <a:rPr lang="en-US" sz="5400" dirty="0" err="1" smtClean="0"/>
              <a:t>n</a:t>
            </a:r>
            <a:r>
              <a:rPr lang="en-US" sz="5400" dirty="0" smtClean="0"/>
              <a:t> </a:t>
            </a:r>
            <a:r>
              <a:rPr lang="en-US" sz="5400" dirty="0" err="1" smtClean="0"/>
              <a:t>tích</a:t>
            </a:r>
            <a:r>
              <a:rPr lang="en-US" sz="5400" dirty="0" smtClean="0"/>
              <a:t> </a:t>
            </a:r>
            <a:r>
              <a:rPr lang="en-US" sz="5400" dirty="0" err="1" smtClean="0"/>
              <a:t>thuật</a:t>
            </a:r>
            <a:r>
              <a:rPr lang="en-US" sz="5400" dirty="0" smtClean="0"/>
              <a:t> </a:t>
            </a:r>
            <a:r>
              <a:rPr lang="en-US" sz="5400" dirty="0" err="1" smtClean="0"/>
              <a:t>toán</a:t>
            </a:r>
            <a:endParaRPr sz="54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giải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quyết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nhiều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phương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pháp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nhau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đo</a:t>
            </a:r>
            <a:r>
              <a:rPr lang="en-US" dirty="0" smtClean="0"/>
              <a:t> 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914400" marR="0" lvl="1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endParaRPr dirty="0"/>
          </a:p>
          <a:p>
            <a:pPr marL="914400" marR="0" lvl="1" indent="-5143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❖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Bộ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nhớ</a:t>
            </a:r>
            <a:endParaRPr dirty="0"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sẽ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bởi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nhiều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yếu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tố</a:t>
            </a:r>
            <a:r>
              <a:rPr lang="en-US" sz="2400" b="0" i="0" u="none" strike="noStrike" cap="none" dirty="0" smtClean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2400" b="0" i="0" u="none" strike="noStrike" cap="none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Dung lượng </a:t>
            </a:r>
            <a:r>
              <a:rPr lang="en-US" sz="2400" dirty="0" err="1" smtClean="0"/>
              <a:t>máy</a:t>
            </a:r>
            <a:r>
              <a:rPr lang="en-US" sz="2400" dirty="0" smtClean="0"/>
              <a:t> </a:t>
            </a:r>
            <a:r>
              <a:rPr lang="en-US" sz="2400" dirty="0" err="1" smtClean="0"/>
              <a:t>tính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ngôn</a:t>
            </a:r>
            <a:r>
              <a:rPr lang="en-US" sz="2400" dirty="0" smtClean="0"/>
              <a:t> </a:t>
            </a:r>
            <a:r>
              <a:rPr lang="en-US" sz="2400" dirty="0" err="1" smtClean="0"/>
              <a:t>ngữ</a:t>
            </a:r>
            <a:r>
              <a:rPr lang="en-US" sz="2400" dirty="0" smtClean="0"/>
              <a:t> </a:t>
            </a:r>
            <a:r>
              <a:rPr lang="en-US" sz="2400" dirty="0" err="1" smtClean="0"/>
              <a:t>lập</a:t>
            </a:r>
            <a:r>
              <a:rPr lang="en-US" sz="2400" dirty="0" smtClean="0"/>
              <a:t> trình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bộ</a:t>
            </a:r>
            <a:r>
              <a:rPr lang="en-US" sz="2400" dirty="0" smtClean="0"/>
              <a:t> </a:t>
            </a:r>
            <a:r>
              <a:rPr lang="en-US" sz="2400" dirty="0" err="1" smtClean="0"/>
              <a:t>biên</a:t>
            </a:r>
            <a:r>
              <a:rPr lang="en-US" sz="2400" dirty="0" smtClean="0"/>
              <a:t> </a:t>
            </a:r>
            <a:r>
              <a:rPr lang="en-US" sz="2400" dirty="0" err="1" smtClean="0"/>
              <a:t>dịch</a:t>
            </a:r>
            <a:r>
              <a:rPr lang="en-US" sz="2400" dirty="0" smtClean="0"/>
              <a:t>/</a:t>
            </a:r>
            <a:r>
              <a:rPr lang="en-US" sz="2400" dirty="0" err="1" smtClean="0"/>
              <a:t>hệ</a:t>
            </a:r>
            <a:r>
              <a:rPr lang="en-US" sz="2400" dirty="0" smtClean="0"/>
              <a:t> </a:t>
            </a:r>
            <a:r>
              <a:rPr lang="en-US" sz="2400" dirty="0" err="1" smtClean="0"/>
              <a:t>điều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endParaRPr dirty="0"/>
          </a:p>
          <a:p>
            <a:pPr marL="914400" marR="0" lvl="1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vv.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trọng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4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 smtClean="0"/>
              <a:t>để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tính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toán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thời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gian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thực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hiện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của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thuật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toán</a:t>
            </a:r>
            <a:endParaRPr dirty="0"/>
          </a:p>
          <a:p>
            <a:pPr marL="914400" marR="0" lvl="1" indent="-3619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Phụ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thuộc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viên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sách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gồm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viên</a:t>
            </a:r>
            <a:endParaRPr dirty="0"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Sắp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xếp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n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endParaRPr dirty="0"/>
          </a:p>
          <a:p>
            <a:pPr marL="857250" marR="0" lvl="1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người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du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lịch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dirty="0" err="1" smtClean="0"/>
              <a:t>thăm</a:t>
            </a:r>
            <a:r>
              <a:rPr lang="en-US" dirty="0" smtClean="0"/>
              <a:t> n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phố</a:t>
            </a:r>
            <a:endParaRPr dirty="0"/>
          </a:p>
          <a:p>
            <a:pPr marL="857250" marR="0" lvl="1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Phụ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thuộc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cụ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3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 smtClean="0"/>
              <a:t>Độ</a:t>
            </a:r>
            <a:r>
              <a:rPr lang="en-US" sz="3200" dirty="0" smtClean="0"/>
              <a:t> </a:t>
            </a:r>
            <a:r>
              <a:rPr lang="en-US" sz="3200" dirty="0" err="1" smtClean="0"/>
              <a:t>phức</a:t>
            </a:r>
            <a:r>
              <a:rPr lang="en-US" sz="3200" dirty="0" smtClean="0"/>
              <a:t> </a:t>
            </a:r>
            <a:r>
              <a:rPr lang="en-US" sz="3200" dirty="0" err="1" smtClean="0"/>
              <a:t>tạp</a:t>
            </a:r>
            <a:r>
              <a:rPr lang="en-US" sz="3200" dirty="0" smtClean="0"/>
              <a:t> </a:t>
            </a:r>
            <a:r>
              <a:rPr lang="en-US" sz="3200" dirty="0" err="1" smtClean="0"/>
              <a:t>thuật</a:t>
            </a:r>
            <a:r>
              <a:rPr lang="en-US" sz="3200" dirty="0" smtClean="0"/>
              <a:t> </a:t>
            </a:r>
            <a:r>
              <a:rPr lang="en-US" sz="3200" dirty="0" err="1" smtClean="0"/>
              <a:t>toán</a:t>
            </a:r>
            <a:endParaRPr sz="32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457200" y="1752601"/>
            <a:ext cx="4572000" cy="472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Worse-case run time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run time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Best-case run time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Notes: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case time is often difficult to determine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focus on the worst case running time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Easier to analyze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Crucial to applications such as games, finance and robotics</a:t>
            </a:r>
            <a:endParaRPr/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0" y="2057400"/>
            <a:ext cx="4005943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nghiệm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cần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phải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cài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đặt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vì</a:t>
            </a:r>
            <a:r>
              <a:rPr lang="en-US" sz="2400" dirty="0" smtClean="0"/>
              <a:t> </a:t>
            </a:r>
            <a:r>
              <a:rPr lang="en-US" sz="2400" dirty="0" err="1" smtClean="0"/>
              <a:t>việc</a:t>
            </a:r>
            <a:r>
              <a:rPr lang="en-US" sz="2400" dirty="0" smtClean="0"/>
              <a:t> </a:t>
            </a:r>
            <a:r>
              <a:rPr lang="en-US" sz="2400" dirty="0" err="1" smtClean="0"/>
              <a:t>cài</a:t>
            </a:r>
            <a:r>
              <a:rPr lang="en-US" sz="2400" dirty="0" smtClean="0"/>
              <a:t> </a:t>
            </a:r>
            <a:r>
              <a:rPr lang="en-US" sz="2400" dirty="0" err="1" smtClean="0"/>
              <a:t>đặt</a:t>
            </a:r>
            <a:r>
              <a:rPr lang="en-US" sz="2400" dirty="0" smtClean="0"/>
              <a:t> 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thể</a:t>
            </a:r>
            <a:r>
              <a:rPr lang="en-US" sz="2400" dirty="0" smtClean="0"/>
              <a:t> </a:t>
            </a:r>
            <a:r>
              <a:rPr lang="en-US" sz="2400" dirty="0" err="1" smtClean="0"/>
              <a:t>phức</a:t>
            </a:r>
            <a:r>
              <a:rPr lang="en-US" sz="2400" dirty="0" smtClean="0"/>
              <a:t> </a:t>
            </a:r>
            <a:r>
              <a:rPr lang="en-US" sz="2400" dirty="0" err="1" smtClean="0"/>
              <a:t>tạp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tốn</a:t>
            </a:r>
            <a:r>
              <a:rPr lang="en-US" sz="2400" dirty="0" smtClean="0"/>
              <a:t> </a:t>
            </a:r>
            <a:r>
              <a:rPr lang="en-US" sz="2400" dirty="0" err="1" smtClean="0"/>
              <a:t>nhiều</a:t>
            </a:r>
            <a:r>
              <a:rPr lang="en-US" sz="2400" dirty="0" smtClean="0"/>
              <a:t> </a:t>
            </a:r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gian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chương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phản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ảnh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gian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bộ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được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nghiệm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Để</a:t>
            </a:r>
            <a:r>
              <a:rPr lang="en-US" sz="2400" dirty="0" smtClean="0"/>
              <a:t> so </a:t>
            </a:r>
            <a:r>
              <a:rPr lang="en-US" sz="2400" dirty="0" err="1" smtClean="0"/>
              <a:t>sánh</a:t>
            </a:r>
            <a:r>
              <a:rPr lang="en-US" sz="2400" dirty="0" smtClean="0"/>
              <a:t> 2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, </a:t>
            </a:r>
            <a:r>
              <a:rPr lang="en-US" sz="2400" dirty="0" err="1" smtClean="0"/>
              <a:t>chúng</a:t>
            </a:r>
            <a:r>
              <a:rPr lang="en-US" sz="2400" dirty="0" smtClean="0"/>
              <a:t> </a:t>
            </a:r>
            <a:r>
              <a:rPr lang="en-US" sz="2400" dirty="0" err="1" smtClean="0"/>
              <a:t>ta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nghiệm</a:t>
            </a:r>
            <a:r>
              <a:rPr lang="en-US" sz="2400" dirty="0" smtClean="0"/>
              <a:t> </a:t>
            </a:r>
            <a:r>
              <a:rPr lang="en-US" sz="2400" dirty="0" err="1" smtClean="0"/>
              <a:t>chúng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cùng</a:t>
            </a:r>
            <a:r>
              <a:rPr lang="en-US" sz="2400" dirty="0" smtClean="0"/>
              <a:t> </a:t>
            </a:r>
            <a:r>
              <a:rPr lang="en-US" sz="2400" dirty="0" err="1" smtClean="0"/>
              <a:t>môi</a:t>
            </a:r>
            <a:r>
              <a:rPr lang="en-US" sz="2400" dirty="0" smtClean="0"/>
              <a:t> </a:t>
            </a:r>
            <a:r>
              <a:rPr lang="en-US" sz="2400" dirty="0" err="1" smtClean="0"/>
              <a:t>trường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cứng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thuyết</a:t>
            </a:r>
            <a:endParaRPr dirty="0"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dirty="0" smtClean="0"/>
              <a:t>Ý </a:t>
            </a:r>
            <a:r>
              <a:rPr lang="en-US" sz="2240" dirty="0" err="1" smtClean="0"/>
              <a:t>tưởng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như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dirty="0" err="1" smtClean="0"/>
              <a:t>một</a:t>
            </a:r>
            <a:r>
              <a:rPr lang="en-US" sz="2240" dirty="0" smtClean="0"/>
              <a:t> </a:t>
            </a:r>
            <a:r>
              <a:rPr lang="en-US" sz="2240" dirty="0" err="1" smtClean="0"/>
              <a:t>hàm</a:t>
            </a:r>
            <a:r>
              <a:rPr lang="en-US" sz="2240" dirty="0" smtClean="0"/>
              <a:t> </a:t>
            </a:r>
            <a:r>
              <a:rPr lang="en-US" sz="2240" dirty="0" err="1" smtClean="0"/>
              <a:t>với</a:t>
            </a:r>
            <a:r>
              <a:rPr lang="en-US" sz="2240" dirty="0" smtClean="0"/>
              <a:t> </a:t>
            </a:r>
            <a:r>
              <a:rPr lang="en-US" sz="2240" dirty="0" err="1" smtClean="0"/>
              <a:t>tham</a:t>
            </a:r>
            <a:r>
              <a:rPr lang="en-US" sz="2240" dirty="0" smtClean="0"/>
              <a:t> </a:t>
            </a:r>
            <a:r>
              <a:rPr lang="en-US" sz="2240" dirty="0" err="1" smtClean="0"/>
              <a:t>số</a:t>
            </a:r>
            <a:r>
              <a:rPr lang="en-US" sz="2240" dirty="0" smtClean="0"/>
              <a:t> </a:t>
            </a:r>
            <a:r>
              <a:rPr lang="en-US" sz="2240" dirty="0" err="1" smtClean="0"/>
              <a:t>là</a:t>
            </a:r>
            <a:r>
              <a:rPr lang="en-US" sz="2240" dirty="0" smtClean="0"/>
              <a:t> </a:t>
            </a:r>
            <a:r>
              <a:rPr lang="en-US" sz="2240" dirty="0" err="1" smtClean="0"/>
              <a:t>kích</a:t>
            </a:r>
            <a:r>
              <a:rPr lang="en-US" sz="2240" dirty="0" smtClean="0"/>
              <a:t> </a:t>
            </a:r>
            <a:r>
              <a:rPr lang="en-US" sz="2240" dirty="0" err="1" smtClean="0"/>
              <a:t>thước</a:t>
            </a:r>
            <a:r>
              <a:rPr lang="en-US" sz="2240" dirty="0" smtClean="0"/>
              <a:t> </a:t>
            </a:r>
            <a:r>
              <a:rPr lang="en-US" sz="2240" dirty="0" err="1" smtClean="0"/>
              <a:t>dữ</a:t>
            </a:r>
            <a:r>
              <a:rPr lang="en-US" sz="2240" dirty="0" smtClean="0"/>
              <a:t> </a:t>
            </a:r>
            <a:r>
              <a:rPr lang="en-US" sz="2240" dirty="0" err="1" smtClean="0"/>
              <a:t>liệu</a:t>
            </a:r>
            <a:r>
              <a:rPr lang="en-US" sz="2240" dirty="0" smtClean="0"/>
              <a:t> </a:t>
            </a:r>
            <a:r>
              <a:rPr lang="en-US" sz="2240" dirty="0" err="1" smtClean="0"/>
              <a:t>vào</a:t>
            </a: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>
              <a:lnSpc>
                <a:spcPct val="140000"/>
              </a:lnSpc>
              <a:spcBef>
                <a:spcPts val="448"/>
              </a:spcBef>
              <a:buSzPts val="2240"/>
            </a:pP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dirty="0" smtClean="0"/>
              <a:t>ở </a:t>
            </a:r>
            <a:r>
              <a:rPr lang="en-US" sz="2240" dirty="0" err="1" smtClean="0"/>
              <a:t>mức</a:t>
            </a:r>
            <a:r>
              <a:rPr lang="en-US" sz="2240" dirty="0" smtClean="0"/>
              <a:t> cao  (</a:t>
            </a:r>
            <a:r>
              <a:rPr lang="en-US" sz="2240" dirty="0" err="1" smtClean="0"/>
              <a:t>sơ</a:t>
            </a:r>
            <a:r>
              <a:rPr lang="en-US" sz="2240" dirty="0" smtClean="0"/>
              <a:t> </a:t>
            </a:r>
            <a:r>
              <a:rPr lang="en-US" sz="2240" dirty="0" err="1" smtClean="0"/>
              <a:t>đồ</a:t>
            </a:r>
            <a:r>
              <a:rPr lang="en-US" sz="2240" dirty="0" smtClean="0"/>
              <a:t> </a:t>
            </a:r>
            <a:r>
              <a:rPr lang="en-US" sz="2240" dirty="0" err="1" smtClean="0"/>
              <a:t>khối</a:t>
            </a:r>
            <a:r>
              <a:rPr lang="en-US" sz="2240" dirty="0" smtClean="0"/>
              <a:t>, </a:t>
            </a:r>
            <a:r>
              <a:rPr lang="en-US" sz="2240" dirty="0" err="1" smtClean="0"/>
              <a:t>mã</a:t>
            </a:r>
            <a:r>
              <a:rPr lang="en-US" sz="2240" dirty="0" smtClean="0"/>
              <a:t> </a:t>
            </a:r>
            <a:r>
              <a:rPr lang="en-US" sz="2240" dirty="0" err="1" smtClean="0"/>
              <a:t>giả</a:t>
            </a:r>
            <a:r>
              <a:rPr lang="en-US" sz="2240" dirty="0" smtClean="0"/>
              <a:t>,…)  </a:t>
            </a:r>
            <a:r>
              <a:rPr lang="en-US" sz="2240" dirty="0" err="1" smtClean="0"/>
              <a:t>thay</a:t>
            </a:r>
            <a:r>
              <a:rPr lang="en-US" sz="2240" dirty="0" smtClean="0"/>
              <a:t> </a:t>
            </a:r>
            <a:r>
              <a:rPr lang="en-US" sz="2240" dirty="0" err="1" smtClean="0"/>
              <a:t>vì</a:t>
            </a:r>
            <a:r>
              <a:rPr lang="en-US" sz="2240" dirty="0" smtClean="0"/>
              <a:t> </a:t>
            </a:r>
            <a:r>
              <a:rPr lang="en-US" sz="2240" dirty="0" err="1" smtClean="0"/>
              <a:t>cài</a:t>
            </a:r>
            <a:r>
              <a:rPr lang="en-US" sz="2240" dirty="0" smtClean="0"/>
              <a:t> </a:t>
            </a:r>
            <a:r>
              <a:rPr lang="en-US" sz="2240" dirty="0" err="1" smtClean="0"/>
              <a:t>đặt</a:t>
            </a: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dirty="0" err="1" smtClean="0"/>
              <a:t>Xem</a:t>
            </a:r>
            <a:r>
              <a:rPr lang="en-US" sz="2240" dirty="0" smtClean="0"/>
              <a:t> </a:t>
            </a:r>
            <a:r>
              <a:rPr lang="en-US" sz="2240" dirty="0" err="1" smtClean="0"/>
              <a:t>xét</a:t>
            </a:r>
            <a:r>
              <a:rPr lang="en-US" sz="2240" dirty="0" smtClean="0"/>
              <a:t> </a:t>
            </a:r>
            <a:r>
              <a:rPr lang="en-US" sz="2240" dirty="0" err="1" smtClean="0"/>
              <a:t>tất</a:t>
            </a:r>
            <a:r>
              <a:rPr lang="en-US" sz="2240" dirty="0" smtClean="0"/>
              <a:t> </a:t>
            </a:r>
            <a:r>
              <a:rPr lang="en-US" sz="2240" dirty="0" err="1" smtClean="0"/>
              <a:t>cả</a:t>
            </a:r>
            <a:r>
              <a:rPr lang="en-US" sz="2240" dirty="0" smtClean="0"/>
              <a:t> </a:t>
            </a:r>
            <a:r>
              <a:rPr lang="en-US" sz="2240" dirty="0" err="1" smtClean="0"/>
              <a:t>các</a:t>
            </a:r>
            <a:r>
              <a:rPr lang="en-US" sz="2240" dirty="0" smtClean="0"/>
              <a:t> </a:t>
            </a:r>
            <a:r>
              <a:rPr lang="en-US" sz="2240" dirty="0" err="1" smtClean="0"/>
              <a:t>bộ</a:t>
            </a:r>
            <a:r>
              <a:rPr lang="en-US" sz="2240" dirty="0" smtClean="0"/>
              <a:t> </a:t>
            </a:r>
            <a:r>
              <a:rPr lang="en-US" sz="2240" dirty="0" err="1" smtClean="0"/>
              <a:t>dữ</a:t>
            </a:r>
            <a:r>
              <a:rPr lang="en-US" sz="2240" dirty="0" smtClean="0"/>
              <a:t> </a:t>
            </a:r>
            <a:r>
              <a:rPr lang="en-US" sz="2240" dirty="0" err="1" smtClean="0"/>
              <a:t>liệu</a:t>
            </a:r>
            <a:r>
              <a:rPr lang="en-US" sz="2240" dirty="0" smtClean="0"/>
              <a:t> </a:t>
            </a:r>
            <a:r>
              <a:rPr lang="en-US" sz="2240" dirty="0" err="1" smtClean="0"/>
              <a:t>vào</a:t>
            </a:r>
            <a:endParaRPr dirty="0"/>
          </a:p>
          <a:p>
            <a:pPr marL="342900" marR="0" lvl="0" indent="-34290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Char char="➢"/>
            </a:pP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</a:t>
            </a:r>
            <a:r>
              <a:rPr lang="en-US" sz="224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40" dirty="0" err="1" smtClean="0"/>
              <a:t>chúng</a:t>
            </a:r>
            <a:r>
              <a:rPr lang="en-US" sz="2240" dirty="0" smtClean="0"/>
              <a:t> </a:t>
            </a:r>
            <a:r>
              <a:rPr lang="en-US" sz="2240" dirty="0" err="1" smtClean="0"/>
              <a:t>ta</a:t>
            </a:r>
            <a:r>
              <a:rPr lang="en-US" sz="2240" dirty="0" smtClean="0"/>
              <a:t> </a:t>
            </a:r>
            <a:r>
              <a:rPr lang="en-US" sz="2240" dirty="0" err="1" smtClean="0"/>
              <a:t>tính</a:t>
            </a:r>
            <a:r>
              <a:rPr lang="en-US" sz="2240" dirty="0" smtClean="0"/>
              <a:t> </a:t>
            </a:r>
            <a:r>
              <a:rPr lang="en-US" sz="2240" dirty="0" err="1" smtClean="0"/>
              <a:t>toán</a:t>
            </a:r>
            <a:r>
              <a:rPr lang="en-US" sz="2240" dirty="0" smtClean="0"/>
              <a:t> </a:t>
            </a:r>
            <a:r>
              <a:rPr lang="en-US" sz="2240" dirty="0" err="1" smtClean="0"/>
              <a:t>tốc</a:t>
            </a:r>
            <a:r>
              <a:rPr lang="en-US" sz="2240" dirty="0" smtClean="0"/>
              <a:t> </a:t>
            </a:r>
            <a:r>
              <a:rPr lang="en-US" sz="2240" dirty="0" err="1" smtClean="0"/>
              <a:t>độ</a:t>
            </a:r>
            <a:r>
              <a:rPr lang="en-US" sz="2240" dirty="0" smtClean="0"/>
              <a:t> </a:t>
            </a:r>
            <a:r>
              <a:rPr lang="en-US" sz="2240" dirty="0" err="1" smtClean="0"/>
              <a:t>thực</a:t>
            </a:r>
            <a:r>
              <a:rPr lang="en-US" sz="2240" dirty="0" smtClean="0"/>
              <a:t> </a:t>
            </a:r>
            <a:r>
              <a:rPr lang="en-US" sz="2240" dirty="0" err="1" smtClean="0"/>
              <a:t>hiện</a:t>
            </a:r>
            <a:r>
              <a:rPr lang="en-US" sz="2240" dirty="0" smtClean="0"/>
              <a:t> </a:t>
            </a:r>
            <a:r>
              <a:rPr lang="en-US" sz="2240" dirty="0" err="1" smtClean="0"/>
              <a:t>của</a:t>
            </a:r>
            <a:r>
              <a:rPr lang="en-US" sz="2240" dirty="0" smtClean="0"/>
              <a:t> </a:t>
            </a:r>
            <a:r>
              <a:rPr lang="en-US" sz="2240" dirty="0" err="1" smtClean="0"/>
              <a:t>các</a:t>
            </a:r>
            <a:r>
              <a:rPr lang="en-US" sz="2240" dirty="0" smtClean="0"/>
              <a:t> </a:t>
            </a:r>
            <a:r>
              <a:rPr lang="en-US" sz="2240" dirty="0" err="1" smtClean="0"/>
              <a:t>thuật</a:t>
            </a:r>
            <a:r>
              <a:rPr lang="en-US" sz="2240" dirty="0" smtClean="0"/>
              <a:t> </a:t>
            </a:r>
            <a:r>
              <a:rPr lang="en-US" sz="2240" dirty="0" err="1" smtClean="0"/>
              <a:t>toán</a:t>
            </a:r>
            <a:r>
              <a:rPr lang="en-US" sz="2240" dirty="0" smtClean="0"/>
              <a:t> </a:t>
            </a:r>
            <a:r>
              <a:rPr lang="en-US" sz="2240" dirty="0" err="1" smtClean="0"/>
              <a:t>độc</a:t>
            </a:r>
            <a:r>
              <a:rPr lang="en-US" sz="2240" dirty="0" smtClean="0"/>
              <a:t> </a:t>
            </a:r>
            <a:r>
              <a:rPr lang="en-US" sz="2240" dirty="0" err="1" smtClean="0"/>
              <a:t>lập</a:t>
            </a:r>
            <a:r>
              <a:rPr lang="en-US" sz="2240" dirty="0" smtClean="0"/>
              <a:t> </a:t>
            </a:r>
            <a:r>
              <a:rPr lang="en-US" sz="2240" dirty="0" err="1" smtClean="0"/>
              <a:t>với</a:t>
            </a:r>
            <a:r>
              <a:rPr lang="en-US" sz="2240" dirty="0" smtClean="0"/>
              <a:t> </a:t>
            </a:r>
            <a:r>
              <a:rPr lang="en-US" sz="2240" dirty="0" err="1" smtClean="0"/>
              <a:t>môi</a:t>
            </a:r>
            <a:r>
              <a:rPr lang="en-US" sz="2240" dirty="0" smtClean="0"/>
              <a:t> </a:t>
            </a:r>
            <a:r>
              <a:rPr lang="en-US" sz="2240" dirty="0" err="1" smtClean="0"/>
              <a:t>trường</a:t>
            </a:r>
            <a:r>
              <a:rPr lang="en-US" sz="2240" dirty="0" smtClean="0"/>
              <a:t> </a:t>
            </a:r>
            <a:r>
              <a:rPr lang="en-US" sz="2240" dirty="0" err="1" smtClean="0"/>
              <a:t>phần</a:t>
            </a:r>
            <a:r>
              <a:rPr lang="en-US" sz="2240" dirty="0" smtClean="0"/>
              <a:t> </a:t>
            </a:r>
            <a:r>
              <a:rPr lang="en-US" sz="2240" dirty="0" err="1" smtClean="0"/>
              <a:t>cứng</a:t>
            </a:r>
            <a:r>
              <a:rPr lang="en-US" sz="2240" dirty="0" smtClean="0"/>
              <a:t> </a:t>
            </a:r>
            <a:r>
              <a:rPr lang="en-US" sz="2240" dirty="0" err="1" smtClean="0"/>
              <a:t>và</a:t>
            </a:r>
            <a:r>
              <a:rPr lang="en-US" sz="2240" dirty="0" smtClean="0"/>
              <a:t> </a:t>
            </a:r>
            <a:r>
              <a:rPr lang="en-US" sz="2240" dirty="0" err="1" smtClean="0"/>
              <a:t>phần</a:t>
            </a:r>
            <a:r>
              <a:rPr lang="en-US" sz="2240" dirty="0" smtClean="0"/>
              <a:t> </a:t>
            </a:r>
            <a:r>
              <a:rPr lang="en-US" sz="2240" dirty="0" err="1" smtClean="0"/>
              <a:t>mềm</a:t>
            </a:r>
            <a:r>
              <a:rPr lang="en-US" sz="224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00660" algn="l" rtl="0">
              <a:lnSpc>
                <a:spcPct val="14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Font typeface="Noto Sans Symbols"/>
              <a:buNone/>
            </a:pPr>
            <a:endParaRPr sz="224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Mã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43" name="Google Shape;143;p20"/>
          <p:cNvGrpSpPr/>
          <p:nvPr/>
        </p:nvGrpSpPr>
        <p:grpSpPr>
          <a:xfrm>
            <a:off x="4267200" y="1981200"/>
            <a:ext cx="4648200" cy="3676649"/>
            <a:chOff x="2640" y="1299"/>
            <a:chExt cx="2928" cy="2316"/>
          </a:xfrm>
        </p:grpSpPr>
        <p:sp>
          <p:nvSpPr>
            <p:cNvPr id="144" name="Google Shape;144;p20"/>
            <p:cNvSpPr txBox="1"/>
            <p:nvPr/>
          </p:nvSpPr>
          <p:spPr>
            <a:xfrm>
              <a:off x="2688" y="1299"/>
              <a:ext cx="2832" cy="2019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Algorithm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arrayMax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</a:t>
              </a:r>
              <a:r>
                <a:rPr lang="en-US" sz="2000" b="1" i="1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</a:t>
              </a:r>
              <a:r>
                <a:rPr lang="en-US" sz="2000" b="1" i="1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Input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array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integers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Output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maximum element of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sz="2000" dirty="0"/>
            </a:p>
            <a:p>
              <a:pPr marL="0" marR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[0];</a:t>
              </a:r>
              <a:endParaRPr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− 1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 smtClean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if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</a:t>
              </a:r>
              <a:r>
                <a:rPr lang="en-US" sz="2000" b="0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] </a:t>
              </a:r>
              <a:r>
                <a:rPr lang="en-US" sz="2000" b="0" i="0" u="none" strike="noStrike" cap="none" dirty="0" smtClean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&gt;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then</a:t>
              </a:r>
              <a:endParaRPr sz="2000" dirty="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	</a:t>
              </a:r>
              <a:r>
                <a:rPr lang="en-US" sz="2000" b="1" i="1" u="none" strike="noStrike" cap="none" dirty="0" err="1" smtClean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0" i="0" u="none" strike="noStrike" cap="none" dirty="0" smtClean="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←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[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lang="en-US" sz="2000" b="0" i="0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];</a:t>
              </a:r>
              <a:endParaRPr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  <a:r>
                <a:rPr lang="en-US" sz="2000" b="1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return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sz="2000" b="1" i="1" u="none" strike="noStrike" cap="none" dirty="0" err="1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currentMax</a:t>
              </a:r>
              <a:r>
                <a:rPr lang="en-US" sz="2000" b="1" i="1" u="none" strike="noStrike" cap="none" dirty="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;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20"/>
            <p:cNvSpPr txBox="1"/>
            <p:nvPr/>
          </p:nvSpPr>
          <p:spPr>
            <a:xfrm>
              <a:off x="2640" y="3363"/>
              <a:ext cx="2928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Ví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dụ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Tìm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phần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tử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lớp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nhất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b="0" i="0" u="none" strike="noStrike" cap="none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trong</a:t>
              </a:r>
              <a:r>
                <a:rPr lang="en-US" sz="2000" b="0" i="0" u="none" strike="noStrike" cap="none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danh</a:t>
              </a:r>
              <a:r>
                <a:rPr lang="en-US" sz="2000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2000" dirty="0" err="1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sách</a:t>
              </a:r>
              <a:r>
                <a:rPr lang="en-US" sz="2000" dirty="0" smtClean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A</a:t>
              </a:r>
              <a:endParaRPr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46" name="Google Shape;146;p20" descr="Rectangle: Click to edit Master text styles&#10;Second level&#10;Third level&#10;Fourth level&#10;Fifth level"/>
          <p:cNvSpPr txBox="1"/>
          <p:nvPr/>
        </p:nvSpPr>
        <p:spPr>
          <a:xfrm>
            <a:off x="304800" y="1752599"/>
            <a:ext cx="4140591" cy="433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ngôn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ngữ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giữa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ngôn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ngữ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tự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nhiên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cấu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trúc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lập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trình: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hướng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người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đọc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mức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cao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chi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như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ngôn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ngữ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lập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mô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tả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đấu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vấn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đề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thiết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kết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chương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trình.</a:t>
            </a:r>
            <a:endParaRPr dirty="0"/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dirty="0"/>
          </a:p>
        </p:txBody>
      </p:sp>
      <p:sp>
        <p:nvSpPr>
          <p:cNvPr id="153" name="Google Shape;153;p2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8153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bởi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+, -, *, /, &lt;, &gt;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dirty="0" err="1" smtClean="0"/>
              <a:t>Độc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</a:t>
            </a:r>
            <a:r>
              <a:rPr lang="en-US" sz="2800" dirty="0" err="1" smtClean="0"/>
              <a:t>với</a:t>
            </a:r>
            <a:r>
              <a:rPr lang="en-US" sz="2800" dirty="0" smtClean="0"/>
              <a:t> </a:t>
            </a:r>
            <a:r>
              <a:rPr lang="en-US" sz="2800" dirty="0" err="1" smtClean="0"/>
              <a:t>các</a:t>
            </a:r>
            <a:r>
              <a:rPr lang="en-US" sz="2800" dirty="0" smtClean="0"/>
              <a:t> </a:t>
            </a:r>
            <a:r>
              <a:rPr lang="en-US" sz="2800" dirty="0" err="1" smtClean="0"/>
              <a:t>ngôn</a:t>
            </a:r>
            <a:r>
              <a:rPr lang="en-US" sz="2800" dirty="0" smtClean="0"/>
              <a:t> </a:t>
            </a:r>
            <a:r>
              <a:rPr lang="en-US" sz="2800" dirty="0" err="1" smtClean="0"/>
              <a:t>ngữ</a:t>
            </a:r>
            <a:r>
              <a:rPr lang="en-US" sz="2800" dirty="0" smtClean="0"/>
              <a:t> </a:t>
            </a:r>
            <a:r>
              <a:rPr lang="en-US" sz="2800" dirty="0" err="1" smtClean="0"/>
              <a:t>lập</a:t>
            </a:r>
            <a:r>
              <a:rPr lang="en-US" sz="2800" dirty="0" smtClean="0"/>
              <a:t> trình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rằng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này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đều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 smtClean="0"/>
              <a:t>một</a:t>
            </a:r>
            <a:r>
              <a:rPr lang="en-US" sz="2800" dirty="0" smtClean="0"/>
              <a:t> </a:t>
            </a:r>
            <a:r>
              <a:rPr lang="en-US" sz="2800" dirty="0" err="1" smtClean="0"/>
              <a:t>thời</a:t>
            </a:r>
            <a:r>
              <a:rPr lang="en-US" sz="2800" dirty="0" smtClean="0"/>
              <a:t> </a:t>
            </a:r>
            <a:r>
              <a:rPr lang="en-US" sz="2800" dirty="0" err="1" smtClean="0"/>
              <a:t>gian</a:t>
            </a:r>
            <a:r>
              <a:rPr lang="en-US" sz="2800" dirty="0" smtClean="0"/>
              <a:t> </a:t>
            </a:r>
            <a:r>
              <a:rPr lang="en-US" sz="2800" dirty="0" err="1" smtClean="0"/>
              <a:t>không</a:t>
            </a:r>
            <a:r>
              <a:rPr lang="en-US" sz="2800" dirty="0" smtClean="0"/>
              <a:t> </a:t>
            </a:r>
            <a:r>
              <a:rPr lang="en-US" sz="2800" dirty="0" err="1" smtClean="0"/>
              <a:t>đổi</a:t>
            </a:r>
            <a:r>
              <a:rPr lang="en-US" sz="2800" dirty="0" smtClean="0"/>
              <a:t> </a:t>
            </a:r>
            <a:r>
              <a:rPr lang="en-US" sz="2800" dirty="0" err="1" smtClean="0"/>
              <a:t>trong</a:t>
            </a:r>
            <a:r>
              <a:rPr lang="en-US" sz="2800" dirty="0" smtClean="0"/>
              <a:t> RAM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447964" y="1752600"/>
            <a:ext cx="40386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/>
              <a:t>Xác</a:t>
            </a:r>
            <a:r>
              <a:rPr lang="en-US" sz="2400" dirty="0" smtClean="0"/>
              <a:t> </a:t>
            </a:r>
            <a:r>
              <a:rPr lang="en-US" sz="2400" dirty="0" err="1" smtClean="0"/>
              <a:t>định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lượng </a:t>
            </a:r>
            <a:r>
              <a:rPr lang="en-US" sz="2400" dirty="0" err="1" smtClean="0"/>
              <a:t>lớn</a:t>
            </a:r>
            <a:r>
              <a:rPr lang="en-US" sz="2400" dirty="0" smtClean="0"/>
              <a:t> </a:t>
            </a:r>
            <a:r>
              <a:rPr lang="en-US" sz="2400" dirty="0" err="1" smtClean="0"/>
              <a:t>nhất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phép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cơ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(</a:t>
            </a:r>
            <a:r>
              <a:rPr lang="en-US" sz="2400" dirty="0" err="1" smtClean="0"/>
              <a:t>như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một</a:t>
            </a:r>
            <a:r>
              <a:rPr lang="en-US" sz="2400" dirty="0" smtClean="0"/>
              <a:t>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tham</a:t>
            </a:r>
            <a:r>
              <a:rPr lang="en-US" sz="2400" dirty="0" smtClean="0"/>
              <a:t> </a:t>
            </a:r>
            <a:r>
              <a:rPr lang="en-US" sz="2400" dirty="0" err="1" smtClean="0"/>
              <a:t>số</a:t>
            </a:r>
            <a:r>
              <a:rPr lang="en-US" sz="2400" dirty="0" smtClean="0"/>
              <a:t> </a:t>
            </a:r>
            <a:r>
              <a:rPr lang="en-US" sz="2400" dirty="0" err="1" smtClean="0"/>
              <a:t>là</a:t>
            </a:r>
            <a:r>
              <a:rPr lang="en-US" sz="2400" dirty="0" smtClean="0"/>
              <a:t> </a:t>
            </a:r>
            <a:r>
              <a:rPr lang="en-US" sz="2400" dirty="0" err="1" smtClean="0"/>
              <a:t>kích</a:t>
            </a:r>
            <a:r>
              <a:rPr lang="en-US" sz="2400" dirty="0" smtClean="0"/>
              <a:t> </a:t>
            </a:r>
            <a:r>
              <a:rPr lang="en-US" sz="2400" dirty="0" err="1" smtClean="0"/>
              <a:t>thức</a:t>
            </a:r>
            <a:r>
              <a:rPr lang="en-US" sz="2400" dirty="0" smtClean="0"/>
              <a:t> </a:t>
            </a:r>
            <a:r>
              <a:rPr lang="en-US" sz="2400" dirty="0" err="1" smtClean="0"/>
              <a:t>dữ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vào</a:t>
            </a:r>
            <a:r>
              <a:rPr lang="en-US" sz="2400" dirty="0" smtClean="0"/>
              <a:t>)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T(n) =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dirty="0"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T(n) = n + 1</a:t>
            </a:r>
            <a:endParaRPr dirty="0"/>
          </a:p>
          <a:p>
            <a:pPr marL="40005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00050" marR="0" lvl="1" indent="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4495800" y="1981200"/>
            <a:ext cx="4114800" cy="323165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arraySum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1" i="1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integers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of elements of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000" dirty="0"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0;</a:t>
            </a:r>
            <a:endParaRPr sz="2000" b="0" i="0" u="none" strike="noStrike" cap="none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</a:t>
            </a: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sz="2000" b="1" i="1" u="none" strike="noStrike" cap="none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</a:t>
            </a:r>
            <a:r>
              <a:rPr lang="en-US" sz="2000" b="0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20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+ A[</a:t>
            </a:r>
            <a:r>
              <a:rPr lang="en-US" sz="2000" b="0" i="1" u="none" strike="noStrike" cap="none" dirty="0" err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000" b="0" i="0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];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sum;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3"/>
          <p:cNvSpPr txBox="1">
            <a:spLocks noGrp="1"/>
          </p:cNvSpPr>
          <p:nvPr>
            <p:ph type="body" idx="1"/>
          </p:nvPr>
        </p:nvSpPr>
        <p:spPr>
          <a:xfrm>
            <a:off x="381000" y="1905000"/>
            <a:ext cx="8305800" cy="422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0005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dạng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T(n).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600" y="2286000"/>
            <a:ext cx="5785338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524000" y="2971800"/>
            <a:ext cx="5334000" cy="25146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 (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n):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sum = 0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for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num = 0; num &lt; n; num++)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sum = sum + num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return sum 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838200" y="1828800"/>
            <a:ext cx="727885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Đếm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Count 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1066800" y="2971800"/>
            <a:ext cx="7010400" cy="2819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Multiple (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num_rows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, 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num_cols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, Matrix A):</a:t>
            </a:r>
            <a:endParaRPr sz="24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product = 0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for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int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row = 0; row &lt;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num_rows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; row +)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	for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= 0;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&lt;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num_cols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++)</a:t>
            </a:r>
            <a:endParaRPr sz="2400" b="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		product = (sum * A[row][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]) mod 1000</a:t>
            </a:r>
            <a:endParaRPr sz="2400" b="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	return product</a:t>
            </a:r>
            <a:endParaRPr sz="2400" b="0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1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838200" y="1828800"/>
            <a:ext cx="723665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Đếm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Multiple: 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762000" y="1752600"/>
            <a:ext cx="3810000" cy="2474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dirty="0" err="1" smtClean="0"/>
              <a:t>Độ</a:t>
            </a:r>
            <a:r>
              <a:rPr lang="en-US" sz="1800" dirty="0" smtClean="0"/>
              <a:t> </a:t>
            </a:r>
            <a:r>
              <a:rPr lang="en-US" sz="1800" dirty="0" err="1" smtClean="0"/>
              <a:t>phức</a:t>
            </a:r>
            <a:r>
              <a:rPr lang="en-US" sz="1800" dirty="0" smtClean="0"/>
              <a:t> </a:t>
            </a:r>
            <a:r>
              <a:rPr lang="en-US" sz="1800" dirty="0" err="1" smtClean="0"/>
              <a:t>tạp</a:t>
            </a:r>
            <a:r>
              <a:rPr lang="en-US" sz="1800" dirty="0" smtClean="0"/>
              <a:t> </a:t>
            </a:r>
            <a:r>
              <a:rPr lang="en-US" sz="1800" dirty="0" err="1" smtClean="0"/>
              <a:t>thời</a:t>
            </a:r>
            <a:r>
              <a:rPr lang="en-US" sz="1800" dirty="0" smtClean="0"/>
              <a:t> </a:t>
            </a:r>
            <a:r>
              <a:rPr lang="en-US" sz="1800" dirty="0" err="1" smtClean="0"/>
              <a:t>gian</a:t>
            </a:r>
            <a:r>
              <a:rPr lang="en-US" sz="1800" dirty="0" smtClean="0"/>
              <a:t> </a:t>
            </a:r>
            <a:r>
              <a:rPr lang="en-US" sz="1800" dirty="0" err="1" smtClean="0"/>
              <a:t>của</a:t>
            </a:r>
            <a:r>
              <a:rPr lang="en-US" sz="1800" dirty="0" smtClean="0"/>
              <a:t> 2 </a:t>
            </a:r>
            <a:r>
              <a:rPr lang="en-US" sz="1800" dirty="0" err="1" smtClean="0"/>
              <a:t>thuật</a:t>
            </a:r>
            <a:r>
              <a:rPr lang="en-US" sz="1800" dirty="0" smtClean="0"/>
              <a:t> </a:t>
            </a:r>
            <a:r>
              <a:rPr lang="en-US" sz="1800" dirty="0" err="1" smtClean="0"/>
              <a:t>toán</a:t>
            </a:r>
            <a:r>
              <a:rPr lang="en-US" sz="1800" dirty="0" smtClean="0"/>
              <a:t> </a:t>
            </a:r>
            <a:r>
              <a:rPr lang="en-US" sz="1800" dirty="0" err="1" smtClean="0"/>
              <a:t>giải</a:t>
            </a:r>
            <a:r>
              <a:rPr lang="en-US" sz="1800" dirty="0" smtClean="0"/>
              <a:t> </a:t>
            </a:r>
            <a:r>
              <a:rPr lang="en-US" sz="1800" dirty="0" err="1" smtClean="0"/>
              <a:t>quyết</a:t>
            </a:r>
            <a:r>
              <a:rPr lang="en-US" sz="1800" dirty="0" smtClean="0"/>
              <a:t> 1 </a:t>
            </a:r>
            <a:r>
              <a:rPr lang="en-US" sz="1800" dirty="0" err="1" smtClean="0"/>
              <a:t>vấn</a:t>
            </a:r>
            <a:r>
              <a:rPr lang="en-US" sz="1800" dirty="0" smtClean="0"/>
              <a:t> </a:t>
            </a:r>
            <a:r>
              <a:rPr lang="en-US" sz="1800" dirty="0" err="1" smtClean="0"/>
              <a:t>đề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❖"/>
            </a:pPr>
            <a:r>
              <a:rPr lang="en-US" sz="1400" dirty="0" err="1" smtClean="0"/>
              <a:t>Thuật</a:t>
            </a:r>
            <a:r>
              <a:rPr lang="en-US" sz="1400" dirty="0" smtClean="0"/>
              <a:t> </a:t>
            </a:r>
            <a:r>
              <a:rPr lang="en-US" sz="1400" dirty="0" err="1" smtClean="0"/>
              <a:t>toán</a:t>
            </a:r>
            <a:r>
              <a:rPr lang="en-US" sz="1400" dirty="0" smtClean="0"/>
              <a:t> 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 = f(n) = n + 100</a:t>
            </a:r>
            <a:endParaRPr dirty="0"/>
          </a:p>
          <a:p>
            <a:pPr marL="742950" lvl="1" indent="-285750">
              <a:spcBef>
                <a:spcPts val="280"/>
              </a:spcBef>
              <a:buSzPts val="1400"/>
            </a:pPr>
            <a:r>
              <a:rPr lang="en-US" sz="1400" dirty="0" err="1" smtClean="0"/>
              <a:t>Thuật</a:t>
            </a:r>
            <a:r>
              <a:rPr lang="en-US" sz="1400" dirty="0" smtClean="0"/>
              <a:t> </a:t>
            </a:r>
            <a:r>
              <a:rPr lang="en-US" sz="1400" dirty="0" err="1" smtClean="0"/>
              <a:t>toán</a:t>
            </a:r>
            <a:r>
              <a:rPr lang="en-US" sz="1400" dirty="0" smtClean="0"/>
              <a:t> </a:t>
            </a:r>
            <a:r>
              <a:rPr lang="en-US" sz="1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T2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 = g(n) =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400" b="0" i="0" u="none" strike="noStrike" cap="none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400" b="0" i="0" u="none" strike="noStrike" cap="none" baseline="30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+ 10</a:t>
            </a:r>
            <a:endParaRPr dirty="0"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838200" y="4114801"/>
            <a:ext cx="77724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18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tuyến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742950" lvl="1" indent="-285750"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bình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phương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tốt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10</a:t>
            </a: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hằng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95" name="Google Shape;195;p26"/>
          <p:cNvCxnSpPr/>
          <p:nvPr/>
        </p:nvCxnSpPr>
        <p:spPr>
          <a:xfrm rot="10800000">
            <a:off x="4724400" y="1828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4419600" y="3962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7" name="Google Shape;197;p26"/>
          <p:cNvSpPr/>
          <p:nvPr/>
        </p:nvSpPr>
        <p:spPr>
          <a:xfrm>
            <a:off x="4724400" y="2689412"/>
            <a:ext cx="3299012" cy="950259"/>
          </a:xfrm>
          <a:custGeom>
            <a:avLst/>
            <a:gdLst/>
            <a:ahLst/>
            <a:cxnLst/>
            <a:rect l="l" t="t" r="r" b="b"/>
            <a:pathLst>
              <a:path w="3299012" h="950259" extrusionOk="0">
                <a:moveTo>
                  <a:pt x="0" y="950259"/>
                </a:moveTo>
                <a:cubicBezTo>
                  <a:pt x="455706" y="688788"/>
                  <a:pt x="911412" y="427317"/>
                  <a:pt x="1461247" y="268941"/>
                </a:cubicBezTo>
                <a:cubicBezTo>
                  <a:pt x="2011082" y="110565"/>
                  <a:pt x="2994212" y="46318"/>
                  <a:pt x="3299012" y="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/>
          <p:nvPr/>
        </p:nvSpPr>
        <p:spPr>
          <a:xfrm>
            <a:off x="4733365" y="1954306"/>
            <a:ext cx="3227294" cy="1674332"/>
          </a:xfrm>
          <a:custGeom>
            <a:avLst/>
            <a:gdLst/>
            <a:ahLst/>
            <a:cxnLst/>
            <a:rect l="l" t="t" r="r" b="b"/>
            <a:pathLst>
              <a:path w="3227294" h="1674332" extrusionOk="0">
                <a:moveTo>
                  <a:pt x="0" y="1066800"/>
                </a:moveTo>
                <a:cubicBezTo>
                  <a:pt x="270435" y="1419412"/>
                  <a:pt x="540871" y="1772024"/>
                  <a:pt x="914400" y="1649506"/>
                </a:cubicBezTo>
                <a:cubicBezTo>
                  <a:pt x="1287929" y="1526988"/>
                  <a:pt x="1855694" y="606612"/>
                  <a:pt x="2241176" y="331694"/>
                </a:cubicBezTo>
                <a:cubicBezTo>
                  <a:pt x="2626658" y="56776"/>
                  <a:pt x="2926976" y="28388"/>
                  <a:pt x="3227294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"/>
          <p:cNvCxnSpPr/>
          <p:nvPr/>
        </p:nvCxnSpPr>
        <p:spPr>
          <a:xfrm>
            <a:off x="6373906" y="2895600"/>
            <a:ext cx="0" cy="1066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26"/>
          <p:cNvSpPr txBox="1"/>
          <p:nvPr/>
        </p:nvSpPr>
        <p:spPr>
          <a:xfrm>
            <a:off x="4724399" y="1828800"/>
            <a:ext cx="719797" cy="422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Thời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</a:t>
            </a:r>
            <a:endParaRPr sz="1400" dirty="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6963508" y="3959423"/>
            <a:ext cx="1547446" cy="232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Kích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thước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dữ</a:t>
            </a:r>
            <a:r>
              <a:rPr lang="en-US" sz="1400" dirty="0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dirty="0" err="1" smtClean="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liệu</a:t>
            </a:r>
            <a:endParaRPr dirty="0"/>
          </a:p>
        </p:txBody>
      </p:sp>
      <p:sp>
        <p:nvSpPr>
          <p:cNvPr id="202" name="Google Shape;202;p26"/>
          <p:cNvSpPr txBox="1"/>
          <p:nvPr/>
        </p:nvSpPr>
        <p:spPr>
          <a:xfrm>
            <a:off x="7543800" y="1676400"/>
            <a:ext cx="50206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g(n</a:t>
            </a: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7651339" y="2362200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6177032" y="3959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endParaRPr dirty="0"/>
          </a:p>
        </p:txBody>
      </p:sp>
      <p:sp>
        <p:nvSpPr>
          <p:cNvPr id="210" name="Google Shape;210;p27" descr="Rectangle: Click to edit Master text styles&#10;Second level&#10;Third level&#10;Fourth level&#10;Fifth level"/>
          <p:cNvSpPr txBox="1"/>
          <p:nvPr/>
        </p:nvSpPr>
        <p:spPr>
          <a:xfrm>
            <a:off x="609600" y="1905000"/>
            <a:ext cx="3581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➢"/>
            </a:pP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185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+ 10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endParaRPr dirty="0"/>
          </a:p>
          <a:p>
            <a:pPr marL="342900" marR="0" lvl="0" indent="-2019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Font typeface="Arial"/>
              <a:buNone/>
            </a:pPr>
            <a:endParaRPr sz="222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20"/>
              <a:buFont typeface="Noto Sans Symbols"/>
              <a:buChar char="➢"/>
            </a:pPr>
            <a:r>
              <a:rPr lang="en-US" sz="222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22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2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22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Tất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cả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185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đều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tuyến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endParaRPr dirty="0"/>
          </a:p>
          <a:p>
            <a:pPr marL="742950" marR="0" lvl="1" indent="-28575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❖"/>
            </a:pP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tâm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từ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185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5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endParaRPr dirty="0"/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7273" y="2133600"/>
            <a:ext cx="53244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phức</a:t>
            </a:r>
            <a:r>
              <a:rPr lang="en-US" dirty="0" smtClean="0"/>
              <a:t> </a:t>
            </a:r>
            <a:r>
              <a:rPr lang="en-US" dirty="0" err="1" smtClean="0"/>
              <a:t>tạp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endParaRPr dirty="0"/>
          </a:p>
        </p:txBody>
      </p:sp>
      <p:sp>
        <p:nvSpPr>
          <p:cNvPr id="218" name="Google Shape;218;p28" descr="Rectangle: Click to edit Master text styles&#10;Second level&#10;Third level&#10;Fourth level&#10;Fifth level"/>
          <p:cNvSpPr txBox="1"/>
          <p:nvPr/>
        </p:nvSpPr>
        <p:spPr>
          <a:xfrm>
            <a:off x="304800" y="1905000"/>
            <a:ext cx="35052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</a:t>
            </a:r>
            <a:endParaRPr dirty="0"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1800" b="0" i="0" u="none" strike="noStrike" cap="none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+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tăng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bình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phương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thước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dữ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liệu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đa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2)</a:t>
            </a:r>
            <a:endParaRPr dirty="0"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tâm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thấp</a:t>
            </a:r>
            <a:r>
              <a:rPr lang="en-US" sz="18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8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20" name="Google Shape;220;p28"/>
          <p:cNvCxnSpPr/>
          <p:nvPr/>
        </p:nvCxnSpPr>
        <p:spPr>
          <a:xfrm rot="10800000">
            <a:off x="3836895" y="1714500"/>
            <a:ext cx="0" cy="4457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28"/>
          <p:cNvCxnSpPr/>
          <p:nvPr/>
        </p:nvCxnSpPr>
        <p:spPr>
          <a:xfrm>
            <a:off x="3657600" y="6019800"/>
            <a:ext cx="5410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28"/>
          <p:cNvCxnSpPr/>
          <p:nvPr/>
        </p:nvCxnSpPr>
        <p:spPr>
          <a:xfrm>
            <a:off x="3850340" y="19722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3" name="Google Shape;223;p28"/>
          <p:cNvCxnSpPr/>
          <p:nvPr/>
        </p:nvCxnSpPr>
        <p:spPr>
          <a:xfrm>
            <a:off x="3850340" y="247874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4" name="Google Shape;224;p28"/>
          <p:cNvCxnSpPr/>
          <p:nvPr/>
        </p:nvCxnSpPr>
        <p:spPr>
          <a:xfrm>
            <a:off x="3850340" y="298524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5" name="Google Shape;225;p28"/>
          <p:cNvCxnSpPr/>
          <p:nvPr/>
        </p:nvCxnSpPr>
        <p:spPr>
          <a:xfrm>
            <a:off x="3850340" y="349175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6" name="Google Shape;226;p28"/>
          <p:cNvCxnSpPr/>
          <p:nvPr/>
        </p:nvCxnSpPr>
        <p:spPr>
          <a:xfrm>
            <a:off x="3850340" y="399825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7" name="Google Shape;227;p28"/>
          <p:cNvCxnSpPr/>
          <p:nvPr/>
        </p:nvCxnSpPr>
        <p:spPr>
          <a:xfrm>
            <a:off x="3850340" y="450476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28"/>
          <p:cNvCxnSpPr/>
          <p:nvPr/>
        </p:nvCxnSpPr>
        <p:spPr>
          <a:xfrm>
            <a:off x="3850340" y="50112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" name="Google Shape;229;p28"/>
          <p:cNvCxnSpPr/>
          <p:nvPr/>
        </p:nvCxnSpPr>
        <p:spPr>
          <a:xfrm>
            <a:off x="3850340" y="551777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28"/>
          <p:cNvCxnSpPr/>
          <p:nvPr/>
        </p:nvCxnSpPr>
        <p:spPr>
          <a:xfrm rot="-5400000">
            <a:off x="430530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28"/>
          <p:cNvCxnSpPr/>
          <p:nvPr/>
        </p:nvCxnSpPr>
        <p:spPr>
          <a:xfrm rot="-5400000">
            <a:off x="482077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28"/>
          <p:cNvCxnSpPr/>
          <p:nvPr/>
        </p:nvCxnSpPr>
        <p:spPr>
          <a:xfrm rot="-5400000">
            <a:off x="532279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3" name="Google Shape;233;p28"/>
          <p:cNvCxnSpPr/>
          <p:nvPr/>
        </p:nvCxnSpPr>
        <p:spPr>
          <a:xfrm rot="-5400000">
            <a:off x="582482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28"/>
          <p:cNvCxnSpPr/>
          <p:nvPr/>
        </p:nvCxnSpPr>
        <p:spPr>
          <a:xfrm rot="-5400000">
            <a:off x="632684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28"/>
          <p:cNvCxnSpPr/>
          <p:nvPr/>
        </p:nvCxnSpPr>
        <p:spPr>
          <a:xfrm rot="-5400000">
            <a:off x="685127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6" name="Google Shape;236;p28"/>
          <p:cNvCxnSpPr/>
          <p:nvPr/>
        </p:nvCxnSpPr>
        <p:spPr>
          <a:xfrm rot="-5400000">
            <a:off x="737570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7" name="Google Shape;237;p28"/>
          <p:cNvCxnSpPr/>
          <p:nvPr/>
        </p:nvCxnSpPr>
        <p:spPr>
          <a:xfrm rot="-5400000">
            <a:off x="7873240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28"/>
          <p:cNvCxnSpPr/>
          <p:nvPr/>
        </p:nvCxnSpPr>
        <p:spPr>
          <a:xfrm rot="-5400000">
            <a:off x="8370775" y="5981701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9" name="Google Shape;239;p28"/>
          <p:cNvSpPr/>
          <p:nvPr/>
        </p:nvSpPr>
        <p:spPr>
          <a:xfrm>
            <a:off x="3845859" y="1855694"/>
            <a:ext cx="4948517" cy="3856128"/>
          </a:xfrm>
          <a:custGeom>
            <a:avLst/>
            <a:gdLst/>
            <a:ahLst/>
            <a:cxnLst/>
            <a:rect l="l" t="t" r="r" b="b"/>
            <a:pathLst>
              <a:path w="4948517" h="3856128" extrusionOk="0">
                <a:moveTo>
                  <a:pt x="0" y="3854824"/>
                </a:moveTo>
                <a:cubicBezTo>
                  <a:pt x="177053" y="3857812"/>
                  <a:pt x="354106" y="3860800"/>
                  <a:pt x="609600" y="3801035"/>
                </a:cubicBezTo>
                <a:cubicBezTo>
                  <a:pt x="865094" y="3741270"/>
                  <a:pt x="1240118" y="3635188"/>
                  <a:pt x="1532965" y="3496235"/>
                </a:cubicBezTo>
                <a:cubicBezTo>
                  <a:pt x="1825812" y="3357282"/>
                  <a:pt x="2091765" y="3172012"/>
                  <a:pt x="2366682" y="2967318"/>
                </a:cubicBezTo>
                <a:cubicBezTo>
                  <a:pt x="2641600" y="2762624"/>
                  <a:pt x="2946399" y="2496671"/>
                  <a:pt x="3182470" y="2268071"/>
                </a:cubicBezTo>
                <a:cubicBezTo>
                  <a:pt x="3418541" y="2039471"/>
                  <a:pt x="3593353" y="1822824"/>
                  <a:pt x="3783106" y="1595718"/>
                </a:cubicBezTo>
                <a:cubicBezTo>
                  <a:pt x="3972859" y="1368612"/>
                  <a:pt x="4126753" y="1171388"/>
                  <a:pt x="4320988" y="905435"/>
                </a:cubicBezTo>
                <a:cubicBezTo>
                  <a:pt x="4515223" y="639482"/>
                  <a:pt x="4731870" y="319741"/>
                  <a:pt x="4948517" y="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3944471" y="1855694"/>
            <a:ext cx="4437529" cy="4150659"/>
          </a:xfrm>
          <a:custGeom>
            <a:avLst/>
            <a:gdLst/>
            <a:ahLst/>
            <a:cxnLst/>
            <a:rect l="l" t="t" r="r" b="b"/>
            <a:pathLst>
              <a:path w="4437529" h="4150659" extrusionOk="0">
                <a:moveTo>
                  <a:pt x="0" y="4150659"/>
                </a:moveTo>
                <a:cubicBezTo>
                  <a:pt x="86658" y="4135717"/>
                  <a:pt x="173317" y="4120776"/>
                  <a:pt x="349623" y="4052047"/>
                </a:cubicBezTo>
                <a:cubicBezTo>
                  <a:pt x="525929" y="3983317"/>
                  <a:pt x="811306" y="3880223"/>
                  <a:pt x="1057835" y="3738282"/>
                </a:cubicBezTo>
                <a:cubicBezTo>
                  <a:pt x="1304364" y="3596341"/>
                  <a:pt x="1576294" y="3403600"/>
                  <a:pt x="1828800" y="3200400"/>
                </a:cubicBezTo>
                <a:cubicBezTo>
                  <a:pt x="2081306" y="2997200"/>
                  <a:pt x="2347258" y="2749176"/>
                  <a:pt x="2572870" y="2519082"/>
                </a:cubicBezTo>
                <a:cubicBezTo>
                  <a:pt x="2798482" y="2288988"/>
                  <a:pt x="2953870" y="2108200"/>
                  <a:pt x="3182470" y="1819835"/>
                </a:cubicBezTo>
                <a:cubicBezTo>
                  <a:pt x="3411070" y="1531470"/>
                  <a:pt x="3735294" y="1092200"/>
                  <a:pt x="3944470" y="788894"/>
                </a:cubicBezTo>
                <a:cubicBezTo>
                  <a:pt x="4153646" y="485588"/>
                  <a:pt x="4295587" y="242794"/>
                  <a:pt x="443752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3840366" y="5363881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3845860" y="486485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3851354" y="4356870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28"/>
          <p:cNvSpPr txBox="1"/>
          <p:nvPr/>
        </p:nvSpPr>
        <p:spPr>
          <a:xfrm>
            <a:off x="3856848" y="3848882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3862342" y="3340894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3867836" y="2832906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3873330" y="2324918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3878824" y="1816930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4150660" y="5712023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4657165" y="5706035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5162479" y="5703058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5660019" y="5697070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6157559" y="5691082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4.0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6681994" y="5685094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4.8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7210924" y="5685128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5.6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7695029" y="5685162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6.4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8188099" y="5685196"/>
            <a:ext cx="409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7.2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niệm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Ô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lớn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(big O)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609600" y="2014478"/>
            <a:ext cx="38100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 2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g(n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&gt;=0,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ký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= O(g(n))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thỏa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mãn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f(n) &lt;= c*g(n)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với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 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&gt;=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dirty="0"/>
          </a:p>
        </p:txBody>
      </p:sp>
      <p:sp>
        <p:nvSpPr>
          <p:cNvPr id="264" name="Google Shape;264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65" name="Google Shape;265;p29"/>
          <p:cNvCxnSpPr/>
          <p:nvPr/>
        </p:nvCxnSpPr>
        <p:spPr>
          <a:xfrm rot="10800000">
            <a:off x="4724400" y="2209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6" name="Google Shape;266;p29"/>
          <p:cNvCxnSpPr/>
          <p:nvPr/>
        </p:nvCxnSpPr>
        <p:spPr>
          <a:xfrm>
            <a:off x="4419600" y="4343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7" name="Google Shape;267;p29"/>
          <p:cNvSpPr/>
          <p:nvPr/>
        </p:nvSpPr>
        <p:spPr>
          <a:xfrm>
            <a:off x="4733365" y="2294965"/>
            <a:ext cx="3182470" cy="1362635"/>
          </a:xfrm>
          <a:custGeom>
            <a:avLst/>
            <a:gdLst/>
            <a:ahLst/>
            <a:cxnLst/>
            <a:rect l="l" t="t" r="r" b="b"/>
            <a:pathLst>
              <a:path w="3182470" h="1362635" extrusionOk="0">
                <a:moveTo>
                  <a:pt x="0" y="1362635"/>
                </a:moveTo>
                <a:cubicBezTo>
                  <a:pt x="273423" y="1143747"/>
                  <a:pt x="546847" y="924859"/>
                  <a:pt x="905435" y="788894"/>
                </a:cubicBezTo>
                <a:cubicBezTo>
                  <a:pt x="1264023" y="652929"/>
                  <a:pt x="1772023" y="678329"/>
                  <a:pt x="2151529" y="546847"/>
                </a:cubicBezTo>
                <a:cubicBezTo>
                  <a:pt x="2531035" y="415365"/>
                  <a:pt x="2856752" y="207682"/>
                  <a:pt x="3182470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4742329" y="2695991"/>
            <a:ext cx="3218330" cy="1045655"/>
          </a:xfrm>
          <a:custGeom>
            <a:avLst/>
            <a:gdLst/>
            <a:ahLst/>
            <a:cxnLst/>
            <a:rect l="l" t="t" r="r" b="b"/>
            <a:pathLst>
              <a:path w="3218330" h="1045655" extrusionOk="0">
                <a:moveTo>
                  <a:pt x="0" y="656809"/>
                </a:moveTo>
                <a:cubicBezTo>
                  <a:pt x="9712" y="585091"/>
                  <a:pt x="19424" y="513374"/>
                  <a:pt x="71718" y="576127"/>
                </a:cubicBezTo>
                <a:cubicBezTo>
                  <a:pt x="124012" y="638880"/>
                  <a:pt x="174812" y="1128951"/>
                  <a:pt x="313765" y="1033327"/>
                </a:cubicBezTo>
                <a:cubicBezTo>
                  <a:pt x="452718" y="937703"/>
                  <a:pt x="729130" y="51691"/>
                  <a:pt x="905436" y="2385"/>
                </a:cubicBezTo>
                <a:cubicBezTo>
                  <a:pt x="1081742" y="-46921"/>
                  <a:pt x="986118" y="683703"/>
                  <a:pt x="1371600" y="737491"/>
                </a:cubicBezTo>
                <a:cubicBezTo>
                  <a:pt x="1757082" y="791279"/>
                  <a:pt x="2487706" y="558197"/>
                  <a:pt x="3218330" y="325115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7554300" y="1978223"/>
            <a:ext cx="7425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* g(n)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7630500" y="2740223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1" name="Google Shape;271;p29"/>
          <p:cNvCxnSpPr/>
          <p:nvPr/>
        </p:nvCxnSpPr>
        <p:spPr>
          <a:xfrm>
            <a:off x="5791200" y="3048000"/>
            <a:ext cx="0" cy="1295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p29"/>
          <p:cNvSpPr txBox="1"/>
          <p:nvPr/>
        </p:nvSpPr>
        <p:spPr>
          <a:xfrm>
            <a:off x="5638800" y="4340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aseline="-25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7955166" y="434042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</p:txBody>
      </p:sp>
      <p:sp>
        <p:nvSpPr>
          <p:cNvPr id="279" name="Google Shape;279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80" name="Google Shape;280;p30"/>
          <p:cNvCxnSpPr/>
          <p:nvPr/>
        </p:nvCxnSpPr>
        <p:spPr>
          <a:xfrm rot="10800000">
            <a:off x="4724400" y="2209800"/>
            <a:ext cx="0" cy="2438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1" name="Google Shape;281;p30"/>
          <p:cNvCxnSpPr/>
          <p:nvPr/>
        </p:nvCxnSpPr>
        <p:spPr>
          <a:xfrm>
            <a:off x="4419600" y="4343400"/>
            <a:ext cx="37338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2" name="Google Shape;282;p30"/>
          <p:cNvSpPr/>
          <p:nvPr/>
        </p:nvSpPr>
        <p:spPr>
          <a:xfrm>
            <a:off x="4733365" y="2294965"/>
            <a:ext cx="3182470" cy="1362635"/>
          </a:xfrm>
          <a:custGeom>
            <a:avLst/>
            <a:gdLst/>
            <a:ahLst/>
            <a:cxnLst/>
            <a:rect l="l" t="t" r="r" b="b"/>
            <a:pathLst>
              <a:path w="3182470" h="1362635" extrusionOk="0">
                <a:moveTo>
                  <a:pt x="0" y="1362635"/>
                </a:moveTo>
                <a:cubicBezTo>
                  <a:pt x="273423" y="1143747"/>
                  <a:pt x="546847" y="924859"/>
                  <a:pt x="905435" y="788894"/>
                </a:cubicBezTo>
                <a:cubicBezTo>
                  <a:pt x="1264023" y="652929"/>
                  <a:pt x="1772023" y="678329"/>
                  <a:pt x="2151529" y="546847"/>
                </a:cubicBezTo>
                <a:cubicBezTo>
                  <a:pt x="2531035" y="415365"/>
                  <a:pt x="2856752" y="207682"/>
                  <a:pt x="3182470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4742329" y="2695991"/>
            <a:ext cx="3218330" cy="1045655"/>
          </a:xfrm>
          <a:custGeom>
            <a:avLst/>
            <a:gdLst/>
            <a:ahLst/>
            <a:cxnLst/>
            <a:rect l="l" t="t" r="r" b="b"/>
            <a:pathLst>
              <a:path w="3218330" h="1045655" extrusionOk="0">
                <a:moveTo>
                  <a:pt x="0" y="656809"/>
                </a:moveTo>
                <a:cubicBezTo>
                  <a:pt x="9712" y="585091"/>
                  <a:pt x="19424" y="513374"/>
                  <a:pt x="71718" y="576127"/>
                </a:cubicBezTo>
                <a:cubicBezTo>
                  <a:pt x="124012" y="638880"/>
                  <a:pt x="174812" y="1128951"/>
                  <a:pt x="313765" y="1033327"/>
                </a:cubicBezTo>
                <a:cubicBezTo>
                  <a:pt x="452718" y="937703"/>
                  <a:pt x="729130" y="51691"/>
                  <a:pt x="905436" y="2385"/>
                </a:cubicBezTo>
                <a:cubicBezTo>
                  <a:pt x="1081742" y="-46921"/>
                  <a:pt x="986118" y="683703"/>
                  <a:pt x="1371600" y="737491"/>
                </a:cubicBezTo>
                <a:cubicBezTo>
                  <a:pt x="1757082" y="791279"/>
                  <a:pt x="2487706" y="558197"/>
                  <a:pt x="3218330" y="325115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0"/>
          <p:cNvSpPr txBox="1"/>
          <p:nvPr/>
        </p:nvSpPr>
        <p:spPr>
          <a:xfrm>
            <a:off x="7554300" y="1978223"/>
            <a:ext cx="7425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* g(n)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7630500" y="2740223"/>
            <a:ext cx="45236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f(n)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6" name="Google Shape;286;p30"/>
          <p:cNvCxnSpPr/>
          <p:nvPr/>
        </p:nvCxnSpPr>
        <p:spPr>
          <a:xfrm>
            <a:off x="5791200" y="3048000"/>
            <a:ext cx="0" cy="12954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30"/>
          <p:cNvSpPr txBox="1"/>
          <p:nvPr/>
        </p:nvSpPr>
        <p:spPr>
          <a:xfrm>
            <a:off x="5638800" y="43404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-25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400" baseline="-25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30"/>
          <p:cNvSpPr txBox="1"/>
          <p:nvPr/>
        </p:nvSpPr>
        <p:spPr>
          <a:xfrm>
            <a:off x="7955166" y="434042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609600" y="2286000"/>
            <a:ext cx="39624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+ 9 = O(n)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O(n)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+ 7 = O(</a:t>
            </a: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 = O(</a:t>
            </a:r>
            <a:r>
              <a:rPr lang="en-US" sz="24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2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/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endParaRPr sz="4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5" name="Google Shape;295;p31" descr="Rectangle: Click to edit Master text styles&#10;Second level&#10;Third level&#10;Fourth level&#10;Fifth level"/>
          <p:cNvSpPr txBox="1"/>
          <p:nvPr/>
        </p:nvSpPr>
        <p:spPr>
          <a:xfrm>
            <a:off x="838199" y="1825274"/>
            <a:ext cx="2932545" cy="45755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073" t="-1597" r="-12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smtClean="0">
                <a:solidFill>
                  <a:schemeClr val="dk2"/>
                </a:solidFill>
                <a:latin typeface="Helvetica Neue"/>
                <a:sym typeface="Helvetica Neue"/>
              </a:rPr>
              <a:t>07 </a:t>
            </a:r>
            <a:r>
              <a:rPr lang="en-US" sz="4000" b="1" dirty="0" err="1" smtClean="0">
                <a:solidFill>
                  <a:schemeClr val="dk2"/>
                </a:solidFill>
                <a:latin typeface="Helvetica Neue"/>
                <a:sym typeface="Helvetica Neue"/>
              </a:rPr>
              <a:t>hàm</a:t>
            </a:r>
            <a:r>
              <a:rPr lang="en-US" sz="4000" b="1" dirty="0" smtClean="0">
                <a:solidFill>
                  <a:schemeClr val="dk2"/>
                </a:solidFill>
                <a:latin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2"/>
                </a:solidFill>
                <a:latin typeface="Helvetica Neue"/>
                <a:sym typeface="Helvetica Neue"/>
              </a:rPr>
              <a:t>quan</a:t>
            </a:r>
            <a:r>
              <a:rPr lang="en-US" sz="4000" b="1" dirty="0" smtClean="0">
                <a:solidFill>
                  <a:schemeClr val="dk2"/>
                </a:solidFill>
                <a:latin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2"/>
                </a:solidFill>
                <a:latin typeface="Helvetica Neue"/>
                <a:sym typeface="Helvetica Neue"/>
              </a:rPr>
              <a:t>trọng</a:t>
            </a:r>
            <a:endParaRPr dirty="0"/>
          </a:p>
        </p:txBody>
      </p:sp>
      <p:sp>
        <p:nvSpPr>
          <p:cNvPr id="297" name="Google Shape;297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8" name="Google Shape;298;p31"/>
          <p:cNvCxnSpPr/>
          <p:nvPr/>
        </p:nvCxnSpPr>
        <p:spPr>
          <a:xfrm rot="10800000">
            <a:off x="4527175" y="1723465"/>
            <a:ext cx="0" cy="4457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9" name="Google Shape;299;p31"/>
          <p:cNvCxnSpPr/>
          <p:nvPr/>
        </p:nvCxnSpPr>
        <p:spPr>
          <a:xfrm>
            <a:off x="4343400" y="6019800"/>
            <a:ext cx="4648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0" name="Google Shape;300;p31"/>
          <p:cNvCxnSpPr/>
          <p:nvPr/>
        </p:nvCxnSpPr>
        <p:spPr>
          <a:xfrm>
            <a:off x="4536140" y="23711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1" name="Google Shape;301;p31"/>
          <p:cNvCxnSpPr/>
          <p:nvPr/>
        </p:nvCxnSpPr>
        <p:spPr>
          <a:xfrm>
            <a:off x="4536140" y="26580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2" name="Google Shape;302;p31"/>
          <p:cNvCxnSpPr/>
          <p:nvPr/>
        </p:nvCxnSpPr>
        <p:spPr>
          <a:xfrm>
            <a:off x="4536140" y="293146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3" name="Google Shape;303;p31"/>
          <p:cNvCxnSpPr/>
          <p:nvPr/>
        </p:nvCxnSpPr>
        <p:spPr>
          <a:xfrm>
            <a:off x="4536140" y="320488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4" name="Google Shape;304;p31"/>
          <p:cNvCxnSpPr/>
          <p:nvPr/>
        </p:nvCxnSpPr>
        <p:spPr>
          <a:xfrm>
            <a:off x="4536140" y="349624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5" name="Google Shape;305;p31"/>
          <p:cNvCxnSpPr/>
          <p:nvPr/>
        </p:nvCxnSpPr>
        <p:spPr>
          <a:xfrm>
            <a:off x="4536140" y="378759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6" name="Google Shape;306;p31"/>
          <p:cNvCxnSpPr/>
          <p:nvPr/>
        </p:nvCxnSpPr>
        <p:spPr>
          <a:xfrm>
            <a:off x="4536140" y="406998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7" name="Google Shape;307;p31"/>
          <p:cNvCxnSpPr/>
          <p:nvPr/>
        </p:nvCxnSpPr>
        <p:spPr>
          <a:xfrm>
            <a:off x="4536140" y="435237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8" name="Google Shape;308;p31"/>
          <p:cNvCxnSpPr/>
          <p:nvPr/>
        </p:nvCxnSpPr>
        <p:spPr>
          <a:xfrm>
            <a:off x="4536140" y="463476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" name="Google Shape;309;p31"/>
          <p:cNvCxnSpPr/>
          <p:nvPr/>
        </p:nvCxnSpPr>
        <p:spPr>
          <a:xfrm>
            <a:off x="4536140" y="491715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" name="Google Shape;310;p31"/>
          <p:cNvCxnSpPr/>
          <p:nvPr/>
        </p:nvCxnSpPr>
        <p:spPr>
          <a:xfrm>
            <a:off x="4536140" y="519954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31"/>
          <p:cNvCxnSpPr/>
          <p:nvPr/>
        </p:nvCxnSpPr>
        <p:spPr>
          <a:xfrm>
            <a:off x="4536140" y="548193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31"/>
          <p:cNvCxnSpPr/>
          <p:nvPr/>
        </p:nvCxnSpPr>
        <p:spPr>
          <a:xfrm>
            <a:off x="4536140" y="5764325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3" name="Google Shape;313;p31"/>
          <p:cNvCxnSpPr/>
          <p:nvPr/>
        </p:nvCxnSpPr>
        <p:spPr>
          <a:xfrm rot="5400000">
            <a:off x="508523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" name="Google Shape;314;p31"/>
          <p:cNvCxnSpPr/>
          <p:nvPr/>
        </p:nvCxnSpPr>
        <p:spPr>
          <a:xfrm rot="5400000">
            <a:off x="567690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" name="Google Shape;315;p31"/>
          <p:cNvCxnSpPr/>
          <p:nvPr/>
        </p:nvCxnSpPr>
        <p:spPr>
          <a:xfrm rot="5400000">
            <a:off x="626857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" name="Google Shape;316;p31"/>
          <p:cNvCxnSpPr/>
          <p:nvPr/>
        </p:nvCxnSpPr>
        <p:spPr>
          <a:xfrm rot="5400000">
            <a:off x="686024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317;p31"/>
          <p:cNvCxnSpPr/>
          <p:nvPr/>
        </p:nvCxnSpPr>
        <p:spPr>
          <a:xfrm rot="5400000">
            <a:off x="745191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8" name="Google Shape;318;p31"/>
          <p:cNvCxnSpPr/>
          <p:nvPr/>
        </p:nvCxnSpPr>
        <p:spPr>
          <a:xfrm rot="5400000">
            <a:off x="8043580" y="5981700"/>
            <a:ext cx="762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60606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9" name="Google Shape;319;p31"/>
          <p:cNvCxnSpPr/>
          <p:nvPr/>
        </p:nvCxnSpPr>
        <p:spPr>
          <a:xfrm>
            <a:off x="4536140" y="5764325"/>
            <a:ext cx="3693460" cy="0"/>
          </a:xfrm>
          <a:prstGeom prst="straightConnector1">
            <a:avLst/>
          </a:pr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31"/>
          <p:cNvSpPr/>
          <p:nvPr/>
        </p:nvSpPr>
        <p:spPr>
          <a:xfrm>
            <a:off x="4536141" y="5342965"/>
            <a:ext cx="3693459" cy="421341"/>
          </a:xfrm>
          <a:custGeom>
            <a:avLst/>
            <a:gdLst/>
            <a:ahLst/>
            <a:cxnLst/>
            <a:rect l="l" t="t" r="r" b="b"/>
            <a:pathLst>
              <a:path w="3693459" h="421341" extrusionOk="0">
                <a:moveTo>
                  <a:pt x="0" y="421341"/>
                </a:moveTo>
                <a:cubicBezTo>
                  <a:pt x="230841" y="334682"/>
                  <a:pt x="461682" y="248024"/>
                  <a:pt x="699247" y="188259"/>
                </a:cubicBezTo>
                <a:cubicBezTo>
                  <a:pt x="936812" y="128494"/>
                  <a:pt x="1128059" y="92635"/>
                  <a:pt x="1425388" y="62753"/>
                </a:cubicBezTo>
                <a:cubicBezTo>
                  <a:pt x="1722717" y="32871"/>
                  <a:pt x="2105212" y="19423"/>
                  <a:pt x="2483224" y="8964"/>
                </a:cubicBezTo>
                <a:cubicBezTo>
                  <a:pt x="2861236" y="-1495"/>
                  <a:pt x="3491753" y="8965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4536141" y="4948518"/>
            <a:ext cx="3693459" cy="528917"/>
          </a:xfrm>
          <a:custGeom>
            <a:avLst/>
            <a:gdLst/>
            <a:ahLst/>
            <a:cxnLst/>
            <a:rect l="l" t="t" r="r" b="b"/>
            <a:pathLst>
              <a:path w="3693459" h="528917" extrusionOk="0">
                <a:moveTo>
                  <a:pt x="0" y="528917"/>
                </a:moveTo>
                <a:cubicBezTo>
                  <a:pt x="129241" y="479611"/>
                  <a:pt x="258483" y="430305"/>
                  <a:pt x="466165" y="376517"/>
                </a:cubicBezTo>
                <a:cubicBezTo>
                  <a:pt x="673847" y="322729"/>
                  <a:pt x="929341" y="259976"/>
                  <a:pt x="1246094" y="206188"/>
                </a:cubicBezTo>
                <a:cubicBezTo>
                  <a:pt x="1562847" y="152400"/>
                  <a:pt x="1958789" y="88153"/>
                  <a:pt x="2366683" y="53788"/>
                </a:cubicBezTo>
                <a:cubicBezTo>
                  <a:pt x="2774577" y="19423"/>
                  <a:pt x="3234018" y="9711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4527176" y="4643718"/>
            <a:ext cx="3702424" cy="824753"/>
          </a:xfrm>
          <a:custGeom>
            <a:avLst/>
            <a:gdLst/>
            <a:ahLst/>
            <a:cxnLst/>
            <a:rect l="l" t="t" r="r" b="b"/>
            <a:pathLst>
              <a:path w="3702424" h="824753" extrusionOk="0">
                <a:moveTo>
                  <a:pt x="0" y="824753"/>
                </a:moveTo>
                <a:cubicBezTo>
                  <a:pt x="100853" y="746311"/>
                  <a:pt x="201706" y="667870"/>
                  <a:pt x="322730" y="600635"/>
                </a:cubicBezTo>
                <a:cubicBezTo>
                  <a:pt x="443754" y="533400"/>
                  <a:pt x="561789" y="479612"/>
                  <a:pt x="726142" y="421341"/>
                </a:cubicBezTo>
                <a:cubicBezTo>
                  <a:pt x="890495" y="363070"/>
                  <a:pt x="1056342" y="309282"/>
                  <a:pt x="1308848" y="251011"/>
                </a:cubicBezTo>
                <a:cubicBezTo>
                  <a:pt x="1561354" y="192740"/>
                  <a:pt x="1842248" y="113552"/>
                  <a:pt x="2241177" y="71717"/>
                </a:cubicBezTo>
                <a:cubicBezTo>
                  <a:pt x="2640106" y="29882"/>
                  <a:pt x="3171265" y="14941"/>
                  <a:pt x="3702424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4527176" y="2061882"/>
            <a:ext cx="2537012" cy="3397624"/>
          </a:xfrm>
          <a:custGeom>
            <a:avLst/>
            <a:gdLst/>
            <a:ahLst/>
            <a:cxnLst/>
            <a:rect l="l" t="t" r="r" b="b"/>
            <a:pathLst>
              <a:path w="2537012" h="3397624" extrusionOk="0">
                <a:moveTo>
                  <a:pt x="0" y="3397624"/>
                </a:moveTo>
                <a:cubicBezTo>
                  <a:pt x="146423" y="3304242"/>
                  <a:pt x="292847" y="3210860"/>
                  <a:pt x="439271" y="3101789"/>
                </a:cubicBezTo>
                <a:cubicBezTo>
                  <a:pt x="585695" y="2992718"/>
                  <a:pt x="723154" y="2892612"/>
                  <a:pt x="878542" y="2743200"/>
                </a:cubicBezTo>
                <a:cubicBezTo>
                  <a:pt x="1033930" y="2593788"/>
                  <a:pt x="1196788" y="2432424"/>
                  <a:pt x="1371600" y="2205318"/>
                </a:cubicBezTo>
                <a:cubicBezTo>
                  <a:pt x="1546412" y="1978212"/>
                  <a:pt x="1766047" y="1668930"/>
                  <a:pt x="1927412" y="1380565"/>
                </a:cubicBezTo>
                <a:cubicBezTo>
                  <a:pt x="2088777" y="1092200"/>
                  <a:pt x="2238189" y="705224"/>
                  <a:pt x="2339789" y="475130"/>
                </a:cubicBezTo>
                <a:cubicBezTo>
                  <a:pt x="2441389" y="245036"/>
                  <a:pt x="2504142" y="79188"/>
                  <a:pt x="2537012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4527176" y="3325906"/>
            <a:ext cx="3711389" cy="1864659"/>
          </a:xfrm>
          <a:custGeom>
            <a:avLst/>
            <a:gdLst/>
            <a:ahLst/>
            <a:cxnLst/>
            <a:rect l="l" t="t" r="r" b="b"/>
            <a:pathLst>
              <a:path w="3711389" h="1864659" extrusionOk="0">
                <a:moveTo>
                  <a:pt x="0" y="1864659"/>
                </a:moveTo>
                <a:lnTo>
                  <a:pt x="3711389" y="0"/>
                </a:ln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4545106" y="4078941"/>
            <a:ext cx="3693459" cy="1084730"/>
          </a:xfrm>
          <a:custGeom>
            <a:avLst/>
            <a:gdLst/>
            <a:ahLst/>
            <a:cxnLst/>
            <a:rect l="l" t="t" r="r" b="b"/>
            <a:pathLst>
              <a:path w="3693459" h="1084730" extrusionOk="0">
                <a:moveTo>
                  <a:pt x="0" y="1084730"/>
                </a:moveTo>
                <a:cubicBezTo>
                  <a:pt x="103094" y="1009276"/>
                  <a:pt x="206189" y="933823"/>
                  <a:pt x="376518" y="851647"/>
                </a:cubicBezTo>
                <a:cubicBezTo>
                  <a:pt x="546847" y="769471"/>
                  <a:pt x="736600" y="681318"/>
                  <a:pt x="1021976" y="591671"/>
                </a:cubicBezTo>
                <a:cubicBezTo>
                  <a:pt x="1307352" y="502024"/>
                  <a:pt x="1769035" y="389965"/>
                  <a:pt x="2088776" y="313765"/>
                </a:cubicBezTo>
                <a:cubicBezTo>
                  <a:pt x="2408517" y="237565"/>
                  <a:pt x="2672976" y="186765"/>
                  <a:pt x="2940423" y="134471"/>
                </a:cubicBezTo>
                <a:cubicBezTo>
                  <a:pt x="3207870" y="82177"/>
                  <a:pt x="3450664" y="41088"/>
                  <a:pt x="3693459" y="0"/>
                </a:cubicBezTo>
              </a:path>
            </a:pathLst>
          </a:custGeom>
          <a:noFill/>
          <a:ln w="28575" cap="flat" cmpd="sng">
            <a:solidFill>
              <a:srgbClr val="893A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1"/>
          <p:cNvSpPr txBox="1"/>
          <p:nvPr/>
        </p:nvSpPr>
        <p:spPr>
          <a:xfrm>
            <a:off x="7976101" y="548193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7848600" y="5029200"/>
            <a:ext cx="5485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8001000" y="4648200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7696200" y="4340423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log n</a:t>
            </a:r>
            <a:endParaRPr sz="14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7972054" y="3807023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00" baseline="30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1"/>
          <p:cNvSpPr txBox="1"/>
          <p:nvPr/>
        </p:nvSpPr>
        <p:spPr>
          <a:xfrm>
            <a:off x="7895854" y="3048000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400" baseline="300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1"/>
          <p:cNvSpPr txBox="1"/>
          <p:nvPr/>
        </p:nvSpPr>
        <p:spPr>
          <a:xfrm>
            <a:off x="6705600" y="1981200"/>
            <a:ext cx="3337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n!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238254" y="561341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4235825" y="532055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4233396" y="5036662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4230967" y="4752769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4150660" y="4468876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4150660" y="4199955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4150660" y="3931034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4065495" y="3635218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4065495" y="3348367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4074460" y="3061516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512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3989295" y="278363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1024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3998255" y="2505744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2048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4001366" y="2209800"/>
            <a:ext cx="5437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4096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4996811" y="599889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5571565" y="5988425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6155284" y="5977957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6744931" y="5980963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7352508" y="5983969"/>
            <a:ext cx="2744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01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sz="1400" baseline="30000">
              <a:solidFill>
                <a:srgbClr val="201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/>
          <p:nvPr/>
        </p:nvSpPr>
        <p:spPr>
          <a:xfrm>
            <a:off x="609600" y="6096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</a:t>
            </a:r>
            <a:endParaRPr sz="4000" b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04091" y="1905000"/>
            <a:ext cx="8458200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+ 1 = O(? 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= O 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 + 5 = 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+ 5n - 20 = O(?)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+ 5n</a:t>
            </a:r>
            <a:r>
              <a:rPr lang="en-US" sz="24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+ 20n – 100 = O(?) </a:t>
            </a:r>
            <a:endParaRPr/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285750" marR="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689316" y="533400"/>
            <a:ext cx="7692683" cy="1112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tiệp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cận</a:t>
            </a:r>
            <a:r>
              <a:rPr lang="en-US" sz="4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dirty="0"/>
          </a:p>
        </p:txBody>
      </p:sp>
      <p:sp>
        <p:nvSpPr>
          <p:cNvPr id="363" name="Google Shape;363;p33" descr="Rectangle: Click to edit Master text styles&#10;Second level&#10;Third level&#10;Fourth level&#10;Fifth level"/>
          <p:cNvSpPr txBox="1"/>
          <p:nvPr/>
        </p:nvSpPr>
        <p:spPr>
          <a:xfrm>
            <a:off x="810491" y="1828800"/>
            <a:ext cx="7848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tiệm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cận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một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định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Để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tiệm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cận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120015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tìm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trường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hợp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tồi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endParaRPr dirty="0"/>
          </a:p>
          <a:p>
            <a:pPr marL="120015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diễn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này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theo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11430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thực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nhiều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sz="20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cơ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bản</a:t>
            </a:r>
            <a:endParaRPr dirty="0"/>
          </a:p>
          <a:p>
            <a:pPr marL="11430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nói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rằng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arrayMax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được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quá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trình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thể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không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quan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tâm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tới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chúng</a:t>
            </a:r>
            <a:r>
              <a:rPr lang="en-US" sz="24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</p:txBody>
      </p:sp>
      <p:sp>
        <p:nvSpPr>
          <p:cNvPr id="364" name="Google Shape;364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>
            <a:spLocks noGrp="1"/>
          </p:cNvSpPr>
          <p:nvPr>
            <p:ph type="title"/>
          </p:nvPr>
        </p:nvSpPr>
        <p:spPr>
          <a:xfrm>
            <a:off x="1219200" y="3048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khái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niệm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Ô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lớn</a:t>
            </a:r>
            <a:endParaRPr dirty="0"/>
          </a:p>
        </p:txBody>
      </p:sp>
      <p:sp>
        <p:nvSpPr>
          <p:cNvPr id="370" name="Google Shape;370;p3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762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spcBef>
                <a:spcPts val="0"/>
              </a:spcBef>
              <a:buSzPts val="2200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Nếu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200" dirty="0" err="1" smtClean="0">
                <a:ea typeface="Times New Roman"/>
                <a:cs typeface="Times New Roman"/>
              </a:rPr>
              <a:t>là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dirty="0" err="1" smtClean="0">
                <a:ea typeface="Times New Roman"/>
                <a:cs typeface="Times New Roman"/>
              </a:rPr>
              <a:t>đa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dirty="0" err="1" smtClean="0">
                <a:ea typeface="Times New Roman"/>
                <a:cs typeface="Times New Roman"/>
              </a:rPr>
              <a:t>thức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dirty="0" err="1" smtClean="0">
                <a:ea typeface="Times New Roman"/>
                <a:cs typeface="Times New Roman"/>
              </a:rPr>
              <a:t>bậc</a:t>
            </a:r>
            <a:r>
              <a:rPr lang="en-US" sz="2200" dirty="0" smtClean="0">
                <a:ea typeface="Times New Roman"/>
                <a:cs typeface="Times New Roman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thì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1" i="1" u="none" strike="noStrike" cap="none" baseline="300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nghĩa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bậc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thấp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hơn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Loại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bỏ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hệ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nhỏ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dirty="0" err="1" smtClean="0"/>
              <a:t>Chúng</a:t>
            </a:r>
            <a:r>
              <a:rPr lang="en-US" sz="2200" dirty="0" smtClean="0"/>
              <a:t> </a:t>
            </a:r>
            <a:r>
              <a:rPr lang="en-US" sz="2200" dirty="0" err="1" smtClean="0"/>
              <a:t>ta</a:t>
            </a:r>
            <a:r>
              <a:rPr lang="en-US" sz="2200" dirty="0" smtClean="0"/>
              <a:t> </a:t>
            </a:r>
            <a:r>
              <a:rPr lang="en-US" sz="2200" dirty="0" err="1" smtClean="0"/>
              <a:t>nói</a:t>
            </a:r>
            <a:r>
              <a:rPr lang="en-US" sz="2200" dirty="0" smtClean="0"/>
              <a:t> </a:t>
            </a:r>
            <a:r>
              <a:rPr lang="en-US" sz="2200" dirty="0" err="1" smtClean="0"/>
              <a:t>rằng</a:t>
            </a:r>
            <a:r>
              <a:rPr lang="en-US" sz="2200" dirty="0" smtClean="0"/>
              <a:t> 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thay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1" i="1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1" i="1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200" b="1" i="1" u="none" strike="noStrik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200" b="0" i="0" u="none" strike="noStrike" cap="none" baseline="300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Sử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dụng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đơn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nhất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lớp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endParaRPr dirty="0"/>
          </a:p>
          <a:p>
            <a:pPr marL="1085850" marR="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O(n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)” </a:t>
            </a:r>
            <a:r>
              <a:rPr lang="en-US" sz="2200" dirty="0" err="1" smtClean="0"/>
              <a:t>thay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+ 5 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2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O(</a:t>
            </a:r>
            <a:r>
              <a:rPr lang="en-US" sz="22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3n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)”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 f(n) ) + O( g(n) ) = O( f(n) + g(n) )</a:t>
            </a:r>
            <a:endParaRPr dirty="0"/>
          </a:p>
          <a:p>
            <a:pPr marL="342900" marR="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O( f(n) ) × O( g(n) ) = O( f(n) × g(n) )</a:t>
            </a: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85850" marR="0" lvl="1" indent="-2032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endParaRPr sz="2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Phân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tích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7" name="Google Shape;377;p3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47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gán</a:t>
            </a:r>
            <a:endParaRPr dirty="0"/>
          </a:p>
          <a:p>
            <a:pPr marL="914400" marR="0" lvl="1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X =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phép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gán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là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biểu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thức</a:t>
            </a:r>
            <a:endParaRPr dirty="0"/>
          </a:p>
          <a:p>
            <a:pPr marL="914400" marR="0" lvl="1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Câu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1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lệnh</a:t>
            </a:r>
            <a:r>
              <a:rPr lang="en-US" sz="2000" b="0" i="1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if-then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điều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kiện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→  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Task 1		→  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else 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Task 2		→  	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dirty="0" err="1" smtClean="0"/>
              <a:t>Độ</a:t>
            </a:r>
            <a:r>
              <a:rPr lang="en-US" sz="2000" dirty="0" smtClean="0"/>
              <a:t> </a:t>
            </a:r>
            <a:r>
              <a:rPr lang="en-US" sz="2000" dirty="0" err="1" smtClean="0"/>
              <a:t>phức</a:t>
            </a:r>
            <a:r>
              <a:rPr lang="en-US" sz="2000" dirty="0" smtClean="0"/>
              <a:t> </a:t>
            </a:r>
            <a:r>
              <a:rPr lang="en-US" sz="2000" dirty="0" err="1" smtClean="0"/>
              <a:t>tạp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 + max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(n),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="0" i="0" u="none" strike="noStrike" cap="none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(n))</a:t>
            </a:r>
            <a:endParaRPr dirty="0"/>
          </a:p>
          <a:p>
            <a:pPr marL="514350" marR="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có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4" name="Google Shape;384;p36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for, while, do-while</a:t>
            </a:r>
            <a:endParaRPr dirty="0"/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2438400"/>
            <a:ext cx="3417888" cy="214153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 txBox="1"/>
          <p:nvPr/>
        </p:nvSpPr>
        <p:spPr>
          <a:xfrm>
            <a:off x="1143000" y="4038600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X(n):   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Số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lượng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vòng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aseline="-25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(n):  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điều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kiện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r>
              <a:rPr lang="en-US" sz="2000" baseline="-25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(n):  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Thời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gian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chạy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vòng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lặp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thứ</a:t>
            </a:r>
            <a:r>
              <a:rPr lang="en-US" sz="2000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i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 sz="2000" i="1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7" name="Google Shape;387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Ví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dụ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3" name="Google Shape;393;p37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trận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kích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n*n.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;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 ; 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(2)		 for (j = 0 ; j &lt; n ; j++)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(3)			    A[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][j] = 0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(4)    for (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;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 ;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++)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(5)	    	A[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 = 1</a:t>
            </a:r>
            <a:endParaRPr dirty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37"/>
          <p:cNvSpPr/>
          <p:nvPr/>
        </p:nvSpPr>
        <p:spPr>
          <a:xfrm>
            <a:off x="4267200" y="1908321"/>
            <a:ext cx="4343400" cy="337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000" b="1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T3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x O(1)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aseline="30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O(n)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O(n) x O(1) = O(n)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T12345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T123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T45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+ O(n)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n) = O(</a:t>
            </a:r>
            <a:r>
              <a:rPr lang="en-US" sz="2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aseline="30000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dirty="0"/>
          </a:p>
        </p:txBody>
      </p:sp>
      <p:sp>
        <p:nvSpPr>
          <p:cNvPr id="395" name="Google Shape;395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1" name="Google Shape;401;p38"/>
          <p:cNvSpPr txBox="1">
            <a:spLocks noGrp="1"/>
          </p:cNvSpPr>
          <p:nvPr>
            <p:ph type="body" idx="1"/>
          </p:nvPr>
        </p:nvSpPr>
        <p:spPr>
          <a:xfrm>
            <a:off x="457200" y="1981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>
              <a:lnSpc>
                <a:spcPct val="90000"/>
              </a:lnSpc>
              <a:spcBef>
                <a:spcPts val="0"/>
              </a:spcBef>
              <a:buSzPts val="2800"/>
              <a:buNone/>
            </a:pPr>
            <a:r>
              <a:rPr lang="en-US" sz="2800" dirty="0" err="1" smtClean="0"/>
              <a:t>Tạo</a:t>
            </a:r>
            <a:r>
              <a:rPr lang="en-US" sz="2800" dirty="0" smtClean="0"/>
              <a:t> ma </a:t>
            </a:r>
            <a:r>
              <a:rPr lang="en-US" sz="2800" dirty="0" err="1" smtClean="0"/>
              <a:t>trận</a:t>
            </a:r>
            <a:r>
              <a:rPr lang="en-US" sz="2800" dirty="0" smtClean="0"/>
              <a:t> </a:t>
            </a:r>
            <a:r>
              <a:rPr lang="en-US" sz="2800" dirty="0" err="1" smtClean="0"/>
              <a:t>kích</a:t>
            </a:r>
            <a:r>
              <a:rPr lang="en-US" sz="2800" dirty="0" smtClean="0"/>
              <a:t> n*n.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   for (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;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 ; 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++)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for (j = 0 ; j &lt; n ; j++) 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if (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== j)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][j] = 1;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else </a:t>
            </a:r>
            <a:endParaRPr dirty="0"/>
          </a:p>
          <a:p>
            <a:pPr marL="457200" marR="0" lvl="0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AutoNum type="arabicParenBoth" startAt="2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       A[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][j] = 0; </a:t>
            </a:r>
            <a:endParaRPr dirty="0"/>
          </a:p>
          <a:p>
            <a:pPr marL="857250" marR="0" lvl="1" indent="-4572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 b="1" dirty="0" err="1" smtClean="0"/>
              <a:t>Độ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phức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tạp</a:t>
            </a:r>
            <a:r>
              <a:rPr lang="en-US" sz="2800" b="1" dirty="0" smtClean="0"/>
              <a:t>?</a:t>
            </a:r>
            <a:r>
              <a:rPr lang="en-US" sz="2800" b="1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8" name="Google Shape;408;p39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0;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n;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+)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+ 1; j &lt; = n; j + +)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10; k + +)</a:t>
            </a:r>
            <a:endParaRPr dirty="0"/>
          </a:p>
          <a:p>
            <a:pPr marL="457200" marR="0" lvl="0" indent="-4572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AutoNum type="arabicParenR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j * k  ;</a:t>
            </a:r>
            <a:endParaRPr dirty="0"/>
          </a:p>
          <a:p>
            <a:pPr marL="457200" marR="0" lvl="0" indent="-279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>
              <a:lnSpc>
                <a:spcPct val="90000"/>
              </a:lnSpc>
              <a:spcBef>
                <a:spcPts val="560"/>
              </a:spcBef>
              <a:buSzPts val="2800"/>
              <a:buNone/>
            </a:pPr>
            <a:r>
              <a:rPr lang="en-US" sz="2800" b="1" dirty="0" err="1" smtClean="0"/>
              <a:t>Độ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phức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tạp</a:t>
            </a:r>
            <a:r>
              <a:rPr lang="en-US" sz="2800" b="1" dirty="0" smtClean="0"/>
              <a:t>?:</a:t>
            </a:r>
            <a:endParaRPr lang="en-US" sz="2800" dirty="0" smtClean="0"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9" name="Google Shape;409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6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5" name="Google Shape;415;p40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  = 0;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&lt; n;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+)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for ( j =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+ 1; j &lt; = n; j + +)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for ( k = 1; k &lt; m; k + +) {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x = 2*y;</a:t>
            </a:r>
            <a:endParaRPr dirty="0"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sum = sum +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* j * k  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 dirty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lvl="0" indent="-342900">
              <a:lnSpc>
                <a:spcPct val="90000"/>
              </a:lnSpc>
              <a:spcBef>
                <a:spcPts val="560"/>
              </a:spcBef>
              <a:buSzPts val="2800"/>
              <a:buNone/>
            </a:pPr>
            <a:r>
              <a:rPr lang="en-US" sz="2400" b="1" dirty="0" err="1" smtClean="0"/>
              <a:t>Độ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phức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tạp</a:t>
            </a:r>
            <a:r>
              <a:rPr lang="en-US" sz="2400" b="1" dirty="0" smtClean="0"/>
              <a:t>?:</a:t>
            </a:r>
            <a:endParaRPr lang="en-US" sz="2400" dirty="0" smtClean="0"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7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3" name="Google Shape;423;p41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(i = 0; i &lt; n; i ++) 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(j = 0; j &lt; m; j ++) {</a:t>
            </a:r>
            <a:endParaRPr/>
          </a:p>
          <a:p>
            <a:pPr marL="514350" marR="0" lvl="0" indent="-514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AutoNum type="arabicParenR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 x = 0;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4)		for (k = 0; k &lt; n; k ++)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5)			x = x + 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6)		for (k = 0; k &lt; m; k++)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7)			x = x +k;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}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4" name="Google Shape;424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8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0" name="Google Shape;430;p42"/>
          <p:cNvSpPr txBox="1">
            <a:spLocks noGrp="1"/>
          </p:cNvSpPr>
          <p:nvPr>
            <p:ph type="body" idx="1"/>
          </p:nvPr>
        </p:nvSpPr>
        <p:spPr>
          <a:xfrm>
            <a:off x="838200" y="2057400"/>
            <a:ext cx="7772400" cy="4068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Viết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giả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tính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độ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phức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tạp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thuật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toán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của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các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hàm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xử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lý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trên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mảng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sau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đây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(p) :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ở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(p, x):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endParaRPr sz="20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(p):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Bài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i="0" u="none" strike="noStrike" cap="none" dirty="0" err="1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tập</a:t>
            </a:r>
            <a:r>
              <a:rPr lang="en-US" sz="4000" b="1" i="0" u="none" strike="noStrike" cap="none" dirty="0" smtClean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9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7" name="Google Shape;437;p43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400"/>
              <a:buNone/>
            </a:pPr>
            <a:r>
              <a:rPr lang="en-US" sz="2400" dirty="0" err="1" smtClean="0"/>
              <a:t>Viết</a:t>
            </a:r>
            <a:r>
              <a:rPr lang="en-US" sz="2400" dirty="0" smtClean="0"/>
              <a:t> </a:t>
            </a:r>
            <a:r>
              <a:rPr lang="en-US" sz="2400" dirty="0" err="1" smtClean="0"/>
              <a:t>mã</a:t>
            </a:r>
            <a:r>
              <a:rPr lang="en-US" sz="2400" dirty="0" smtClean="0"/>
              <a:t> </a:t>
            </a:r>
            <a:r>
              <a:rPr lang="en-US" sz="2400" dirty="0" err="1" smtClean="0"/>
              <a:t>giả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tính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độ</a:t>
            </a:r>
            <a:r>
              <a:rPr lang="en-US" sz="2400" dirty="0" smtClean="0"/>
              <a:t> </a:t>
            </a:r>
            <a:r>
              <a:rPr lang="en-US" sz="2400" dirty="0" err="1" smtClean="0"/>
              <a:t>phức</a:t>
            </a:r>
            <a:r>
              <a:rPr lang="en-US" sz="2400" dirty="0" smtClean="0"/>
              <a:t> </a:t>
            </a:r>
            <a:r>
              <a:rPr lang="en-US" sz="2400" dirty="0" err="1" smtClean="0"/>
              <a:t>tạp</a:t>
            </a:r>
            <a:r>
              <a:rPr lang="en-US" sz="2400" dirty="0" smtClean="0"/>
              <a:t> </a:t>
            </a:r>
            <a:r>
              <a:rPr lang="en-US" sz="2400" dirty="0" err="1" smtClean="0"/>
              <a:t>thuật</a:t>
            </a:r>
            <a:r>
              <a:rPr lang="en-US" sz="2400" dirty="0" smtClean="0"/>
              <a:t> </a:t>
            </a:r>
            <a:r>
              <a:rPr lang="en-US" sz="2400" dirty="0" err="1" smtClean="0"/>
              <a:t>toán</a:t>
            </a:r>
            <a:r>
              <a:rPr lang="en-US" sz="2400" dirty="0" smtClean="0"/>
              <a:t> </a:t>
            </a:r>
            <a:r>
              <a:rPr lang="en-US" sz="2400" dirty="0" err="1" smtClean="0"/>
              <a:t>của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hàm</a:t>
            </a:r>
            <a:r>
              <a:rPr lang="en-US" sz="2400" dirty="0" smtClean="0"/>
              <a:t> </a:t>
            </a:r>
            <a:r>
              <a:rPr lang="en-US" sz="2400" dirty="0" err="1" smtClean="0"/>
              <a:t>xử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liên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đơn</a:t>
            </a:r>
            <a:r>
              <a:rPr lang="en-US" sz="2400" dirty="0" smtClean="0"/>
              <a:t> </a:t>
            </a:r>
            <a:r>
              <a:rPr lang="en-US" sz="2400" dirty="0" err="1" smtClean="0"/>
              <a:t>sau</a:t>
            </a:r>
            <a:r>
              <a:rPr lang="en-US" sz="2400" dirty="0" smtClean="0"/>
              <a:t> </a:t>
            </a:r>
            <a:r>
              <a:rPr lang="en-US" sz="2400" dirty="0" err="1" smtClean="0"/>
              <a:t>đây</a:t>
            </a:r>
            <a:r>
              <a:rPr lang="en-US" sz="2400" dirty="0" smtClean="0"/>
              <a:t> :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(head, 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trả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về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 smtClean="0"/>
              <a:t>tại</a:t>
            </a:r>
            <a:r>
              <a:rPr lang="en-US" sz="2000" dirty="0" smtClean="0"/>
              <a:t> </a:t>
            </a:r>
            <a:r>
              <a:rPr lang="en-US" sz="2000" dirty="0" err="1" smtClean="0"/>
              <a:t>vị</a:t>
            </a:r>
            <a:r>
              <a:rPr lang="en-US" sz="2000" dirty="0" smtClean="0"/>
              <a:t> </a:t>
            </a:r>
            <a:r>
              <a:rPr lang="en-US" sz="2000" dirty="0" err="1" smtClean="0"/>
              <a:t>trí</a:t>
            </a:r>
            <a:r>
              <a:rPr lang="en-US" sz="2000" dirty="0" smtClean="0"/>
              <a:t> p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(head, p, x):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chèn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x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vào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dirty="0"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(head, p): 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Xóa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phần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tử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tại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dirty="0" err="1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vị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trí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endParaRPr dirty="0"/>
          </a:p>
          <a:p>
            <a:pPr marL="342900" marR="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1651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8" name="Google Shape;438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rgbClr val="272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rgbClr val="27277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45182E5-4779-432A-84DD-1F8ABEC579CA}"/>
  <p:tag name="ISPRING_RESOURCE_FOLDER" val="C:\Users\Administrator\Documents\CTDL&amp;GT\Cai tien MH CTDL_GT\CTDL_GT\Slides and exercises\Lecture03_complexity\Lecture 3_complexity\"/>
  <p:tag name="ISPRING_PRESENTATION_PATH" val="C:\Users\Administrator\Documents\CTDL&amp;GT\Cai tien MH CTDL_GT\CTDL_GT\Slides and exercises\Lecture03_complexity\Lecture 3_complexity.pptx"/>
  <p:tag name="ISPRING_PROJECT_VERSION" val="9"/>
  <p:tag name="ISPRING_PROJECT_FOLDER_UPDATED" val="1"/>
  <p:tag name="ISPRING_SCREEN_RECS_UPDATED" val="C:\Users\Administrator\Documents\CTDL&amp;GT\Cai tien MH CTDL_GT\CTDL_GT\Slides and exercises\Lecture03_complexity\Lecture 3_complexity\"/>
  <p:tag name="FLASHSPRING_ZOOM_TAG" val="61"/>
  <p:tag name="ISPRING_PRESENTATION_INFO_2" val="&lt;?xml version=&quot;1.0&quot; encoding=&quot;UTF-8&quot; standalone=&quot;no&quot; ?&gt;&#10;&lt;presentation2&gt;&#10;&#10;  &lt;slides&gt;&#10;    &lt;slide id=&quot;{492E4A2E-E9E9-4FD0-B4B7-B7E76903ED88}&quot; pptId=&quot;256&quot;/&gt;&#10;    &lt;slide id=&quot;{239F2178-4ACE-4771-BF7A-5F57AB267824}&quot; pptId=&quot;257&quot;/&gt;&#10;    &lt;slide id=&quot;{C8F5CECB-D726-45D9-90C0-795D59FAA05D}&quot; pptId=&quot;258&quot;/&gt;&#10;    &lt;slide id=&quot;{79B5AC0C-179E-4D05-9DA9-DACE654522E0}&quot; pptId=&quot;259&quot;/&gt;&#10;    &lt;slide id=&quot;{54180641-FFCA-4DC9-A315-48D2F0CFE8ED}&quot; pptId=&quot;260&quot;/&gt;&#10;    &lt;slide id=&quot;{F1CD91F8-EEAD-46F0-B255-1B8AC43A0B74}&quot; pptId=&quot;261&quot;/&gt;&#10;    &lt;slide id=&quot;{EACE66B8-8460-49C4-A028-2847CF9AFEF8}&quot; pptId=&quot;262&quot;/&gt;&#10;    &lt;slide id=&quot;{8E90B172-D771-4AF0-A16E-A257121EF833}&quot; pptId=&quot;263&quot;/&gt;&#10;    &lt;slide id=&quot;{C729D9CF-E7B5-455B-B2BA-E7AEB8A46EF6}&quot; pptId=&quot;264&quot;/&gt;&#10;    &lt;slide id=&quot;{57748A63-4854-4B53-A4B2-7D3D5D250E9C}&quot; pptId=&quot;265&quot;/&gt;&#10;    &lt;slide id=&quot;{25F2D470-4552-419A-BFAF-F6B7A2E1A79C}&quot; pptId=&quot;266&quot;/&gt;&#10;    &lt;slide id=&quot;{4B6252FA-584B-4111-97E8-08CFBDC08F45}&quot; pptId=&quot;267&quot;/&gt;&#10;    &lt;slide id=&quot;{58BE2990-74DD-4F95-9AC3-79D46869AB62}&quot; pptId=&quot;268&quot;/&gt;&#10;    &lt;slide id=&quot;{3F14454A-268C-4066-96A2-283F153AC337}&quot; pptId=&quot;269&quot;/&gt;&#10;    &lt;slide id=&quot;{DEE85002-F021-4383-8118-C682659E292E}&quot; pptId=&quot;270&quot;/&gt;&#10;    &lt;slide id=&quot;{2CFCA1BE-1356-48DC-8CCA-3B5B32FE9B36}&quot; pptId=&quot;271&quot;/&gt;&#10;    &lt;slide id=&quot;{55466F1F-E439-4676-8AD9-1637717E1CA0}&quot; pptId=&quot;272&quot;/&gt;&#10;    &lt;slide id=&quot;{DA1FECFA-501F-4E7B-9264-3B3973D7057F}&quot; pptId=&quot;273&quot;/&gt;&#10;    &lt;slide id=&quot;{A96F0703-7D8B-41A3-B97C-9D349EEB7360}&quot; pptId=&quot;274&quot;/&gt;&#10;    &lt;slide id=&quot;{764DAF1B-26C5-4801-84D1-6B71ADA505F9}&quot; pptId=&quot;275&quot;/&gt;&#10;    &lt;slide id=&quot;{7E103C47-B250-4201-B5BD-709E2EB61263}&quot; pptId=&quot;276&quot;/&gt;&#10;    &lt;slide id=&quot;{24E3103E-542A-4C09-9414-B4409C873A8D}&quot; pptId=&quot;277&quot;/&gt;&#10;    &lt;slide id=&quot;{B8278E58-275A-4BAF-A7A8-DDE97811BCD0}&quot; pptId=&quot;278&quot;/&gt;&#10;    &lt;slide id=&quot;{3F88918A-0EC4-4FA2-B213-83EB55C87EA7}&quot; pptId=&quot;279&quot;/&gt;&#10;    &lt;slide id=&quot;{897D558D-14A0-42B8-BF3C-703329410A5C}&quot; pptId=&quot;280&quot;/&gt;&#10;    &lt;slide id=&quot;{66F50DA2-44C9-4BBE-A862-CE43CDE25C91}&quot; pptId=&quot;281&quot;/&gt;&#10;    &lt;slide id=&quot;{7EA052D5-5049-43C0-953A-268D9CD78BF2}&quot; pptId=&quot;282&quot;/&gt;&#10;    &lt;slide id=&quot;{AE1A5ECE-CE05-4EBC-8616-D6F4039B54F3}&quot; pptId=&quot;283&quot;/&gt;&#10;    &lt;slide id=&quot;{2CBCFE7D-38F2-4B78-86BD-00F2E8FE117C}&quot; pptId=&quot;284&quot;/&gt;&#10;    &lt;slide id=&quot;{C7D22A46-F3E2-4F1C-BF62-CF35F2618AB0}&quot; pptId=&quot;285&quot;/&gt;&#10;    &lt;slide id=&quot;{47726AB9-9BAF-4B2A-B37F-2A7BDBFC01C5}&quot; pptId=&quot;286&quot;/&gt;&#10;  &lt;/slides&gt;&#10;&#10;  &lt;narration&gt;&#10;    &lt;audioTracks&gt;&#10;      &lt;audioTrack muted=&quot;false&quot; name=&quot;Lect 3 part 1&quot; resource=&quot;c035dade&quot; slideId=&quot;{492E4A2E-E9E9-4FD0-B4B7-B7E76903ED88}&quot; startTime=&quot;0&quot; stepIndex=&quot;0&quot; volume=&quot;1&quot;&gt;&#10;        &lt;audio channels=&quot;1&quot; format=&quot;s16&quot; sampleRate=&quot;48000&quot;/&gt;&#10;      &lt;/audioTrack&gt;&#10;      &lt;audioTrack muted=&quot;false&quot; name=&quot;Lect 3 part 2&quot; resource=&quot;0b80a100&quot; slideId=&quot;{4B6252FA-584B-4111-97E8-08CFBDC08F45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475649B1-CF88-4C17-9D61-3E9EEB6C261F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3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3_complexit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92E4A2E-E9E9-4FD0-B4B7-B7E76903ED88}"/>
  <p:tag name="GENSWF_ADVANCE_TIME" val="3.672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39F2178-4ACE-4771-BF7A-5F57AB267824}"/>
  <p:tag name="GENSWF_ADVANCE_TIME" val="20.604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F5CECB-D726-45D9-90C0-795D59FAA05D}"/>
  <p:tag name="GENSWF_ADVANCE_TIME" val="24.92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9B5AC0C-179E-4D05-9DA9-DACE654522E0}"/>
  <p:tag name="GENSWF_ADVANCE_TIME" val="8.32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4180641-FFCA-4DC9-A315-48D2F0CFE8ED}"/>
  <p:tag name="GENSWF_ADVANCE_TIME" val="37.37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CD91F8-EEAD-46F0-B255-1B8AC43A0B74}"/>
  <p:tag name="GENSWF_ADVANCE_TIME" val="23.592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ACE66B8-8460-49C4-A028-2847CF9AFEF8}"/>
  <p:tag name="GENSWF_ADVANCE_TIME" val="22.928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E90B172-D771-4AF0-A16E-A257121EF833}"/>
  <p:tag name="GENSWF_ADVANCE_TIME" val="12.304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729D9CF-E7B5-455B-B2BA-E7AEB8A46EF6}"/>
  <p:tag name="GENSWF_ADVANCE_TIME" val="23.26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7748A63-4854-4B53-A4B2-7D3D5D250E9C}"/>
  <p:tag name="GENSWF_ADVANCE_TIME" val="18.77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5F2D470-4552-419A-BFAF-F6B7A2E1A79C}"/>
  <p:tag name="GENSWF_ADVANCE_TIME" val="13.497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B6252FA-584B-4111-97E8-08CFBDC08F45}"/>
  <p:tag name="GENSWF_ADVANCE_TIME" val="4.004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8BE2990-74DD-4F95-9AC3-79D46869AB62}"/>
  <p:tag name="GENSWF_ADVANCE_TIME" val="2.178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F14454A-268C-4066-96A2-283F153AC337}"/>
  <p:tag name="GENSWF_ADVANCE_TIME" val="26.74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EE85002-F021-4383-8118-C682659E292E}"/>
  <p:tag name="GENSWF_ADVANCE_TIME" val="15.458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FCA1BE-1356-48DC-8CCA-3B5B32FE9B36}"/>
  <p:tag name="GENSWF_ADVANCE_TIME" val="5.996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5466F1F-E439-4676-8AD9-1637717E1CA0}"/>
  <p:tag name="GENSWF_ADVANCE_TIME" val="25.252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A1FECFA-501F-4E7B-9264-3B3973D7057F}"/>
  <p:tag name="GENSWF_ADVANCE_TIME" val="4.502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96F0703-7D8B-41A3-B97C-9D349EEB7360}"/>
  <p:tag name="GENSWF_ADVANCE_TIME" val="23.426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64DAF1B-26C5-4801-84D1-6B71ADA505F9}"/>
  <p:tag name="GENSWF_ADVANCE_TIME" val="6.494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E103C47-B250-4201-B5BD-709E2EB61263}"/>
  <p:tag name="GENSWF_ADVANCE_TIME" val="11.142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4E3103E-542A-4C09-9414-B4409C873A8D}"/>
  <p:tag name="GENSWF_ADVANCE_TIME" val="12.636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8278E58-275A-4BAF-A7A8-DDE97811BCD0}"/>
  <p:tag name="GENSWF_ADVANCE_TIME" val="17.118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3F88918A-0EC4-4FA2-B213-83EB55C87EA7}"/>
  <p:tag name="GENSWF_ADVANCE_TIME" val="10.146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97D558D-14A0-42B8-BF3C-703329410A5C}"/>
  <p:tag name="GENSWF_ADVANCE_TIME" val="10.81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6F50DA2-44C9-4BBE-A862-CE43CDE25C91}"/>
  <p:tag name="GENSWF_ADVANCE_TIME" val="2.012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EA052D5-5049-43C0-953A-268D9CD78BF2}"/>
  <p:tag name="GENSWF_ADVANCE_TIME" val="5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E1A5ECE-CE05-4EBC-8616-D6F4039B54F3}"/>
  <p:tag name="GENSWF_ADVANCE_TIME" val="5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CBCFE7D-38F2-4B78-86BD-00F2E8FE117C}"/>
  <p:tag name="GENSWF_ADVANCE_TIME" val="5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7D22A46-F3E2-4F1C-BF62-CF35F2618AB0}"/>
  <p:tag name="GENSWF_ADVANCE_TIME" val="5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47726AB9-9BAF-4B2A-B37F-2A7BDBFC01C5}"/>
  <p:tag name="GENSWF_ADVANCE_TIME" val="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1731</Words>
  <Application>Microsoft Office PowerPoint</Application>
  <PresentationFormat>On-screen Show (4:3)</PresentationFormat>
  <Paragraphs>352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Helvetica Neue</vt:lpstr>
      <vt:lpstr>Times New Roman</vt:lpstr>
      <vt:lpstr>Noto Sans Symbols</vt:lpstr>
      <vt:lpstr>Arial Narrow</vt:lpstr>
      <vt:lpstr>Calibri</vt:lpstr>
      <vt:lpstr>Koi</vt:lpstr>
      <vt:lpstr>Phân tích thuật toán</vt:lpstr>
      <vt:lpstr>Phân tích thuật toán</vt:lpstr>
      <vt:lpstr>Thời gian thực hiện</vt:lpstr>
      <vt:lpstr>Thời gian thực hiện</vt:lpstr>
      <vt:lpstr>Độ phức tạp thuật toán</vt:lpstr>
      <vt:lpstr>Phân tích thực nghiệm</vt:lpstr>
      <vt:lpstr>Phân tích lý thuyết</vt:lpstr>
      <vt:lpstr>Mã giả</vt:lpstr>
      <vt:lpstr>Các phép toán cơ bản</vt:lpstr>
      <vt:lpstr>Phân tích độ phức tạp về thời gian </vt:lpstr>
      <vt:lpstr>Phân tích độ phức tạp thời gian</vt:lpstr>
      <vt:lpstr>Bài tập 1</vt:lpstr>
      <vt:lpstr>Bài tập 2</vt:lpstr>
      <vt:lpstr>Phân tích độ phức tạp thời gian</vt:lpstr>
      <vt:lpstr>Phân tích độ phức tạp thời gian</vt:lpstr>
      <vt:lpstr>Phân tích độ phức tạp thời gian</vt:lpstr>
      <vt:lpstr>Khái niệm Ô lớn (big O)</vt:lpstr>
      <vt:lpstr>Ví dụ Ô lớn</vt:lpstr>
      <vt:lpstr>Slide 19</vt:lpstr>
      <vt:lpstr>Slide 20</vt:lpstr>
      <vt:lpstr>Slide 21</vt:lpstr>
      <vt:lpstr>Các luật của khái niệm Ô lớn</vt:lpstr>
      <vt:lpstr>Phân tích thuật toán</vt:lpstr>
      <vt:lpstr>Thời gian chạy của thuật toán có lặp</vt:lpstr>
      <vt:lpstr>Ví dụ</vt:lpstr>
      <vt:lpstr>Bài tập 4</vt:lpstr>
      <vt:lpstr>Bài tập 5</vt:lpstr>
      <vt:lpstr>Bài tập 6</vt:lpstr>
      <vt:lpstr>Bài tập 7</vt:lpstr>
      <vt:lpstr>Bài tập 8</vt:lpstr>
      <vt:lpstr>Bài tập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3_complexity</dc:title>
  <dc:creator>Administrator</dc:creator>
  <cp:lastModifiedBy>DHQG</cp:lastModifiedBy>
  <cp:revision>89</cp:revision>
  <dcterms:modified xsi:type="dcterms:W3CDTF">2019-09-09T11:31:55Z</dcterms:modified>
</cp:coreProperties>
</file>