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80" r:id="rId10"/>
    <p:sldId id="295" r:id="rId11"/>
    <p:sldId id="296" r:id="rId12"/>
    <p:sldId id="264" r:id="rId13"/>
    <p:sldId id="263" r:id="rId14"/>
    <p:sldId id="265" r:id="rId15"/>
    <p:sldId id="267" r:id="rId16"/>
    <p:sldId id="269" r:id="rId17"/>
    <p:sldId id="292" r:id="rId18"/>
    <p:sldId id="272" r:id="rId19"/>
    <p:sldId id="273" r:id="rId20"/>
    <p:sldId id="274" r:id="rId21"/>
    <p:sldId id="275" r:id="rId22"/>
    <p:sldId id="294" r:id="rId23"/>
    <p:sldId id="283" r:id="rId24"/>
    <p:sldId id="282" r:id="rId25"/>
    <p:sldId id="285" r:id="rId26"/>
    <p:sldId id="286" r:id="rId27"/>
    <p:sldId id="289" r:id="rId28"/>
    <p:sldId id="28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87567" autoAdjust="0"/>
  </p:normalViewPr>
  <p:slideViewPr>
    <p:cSldViewPr>
      <p:cViewPr varScale="1">
        <p:scale>
          <a:sx n="119" d="100"/>
          <a:sy n="119" d="100"/>
        </p:scale>
        <p:origin x="-1128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8677B-BF48-6B43-83AC-D3550B44E0FC}" type="datetimeFigureOut">
              <a:rPr lang="en-US" smtClean="0"/>
              <a:t>11/11/15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D0CEA-7580-B745-B933-4992FB9C1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216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DD3FC-65B1-48D6-B0BD-BF4F6C09E779}" type="datetimeFigureOut">
              <a:rPr lang="en-US" smtClean="0"/>
              <a:t>11/11/15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A6AB6-5BBF-46A3-830D-CC31A12677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622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BFT gif:</a:t>
            </a:r>
            <a:r>
              <a:rPr lang="en-US" sz="1200" baseline="0" dirty="0" smtClean="0"/>
              <a:t> </a:t>
            </a:r>
            <a:r>
              <a:rPr lang="en-US" sz="1200" dirty="0" smtClean="0"/>
              <a:t>http://</a:t>
            </a:r>
            <a:r>
              <a:rPr lang="en-US" sz="1200" dirty="0" err="1" smtClean="0"/>
              <a:t>en.wikipedia.org</a:t>
            </a:r>
            <a:r>
              <a:rPr lang="en-US" sz="1200" dirty="0" smtClean="0"/>
              <a:t>/wiki/</a:t>
            </a:r>
            <a:r>
              <a:rPr lang="en-US" sz="1200" dirty="0" err="1" smtClean="0"/>
              <a:t>Breadth-first_search#mediaviewer</a:t>
            </a:r>
            <a:r>
              <a:rPr lang="en-US" sz="1200" dirty="0" smtClean="0"/>
              <a:t>/</a:t>
            </a:r>
            <a:r>
              <a:rPr lang="en-US" sz="1200" dirty="0" err="1" smtClean="0"/>
              <a:t>File:Animated_BFS.gif</a:t>
            </a:r>
            <a:endParaRPr lang="en-US" sz="1200" dirty="0" smtClean="0"/>
          </a:p>
          <a:p>
            <a:endParaRPr lang="en-US" dirty="0" smtClean="0"/>
          </a:p>
          <a:p>
            <a:r>
              <a:rPr lang="en-US" dirty="0" smtClean="0"/>
              <a:t>DFT gif: https://</a:t>
            </a:r>
            <a:r>
              <a:rPr lang="en-US" dirty="0" err="1" smtClean="0"/>
              <a:t>upload.wikimedia.org</a:t>
            </a:r>
            <a:r>
              <a:rPr lang="en-US" dirty="0" smtClean="0"/>
              <a:t>/</a:t>
            </a:r>
            <a:r>
              <a:rPr lang="en-US" dirty="0" err="1" smtClean="0"/>
              <a:t>wikipedia</a:t>
            </a:r>
            <a:r>
              <a:rPr lang="en-US" dirty="0" smtClean="0"/>
              <a:t>/commons/7/7f/Depth-First-</a:t>
            </a:r>
            <a:r>
              <a:rPr lang="en-US" dirty="0" err="1" smtClean="0"/>
              <a:t>Search.gif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A6AB6-5BBF-46A3-830D-CC31A12677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4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Preorder gif: http://ceadserv1.nku.edu/longa//classes/mat385_resources/docs/</a:t>
            </a:r>
            <a:r>
              <a:rPr lang="en-US" baseline="0" dirty="0" err="1" smtClean="0"/>
              <a:t>traversal_files</a:t>
            </a:r>
            <a:r>
              <a:rPr lang="en-US" baseline="0" dirty="0" smtClean="0"/>
              <a:t>/</a:t>
            </a:r>
            <a:r>
              <a:rPr lang="en-US" baseline="0" dirty="0" err="1" smtClean="0"/>
              <a:t>PreOrderTrav.gif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err="1" smtClean="0"/>
              <a:t>Inorder</a:t>
            </a:r>
            <a:r>
              <a:rPr lang="en-US" baseline="0" dirty="0" smtClean="0"/>
              <a:t> gif: http://ceadserv1.nku.edu/longa//classes/mat385_resources/docs/</a:t>
            </a:r>
            <a:r>
              <a:rPr lang="en-US" baseline="0" dirty="0" err="1" smtClean="0"/>
              <a:t>traversal_files</a:t>
            </a:r>
            <a:r>
              <a:rPr lang="en-US" baseline="0" dirty="0" smtClean="0"/>
              <a:t>/</a:t>
            </a:r>
            <a:r>
              <a:rPr lang="en-US" baseline="0" dirty="0" err="1" smtClean="0"/>
              <a:t>InorderTrav.gif</a:t>
            </a:r>
            <a:endParaRPr lang="en-US" baseline="0" dirty="0" smtClean="0"/>
          </a:p>
          <a:p>
            <a:endParaRPr lang="en-US" baseline="0" dirty="0" smtClean="0"/>
          </a:p>
          <a:p>
            <a:r>
              <a:rPr lang="en-US" baseline="0" dirty="0" err="1" smtClean="0"/>
              <a:t>Postorder</a:t>
            </a:r>
            <a:r>
              <a:rPr lang="en-US" baseline="0" dirty="0" smtClean="0"/>
              <a:t> gif: http://ceadserv1.nku.edu/longa//classes/mat385_resources/docs/</a:t>
            </a:r>
            <a:r>
              <a:rPr lang="en-US" baseline="0" dirty="0" err="1" smtClean="0"/>
              <a:t>traversal_files</a:t>
            </a:r>
            <a:r>
              <a:rPr lang="en-US" baseline="0" dirty="0" smtClean="0"/>
              <a:t>/</a:t>
            </a:r>
            <a:r>
              <a:rPr lang="en-US" baseline="0" dirty="0" err="1" smtClean="0"/>
              <a:t>PostorderTrav.gif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5A6AB6-5BBF-46A3-830D-CC31A12677B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45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 algn="ctr">
              <a:defRPr sz="3200" b="1" cap="all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2895600" cy="329184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0"/>
            <a:ext cx="1066800" cy="329184"/>
          </a:xfrm>
        </p:spPr>
        <p:txBody>
          <a:bodyPr/>
          <a:lstStyle>
            <a:lvl1pPr algn="r">
              <a:defRPr/>
            </a:lvl1pPr>
          </a:lstStyle>
          <a:p>
            <a:fld id="{4377865E-31DE-4A5F-9469-B57C815FF9F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2895600" cy="329184"/>
          </a:xfrm>
        </p:spPr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4377865E-31DE-4A5F-9469-B57C815FF9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0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Thursday February 12, 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algn="r"/>
            <a:fld id="{4377865E-31DE-4A5F-9469-B57C815FF9F6}" type="slidenum">
              <a:rPr lang="en-US" smtClean="0"/>
              <a:pPr algn="r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00" baseline="0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5" Type="http://schemas.openxmlformats.org/officeDocument/2006/relationships/hyperlink" Target="http://en.wikipedia.org/wiki/Breadth-first_search%23mediaviewer/File:Animated_BFS.gif" TargetMode="External"/><Relationship Id="rId6" Type="http://schemas.openxmlformats.org/officeDocument/2006/relationships/hyperlink" Target="https://upload.wikimedia.org/wikipedia/commons/7/7f/Depth-First-Search.gif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Cây</a:t>
            </a:r>
            <a:r>
              <a:rPr lang="en-US" dirty="0" smtClean="0"/>
              <a:t> (Tree)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66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endParaRPr lang="en-US" dirty="0" smtClean="0"/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endParaRPr lang="en-US" dirty="0" smtClean="0"/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(Breadth-first traversal)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(Depth-first traversal)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: pre-order, post-order, in-order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02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2971800" cy="5029200"/>
          </a:xfrm>
          <a:ln/>
        </p:spPr>
        <p:txBody>
          <a:bodyPr>
            <a:normAutofit/>
          </a:bodyPr>
          <a:lstStyle/>
          <a:p>
            <a:pPr>
              <a:lnSpc>
                <a:spcPct val="93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Trong</a:t>
            </a:r>
            <a:r>
              <a:rPr lang="en-GB" sz="2200" dirty="0" smtClean="0"/>
              <a:t> </a:t>
            </a:r>
            <a:r>
              <a:rPr lang="en-GB" sz="2200" dirty="0" err="1" smtClean="0"/>
              <a:t>khoa</a:t>
            </a:r>
            <a:r>
              <a:rPr lang="en-GB" sz="2200" dirty="0" smtClean="0"/>
              <a:t> </a:t>
            </a:r>
            <a:r>
              <a:rPr lang="en-GB" sz="2200" dirty="0" err="1" smtClean="0"/>
              <a:t>học</a:t>
            </a:r>
            <a:r>
              <a:rPr lang="en-GB" sz="2200" dirty="0" smtClean="0"/>
              <a:t> </a:t>
            </a:r>
            <a:r>
              <a:rPr lang="en-GB" sz="2200" dirty="0" err="1" smtClean="0"/>
              <a:t>máy</a:t>
            </a:r>
            <a:r>
              <a:rPr lang="en-GB" sz="2200" dirty="0" smtClean="0"/>
              <a:t> </a:t>
            </a:r>
            <a:r>
              <a:rPr lang="en-GB" sz="2200" dirty="0" err="1" smtClean="0"/>
              <a:t>tính</a:t>
            </a:r>
            <a:r>
              <a:rPr lang="en-GB" sz="2200" dirty="0" smtClean="0"/>
              <a:t>, </a:t>
            </a:r>
            <a:r>
              <a:rPr lang="en-GB" sz="2200" dirty="0" err="1" smtClean="0"/>
              <a:t>một</a:t>
            </a:r>
            <a:r>
              <a:rPr lang="en-GB" sz="2200" dirty="0" smtClean="0"/>
              <a:t> </a:t>
            </a:r>
            <a:r>
              <a:rPr lang="en-GB" sz="2200" dirty="0" err="1" smtClean="0"/>
              <a:t>cây</a:t>
            </a:r>
            <a:r>
              <a:rPr lang="en-GB" sz="2200" dirty="0" smtClean="0"/>
              <a:t> </a:t>
            </a:r>
            <a:r>
              <a:rPr lang="en-GB" sz="2200" dirty="0" err="1" smtClean="0"/>
              <a:t>là</a:t>
            </a:r>
            <a:r>
              <a:rPr lang="en-GB" sz="2200" dirty="0" smtClean="0"/>
              <a:t> </a:t>
            </a:r>
            <a:r>
              <a:rPr lang="en-GB" sz="2200" dirty="0" err="1" smtClean="0"/>
              <a:t>một</a:t>
            </a:r>
            <a:r>
              <a:rPr lang="en-GB" sz="2200" dirty="0" smtClean="0"/>
              <a:t> </a:t>
            </a:r>
            <a:r>
              <a:rPr lang="en-GB" sz="2200" dirty="0" err="1" smtClean="0"/>
              <a:t>mô</a:t>
            </a:r>
            <a:r>
              <a:rPr lang="en-GB" sz="2200" dirty="0" smtClean="0"/>
              <a:t> </a:t>
            </a:r>
            <a:r>
              <a:rPr lang="en-GB" sz="2200" dirty="0" err="1" smtClean="0"/>
              <a:t>hình</a:t>
            </a:r>
            <a:r>
              <a:rPr lang="en-GB" sz="2200" dirty="0" smtClean="0"/>
              <a:t> </a:t>
            </a:r>
            <a:r>
              <a:rPr lang="en-GB" sz="2200" dirty="0" err="1" smtClean="0"/>
              <a:t>trừu</a:t>
            </a:r>
            <a:r>
              <a:rPr lang="en-GB" sz="2200" dirty="0" smtClean="0"/>
              <a:t> </a:t>
            </a:r>
            <a:r>
              <a:rPr lang="en-GB" sz="2200" dirty="0" err="1" smtClean="0"/>
              <a:t>tượng</a:t>
            </a:r>
            <a:r>
              <a:rPr lang="en-GB" sz="2200" dirty="0" smtClean="0"/>
              <a:t> </a:t>
            </a:r>
            <a:r>
              <a:rPr lang="en-GB" sz="2200" dirty="0" err="1" smtClean="0"/>
              <a:t>của</a:t>
            </a:r>
            <a:r>
              <a:rPr lang="en-GB" sz="2200" dirty="0" smtClean="0"/>
              <a:t> </a:t>
            </a:r>
            <a:r>
              <a:rPr lang="en-GB" sz="2200" dirty="0" err="1" smtClean="0"/>
              <a:t>một</a:t>
            </a:r>
            <a:r>
              <a:rPr lang="en-GB" sz="2200" dirty="0" smtClean="0"/>
              <a:t> </a:t>
            </a:r>
            <a:r>
              <a:rPr lang="en-GB" sz="2200" dirty="0" err="1" smtClean="0"/>
              <a:t>cấu</a:t>
            </a:r>
            <a:r>
              <a:rPr lang="en-GB" sz="2200" dirty="0" smtClean="0"/>
              <a:t> </a:t>
            </a:r>
            <a:r>
              <a:rPr lang="en-GB" sz="2200" dirty="0" err="1" smtClean="0"/>
              <a:t>trúc</a:t>
            </a:r>
            <a:r>
              <a:rPr lang="en-GB" sz="2200" dirty="0" smtClean="0"/>
              <a:t> </a:t>
            </a:r>
            <a:r>
              <a:rPr lang="en-GB" sz="2200" dirty="0" err="1" smtClean="0"/>
              <a:t>phân</a:t>
            </a:r>
            <a:r>
              <a:rPr lang="en-GB" sz="2200" dirty="0" smtClean="0"/>
              <a:t> </a:t>
            </a:r>
            <a:r>
              <a:rPr lang="en-GB" sz="2200" dirty="0" err="1" smtClean="0"/>
              <a:t>cấp</a:t>
            </a:r>
            <a:endParaRPr lang="en-GB" sz="2200" dirty="0"/>
          </a:p>
          <a:p>
            <a:pPr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Cây</a:t>
            </a:r>
            <a:r>
              <a:rPr lang="en-GB" sz="2200" dirty="0" smtClean="0"/>
              <a:t> </a:t>
            </a:r>
            <a:r>
              <a:rPr lang="en-GB" sz="2200" dirty="0" err="1" smtClean="0"/>
              <a:t>bao</a:t>
            </a:r>
            <a:r>
              <a:rPr lang="en-GB" sz="2200" dirty="0" smtClean="0"/>
              <a:t> </a:t>
            </a:r>
            <a:r>
              <a:rPr lang="en-GB" sz="2200" dirty="0" err="1" smtClean="0"/>
              <a:t>gồm</a:t>
            </a:r>
            <a:r>
              <a:rPr lang="en-GB" sz="2200" dirty="0" smtClean="0"/>
              <a:t> </a:t>
            </a:r>
            <a:r>
              <a:rPr lang="en-GB" sz="2200" dirty="0" err="1" smtClean="0"/>
              <a:t>tập</a:t>
            </a:r>
            <a:r>
              <a:rPr lang="en-GB" sz="2200" dirty="0" smtClean="0"/>
              <a:t> </a:t>
            </a: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đỉnh</a:t>
            </a:r>
            <a:r>
              <a:rPr lang="en-GB" sz="2200" dirty="0" smtClean="0"/>
              <a:t> (node) </a:t>
            </a:r>
            <a:r>
              <a:rPr lang="en-GB" sz="2200" dirty="0" err="1" smtClean="0"/>
              <a:t>và</a:t>
            </a:r>
            <a:r>
              <a:rPr lang="en-GB" sz="2200" dirty="0" smtClean="0"/>
              <a:t> </a:t>
            </a: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mối</a:t>
            </a:r>
            <a:r>
              <a:rPr lang="en-GB" sz="2200" dirty="0" smtClean="0"/>
              <a:t> </a:t>
            </a:r>
            <a:r>
              <a:rPr lang="en-GB" sz="2200" dirty="0" err="1" smtClean="0"/>
              <a:t>liên</a:t>
            </a:r>
            <a:r>
              <a:rPr lang="en-GB" sz="2200" dirty="0" smtClean="0"/>
              <a:t> </a:t>
            </a:r>
            <a:r>
              <a:rPr lang="en-GB" sz="2200" dirty="0" err="1" smtClean="0"/>
              <a:t>hệ</a:t>
            </a:r>
            <a:r>
              <a:rPr lang="en-GB" sz="2200" dirty="0" smtClean="0"/>
              <a:t> </a:t>
            </a:r>
            <a:r>
              <a:rPr lang="en-GB" sz="2200" dirty="0" err="1" smtClean="0"/>
              <a:t>giữa</a:t>
            </a:r>
            <a:r>
              <a:rPr lang="en-GB" sz="2200" dirty="0" smtClean="0"/>
              <a:t> </a:t>
            </a:r>
            <a:r>
              <a:rPr lang="en-GB" sz="2200" dirty="0" err="1" smtClean="0"/>
              <a:t>đỉnh</a:t>
            </a:r>
            <a:r>
              <a:rPr lang="en-GB" sz="2200" dirty="0" smtClean="0"/>
              <a:t> cha </a:t>
            </a:r>
            <a:r>
              <a:rPr lang="en-GB" sz="2200" dirty="0" err="1" smtClean="0"/>
              <a:t>và</a:t>
            </a:r>
            <a:r>
              <a:rPr lang="en-GB" sz="2200" dirty="0" smtClean="0"/>
              <a:t> </a:t>
            </a:r>
            <a:r>
              <a:rPr lang="en-GB" sz="2200" dirty="0" err="1" smtClean="0"/>
              <a:t>đỉnh</a:t>
            </a:r>
            <a:r>
              <a:rPr lang="en-GB" sz="2200" dirty="0" smtClean="0"/>
              <a:t> con. </a:t>
            </a:r>
            <a:endParaRPr lang="en-GB" sz="2200" dirty="0"/>
          </a:p>
          <a:p>
            <a:pPr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ứng</a:t>
            </a:r>
            <a:r>
              <a:rPr lang="en-GB" sz="2200" dirty="0" smtClean="0"/>
              <a:t> </a:t>
            </a:r>
            <a:r>
              <a:rPr lang="en-GB" sz="2200" dirty="0" err="1" smtClean="0"/>
              <a:t>dụng</a:t>
            </a:r>
            <a:r>
              <a:rPr lang="en-GB" sz="2200" dirty="0" smtClean="0"/>
              <a:t>:</a:t>
            </a:r>
            <a:endParaRPr lang="en-GB" sz="2200" dirty="0"/>
          </a:p>
          <a:p>
            <a:pPr lvl="1">
              <a:spcBef>
                <a:spcPts val="4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200" dirty="0" err="1" smtClean="0"/>
              <a:t>Lược</a:t>
            </a:r>
            <a:r>
              <a:rPr lang="en-GB" sz="2200" dirty="0" smtClean="0"/>
              <a:t> </a:t>
            </a:r>
            <a:r>
              <a:rPr lang="en-GB" sz="2200" dirty="0" err="1" smtClean="0"/>
              <a:t>đồ</a:t>
            </a:r>
            <a:r>
              <a:rPr lang="en-GB" sz="2200" dirty="0" smtClean="0"/>
              <a:t> </a:t>
            </a:r>
            <a:r>
              <a:rPr lang="en-GB" sz="2200" dirty="0" err="1" smtClean="0"/>
              <a:t>của</a:t>
            </a:r>
            <a:r>
              <a:rPr lang="en-GB" sz="2200" dirty="0" smtClean="0"/>
              <a:t> </a:t>
            </a:r>
            <a:r>
              <a:rPr lang="en-GB" sz="2200" dirty="0" err="1" smtClean="0"/>
              <a:t>các</a:t>
            </a:r>
            <a:r>
              <a:rPr lang="en-GB" sz="2200" dirty="0" smtClean="0"/>
              <a:t> </a:t>
            </a:r>
            <a:r>
              <a:rPr lang="en-GB" sz="2200" dirty="0" err="1" smtClean="0"/>
              <a:t>tổ</a:t>
            </a:r>
            <a:r>
              <a:rPr lang="en-GB" sz="2200" dirty="0" smtClean="0"/>
              <a:t> </a:t>
            </a:r>
            <a:r>
              <a:rPr lang="en-GB" sz="2200" dirty="0" err="1" smtClean="0"/>
              <a:t>chức</a:t>
            </a:r>
            <a:endParaRPr lang="en-GB" sz="2200" dirty="0"/>
          </a:p>
          <a:p>
            <a:pPr lvl="1">
              <a:spcBef>
                <a:spcPts val="4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200" dirty="0" smtClean="0"/>
              <a:t>H</a:t>
            </a:r>
            <a:r>
              <a:rPr lang="en-GB" sz="2200" dirty="0" err="1" smtClean="0"/>
              <a:t>ệ</a:t>
            </a:r>
            <a:r>
              <a:rPr lang="en-GB" sz="2200" dirty="0" smtClean="0"/>
              <a:t> </a:t>
            </a:r>
            <a:r>
              <a:rPr lang="en-GB" sz="2200" dirty="0" err="1" smtClean="0"/>
              <a:t>thống</a:t>
            </a:r>
            <a:r>
              <a:rPr lang="en-GB" sz="2200" dirty="0" smtClean="0"/>
              <a:t> files</a:t>
            </a:r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3657600" y="1981200"/>
            <a:ext cx="5237163" cy="3128963"/>
            <a:chOff x="2304" y="1248"/>
            <a:chExt cx="3299" cy="1971"/>
          </a:xfrm>
        </p:grpSpPr>
        <p:grpSp>
          <p:nvGrpSpPr>
            <p:cNvPr id="8" name="Group 4"/>
            <p:cNvGrpSpPr>
              <a:grpSpLocks/>
            </p:cNvGrpSpPr>
            <p:nvPr/>
          </p:nvGrpSpPr>
          <p:grpSpPr bwMode="auto">
            <a:xfrm>
              <a:off x="3452" y="1248"/>
              <a:ext cx="1096" cy="241"/>
              <a:chOff x="3452" y="1248"/>
              <a:chExt cx="1096" cy="241"/>
            </a:xfrm>
          </p:grpSpPr>
          <p:sp>
            <p:nvSpPr>
              <p:cNvPr id="69" name="AutoShape 5"/>
              <p:cNvSpPr>
                <a:spLocks noChangeArrowheads="1"/>
              </p:cNvSpPr>
              <p:nvPr/>
            </p:nvSpPr>
            <p:spPr bwMode="auto">
              <a:xfrm>
                <a:off x="3457" y="1248"/>
                <a:ext cx="1081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0" name="Group 6"/>
              <p:cNvGrpSpPr>
                <a:grpSpLocks/>
              </p:cNvGrpSpPr>
              <p:nvPr/>
            </p:nvGrpSpPr>
            <p:grpSpPr bwMode="auto">
              <a:xfrm>
                <a:off x="3452" y="1261"/>
                <a:ext cx="1096" cy="214"/>
                <a:chOff x="3452" y="1261"/>
                <a:chExt cx="1096" cy="214"/>
              </a:xfrm>
            </p:grpSpPr>
            <p:sp>
              <p:nvSpPr>
                <p:cNvPr id="71" name="AutoShape 7"/>
                <p:cNvSpPr>
                  <a:spLocks noChangeArrowheads="1"/>
                </p:cNvSpPr>
                <p:nvPr/>
              </p:nvSpPr>
              <p:spPr bwMode="auto">
                <a:xfrm>
                  <a:off x="3471" y="1261"/>
                  <a:ext cx="1054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AutoShape 8"/>
                <p:cNvSpPr>
                  <a:spLocks noChangeArrowheads="1"/>
                </p:cNvSpPr>
                <p:nvPr/>
              </p:nvSpPr>
              <p:spPr bwMode="auto">
                <a:xfrm>
                  <a:off x="3452" y="1265"/>
                  <a:ext cx="1096" cy="206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Computers ‘R’ Us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2728" y="1824"/>
              <a:ext cx="435" cy="240"/>
              <a:chOff x="2728" y="1824"/>
              <a:chExt cx="435" cy="240"/>
            </a:xfrm>
          </p:grpSpPr>
          <p:sp>
            <p:nvSpPr>
              <p:cNvPr id="65" name="AutoShape 10"/>
              <p:cNvSpPr>
                <a:spLocks noChangeArrowheads="1"/>
              </p:cNvSpPr>
              <p:nvPr/>
            </p:nvSpPr>
            <p:spPr bwMode="auto">
              <a:xfrm>
                <a:off x="2728" y="1824"/>
                <a:ext cx="436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6" name="Group 11"/>
              <p:cNvGrpSpPr>
                <a:grpSpLocks/>
              </p:cNvGrpSpPr>
              <p:nvPr/>
            </p:nvGrpSpPr>
            <p:grpSpPr bwMode="auto">
              <a:xfrm>
                <a:off x="2741" y="1837"/>
                <a:ext cx="408" cy="213"/>
                <a:chOff x="2741" y="1837"/>
                <a:chExt cx="408" cy="213"/>
              </a:xfrm>
            </p:grpSpPr>
            <p:sp>
              <p:nvSpPr>
                <p:cNvPr id="67" name="AutoShape 12"/>
                <p:cNvSpPr>
                  <a:spLocks noChangeArrowheads="1"/>
                </p:cNvSpPr>
                <p:nvPr/>
              </p:nvSpPr>
              <p:spPr bwMode="auto">
                <a:xfrm>
                  <a:off x="2741" y="1837"/>
                  <a:ext cx="40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AutoShape 13"/>
                <p:cNvSpPr>
                  <a:spLocks noChangeArrowheads="1"/>
                </p:cNvSpPr>
                <p:nvPr/>
              </p:nvSpPr>
              <p:spPr bwMode="auto">
                <a:xfrm>
                  <a:off x="2741" y="1837"/>
                  <a:ext cx="40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Sales</a:t>
                  </a:r>
                </a:p>
              </p:txBody>
            </p:sp>
          </p:grpSp>
        </p:grpSp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5209" y="1824"/>
              <a:ext cx="394" cy="240"/>
              <a:chOff x="5209" y="1824"/>
              <a:chExt cx="394" cy="240"/>
            </a:xfrm>
          </p:grpSpPr>
          <p:sp>
            <p:nvSpPr>
              <p:cNvPr id="61" name="AutoShape 15"/>
              <p:cNvSpPr>
                <a:spLocks noChangeArrowheads="1"/>
              </p:cNvSpPr>
              <p:nvPr/>
            </p:nvSpPr>
            <p:spPr bwMode="auto">
              <a:xfrm>
                <a:off x="5209" y="1824"/>
                <a:ext cx="395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2" name="Group 16"/>
              <p:cNvGrpSpPr>
                <a:grpSpLocks/>
              </p:cNvGrpSpPr>
              <p:nvPr/>
            </p:nvGrpSpPr>
            <p:grpSpPr bwMode="auto">
              <a:xfrm>
                <a:off x="5222" y="1837"/>
                <a:ext cx="368" cy="213"/>
                <a:chOff x="5222" y="1837"/>
                <a:chExt cx="368" cy="213"/>
              </a:xfrm>
            </p:grpSpPr>
            <p:sp>
              <p:nvSpPr>
                <p:cNvPr id="63" name="AutoShape 17"/>
                <p:cNvSpPr>
                  <a:spLocks noChangeArrowheads="1"/>
                </p:cNvSpPr>
                <p:nvPr/>
              </p:nvSpPr>
              <p:spPr bwMode="auto">
                <a:xfrm>
                  <a:off x="5222" y="1837"/>
                  <a:ext cx="36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18"/>
                <p:cNvSpPr>
                  <a:spLocks noChangeArrowheads="1"/>
                </p:cNvSpPr>
                <p:nvPr/>
              </p:nvSpPr>
              <p:spPr bwMode="auto">
                <a:xfrm>
                  <a:off x="5222" y="1837"/>
                  <a:ext cx="369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R&amp;D</a:t>
                  </a:r>
                </a:p>
              </p:txBody>
            </p:sp>
          </p:grpSp>
        </p:grpSp>
        <p:grpSp>
          <p:nvGrpSpPr>
            <p:cNvPr id="11" name="Group 19"/>
            <p:cNvGrpSpPr>
              <a:grpSpLocks/>
            </p:cNvGrpSpPr>
            <p:nvPr/>
          </p:nvGrpSpPr>
          <p:grpSpPr bwMode="auto">
            <a:xfrm>
              <a:off x="4101" y="1824"/>
              <a:ext cx="954" cy="240"/>
              <a:chOff x="4101" y="1824"/>
              <a:chExt cx="954" cy="240"/>
            </a:xfrm>
          </p:grpSpPr>
          <p:sp>
            <p:nvSpPr>
              <p:cNvPr id="57" name="AutoShape 20"/>
              <p:cNvSpPr>
                <a:spLocks noChangeArrowheads="1"/>
              </p:cNvSpPr>
              <p:nvPr/>
            </p:nvSpPr>
            <p:spPr bwMode="auto">
              <a:xfrm>
                <a:off x="4101" y="1824"/>
                <a:ext cx="955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8" name="Group 21"/>
              <p:cNvGrpSpPr>
                <a:grpSpLocks/>
              </p:cNvGrpSpPr>
              <p:nvPr/>
            </p:nvGrpSpPr>
            <p:grpSpPr bwMode="auto">
              <a:xfrm>
                <a:off x="4114" y="1837"/>
                <a:ext cx="928" cy="213"/>
                <a:chOff x="4114" y="1837"/>
                <a:chExt cx="928" cy="213"/>
              </a:xfrm>
            </p:grpSpPr>
            <p:sp>
              <p:nvSpPr>
                <p:cNvPr id="59" name="AutoShape 22"/>
                <p:cNvSpPr>
                  <a:spLocks noChangeArrowheads="1"/>
                </p:cNvSpPr>
                <p:nvPr/>
              </p:nvSpPr>
              <p:spPr bwMode="auto">
                <a:xfrm>
                  <a:off x="4114" y="1837"/>
                  <a:ext cx="92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AutoShape 23"/>
                <p:cNvSpPr>
                  <a:spLocks noChangeArrowheads="1"/>
                </p:cNvSpPr>
                <p:nvPr/>
              </p:nvSpPr>
              <p:spPr bwMode="auto">
                <a:xfrm>
                  <a:off x="4114" y="1837"/>
                  <a:ext cx="929" cy="214"/>
                </a:xfrm>
                <a:prstGeom prst="roundRect">
                  <a:avLst>
                    <a:gd name="adj" fmla="val 463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Manufacturing</a:t>
                  </a:r>
                </a:p>
              </p:txBody>
            </p:sp>
          </p:grpSp>
        </p:grpSp>
        <p:grpSp>
          <p:nvGrpSpPr>
            <p:cNvPr id="12" name="Group 24"/>
            <p:cNvGrpSpPr>
              <a:grpSpLocks/>
            </p:cNvGrpSpPr>
            <p:nvPr/>
          </p:nvGrpSpPr>
          <p:grpSpPr bwMode="auto">
            <a:xfrm>
              <a:off x="3911" y="2400"/>
              <a:ext cx="589" cy="240"/>
              <a:chOff x="3911" y="2400"/>
              <a:chExt cx="589" cy="240"/>
            </a:xfrm>
          </p:grpSpPr>
          <p:sp>
            <p:nvSpPr>
              <p:cNvPr id="53" name="AutoShape 25"/>
              <p:cNvSpPr>
                <a:spLocks noChangeArrowheads="1"/>
              </p:cNvSpPr>
              <p:nvPr/>
            </p:nvSpPr>
            <p:spPr bwMode="auto">
              <a:xfrm>
                <a:off x="3911" y="2400"/>
                <a:ext cx="590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4" name="Group 26"/>
              <p:cNvGrpSpPr>
                <a:grpSpLocks/>
              </p:cNvGrpSpPr>
              <p:nvPr/>
            </p:nvGrpSpPr>
            <p:grpSpPr bwMode="auto">
              <a:xfrm>
                <a:off x="3925" y="2414"/>
                <a:ext cx="562" cy="213"/>
                <a:chOff x="3925" y="2414"/>
                <a:chExt cx="562" cy="213"/>
              </a:xfrm>
            </p:grpSpPr>
            <p:sp>
              <p:nvSpPr>
                <p:cNvPr id="55" name="AutoShape 27"/>
                <p:cNvSpPr>
                  <a:spLocks noChangeArrowheads="1"/>
                </p:cNvSpPr>
                <p:nvPr/>
              </p:nvSpPr>
              <p:spPr bwMode="auto">
                <a:xfrm>
                  <a:off x="3925" y="2414"/>
                  <a:ext cx="56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AutoShape 28"/>
                <p:cNvSpPr>
                  <a:spLocks noChangeArrowheads="1"/>
                </p:cNvSpPr>
                <p:nvPr/>
              </p:nvSpPr>
              <p:spPr bwMode="auto">
                <a:xfrm>
                  <a:off x="3925" y="2414"/>
                  <a:ext cx="56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Laptops</a:t>
                  </a:r>
                </a:p>
              </p:txBody>
            </p:sp>
          </p:grpSp>
        </p:grpSp>
        <p:grpSp>
          <p:nvGrpSpPr>
            <p:cNvPr id="13" name="Group 29"/>
            <p:cNvGrpSpPr>
              <a:grpSpLocks/>
            </p:cNvGrpSpPr>
            <p:nvPr/>
          </p:nvGrpSpPr>
          <p:grpSpPr bwMode="auto">
            <a:xfrm>
              <a:off x="4636" y="2400"/>
              <a:ext cx="662" cy="240"/>
              <a:chOff x="4636" y="2400"/>
              <a:chExt cx="662" cy="240"/>
            </a:xfrm>
          </p:grpSpPr>
          <p:sp>
            <p:nvSpPr>
              <p:cNvPr id="49" name="AutoShape 30"/>
              <p:cNvSpPr>
                <a:spLocks noChangeArrowheads="1"/>
              </p:cNvSpPr>
              <p:nvPr/>
            </p:nvSpPr>
            <p:spPr bwMode="auto">
              <a:xfrm>
                <a:off x="4636" y="2400"/>
                <a:ext cx="663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0" name="Group 31"/>
              <p:cNvGrpSpPr>
                <a:grpSpLocks/>
              </p:cNvGrpSpPr>
              <p:nvPr/>
            </p:nvGrpSpPr>
            <p:grpSpPr bwMode="auto">
              <a:xfrm>
                <a:off x="4649" y="2414"/>
                <a:ext cx="635" cy="213"/>
                <a:chOff x="4649" y="2414"/>
                <a:chExt cx="635" cy="213"/>
              </a:xfrm>
            </p:grpSpPr>
            <p:sp>
              <p:nvSpPr>
                <p:cNvPr id="51" name="AutoShape 32"/>
                <p:cNvSpPr>
                  <a:spLocks noChangeArrowheads="1"/>
                </p:cNvSpPr>
                <p:nvPr/>
              </p:nvSpPr>
              <p:spPr bwMode="auto">
                <a:xfrm>
                  <a:off x="4649" y="2414"/>
                  <a:ext cx="636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AutoShape 33"/>
                <p:cNvSpPr>
                  <a:spLocks noChangeArrowheads="1"/>
                </p:cNvSpPr>
                <p:nvPr/>
              </p:nvSpPr>
              <p:spPr bwMode="auto">
                <a:xfrm>
                  <a:off x="4649" y="2414"/>
                  <a:ext cx="636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Desktops</a:t>
                  </a:r>
                </a:p>
              </p:txBody>
            </p:sp>
          </p:grpSp>
        </p:grpSp>
        <p:grpSp>
          <p:nvGrpSpPr>
            <p:cNvPr id="14" name="Group 34"/>
            <p:cNvGrpSpPr>
              <a:grpSpLocks/>
            </p:cNvGrpSpPr>
            <p:nvPr/>
          </p:nvGrpSpPr>
          <p:grpSpPr bwMode="auto">
            <a:xfrm>
              <a:off x="2475" y="2399"/>
              <a:ext cx="296" cy="241"/>
              <a:chOff x="2475" y="2399"/>
              <a:chExt cx="296" cy="241"/>
            </a:xfrm>
          </p:grpSpPr>
          <p:sp>
            <p:nvSpPr>
              <p:cNvPr id="45" name="AutoShape 35"/>
              <p:cNvSpPr>
                <a:spLocks noChangeArrowheads="1"/>
              </p:cNvSpPr>
              <p:nvPr/>
            </p:nvSpPr>
            <p:spPr bwMode="auto">
              <a:xfrm>
                <a:off x="2475" y="2399"/>
                <a:ext cx="296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6" name="Group 36"/>
              <p:cNvGrpSpPr>
                <a:grpSpLocks/>
              </p:cNvGrpSpPr>
              <p:nvPr/>
            </p:nvGrpSpPr>
            <p:grpSpPr bwMode="auto">
              <a:xfrm>
                <a:off x="2488" y="2413"/>
                <a:ext cx="270" cy="214"/>
                <a:chOff x="2488" y="2413"/>
                <a:chExt cx="270" cy="214"/>
              </a:xfrm>
            </p:grpSpPr>
            <p:sp>
              <p:nvSpPr>
                <p:cNvPr id="47" name="AutoShape 37"/>
                <p:cNvSpPr>
                  <a:spLocks noChangeArrowheads="1"/>
                </p:cNvSpPr>
                <p:nvPr/>
              </p:nvSpPr>
              <p:spPr bwMode="auto">
                <a:xfrm>
                  <a:off x="2488" y="2413"/>
                  <a:ext cx="270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AutoShape 38"/>
                <p:cNvSpPr>
                  <a:spLocks noChangeArrowheads="1"/>
                </p:cNvSpPr>
                <p:nvPr/>
              </p:nvSpPr>
              <p:spPr bwMode="auto">
                <a:xfrm>
                  <a:off x="2488" y="2413"/>
                  <a:ext cx="270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US</a:t>
                  </a:r>
                </a:p>
              </p:txBody>
            </p:sp>
          </p:grpSp>
        </p:grpSp>
        <p:grpSp>
          <p:nvGrpSpPr>
            <p:cNvPr id="15" name="Group 39"/>
            <p:cNvGrpSpPr>
              <a:grpSpLocks/>
            </p:cNvGrpSpPr>
            <p:nvPr/>
          </p:nvGrpSpPr>
          <p:grpSpPr bwMode="auto">
            <a:xfrm>
              <a:off x="2907" y="2400"/>
              <a:ext cx="868" cy="240"/>
              <a:chOff x="2907" y="2400"/>
              <a:chExt cx="868" cy="240"/>
            </a:xfrm>
          </p:grpSpPr>
          <p:sp>
            <p:nvSpPr>
              <p:cNvPr id="41" name="AutoShape 40"/>
              <p:cNvSpPr>
                <a:spLocks noChangeArrowheads="1"/>
              </p:cNvSpPr>
              <p:nvPr/>
            </p:nvSpPr>
            <p:spPr bwMode="auto">
              <a:xfrm>
                <a:off x="2907" y="2400"/>
                <a:ext cx="869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2" name="Group 41"/>
              <p:cNvGrpSpPr>
                <a:grpSpLocks/>
              </p:cNvGrpSpPr>
              <p:nvPr/>
            </p:nvGrpSpPr>
            <p:grpSpPr bwMode="auto">
              <a:xfrm>
                <a:off x="2920" y="2414"/>
                <a:ext cx="842" cy="213"/>
                <a:chOff x="2920" y="2414"/>
                <a:chExt cx="842" cy="213"/>
              </a:xfrm>
            </p:grpSpPr>
            <p:sp>
              <p:nvSpPr>
                <p:cNvPr id="43" name="AutoShape 42"/>
                <p:cNvSpPr>
                  <a:spLocks noChangeArrowheads="1"/>
                </p:cNvSpPr>
                <p:nvPr/>
              </p:nvSpPr>
              <p:spPr bwMode="auto">
                <a:xfrm>
                  <a:off x="2920" y="2414"/>
                  <a:ext cx="84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AutoShape 43"/>
                <p:cNvSpPr>
                  <a:spLocks noChangeArrowheads="1"/>
                </p:cNvSpPr>
                <p:nvPr/>
              </p:nvSpPr>
              <p:spPr bwMode="auto">
                <a:xfrm>
                  <a:off x="2920" y="2414"/>
                  <a:ext cx="843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International</a:t>
                  </a:r>
                </a:p>
              </p:txBody>
            </p:sp>
          </p:grpSp>
        </p:grpSp>
        <p:cxnSp>
          <p:nvCxnSpPr>
            <p:cNvPr id="16" name="AutoShape 44"/>
            <p:cNvCxnSpPr>
              <a:cxnSpLocks noChangeShapeType="1"/>
              <a:stCxn id="69" idx="2"/>
              <a:endCxn id="65" idx="0"/>
            </p:cNvCxnSpPr>
            <p:nvPr/>
          </p:nvCxnSpPr>
          <p:spPr bwMode="auto">
            <a:xfrm flipH="1">
              <a:off x="2946" y="1489"/>
              <a:ext cx="1051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45"/>
            <p:cNvCxnSpPr>
              <a:cxnSpLocks noChangeShapeType="1"/>
              <a:stCxn id="69" idx="2"/>
              <a:endCxn id="57" idx="0"/>
            </p:cNvCxnSpPr>
            <p:nvPr/>
          </p:nvCxnSpPr>
          <p:spPr bwMode="auto">
            <a:xfrm>
              <a:off x="3997" y="1489"/>
              <a:ext cx="581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46"/>
            <p:cNvCxnSpPr>
              <a:cxnSpLocks noChangeShapeType="1"/>
              <a:stCxn id="69" idx="2"/>
              <a:endCxn id="61" idx="0"/>
            </p:cNvCxnSpPr>
            <p:nvPr/>
          </p:nvCxnSpPr>
          <p:spPr bwMode="auto">
            <a:xfrm>
              <a:off x="3997" y="1489"/>
              <a:ext cx="1409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47"/>
            <p:cNvCxnSpPr>
              <a:cxnSpLocks noChangeShapeType="1"/>
              <a:stCxn id="57" idx="2"/>
              <a:endCxn id="49" idx="0"/>
            </p:cNvCxnSpPr>
            <p:nvPr/>
          </p:nvCxnSpPr>
          <p:spPr bwMode="auto">
            <a:xfrm>
              <a:off x="4579" y="2065"/>
              <a:ext cx="389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48"/>
            <p:cNvCxnSpPr>
              <a:cxnSpLocks noChangeShapeType="1"/>
              <a:stCxn id="57" idx="2"/>
              <a:endCxn id="53" idx="0"/>
            </p:cNvCxnSpPr>
            <p:nvPr/>
          </p:nvCxnSpPr>
          <p:spPr bwMode="auto">
            <a:xfrm flipH="1">
              <a:off x="4206" y="2065"/>
              <a:ext cx="372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49"/>
            <p:cNvCxnSpPr>
              <a:cxnSpLocks noChangeShapeType="1"/>
              <a:stCxn id="65" idx="2"/>
              <a:endCxn id="41" idx="0"/>
            </p:cNvCxnSpPr>
            <p:nvPr/>
          </p:nvCxnSpPr>
          <p:spPr bwMode="auto">
            <a:xfrm>
              <a:off x="2946" y="2065"/>
              <a:ext cx="396" cy="33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50"/>
            <p:cNvCxnSpPr>
              <a:cxnSpLocks noChangeShapeType="1"/>
              <a:stCxn id="65" idx="2"/>
              <a:endCxn id="45" idx="0"/>
            </p:cNvCxnSpPr>
            <p:nvPr/>
          </p:nvCxnSpPr>
          <p:spPr bwMode="auto">
            <a:xfrm flipH="1">
              <a:off x="2623" y="2065"/>
              <a:ext cx="323" cy="334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3" name="Group 51"/>
            <p:cNvGrpSpPr>
              <a:grpSpLocks/>
            </p:cNvGrpSpPr>
            <p:nvPr/>
          </p:nvGrpSpPr>
          <p:grpSpPr bwMode="auto">
            <a:xfrm>
              <a:off x="2304" y="2979"/>
              <a:ext cx="545" cy="240"/>
              <a:chOff x="2304" y="2979"/>
              <a:chExt cx="545" cy="240"/>
            </a:xfrm>
          </p:grpSpPr>
          <p:sp>
            <p:nvSpPr>
              <p:cNvPr id="37" name="AutoShape 52"/>
              <p:cNvSpPr>
                <a:spLocks noChangeArrowheads="1"/>
              </p:cNvSpPr>
              <p:nvPr/>
            </p:nvSpPr>
            <p:spPr bwMode="auto">
              <a:xfrm>
                <a:off x="2304" y="2979"/>
                <a:ext cx="546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8" name="Group 53"/>
              <p:cNvGrpSpPr>
                <a:grpSpLocks/>
              </p:cNvGrpSpPr>
              <p:nvPr/>
            </p:nvGrpSpPr>
            <p:grpSpPr bwMode="auto">
              <a:xfrm>
                <a:off x="2317" y="2992"/>
                <a:ext cx="518" cy="213"/>
                <a:chOff x="2317" y="2992"/>
                <a:chExt cx="518" cy="213"/>
              </a:xfrm>
            </p:grpSpPr>
            <p:sp>
              <p:nvSpPr>
                <p:cNvPr id="39" name="AutoShape 54"/>
                <p:cNvSpPr>
                  <a:spLocks noChangeArrowheads="1"/>
                </p:cNvSpPr>
                <p:nvPr/>
              </p:nvSpPr>
              <p:spPr bwMode="auto">
                <a:xfrm>
                  <a:off x="2317" y="2992"/>
                  <a:ext cx="51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AutoShape 55"/>
                <p:cNvSpPr>
                  <a:spLocks noChangeArrowheads="1"/>
                </p:cNvSpPr>
                <p:nvPr/>
              </p:nvSpPr>
              <p:spPr bwMode="auto">
                <a:xfrm>
                  <a:off x="2317" y="2992"/>
                  <a:ext cx="519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Europe</a:t>
                  </a:r>
                </a:p>
              </p:txBody>
            </p:sp>
          </p:grpSp>
        </p:grpSp>
        <p:grpSp>
          <p:nvGrpSpPr>
            <p:cNvPr id="24" name="Group 56"/>
            <p:cNvGrpSpPr>
              <a:grpSpLocks/>
            </p:cNvGrpSpPr>
            <p:nvPr/>
          </p:nvGrpSpPr>
          <p:grpSpPr bwMode="auto">
            <a:xfrm>
              <a:off x="3147" y="2979"/>
              <a:ext cx="372" cy="240"/>
              <a:chOff x="3147" y="2979"/>
              <a:chExt cx="372" cy="240"/>
            </a:xfrm>
          </p:grpSpPr>
          <p:sp>
            <p:nvSpPr>
              <p:cNvPr id="33" name="AutoShape 57"/>
              <p:cNvSpPr>
                <a:spLocks noChangeArrowheads="1"/>
              </p:cNvSpPr>
              <p:nvPr/>
            </p:nvSpPr>
            <p:spPr bwMode="auto">
              <a:xfrm>
                <a:off x="3147" y="2979"/>
                <a:ext cx="373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4" name="Group 58"/>
              <p:cNvGrpSpPr>
                <a:grpSpLocks/>
              </p:cNvGrpSpPr>
              <p:nvPr/>
            </p:nvGrpSpPr>
            <p:grpSpPr bwMode="auto">
              <a:xfrm>
                <a:off x="3161" y="2992"/>
                <a:ext cx="345" cy="213"/>
                <a:chOff x="3161" y="2992"/>
                <a:chExt cx="345" cy="213"/>
              </a:xfrm>
            </p:grpSpPr>
            <p:sp>
              <p:nvSpPr>
                <p:cNvPr id="35" name="AutoShape 59"/>
                <p:cNvSpPr>
                  <a:spLocks noChangeArrowheads="1"/>
                </p:cNvSpPr>
                <p:nvPr/>
              </p:nvSpPr>
              <p:spPr bwMode="auto">
                <a:xfrm>
                  <a:off x="3161" y="2992"/>
                  <a:ext cx="346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AutoShape 60"/>
                <p:cNvSpPr>
                  <a:spLocks noChangeArrowheads="1"/>
                </p:cNvSpPr>
                <p:nvPr/>
              </p:nvSpPr>
              <p:spPr bwMode="auto">
                <a:xfrm>
                  <a:off x="3161" y="2992"/>
                  <a:ext cx="346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Asia</a:t>
                  </a:r>
                </a:p>
              </p:txBody>
            </p:sp>
          </p:grpSp>
        </p:grpSp>
        <p:cxnSp>
          <p:nvCxnSpPr>
            <p:cNvPr id="25" name="AutoShape 61"/>
            <p:cNvCxnSpPr>
              <a:cxnSpLocks noChangeShapeType="1"/>
              <a:stCxn id="41" idx="2"/>
              <a:endCxn id="33" idx="0"/>
            </p:cNvCxnSpPr>
            <p:nvPr/>
          </p:nvCxnSpPr>
          <p:spPr bwMode="auto">
            <a:xfrm flipH="1">
              <a:off x="3333" y="2641"/>
              <a:ext cx="8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62"/>
            <p:cNvCxnSpPr>
              <a:cxnSpLocks noChangeShapeType="1"/>
              <a:stCxn id="41" idx="2"/>
              <a:endCxn id="37" idx="0"/>
            </p:cNvCxnSpPr>
            <p:nvPr/>
          </p:nvCxnSpPr>
          <p:spPr bwMode="auto">
            <a:xfrm flipH="1">
              <a:off x="2577" y="2641"/>
              <a:ext cx="764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7" name="Group 63"/>
            <p:cNvGrpSpPr>
              <a:grpSpLocks/>
            </p:cNvGrpSpPr>
            <p:nvPr/>
          </p:nvGrpSpPr>
          <p:grpSpPr bwMode="auto">
            <a:xfrm>
              <a:off x="3822" y="2979"/>
              <a:ext cx="568" cy="240"/>
              <a:chOff x="3822" y="2979"/>
              <a:chExt cx="568" cy="240"/>
            </a:xfrm>
          </p:grpSpPr>
          <p:sp>
            <p:nvSpPr>
              <p:cNvPr id="29" name="AutoShape 64"/>
              <p:cNvSpPr>
                <a:spLocks noChangeArrowheads="1"/>
              </p:cNvSpPr>
              <p:nvPr/>
            </p:nvSpPr>
            <p:spPr bwMode="auto">
              <a:xfrm>
                <a:off x="3822" y="2979"/>
                <a:ext cx="569" cy="241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chemeClr val="accent2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0" name="Group 65"/>
              <p:cNvGrpSpPr>
                <a:grpSpLocks/>
              </p:cNvGrpSpPr>
              <p:nvPr/>
            </p:nvGrpSpPr>
            <p:grpSpPr bwMode="auto">
              <a:xfrm>
                <a:off x="3835" y="2992"/>
                <a:ext cx="541" cy="213"/>
                <a:chOff x="3835" y="2992"/>
                <a:chExt cx="541" cy="213"/>
              </a:xfrm>
            </p:grpSpPr>
            <p:sp>
              <p:nvSpPr>
                <p:cNvPr id="31" name="AutoShape 66"/>
                <p:cNvSpPr>
                  <a:spLocks noChangeArrowheads="1"/>
                </p:cNvSpPr>
                <p:nvPr/>
              </p:nvSpPr>
              <p:spPr bwMode="auto">
                <a:xfrm>
                  <a:off x="3835" y="2992"/>
                  <a:ext cx="542" cy="214"/>
                </a:xfrm>
                <a:prstGeom prst="roundRect">
                  <a:avLst>
                    <a:gd name="adj" fmla="val 46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AutoShape 67"/>
                <p:cNvSpPr>
                  <a:spLocks noChangeArrowheads="1"/>
                </p:cNvSpPr>
                <p:nvPr/>
              </p:nvSpPr>
              <p:spPr bwMode="auto">
                <a:xfrm>
                  <a:off x="3835" y="2992"/>
                  <a:ext cx="542" cy="214"/>
                </a:xfrm>
                <a:prstGeom prst="roundRect">
                  <a:avLst>
                    <a:gd name="adj" fmla="val 463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Canada</a:t>
                  </a:r>
                </a:p>
              </p:txBody>
            </p:sp>
          </p:grpSp>
        </p:grpSp>
        <p:cxnSp>
          <p:nvCxnSpPr>
            <p:cNvPr id="28" name="AutoShape 68"/>
            <p:cNvCxnSpPr>
              <a:cxnSpLocks noChangeShapeType="1"/>
              <a:stCxn id="41" idx="2"/>
              <a:endCxn id="29" idx="0"/>
            </p:cNvCxnSpPr>
            <p:nvPr/>
          </p:nvCxnSpPr>
          <p:spPr bwMode="auto">
            <a:xfrm>
              <a:off x="3341" y="2641"/>
              <a:ext cx="765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766987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145"/>
          <p:cNvSpPr>
            <a:spLocks noChangeArrowheads="1"/>
          </p:cNvSpPr>
          <p:nvPr/>
        </p:nvSpPr>
        <p:spPr bwMode="auto">
          <a:xfrm>
            <a:off x="6934200" y="2743200"/>
            <a:ext cx="1981200" cy="1828800"/>
          </a:xfrm>
          <a:prstGeom prst="triangle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40458C"/>
            </a:solidFill>
            <a:miter lim="800000"/>
            <a:headEnd/>
            <a:tailEnd/>
          </a:ln>
          <a:effectLst/>
        </p:spPr>
        <p:txBody>
          <a:bodyPr wrap="none" tIns="2651760" bIns="0" anchor="b" anchorCtr="1"/>
          <a:lstStyle/>
          <a:p>
            <a:pPr algn="ctr" eaLnBrk="1" hangingPunct="1"/>
            <a:endParaRPr lang="en-US" dirty="0">
              <a:solidFill>
                <a:srgbClr val="40458C"/>
              </a:solidFill>
              <a:latin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>
          <a:xfrm>
            <a:off x="335782" y="1654628"/>
            <a:ext cx="4552950" cy="4974772"/>
          </a:xfrm>
          <a:prstGeom prst="rect">
            <a:avLst/>
          </a:prstGeom>
          <a:ln/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3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b="1" dirty="0" err="1" smtClean="0"/>
              <a:t>Đ</a:t>
            </a:r>
            <a:r>
              <a:rPr lang="en-GB" sz="1400" b="1" dirty="0" err="1" smtClean="0"/>
              <a:t>ỉnh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gốc</a:t>
            </a:r>
            <a:r>
              <a:rPr lang="en-GB" sz="1400" b="1" dirty="0" smtClean="0"/>
              <a:t> (Root):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không</a:t>
            </a:r>
            <a:r>
              <a:rPr lang="en-GB" sz="1400" dirty="0" smtClean="0"/>
              <a:t> </a:t>
            </a:r>
            <a:r>
              <a:rPr lang="en-GB" sz="1400" dirty="0" err="1" smtClean="0"/>
              <a:t>có</a:t>
            </a:r>
            <a:r>
              <a:rPr lang="en-GB" sz="1400" dirty="0" smtClean="0"/>
              <a:t> cha (A)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b="1" dirty="0" err="1" smtClean="0"/>
              <a:t>Đ</a:t>
            </a:r>
            <a:r>
              <a:rPr lang="en-GB" sz="1400" b="1" dirty="0" err="1" smtClean="0"/>
              <a:t>ỉnh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trong</a:t>
            </a:r>
            <a:r>
              <a:rPr lang="en-GB" sz="1400" b="1" dirty="0" smtClean="0"/>
              <a:t> (Internal node):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có</a:t>
            </a:r>
            <a:r>
              <a:rPr lang="en-GB" sz="1400" dirty="0" smtClean="0"/>
              <a:t> </a:t>
            </a:r>
            <a:r>
              <a:rPr lang="en-GB" sz="1400" dirty="0" err="1" smtClean="0"/>
              <a:t>ít</a:t>
            </a:r>
            <a:r>
              <a:rPr lang="en-GB" sz="1400" dirty="0" smtClean="0"/>
              <a:t> </a:t>
            </a:r>
            <a:r>
              <a:rPr lang="en-GB" sz="1400" dirty="0" err="1" smtClean="0"/>
              <a:t>nhất</a:t>
            </a:r>
            <a:r>
              <a:rPr lang="en-GB" sz="1400" dirty="0" smtClean="0"/>
              <a:t> </a:t>
            </a:r>
            <a:r>
              <a:rPr lang="en-GB" sz="1400" dirty="0" err="1" smtClean="0"/>
              <a:t>một</a:t>
            </a:r>
            <a:r>
              <a:rPr lang="en-GB" sz="1400" dirty="0" smtClean="0"/>
              <a:t> con (A, B, C, F)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b="1" dirty="0" err="1" smtClean="0"/>
              <a:t>Đ</a:t>
            </a:r>
            <a:r>
              <a:rPr lang="en-GB" sz="1400" b="1" dirty="0" err="1" smtClean="0"/>
              <a:t>ỉnh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lá</a:t>
            </a:r>
            <a:r>
              <a:rPr lang="en-GB" sz="1400" b="1" dirty="0" smtClean="0"/>
              <a:t> (External node) :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không</a:t>
            </a:r>
            <a:r>
              <a:rPr lang="en-GB" sz="1400" dirty="0" smtClean="0"/>
              <a:t> </a:t>
            </a:r>
            <a:r>
              <a:rPr lang="en-GB" sz="1400" dirty="0" err="1" smtClean="0"/>
              <a:t>có</a:t>
            </a:r>
            <a:r>
              <a:rPr lang="en-GB" sz="1400" dirty="0" smtClean="0"/>
              <a:t>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con (E, I, J, K, G, H, D)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b="1" dirty="0" err="1" smtClean="0"/>
              <a:t>Đ</a:t>
            </a:r>
            <a:r>
              <a:rPr lang="en-GB" sz="1400" b="1" dirty="0" err="1" smtClean="0"/>
              <a:t>ỉnh</a:t>
            </a:r>
            <a:r>
              <a:rPr lang="en-GB" sz="1400" b="1" dirty="0" smtClean="0"/>
              <a:t> cha (Parent node):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ở</a:t>
            </a:r>
            <a:r>
              <a:rPr lang="en-GB" sz="1400" dirty="0" smtClean="0"/>
              <a:t> </a:t>
            </a:r>
            <a:r>
              <a:rPr lang="en-GB" sz="1400" dirty="0" err="1" smtClean="0"/>
              <a:t>ngay</a:t>
            </a:r>
            <a:r>
              <a:rPr lang="en-GB" sz="1400" dirty="0" smtClean="0"/>
              <a:t> </a:t>
            </a:r>
            <a:r>
              <a:rPr lang="en-GB" sz="1400" dirty="0" err="1" smtClean="0"/>
              <a:t>trên</a:t>
            </a:r>
            <a:r>
              <a:rPr lang="en-GB" sz="1400" dirty="0" smtClean="0"/>
              <a:t> </a:t>
            </a:r>
            <a:r>
              <a:rPr lang="en-GB" sz="1400" dirty="0" err="1" smtClean="0"/>
              <a:t>một</a:t>
            </a:r>
            <a:r>
              <a:rPr lang="en-GB" sz="1400" dirty="0" smtClean="0"/>
              <a:t> </a:t>
            </a:r>
            <a:r>
              <a:rPr lang="en-GB" sz="1400" dirty="0" err="1" smtClean="0"/>
              <a:t>đỉnh</a:t>
            </a:r>
            <a:r>
              <a:rPr lang="en-GB" sz="1400" dirty="0"/>
              <a:t> </a:t>
            </a:r>
            <a:r>
              <a:rPr lang="en-GB" sz="1400" dirty="0" smtClean="0"/>
              <a:t>(cha </a:t>
            </a:r>
            <a:r>
              <a:rPr lang="en-GB" sz="1400" dirty="0" err="1" smtClean="0"/>
              <a:t>của</a:t>
            </a:r>
            <a:r>
              <a:rPr lang="en-GB" sz="1400" dirty="0" smtClean="0"/>
              <a:t> C </a:t>
            </a:r>
            <a:r>
              <a:rPr lang="en-GB" sz="1400" dirty="0" err="1" smtClean="0"/>
              <a:t>là</a:t>
            </a:r>
            <a:r>
              <a:rPr lang="en-GB" sz="1400" dirty="0" smtClean="0"/>
              <a:t> A</a:t>
            </a:r>
            <a:r>
              <a:rPr lang="en-GB" sz="1400" dirty="0"/>
              <a:t>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b="1" dirty="0" err="1" smtClean="0"/>
              <a:t>Đỉnh</a:t>
            </a:r>
            <a:r>
              <a:rPr lang="en-GB" sz="1400" b="1" dirty="0" smtClean="0"/>
              <a:t> con (Child node):</a:t>
            </a:r>
            <a:r>
              <a:rPr lang="en-GB" sz="1400" dirty="0" smtClean="0"/>
              <a:t>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ở</a:t>
            </a:r>
            <a:r>
              <a:rPr lang="en-GB" sz="1400" dirty="0" smtClean="0"/>
              <a:t> </a:t>
            </a:r>
            <a:r>
              <a:rPr lang="en-GB" sz="1400" dirty="0" err="1" smtClean="0"/>
              <a:t>ngay</a:t>
            </a:r>
            <a:r>
              <a:rPr lang="en-GB" sz="1400" dirty="0" smtClean="0"/>
              <a:t> </a:t>
            </a:r>
            <a:r>
              <a:rPr lang="en-GB" sz="1400" dirty="0" err="1" smtClean="0"/>
              <a:t>dưới</a:t>
            </a:r>
            <a:r>
              <a:rPr lang="en-GB" sz="1400" dirty="0" smtClean="0"/>
              <a:t> </a:t>
            </a:r>
            <a:r>
              <a:rPr lang="en-GB" sz="1400" dirty="0" err="1" smtClean="0"/>
              <a:t>một</a:t>
            </a:r>
            <a:r>
              <a:rPr lang="en-GB" sz="1400" dirty="0" smtClean="0"/>
              <a:t>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đã</a:t>
            </a:r>
            <a:r>
              <a:rPr lang="en-GB" sz="1400" dirty="0" smtClean="0"/>
              <a:t> </a:t>
            </a:r>
            <a:r>
              <a:rPr lang="en-GB" sz="1400" dirty="0" err="1" smtClean="0"/>
              <a:t>cho</a:t>
            </a:r>
            <a:r>
              <a:rPr lang="en-GB" sz="1400" dirty="0" smtClean="0"/>
              <a:t> (</a:t>
            </a:r>
            <a:r>
              <a:rPr lang="en-GB" sz="1400" dirty="0" err="1" smtClean="0"/>
              <a:t>các</a:t>
            </a:r>
            <a:r>
              <a:rPr lang="en-GB" sz="1400" dirty="0" smtClean="0"/>
              <a:t> con </a:t>
            </a:r>
            <a:r>
              <a:rPr lang="en-GB" sz="1400" dirty="0" err="1" smtClean="0"/>
              <a:t>của</a:t>
            </a:r>
            <a:r>
              <a:rPr lang="en-GB" sz="1400" dirty="0" smtClean="0"/>
              <a:t> C </a:t>
            </a:r>
            <a:r>
              <a:rPr lang="en-GB" sz="1400" dirty="0" err="1" smtClean="0"/>
              <a:t>là</a:t>
            </a:r>
            <a:r>
              <a:rPr lang="en-GB" sz="1400" dirty="0" smtClean="0"/>
              <a:t> </a:t>
            </a:r>
            <a:r>
              <a:rPr lang="en-GB" sz="1400" dirty="0"/>
              <a:t>G </a:t>
            </a:r>
            <a:r>
              <a:rPr lang="en-GB" sz="1400" dirty="0" err="1" smtClean="0"/>
              <a:t>và</a:t>
            </a:r>
            <a:r>
              <a:rPr lang="en-GB" sz="1400" dirty="0" smtClean="0"/>
              <a:t> </a:t>
            </a:r>
            <a:r>
              <a:rPr lang="en-GB" sz="1400" dirty="0"/>
              <a:t>H</a:t>
            </a:r>
            <a:r>
              <a:rPr lang="en-GB" sz="1400" dirty="0" smtClean="0"/>
              <a:t>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b="1" dirty="0" err="1" smtClean="0"/>
              <a:t>Tổ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tiên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của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một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đỉnh</a:t>
            </a:r>
            <a:r>
              <a:rPr lang="en-GB" sz="1400" b="1" dirty="0" smtClean="0"/>
              <a:t>: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cha, </a:t>
            </a:r>
            <a:r>
              <a:rPr lang="en-GB" sz="1400" dirty="0" err="1" smtClean="0"/>
              <a:t>ông</a:t>
            </a:r>
            <a:r>
              <a:rPr lang="en-GB" sz="1400" dirty="0" smtClean="0"/>
              <a:t>, </a:t>
            </a:r>
            <a:r>
              <a:rPr lang="en-US" sz="1400" dirty="0" smtClean="0"/>
              <a:t>…</a:t>
            </a:r>
            <a:r>
              <a:rPr lang="en-GB" sz="1400" dirty="0" smtClean="0"/>
              <a:t> (</a:t>
            </a:r>
            <a:r>
              <a:rPr lang="en-GB" sz="1400" dirty="0" err="1" smtClean="0"/>
              <a:t>tổ</a:t>
            </a:r>
            <a:r>
              <a:rPr lang="en-GB" sz="1400" dirty="0" smtClean="0"/>
              <a:t> </a:t>
            </a:r>
            <a:r>
              <a:rPr lang="en-GB" sz="1400" dirty="0" err="1" smtClean="0"/>
              <a:t>tiên</a:t>
            </a:r>
            <a:r>
              <a:rPr lang="en-GB" sz="1400" dirty="0" smtClean="0"/>
              <a:t> </a:t>
            </a:r>
            <a:r>
              <a:rPr lang="en-GB" sz="1400" dirty="0" err="1" smtClean="0"/>
              <a:t>của</a:t>
            </a:r>
            <a:r>
              <a:rPr lang="en-GB" sz="1400" dirty="0" smtClean="0"/>
              <a:t> G </a:t>
            </a:r>
            <a:r>
              <a:rPr lang="en-GB" sz="1400" dirty="0" err="1" smtClean="0"/>
              <a:t>là</a:t>
            </a:r>
            <a:r>
              <a:rPr lang="en-GB" sz="1400" dirty="0" smtClean="0"/>
              <a:t> C, A)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b="1" dirty="0" err="1" smtClean="0"/>
              <a:t>Độ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sâu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của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một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đỉnh</a:t>
            </a:r>
            <a:r>
              <a:rPr lang="en-GB" sz="1400" b="1" dirty="0" smtClean="0"/>
              <a:t> (Depth of a node): </a:t>
            </a:r>
            <a:r>
              <a:rPr lang="en-GB" sz="1400" dirty="0" err="1" smtClean="0"/>
              <a:t>số</a:t>
            </a:r>
            <a:r>
              <a:rPr lang="en-GB" sz="1400" dirty="0" smtClean="0"/>
              <a:t> </a:t>
            </a:r>
            <a:r>
              <a:rPr lang="en-GB" sz="1400" dirty="0" err="1" smtClean="0"/>
              <a:t>lượng</a:t>
            </a:r>
            <a:r>
              <a:rPr lang="en-GB" sz="1400" dirty="0" smtClean="0"/>
              <a:t> </a:t>
            </a:r>
            <a:r>
              <a:rPr lang="en-GB" sz="1400" dirty="0" err="1" smtClean="0"/>
              <a:t>các</a:t>
            </a:r>
            <a:r>
              <a:rPr lang="en-GB" sz="1400" dirty="0" smtClean="0"/>
              <a:t> </a:t>
            </a:r>
            <a:r>
              <a:rPr lang="en-GB" sz="1400" dirty="0" err="1" smtClean="0"/>
              <a:t>tổ</a:t>
            </a:r>
            <a:r>
              <a:rPr lang="en-GB" sz="1400" dirty="0" smtClean="0"/>
              <a:t> </a:t>
            </a:r>
            <a:r>
              <a:rPr lang="en-GB" sz="1400" dirty="0" err="1" smtClean="0"/>
              <a:t>tiên</a:t>
            </a:r>
            <a:r>
              <a:rPr lang="en-GB" sz="1400" dirty="0" smtClean="0"/>
              <a:t> </a:t>
            </a:r>
            <a:r>
              <a:rPr lang="en-GB" sz="1400" dirty="0" err="1" smtClean="0"/>
              <a:t>của</a:t>
            </a:r>
            <a:r>
              <a:rPr lang="en-GB" sz="1400" dirty="0" smtClean="0"/>
              <a:t>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đó</a:t>
            </a:r>
            <a:r>
              <a:rPr lang="en-GB" sz="1400" dirty="0" smtClean="0"/>
              <a:t> (I </a:t>
            </a:r>
            <a:r>
              <a:rPr lang="en-GB" sz="1400" dirty="0" err="1" smtClean="0"/>
              <a:t>có</a:t>
            </a:r>
            <a:r>
              <a:rPr lang="en-GB" sz="1400" dirty="0" smtClean="0"/>
              <a:t> </a:t>
            </a:r>
            <a:r>
              <a:rPr lang="en-GB" sz="1400" dirty="0" err="1" smtClean="0"/>
              <a:t>độ</a:t>
            </a:r>
            <a:r>
              <a:rPr lang="en-GB" sz="1400" dirty="0" smtClean="0"/>
              <a:t> </a:t>
            </a:r>
            <a:r>
              <a:rPr lang="en-GB" sz="1400" dirty="0" err="1" smtClean="0"/>
              <a:t>sâu</a:t>
            </a:r>
            <a:r>
              <a:rPr lang="en-GB" sz="1400" dirty="0" smtClean="0"/>
              <a:t> </a:t>
            </a:r>
            <a:r>
              <a:rPr lang="en-GB" sz="1400" dirty="0" err="1" smtClean="0"/>
              <a:t>là</a:t>
            </a:r>
            <a:r>
              <a:rPr lang="en-GB" sz="1400" dirty="0" smtClean="0"/>
              <a:t>  3)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b="1" dirty="0" err="1" smtClean="0"/>
              <a:t>Độ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cao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của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một</a:t>
            </a:r>
            <a:r>
              <a:rPr lang="en-GB" sz="1400" b="1" dirty="0" smtClean="0"/>
              <a:t> </a:t>
            </a:r>
            <a:r>
              <a:rPr lang="en-GB" sz="1400" b="1" dirty="0" err="1" smtClean="0"/>
              <a:t>cây</a:t>
            </a:r>
            <a:r>
              <a:rPr lang="en-GB" sz="1400" b="1" dirty="0" smtClean="0"/>
              <a:t> (Height of a tree): </a:t>
            </a:r>
            <a:r>
              <a:rPr lang="en-GB" sz="1400" dirty="0" err="1" smtClean="0"/>
              <a:t>độ</a:t>
            </a:r>
            <a:r>
              <a:rPr lang="en-GB" sz="1400" dirty="0" smtClean="0"/>
              <a:t> </a:t>
            </a:r>
            <a:r>
              <a:rPr lang="en-GB" sz="1400" dirty="0" err="1" smtClean="0"/>
              <a:t>sâu</a:t>
            </a:r>
            <a:r>
              <a:rPr lang="en-GB" sz="1400" dirty="0" smtClean="0"/>
              <a:t> </a:t>
            </a:r>
            <a:r>
              <a:rPr lang="en-GB" sz="1400" dirty="0" err="1" smtClean="0"/>
              <a:t>lớn</a:t>
            </a:r>
            <a:r>
              <a:rPr lang="en-GB" sz="1400" dirty="0" smtClean="0"/>
              <a:t> </a:t>
            </a:r>
            <a:r>
              <a:rPr lang="en-GB" sz="1400" dirty="0" err="1" smtClean="0"/>
              <a:t>nhất</a:t>
            </a:r>
            <a:r>
              <a:rPr lang="en-GB" sz="1400" dirty="0" smtClean="0"/>
              <a:t> </a:t>
            </a:r>
            <a:r>
              <a:rPr lang="en-GB" sz="1400" dirty="0" err="1" smtClean="0"/>
              <a:t>của</a:t>
            </a:r>
            <a:r>
              <a:rPr lang="en-GB" sz="1400" dirty="0" smtClean="0"/>
              <a:t> </a:t>
            </a:r>
            <a:r>
              <a:rPr lang="en-GB" sz="1400" dirty="0" err="1" smtClean="0"/>
              <a:t>các</a:t>
            </a:r>
            <a:r>
              <a:rPr lang="en-GB" sz="1400" dirty="0" smtClean="0"/>
              <a:t> 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(</a:t>
            </a:r>
            <a:r>
              <a:rPr lang="en-GB" sz="1400" dirty="0" err="1" smtClean="0"/>
              <a:t>đỉnh</a:t>
            </a:r>
            <a:r>
              <a:rPr lang="en-GB" sz="1400" dirty="0" smtClean="0"/>
              <a:t> </a:t>
            </a:r>
            <a:r>
              <a:rPr lang="en-GB" sz="1400" dirty="0" err="1" smtClean="0"/>
              <a:t>gốc</a:t>
            </a:r>
            <a:r>
              <a:rPr lang="en-GB" sz="1400" dirty="0" smtClean="0"/>
              <a:t> </a:t>
            </a:r>
            <a:r>
              <a:rPr lang="en-GB" sz="1400" dirty="0" err="1" smtClean="0"/>
              <a:t>có</a:t>
            </a:r>
            <a:r>
              <a:rPr lang="en-GB" sz="1400" dirty="0" smtClean="0"/>
              <a:t> </a:t>
            </a:r>
            <a:r>
              <a:rPr lang="en-GB" sz="1400" dirty="0" err="1" smtClean="0"/>
              <a:t>độ</a:t>
            </a:r>
            <a:r>
              <a:rPr lang="en-GB" sz="1400" dirty="0" smtClean="0"/>
              <a:t> </a:t>
            </a:r>
            <a:r>
              <a:rPr lang="en-GB" sz="1400" dirty="0" err="1" smtClean="0"/>
              <a:t>cao</a:t>
            </a:r>
            <a:r>
              <a:rPr lang="en-GB" sz="1400" dirty="0" smtClean="0"/>
              <a:t> </a:t>
            </a:r>
            <a:r>
              <a:rPr lang="en-GB" sz="1400" dirty="0" err="1" smtClean="0"/>
              <a:t>bằng</a:t>
            </a:r>
            <a:r>
              <a:rPr lang="en-GB" sz="1400" dirty="0" smtClean="0"/>
              <a:t> 0, </a:t>
            </a:r>
            <a:r>
              <a:rPr lang="en-GB" sz="1400" dirty="0" err="1" smtClean="0"/>
              <a:t>cây</a:t>
            </a:r>
            <a:r>
              <a:rPr lang="en-GB" sz="1400" dirty="0" smtClean="0"/>
              <a:t> </a:t>
            </a:r>
            <a:r>
              <a:rPr lang="en-GB" sz="1400" dirty="0" err="1" smtClean="0"/>
              <a:t>có</a:t>
            </a:r>
            <a:r>
              <a:rPr lang="en-GB" sz="1400" dirty="0" smtClean="0"/>
              <a:t> </a:t>
            </a:r>
            <a:r>
              <a:rPr lang="en-GB" sz="1400" dirty="0" err="1" smtClean="0"/>
              <a:t>độ</a:t>
            </a:r>
            <a:r>
              <a:rPr lang="en-GB" sz="1400" dirty="0" smtClean="0"/>
              <a:t> </a:t>
            </a:r>
            <a:r>
              <a:rPr lang="en-GB" sz="1400" dirty="0" err="1" smtClean="0"/>
              <a:t>cao</a:t>
            </a:r>
            <a:r>
              <a:rPr lang="en-GB" sz="1400" dirty="0" smtClean="0"/>
              <a:t> </a:t>
            </a:r>
            <a:r>
              <a:rPr lang="en-GB" sz="1400" dirty="0" err="1" smtClean="0"/>
              <a:t>bằng</a:t>
            </a:r>
            <a:r>
              <a:rPr lang="en-GB" sz="1400" dirty="0" smtClean="0"/>
              <a:t> 3)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400" b="1" dirty="0" smtClean="0">
                <a:latin typeface="+mj-lt"/>
              </a:rPr>
              <a:t>C</a:t>
            </a:r>
            <a:r>
              <a:rPr lang="en-GB" sz="1400" b="1" dirty="0" smtClean="0">
                <a:latin typeface="+mj-lt"/>
              </a:rPr>
              <a:t>on </a:t>
            </a:r>
            <a:r>
              <a:rPr lang="en-GB" sz="1400" b="1" dirty="0" err="1" smtClean="0">
                <a:latin typeface="+mj-lt"/>
              </a:rPr>
              <a:t>cháu</a:t>
            </a:r>
            <a:r>
              <a:rPr lang="en-GB" sz="1400" b="1" dirty="0" smtClean="0">
                <a:latin typeface="+mj-lt"/>
              </a:rPr>
              <a:t> </a:t>
            </a:r>
            <a:r>
              <a:rPr lang="en-GB" sz="1400" b="1" dirty="0" err="1" smtClean="0">
                <a:latin typeface="+mj-lt"/>
              </a:rPr>
              <a:t>của</a:t>
            </a:r>
            <a:r>
              <a:rPr lang="en-GB" sz="1400" b="1" dirty="0" smtClean="0">
                <a:latin typeface="+mj-lt"/>
              </a:rPr>
              <a:t> </a:t>
            </a:r>
            <a:r>
              <a:rPr lang="en-GB" sz="1400" b="1" dirty="0" err="1" smtClean="0">
                <a:latin typeface="+mj-lt"/>
              </a:rPr>
              <a:t>một</a:t>
            </a:r>
            <a:r>
              <a:rPr lang="en-GB" sz="1400" b="1" dirty="0" smtClean="0">
                <a:latin typeface="+mj-lt"/>
              </a:rPr>
              <a:t> </a:t>
            </a:r>
            <a:r>
              <a:rPr lang="en-GB" sz="1400" b="1" dirty="0" err="1" smtClean="0">
                <a:latin typeface="+mj-lt"/>
              </a:rPr>
              <a:t>đỉnh</a:t>
            </a:r>
            <a:r>
              <a:rPr lang="en-GB" sz="1400" b="1" dirty="0" smtClean="0">
                <a:latin typeface="+mj-lt"/>
              </a:rPr>
              <a:t> (Descendant of a node): </a:t>
            </a:r>
            <a:r>
              <a:rPr lang="en-GB" sz="1400" dirty="0">
                <a:latin typeface="+mj-lt"/>
              </a:rPr>
              <a:t>con, </a:t>
            </a:r>
            <a:r>
              <a:rPr lang="en-GB" sz="1400" dirty="0" err="1">
                <a:latin typeface="+mj-lt"/>
              </a:rPr>
              <a:t>cháu</a:t>
            </a:r>
            <a:r>
              <a:rPr lang="en-GB" sz="1400" dirty="0">
                <a:latin typeface="+mj-lt"/>
              </a:rPr>
              <a:t>, </a:t>
            </a:r>
            <a:r>
              <a:rPr lang="en-GB" sz="1400" dirty="0" err="1" smtClean="0">
                <a:latin typeface="+mj-lt"/>
              </a:rPr>
              <a:t>chắt</a:t>
            </a:r>
            <a:r>
              <a:rPr lang="en-GB" sz="1400" dirty="0" smtClean="0">
                <a:latin typeface="+mj-lt"/>
              </a:rPr>
              <a:t>, ...</a:t>
            </a:r>
          </a:p>
          <a:p>
            <a:pPr>
              <a:lnSpc>
                <a:spcPct val="90000"/>
              </a:lnSpc>
              <a:spcBef>
                <a:spcPts val="500"/>
              </a:spcBef>
              <a:buSzPct val="10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400" b="1" dirty="0" err="1" smtClean="0">
                <a:latin typeface="+mj-lt"/>
              </a:rPr>
              <a:t>Cây</a:t>
            </a:r>
            <a:r>
              <a:rPr lang="en-GB" sz="1400" b="1" dirty="0" smtClean="0">
                <a:latin typeface="+mj-lt"/>
              </a:rPr>
              <a:t> con (</a:t>
            </a:r>
            <a:r>
              <a:rPr lang="en-GB" sz="1400" b="1" dirty="0" err="1" smtClean="0">
                <a:latin typeface="+mj-lt"/>
              </a:rPr>
              <a:t>Subtree</a:t>
            </a:r>
            <a:r>
              <a:rPr lang="en-GB" sz="1400" b="1" dirty="0" smtClean="0">
                <a:latin typeface="+mj-lt"/>
              </a:rPr>
              <a:t>): </a:t>
            </a:r>
            <a:r>
              <a:rPr lang="en-GB" sz="1400" dirty="0" err="1" smtClean="0">
                <a:latin typeface="+mj-lt"/>
              </a:rPr>
              <a:t>là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cây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bao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gồm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một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đỉnh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và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các</a:t>
            </a:r>
            <a:r>
              <a:rPr lang="en-GB" sz="1400" dirty="0" smtClean="0">
                <a:latin typeface="+mj-lt"/>
              </a:rPr>
              <a:t> con </a:t>
            </a:r>
            <a:r>
              <a:rPr lang="en-GB" sz="1400" dirty="0" err="1" smtClean="0">
                <a:latin typeface="+mj-lt"/>
              </a:rPr>
              <a:t>cháu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của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đỉnh</a:t>
            </a:r>
            <a:r>
              <a:rPr lang="en-GB" sz="1400" dirty="0" smtClean="0">
                <a:latin typeface="+mj-lt"/>
              </a:rPr>
              <a:t> </a:t>
            </a:r>
            <a:r>
              <a:rPr lang="en-GB" sz="1400" dirty="0" err="1" smtClean="0">
                <a:latin typeface="+mj-lt"/>
              </a:rPr>
              <a:t>đó</a:t>
            </a:r>
            <a:endParaRPr lang="en-GB" sz="1400" dirty="0">
              <a:latin typeface="+mj-lt"/>
            </a:endParaRPr>
          </a:p>
        </p:txBody>
      </p:sp>
      <p:grpSp>
        <p:nvGrpSpPr>
          <p:cNvPr id="8" name="Group 78"/>
          <p:cNvGrpSpPr>
            <a:grpSpLocks/>
          </p:cNvGrpSpPr>
          <p:nvPr/>
        </p:nvGrpSpPr>
        <p:grpSpPr bwMode="auto">
          <a:xfrm>
            <a:off x="5192713" y="2206626"/>
            <a:ext cx="3706813" cy="3124200"/>
            <a:chOff x="3168" y="1680"/>
            <a:chExt cx="2335" cy="1968"/>
          </a:xfrm>
        </p:grpSpPr>
        <p:grpSp>
          <p:nvGrpSpPr>
            <p:cNvPr id="9" name="Group 79"/>
            <p:cNvGrpSpPr>
              <a:grpSpLocks/>
            </p:cNvGrpSpPr>
            <p:nvPr/>
          </p:nvGrpSpPr>
          <p:grpSpPr bwMode="auto">
            <a:xfrm>
              <a:off x="4249" y="1680"/>
              <a:ext cx="213" cy="236"/>
              <a:chOff x="4249" y="1680"/>
              <a:chExt cx="213" cy="236"/>
            </a:xfrm>
          </p:grpSpPr>
          <p:sp>
            <p:nvSpPr>
              <p:cNvPr id="70" name="AutoShape 80"/>
              <p:cNvSpPr>
                <a:spLocks noChangeArrowheads="1"/>
              </p:cNvSpPr>
              <p:nvPr/>
            </p:nvSpPr>
            <p:spPr bwMode="auto">
              <a:xfrm>
                <a:off x="4249" y="1680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1" name="Group 81"/>
              <p:cNvGrpSpPr>
                <a:grpSpLocks/>
              </p:cNvGrpSpPr>
              <p:nvPr/>
            </p:nvGrpSpPr>
            <p:grpSpPr bwMode="auto">
              <a:xfrm>
                <a:off x="4261" y="1692"/>
                <a:ext cx="190" cy="213"/>
                <a:chOff x="4261" y="1692"/>
                <a:chExt cx="190" cy="213"/>
              </a:xfrm>
            </p:grpSpPr>
            <p:sp>
              <p:nvSpPr>
                <p:cNvPr id="72" name="AutoShape 82"/>
                <p:cNvSpPr>
                  <a:spLocks noChangeArrowheads="1"/>
                </p:cNvSpPr>
                <p:nvPr/>
              </p:nvSpPr>
              <p:spPr bwMode="auto">
                <a:xfrm>
                  <a:off x="4261" y="1692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AutoShape 83"/>
                <p:cNvSpPr>
                  <a:spLocks noChangeArrowheads="1"/>
                </p:cNvSpPr>
                <p:nvPr/>
              </p:nvSpPr>
              <p:spPr bwMode="auto">
                <a:xfrm>
                  <a:off x="4261" y="1692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A</a:t>
                  </a:r>
                </a:p>
              </p:txBody>
            </p:sp>
          </p:grpSp>
        </p:grpSp>
        <p:grpSp>
          <p:nvGrpSpPr>
            <p:cNvPr id="10" name="Group 84"/>
            <p:cNvGrpSpPr>
              <a:grpSpLocks/>
            </p:cNvGrpSpPr>
            <p:nvPr/>
          </p:nvGrpSpPr>
          <p:grpSpPr bwMode="auto">
            <a:xfrm>
              <a:off x="3417" y="2256"/>
              <a:ext cx="211" cy="236"/>
              <a:chOff x="3417" y="2256"/>
              <a:chExt cx="211" cy="236"/>
            </a:xfrm>
          </p:grpSpPr>
          <p:sp>
            <p:nvSpPr>
              <p:cNvPr id="66" name="AutoShape 85"/>
              <p:cNvSpPr>
                <a:spLocks noChangeArrowheads="1"/>
              </p:cNvSpPr>
              <p:nvPr/>
            </p:nvSpPr>
            <p:spPr bwMode="auto">
              <a:xfrm>
                <a:off x="3417" y="2256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7" name="Group 86"/>
              <p:cNvGrpSpPr>
                <a:grpSpLocks/>
              </p:cNvGrpSpPr>
              <p:nvPr/>
            </p:nvGrpSpPr>
            <p:grpSpPr bwMode="auto">
              <a:xfrm>
                <a:off x="3429" y="2268"/>
                <a:ext cx="188" cy="213"/>
                <a:chOff x="3429" y="2268"/>
                <a:chExt cx="188" cy="213"/>
              </a:xfrm>
            </p:grpSpPr>
            <p:sp>
              <p:nvSpPr>
                <p:cNvPr id="68" name="AutoShape 87"/>
                <p:cNvSpPr>
                  <a:spLocks noChangeArrowheads="1"/>
                </p:cNvSpPr>
                <p:nvPr/>
              </p:nvSpPr>
              <p:spPr bwMode="auto">
                <a:xfrm>
                  <a:off x="3429" y="2268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AutoShape 88"/>
                <p:cNvSpPr>
                  <a:spLocks noChangeArrowheads="1"/>
                </p:cNvSpPr>
                <p:nvPr/>
              </p:nvSpPr>
              <p:spPr bwMode="auto">
                <a:xfrm>
                  <a:off x="3429" y="2268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B</a:t>
                  </a:r>
                </a:p>
              </p:txBody>
            </p:sp>
          </p:grpSp>
        </p:grpSp>
        <p:grpSp>
          <p:nvGrpSpPr>
            <p:cNvPr id="11" name="Group 89"/>
            <p:cNvGrpSpPr>
              <a:grpSpLocks/>
            </p:cNvGrpSpPr>
            <p:nvPr/>
          </p:nvGrpSpPr>
          <p:grpSpPr bwMode="auto">
            <a:xfrm>
              <a:off x="5280" y="2255"/>
              <a:ext cx="223" cy="238"/>
              <a:chOff x="5280" y="2255"/>
              <a:chExt cx="223" cy="238"/>
            </a:xfrm>
          </p:grpSpPr>
          <p:sp>
            <p:nvSpPr>
              <p:cNvPr id="62" name="AutoShape 90"/>
              <p:cNvSpPr>
                <a:spLocks noChangeArrowheads="1"/>
              </p:cNvSpPr>
              <p:nvPr/>
            </p:nvSpPr>
            <p:spPr bwMode="auto">
              <a:xfrm>
                <a:off x="5280" y="2255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3" name="Group 91"/>
              <p:cNvGrpSpPr>
                <a:grpSpLocks/>
              </p:cNvGrpSpPr>
              <p:nvPr/>
            </p:nvGrpSpPr>
            <p:grpSpPr bwMode="auto">
              <a:xfrm>
                <a:off x="5293" y="2267"/>
                <a:ext cx="198" cy="213"/>
                <a:chOff x="5293" y="2267"/>
                <a:chExt cx="198" cy="213"/>
              </a:xfrm>
            </p:grpSpPr>
            <p:sp>
              <p:nvSpPr>
                <p:cNvPr id="64" name="AutoShape 92"/>
                <p:cNvSpPr>
                  <a:spLocks noChangeArrowheads="1"/>
                </p:cNvSpPr>
                <p:nvPr/>
              </p:nvSpPr>
              <p:spPr bwMode="auto">
                <a:xfrm>
                  <a:off x="5293" y="226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AutoShape 93"/>
                <p:cNvSpPr>
                  <a:spLocks noChangeArrowheads="1"/>
                </p:cNvSpPr>
                <p:nvPr/>
              </p:nvSpPr>
              <p:spPr bwMode="auto">
                <a:xfrm>
                  <a:off x="5293" y="226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D</a:t>
                  </a:r>
                </a:p>
              </p:txBody>
            </p:sp>
          </p:grpSp>
        </p:grpSp>
        <p:grpSp>
          <p:nvGrpSpPr>
            <p:cNvPr id="12" name="Group 94"/>
            <p:cNvGrpSpPr>
              <a:grpSpLocks/>
            </p:cNvGrpSpPr>
            <p:nvPr/>
          </p:nvGrpSpPr>
          <p:grpSpPr bwMode="auto">
            <a:xfrm>
              <a:off x="4787" y="2255"/>
              <a:ext cx="213" cy="238"/>
              <a:chOff x="4787" y="2255"/>
              <a:chExt cx="213" cy="238"/>
            </a:xfrm>
          </p:grpSpPr>
          <p:sp>
            <p:nvSpPr>
              <p:cNvPr id="58" name="AutoShape 95"/>
              <p:cNvSpPr>
                <a:spLocks noChangeArrowheads="1"/>
              </p:cNvSpPr>
              <p:nvPr/>
            </p:nvSpPr>
            <p:spPr bwMode="auto">
              <a:xfrm>
                <a:off x="4787" y="2255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9" name="Group 96"/>
              <p:cNvGrpSpPr>
                <a:grpSpLocks/>
              </p:cNvGrpSpPr>
              <p:nvPr/>
            </p:nvGrpSpPr>
            <p:grpSpPr bwMode="auto">
              <a:xfrm>
                <a:off x="4799" y="2267"/>
                <a:ext cx="190" cy="215"/>
                <a:chOff x="4799" y="2267"/>
                <a:chExt cx="190" cy="215"/>
              </a:xfrm>
            </p:grpSpPr>
            <p:sp>
              <p:nvSpPr>
                <p:cNvPr id="60" name="AutoShape 97"/>
                <p:cNvSpPr>
                  <a:spLocks noChangeArrowheads="1"/>
                </p:cNvSpPr>
                <p:nvPr/>
              </p:nvSpPr>
              <p:spPr bwMode="auto">
                <a:xfrm>
                  <a:off x="4799" y="2267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AutoShape 98"/>
                <p:cNvSpPr>
                  <a:spLocks noChangeArrowheads="1"/>
                </p:cNvSpPr>
                <p:nvPr/>
              </p:nvSpPr>
              <p:spPr bwMode="auto">
                <a:xfrm>
                  <a:off x="4799" y="2267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</a:p>
              </p:txBody>
            </p:sp>
          </p:grpSp>
        </p:grpSp>
        <p:grpSp>
          <p:nvGrpSpPr>
            <p:cNvPr id="13" name="Group 99"/>
            <p:cNvGrpSpPr>
              <a:grpSpLocks/>
            </p:cNvGrpSpPr>
            <p:nvPr/>
          </p:nvGrpSpPr>
          <p:grpSpPr bwMode="auto">
            <a:xfrm>
              <a:off x="4527" y="2831"/>
              <a:ext cx="221" cy="238"/>
              <a:chOff x="4527" y="2831"/>
              <a:chExt cx="221" cy="238"/>
            </a:xfrm>
          </p:grpSpPr>
          <p:sp>
            <p:nvSpPr>
              <p:cNvPr id="54" name="AutoShape 100"/>
              <p:cNvSpPr>
                <a:spLocks noChangeArrowheads="1"/>
              </p:cNvSpPr>
              <p:nvPr/>
            </p:nvSpPr>
            <p:spPr bwMode="auto">
              <a:xfrm>
                <a:off x="4527" y="2831"/>
                <a:ext cx="222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5" name="Group 101"/>
              <p:cNvGrpSpPr>
                <a:grpSpLocks/>
              </p:cNvGrpSpPr>
              <p:nvPr/>
            </p:nvGrpSpPr>
            <p:grpSpPr bwMode="auto">
              <a:xfrm>
                <a:off x="4539" y="2843"/>
                <a:ext cx="197" cy="214"/>
                <a:chOff x="4539" y="2843"/>
                <a:chExt cx="197" cy="214"/>
              </a:xfrm>
            </p:grpSpPr>
            <p:sp>
              <p:nvSpPr>
                <p:cNvPr id="56" name="AutoShape 102"/>
                <p:cNvSpPr>
                  <a:spLocks noChangeArrowheads="1"/>
                </p:cNvSpPr>
                <p:nvPr/>
              </p:nvSpPr>
              <p:spPr bwMode="auto">
                <a:xfrm>
                  <a:off x="4539" y="2843"/>
                  <a:ext cx="198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AutoShape 103"/>
                <p:cNvSpPr>
                  <a:spLocks noChangeArrowheads="1"/>
                </p:cNvSpPr>
                <p:nvPr/>
              </p:nvSpPr>
              <p:spPr bwMode="auto">
                <a:xfrm>
                  <a:off x="4539" y="2843"/>
                  <a:ext cx="198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</a:p>
              </p:txBody>
            </p:sp>
          </p:grpSp>
        </p:grpSp>
        <p:grpSp>
          <p:nvGrpSpPr>
            <p:cNvPr id="14" name="Group 104"/>
            <p:cNvGrpSpPr>
              <a:grpSpLocks/>
            </p:cNvGrpSpPr>
            <p:nvPr/>
          </p:nvGrpSpPr>
          <p:grpSpPr bwMode="auto">
            <a:xfrm>
              <a:off x="5040" y="2831"/>
              <a:ext cx="222" cy="238"/>
              <a:chOff x="5040" y="2831"/>
              <a:chExt cx="222" cy="238"/>
            </a:xfrm>
          </p:grpSpPr>
          <p:sp>
            <p:nvSpPr>
              <p:cNvPr id="50" name="AutoShape 105"/>
              <p:cNvSpPr>
                <a:spLocks noChangeArrowheads="1"/>
              </p:cNvSpPr>
              <p:nvPr/>
            </p:nvSpPr>
            <p:spPr bwMode="auto">
              <a:xfrm>
                <a:off x="5040" y="2831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" name="Group 106"/>
              <p:cNvGrpSpPr>
                <a:grpSpLocks/>
              </p:cNvGrpSpPr>
              <p:nvPr/>
            </p:nvGrpSpPr>
            <p:grpSpPr bwMode="auto">
              <a:xfrm>
                <a:off x="5052" y="2843"/>
                <a:ext cx="198" cy="214"/>
                <a:chOff x="5052" y="2843"/>
                <a:chExt cx="198" cy="214"/>
              </a:xfrm>
            </p:grpSpPr>
            <p:sp>
              <p:nvSpPr>
                <p:cNvPr id="52" name="AutoShape 107"/>
                <p:cNvSpPr>
                  <a:spLocks noChangeArrowheads="1"/>
                </p:cNvSpPr>
                <p:nvPr/>
              </p:nvSpPr>
              <p:spPr bwMode="auto">
                <a:xfrm>
                  <a:off x="5052" y="2843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AutoShape 108"/>
                <p:cNvSpPr>
                  <a:spLocks noChangeArrowheads="1"/>
                </p:cNvSpPr>
                <p:nvPr/>
              </p:nvSpPr>
              <p:spPr bwMode="auto">
                <a:xfrm>
                  <a:off x="5052" y="2843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H</a:t>
                  </a:r>
                </a:p>
              </p:txBody>
            </p:sp>
          </p:grpSp>
        </p:grpSp>
        <p:grpSp>
          <p:nvGrpSpPr>
            <p:cNvPr id="15" name="Group 109"/>
            <p:cNvGrpSpPr>
              <a:grpSpLocks/>
            </p:cNvGrpSpPr>
            <p:nvPr/>
          </p:nvGrpSpPr>
          <p:grpSpPr bwMode="auto">
            <a:xfrm>
              <a:off x="3168" y="2829"/>
              <a:ext cx="206" cy="240"/>
              <a:chOff x="3168" y="2829"/>
              <a:chExt cx="206" cy="240"/>
            </a:xfrm>
          </p:grpSpPr>
          <p:sp>
            <p:nvSpPr>
              <p:cNvPr id="46" name="AutoShape 110"/>
              <p:cNvSpPr>
                <a:spLocks noChangeArrowheads="1"/>
              </p:cNvSpPr>
              <p:nvPr/>
            </p:nvSpPr>
            <p:spPr bwMode="auto">
              <a:xfrm>
                <a:off x="3168" y="2829"/>
                <a:ext cx="207" cy="241"/>
              </a:xfrm>
              <a:prstGeom prst="roundRect">
                <a:avLst>
                  <a:gd name="adj" fmla="val 16986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7" name="Group 111"/>
              <p:cNvGrpSpPr>
                <a:grpSpLocks/>
              </p:cNvGrpSpPr>
              <p:nvPr/>
            </p:nvGrpSpPr>
            <p:grpSpPr bwMode="auto">
              <a:xfrm>
                <a:off x="3180" y="2841"/>
                <a:ext cx="183" cy="217"/>
                <a:chOff x="3180" y="2841"/>
                <a:chExt cx="183" cy="217"/>
              </a:xfrm>
            </p:grpSpPr>
            <p:sp>
              <p:nvSpPr>
                <p:cNvPr id="48" name="AutoShape 112"/>
                <p:cNvSpPr>
                  <a:spLocks noChangeArrowheads="1"/>
                </p:cNvSpPr>
                <p:nvPr/>
              </p:nvSpPr>
              <p:spPr bwMode="auto">
                <a:xfrm>
                  <a:off x="3180" y="2841"/>
                  <a:ext cx="184" cy="218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AutoShape 113"/>
                <p:cNvSpPr>
                  <a:spLocks noChangeArrowheads="1"/>
                </p:cNvSpPr>
                <p:nvPr/>
              </p:nvSpPr>
              <p:spPr bwMode="auto">
                <a:xfrm>
                  <a:off x="3180" y="2841"/>
                  <a:ext cx="184" cy="218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E</a:t>
                  </a:r>
                </a:p>
              </p:txBody>
            </p:sp>
          </p:grpSp>
        </p:grpSp>
        <p:grpSp>
          <p:nvGrpSpPr>
            <p:cNvPr id="16" name="Group 114"/>
            <p:cNvGrpSpPr>
              <a:grpSpLocks/>
            </p:cNvGrpSpPr>
            <p:nvPr/>
          </p:nvGrpSpPr>
          <p:grpSpPr bwMode="auto">
            <a:xfrm>
              <a:off x="3672" y="2832"/>
              <a:ext cx="201" cy="236"/>
              <a:chOff x="3672" y="2832"/>
              <a:chExt cx="201" cy="236"/>
            </a:xfrm>
          </p:grpSpPr>
          <p:sp>
            <p:nvSpPr>
              <p:cNvPr id="42" name="AutoShape 115"/>
              <p:cNvSpPr>
                <a:spLocks noChangeArrowheads="1"/>
              </p:cNvSpPr>
              <p:nvPr/>
            </p:nvSpPr>
            <p:spPr bwMode="auto">
              <a:xfrm>
                <a:off x="3672" y="2832"/>
                <a:ext cx="202" cy="237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3" name="Group 116"/>
              <p:cNvGrpSpPr>
                <a:grpSpLocks/>
              </p:cNvGrpSpPr>
              <p:nvPr/>
            </p:nvGrpSpPr>
            <p:grpSpPr bwMode="auto">
              <a:xfrm>
                <a:off x="3683" y="2843"/>
                <a:ext cx="179" cy="214"/>
                <a:chOff x="3683" y="2843"/>
                <a:chExt cx="179" cy="214"/>
              </a:xfrm>
            </p:grpSpPr>
            <p:sp>
              <p:nvSpPr>
                <p:cNvPr id="44" name="AutoShape 117"/>
                <p:cNvSpPr>
                  <a:spLocks noChangeArrowheads="1"/>
                </p:cNvSpPr>
                <p:nvPr/>
              </p:nvSpPr>
              <p:spPr bwMode="auto">
                <a:xfrm>
                  <a:off x="3683" y="2843"/>
                  <a:ext cx="180" cy="215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AutoShape 118"/>
                <p:cNvSpPr>
                  <a:spLocks noChangeArrowheads="1"/>
                </p:cNvSpPr>
                <p:nvPr/>
              </p:nvSpPr>
              <p:spPr bwMode="auto">
                <a:xfrm>
                  <a:off x="3683" y="2843"/>
                  <a:ext cx="180" cy="215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F</a:t>
                  </a:r>
                </a:p>
              </p:txBody>
            </p:sp>
          </p:grpSp>
        </p:grpSp>
        <p:cxnSp>
          <p:nvCxnSpPr>
            <p:cNvPr id="17" name="AutoShape 119"/>
            <p:cNvCxnSpPr>
              <a:cxnSpLocks noChangeShapeType="1"/>
              <a:stCxn id="70" idx="2"/>
              <a:endCxn id="66" idx="0"/>
            </p:cNvCxnSpPr>
            <p:nvPr/>
          </p:nvCxnSpPr>
          <p:spPr bwMode="auto">
            <a:xfrm flipH="1">
              <a:off x="3523" y="1917"/>
              <a:ext cx="833" cy="33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20"/>
            <p:cNvCxnSpPr>
              <a:cxnSpLocks noChangeShapeType="1"/>
              <a:stCxn id="70" idx="2"/>
              <a:endCxn id="58" idx="0"/>
            </p:cNvCxnSpPr>
            <p:nvPr/>
          </p:nvCxnSpPr>
          <p:spPr bwMode="auto">
            <a:xfrm>
              <a:off x="4356" y="1917"/>
              <a:ext cx="538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21"/>
            <p:cNvCxnSpPr>
              <a:cxnSpLocks noChangeShapeType="1"/>
              <a:stCxn id="70" idx="2"/>
              <a:endCxn id="62" idx="0"/>
            </p:cNvCxnSpPr>
            <p:nvPr/>
          </p:nvCxnSpPr>
          <p:spPr bwMode="auto">
            <a:xfrm>
              <a:off x="4356" y="1917"/>
              <a:ext cx="1036" cy="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122"/>
            <p:cNvCxnSpPr>
              <a:cxnSpLocks noChangeShapeType="1"/>
              <a:stCxn id="58" idx="2"/>
              <a:endCxn id="50" idx="0"/>
            </p:cNvCxnSpPr>
            <p:nvPr/>
          </p:nvCxnSpPr>
          <p:spPr bwMode="auto">
            <a:xfrm>
              <a:off x="4894" y="2494"/>
              <a:ext cx="258" cy="33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123"/>
            <p:cNvCxnSpPr>
              <a:cxnSpLocks noChangeShapeType="1"/>
              <a:stCxn id="58" idx="2"/>
              <a:endCxn id="54" idx="0"/>
            </p:cNvCxnSpPr>
            <p:nvPr/>
          </p:nvCxnSpPr>
          <p:spPr bwMode="auto">
            <a:xfrm flipH="1">
              <a:off x="4638" y="2494"/>
              <a:ext cx="256" cy="33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24"/>
            <p:cNvCxnSpPr>
              <a:cxnSpLocks noChangeShapeType="1"/>
              <a:stCxn id="66" idx="2"/>
              <a:endCxn id="42" idx="0"/>
            </p:cNvCxnSpPr>
            <p:nvPr/>
          </p:nvCxnSpPr>
          <p:spPr bwMode="auto">
            <a:xfrm>
              <a:off x="3523" y="2493"/>
              <a:ext cx="250" cy="33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125"/>
            <p:cNvCxnSpPr>
              <a:cxnSpLocks noChangeShapeType="1"/>
              <a:stCxn id="66" idx="2"/>
              <a:endCxn id="46" idx="0"/>
            </p:cNvCxnSpPr>
            <p:nvPr/>
          </p:nvCxnSpPr>
          <p:spPr bwMode="auto">
            <a:xfrm flipH="1">
              <a:off x="3271" y="2493"/>
              <a:ext cx="251" cy="336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" name="Group 126"/>
            <p:cNvGrpSpPr>
              <a:grpSpLocks/>
            </p:cNvGrpSpPr>
            <p:nvPr/>
          </p:nvGrpSpPr>
          <p:grpSpPr bwMode="auto">
            <a:xfrm>
              <a:off x="3322" y="3411"/>
              <a:ext cx="180" cy="236"/>
              <a:chOff x="3322" y="3411"/>
              <a:chExt cx="180" cy="236"/>
            </a:xfrm>
          </p:grpSpPr>
          <p:sp>
            <p:nvSpPr>
              <p:cNvPr id="38" name="AutoShape 127"/>
              <p:cNvSpPr>
                <a:spLocks noChangeArrowheads="1"/>
              </p:cNvSpPr>
              <p:nvPr/>
            </p:nvSpPr>
            <p:spPr bwMode="auto">
              <a:xfrm>
                <a:off x="3322" y="3411"/>
                <a:ext cx="181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" name="Group 128"/>
              <p:cNvGrpSpPr>
                <a:grpSpLocks/>
              </p:cNvGrpSpPr>
              <p:nvPr/>
            </p:nvGrpSpPr>
            <p:grpSpPr bwMode="auto">
              <a:xfrm>
                <a:off x="3332" y="3421"/>
                <a:ext cx="160" cy="216"/>
                <a:chOff x="3332" y="3421"/>
                <a:chExt cx="160" cy="216"/>
              </a:xfrm>
            </p:grpSpPr>
            <p:sp>
              <p:nvSpPr>
                <p:cNvPr id="40" name="AutoShape 129"/>
                <p:cNvSpPr>
                  <a:spLocks noChangeArrowheads="1"/>
                </p:cNvSpPr>
                <p:nvPr/>
              </p:nvSpPr>
              <p:spPr bwMode="auto">
                <a:xfrm>
                  <a:off x="3332" y="3421"/>
                  <a:ext cx="161" cy="217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AutoShape 130"/>
                <p:cNvSpPr>
                  <a:spLocks noChangeArrowheads="1"/>
                </p:cNvSpPr>
                <p:nvPr/>
              </p:nvSpPr>
              <p:spPr bwMode="auto">
                <a:xfrm>
                  <a:off x="3332" y="3421"/>
                  <a:ext cx="161" cy="217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</a:p>
              </p:txBody>
            </p:sp>
          </p:grpSp>
        </p:grpSp>
        <p:grpSp>
          <p:nvGrpSpPr>
            <p:cNvPr id="25" name="Group 131"/>
            <p:cNvGrpSpPr>
              <a:grpSpLocks/>
            </p:cNvGrpSpPr>
            <p:nvPr/>
          </p:nvGrpSpPr>
          <p:grpSpPr bwMode="auto">
            <a:xfrm>
              <a:off x="3688" y="3411"/>
              <a:ext cx="185" cy="236"/>
              <a:chOff x="3688" y="3411"/>
              <a:chExt cx="185" cy="236"/>
            </a:xfrm>
          </p:grpSpPr>
          <p:sp>
            <p:nvSpPr>
              <p:cNvPr id="34" name="AutoShape 132"/>
              <p:cNvSpPr>
                <a:spLocks noChangeArrowheads="1"/>
              </p:cNvSpPr>
              <p:nvPr/>
            </p:nvSpPr>
            <p:spPr bwMode="auto">
              <a:xfrm>
                <a:off x="3688" y="3411"/>
                <a:ext cx="186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5" name="Group 133"/>
              <p:cNvGrpSpPr>
                <a:grpSpLocks/>
              </p:cNvGrpSpPr>
              <p:nvPr/>
            </p:nvGrpSpPr>
            <p:grpSpPr bwMode="auto">
              <a:xfrm>
                <a:off x="3698" y="3421"/>
                <a:ext cx="165" cy="216"/>
                <a:chOff x="3698" y="3421"/>
                <a:chExt cx="165" cy="216"/>
              </a:xfrm>
            </p:grpSpPr>
            <p:sp>
              <p:nvSpPr>
                <p:cNvPr id="36" name="AutoShape 134"/>
                <p:cNvSpPr>
                  <a:spLocks noChangeArrowheads="1"/>
                </p:cNvSpPr>
                <p:nvPr/>
              </p:nvSpPr>
              <p:spPr bwMode="auto">
                <a:xfrm>
                  <a:off x="3698" y="3421"/>
                  <a:ext cx="166" cy="217"/>
                </a:xfrm>
                <a:prstGeom prst="roundRect">
                  <a:avLst>
                    <a:gd name="adj" fmla="val 60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AutoShape 135"/>
                <p:cNvSpPr>
                  <a:spLocks noChangeArrowheads="1"/>
                </p:cNvSpPr>
                <p:nvPr/>
              </p:nvSpPr>
              <p:spPr bwMode="auto">
                <a:xfrm>
                  <a:off x="3698" y="3421"/>
                  <a:ext cx="166" cy="217"/>
                </a:xfrm>
                <a:prstGeom prst="roundRect">
                  <a:avLst>
                    <a:gd name="adj" fmla="val 60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J</a:t>
                  </a:r>
                </a:p>
              </p:txBody>
            </p:sp>
          </p:grpSp>
        </p:grpSp>
        <p:cxnSp>
          <p:nvCxnSpPr>
            <p:cNvPr id="26" name="AutoShape 136"/>
            <p:cNvCxnSpPr>
              <a:cxnSpLocks noChangeShapeType="1"/>
              <a:stCxn id="42" idx="2"/>
              <a:endCxn id="34" idx="0"/>
            </p:cNvCxnSpPr>
            <p:nvPr/>
          </p:nvCxnSpPr>
          <p:spPr bwMode="auto">
            <a:xfrm>
              <a:off x="3773" y="3069"/>
              <a:ext cx="8" cy="34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137"/>
            <p:cNvCxnSpPr>
              <a:cxnSpLocks noChangeShapeType="1"/>
              <a:stCxn id="42" idx="2"/>
              <a:endCxn id="38" idx="0"/>
            </p:cNvCxnSpPr>
            <p:nvPr/>
          </p:nvCxnSpPr>
          <p:spPr bwMode="auto">
            <a:xfrm flipH="1">
              <a:off x="3412" y="3069"/>
              <a:ext cx="360" cy="34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8" name="Group 138"/>
            <p:cNvGrpSpPr>
              <a:grpSpLocks/>
            </p:cNvGrpSpPr>
            <p:nvPr/>
          </p:nvGrpSpPr>
          <p:grpSpPr bwMode="auto">
            <a:xfrm>
              <a:off x="4059" y="3410"/>
              <a:ext cx="211" cy="238"/>
              <a:chOff x="4059" y="3410"/>
              <a:chExt cx="211" cy="238"/>
            </a:xfrm>
          </p:grpSpPr>
          <p:sp>
            <p:nvSpPr>
              <p:cNvPr id="30" name="AutoShape 139"/>
              <p:cNvSpPr>
                <a:spLocks noChangeArrowheads="1"/>
              </p:cNvSpPr>
              <p:nvPr/>
            </p:nvSpPr>
            <p:spPr bwMode="auto">
              <a:xfrm>
                <a:off x="4059" y="3410"/>
                <a:ext cx="212" cy="239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1" name="Group 140"/>
              <p:cNvGrpSpPr>
                <a:grpSpLocks/>
              </p:cNvGrpSpPr>
              <p:nvPr/>
            </p:nvGrpSpPr>
            <p:grpSpPr bwMode="auto">
              <a:xfrm>
                <a:off x="4071" y="3422"/>
                <a:ext cx="188" cy="215"/>
                <a:chOff x="4071" y="3422"/>
                <a:chExt cx="188" cy="215"/>
              </a:xfrm>
            </p:grpSpPr>
            <p:sp>
              <p:nvSpPr>
                <p:cNvPr id="32" name="AutoShape 141"/>
                <p:cNvSpPr>
                  <a:spLocks noChangeArrowheads="1"/>
                </p:cNvSpPr>
                <p:nvPr/>
              </p:nvSpPr>
              <p:spPr bwMode="auto">
                <a:xfrm>
                  <a:off x="4071" y="3422"/>
                  <a:ext cx="189" cy="216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AutoShape 142"/>
                <p:cNvSpPr>
                  <a:spLocks noChangeArrowheads="1"/>
                </p:cNvSpPr>
                <p:nvPr/>
              </p:nvSpPr>
              <p:spPr bwMode="auto">
                <a:xfrm>
                  <a:off x="4071" y="3422"/>
                  <a:ext cx="189" cy="216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K</a:t>
                  </a:r>
                </a:p>
              </p:txBody>
            </p:sp>
          </p:grpSp>
        </p:grpSp>
        <p:cxnSp>
          <p:nvCxnSpPr>
            <p:cNvPr id="29" name="AutoShape 143"/>
            <p:cNvCxnSpPr>
              <a:cxnSpLocks noChangeShapeType="1"/>
              <a:stCxn id="42" idx="2"/>
              <a:endCxn id="30" idx="0"/>
            </p:cNvCxnSpPr>
            <p:nvPr/>
          </p:nvCxnSpPr>
          <p:spPr bwMode="auto">
            <a:xfrm>
              <a:off x="3773" y="3069"/>
              <a:ext cx="392" cy="341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5" name="TextBox 74"/>
          <p:cNvSpPr txBox="1"/>
          <p:nvPr/>
        </p:nvSpPr>
        <p:spPr>
          <a:xfrm>
            <a:off x="7526338" y="4613539"/>
            <a:ext cx="103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Cây</a:t>
            </a:r>
            <a:r>
              <a:rPr lang="en-US" dirty="0" smtClean="0"/>
              <a:t> con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694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76800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cây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chemeClr val="tx2"/>
                </a:solidFill>
              </a:rPr>
              <a:t>size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lượng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cây</a:t>
            </a:r>
            <a:endParaRPr lang="en-US" sz="2400" dirty="0" smtClean="0"/>
          </a:p>
          <a:p>
            <a:pPr lvl="1"/>
            <a:r>
              <a:rPr lang="en-US" sz="2400" b="1" dirty="0" err="1" smtClean="0"/>
              <a:t>boolean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isEmpty</a:t>
            </a:r>
            <a:r>
              <a:rPr lang="en-US" sz="2400" b="1" dirty="0" smtClean="0"/>
              <a:t>(): </a:t>
            </a:r>
            <a:r>
              <a:rPr lang="en-US" sz="2400" dirty="0" smtClean="0"/>
              <a:t>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“true”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cây</a:t>
            </a:r>
            <a:r>
              <a:rPr lang="en-US" sz="2400" dirty="0" smtClean="0"/>
              <a:t> </a:t>
            </a:r>
            <a:r>
              <a:rPr lang="en-US" sz="2400" dirty="0" err="1" smtClean="0"/>
              <a:t>rỗng</a:t>
            </a:r>
            <a:endParaRPr lang="en-US" sz="2400" dirty="0" smtClean="0"/>
          </a:p>
          <a:p>
            <a:pPr lvl="1"/>
            <a:r>
              <a:rPr lang="en-US" sz="2400" b="1" dirty="0" smtClean="0"/>
              <a:t>Node </a:t>
            </a:r>
            <a:r>
              <a:rPr lang="en-US" sz="2400" b="1" dirty="0" smtClean="0">
                <a:solidFill>
                  <a:schemeClr val="tx2"/>
                </a:solidFill>
              </a:rPr>
              <a:t>root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gốc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cây</a:t>
            </a:r>
            <a:endParaRPr lang="en-US" sz="2400" dirty="0" smtClean="0"/>
          </a:p>
          <a:p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b="1" dirty="0" smtClean="0"/>
              <a:t>Node </a:t>
            </a:r>
            <a:r>
              <a:rPr lang="en-US" sz="2400" b="1" dirty="0" smtClean="0">
                <a:solidFill>
                  <a:schemeClr val="tx2"/>
                </a:solidFill>
              </a:rPr>
              <a:t>parent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gốc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endParaRPr lang="en-US" sz="2400" dirty="0" smtClean="0"/>
          </a:p>
          <a:p>
            <a:pPr lvl="1"/>
            <a:r>
              <a:rPr lang="en-US" sz="2400" b="1" dirty="0" smtClean="0"/>
              <a:t>Node[ ] </a:t>
            </a:r>
            <a:r>
              <a:rPr lang="en-US" sz="2400" b="1" dirty="0" smtClean="0">
                <a:solidFill>
                  <a:schemeClr val="tx2"/>
                </a:solidFill>
              </a:rPr>
              <a:t>children</a:t>
            </a:r>
            <a:r>
              <a:rPr lang="en-US" sz="2400" b="1" dirty="0" smtClean="0"/>
              <a:t>(): </a:t>
            </a:r>
            <a:r>
              <a:rPr lang="en-US" sz="2400" dirty="0" smtClean="0"/>
              <a:t> </a:t>
            </a:r>
            <a:r>
              <a:rPr lang="en-US" sz="2400" dirty="0" err="1" smtClean="0"/>
              <a:t>trar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con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endParaRPr lang="en-US" sz="2400" dirty="0" smtClean="0"/>
          </a:p>
          <a:p>
            <a:pPr lvl="1"/>
            <a:r>
              <a:rPr lang="en-US" sz="2400" b="1" dirty="0" err="1" smtClean="0"/>
              <a:t>boolean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isInternal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“true”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con</a:t>
            </a:r>
          </a:p>
          <a:p>
            <a:pPr lvl="1"/>
            <a:r>
              <a:rPr lang="en-US" sz="2400" b="1" dirty="0" err="1" smtClean="0"/>
              <a:t>boolean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isExternal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“true” 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lá</a:t>
            </a:r>
            <a:endParaRPr lang="en-US" sz="2400" dirty="0" smtClean="0"/>
          </a:p>
          <a:p>
            <a:pPr lvl="1"/>
            <a:r>
              <a:rPr lang="en-US" sz="2400" b="1" dirty="0" err="1" smtClean="0"/>
              <a:t>boolean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isRoot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“true”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gốc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455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(Binary Tree)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876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nghiên</a:t>
            </a:r>
            <a:r>
              <a:rPr lang="en-US" dirty="0" smtClean="0"/>
              <a:t> </a:t>
            </a:r>
            <a:r>
              <a:rPr lang="en-US" dirty="0" err="1" smtClean="0"/>
              <a:t>cứu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endParaRPr lang="en-US" dirty="0" smtClean="0"/>
          </a:p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chất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2 </a:t>
            </a:r>
            <a:r>
              <a:rPr lang="en-US" dirty="0" err="1" smtClean="0"/>
              <a:t>đỉnh</a:t>
            </a:r>
            <a:r>
              <a:rPr lang="en-US" dirty="0" smtClean="0"/>
              <a:t> con: con </a:t>
            </a:r>
            <a:r>
              <a:rPr lang="en-US" dirty="0" err="1" smtClean="0"/>
              <a:t>trái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con </a:t>
            </a:r>
            <a:r>
              <a:rPr lang="en-US" dirty="0" err="1" smtClean="0"/>
              <a:t>phải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13" name="Group 112"/>
          <p:cNvGrpSpPr/>
          <p:nvPr/>
        </p:nvGrpSpPr>
        <p:grpSpPr>
          <a:xfrm>
            <a:off x="5638800" y="2176281"/>
            <a:ext cx="3336925" cy="3124200"/>
            <a:chOff x="5422900" y="3117850"/>
            <a:chExt cx="3336925" cy="3124200"/>
          </a:xfrm>
        </p:grpSpPr>
        <p:grpSp>
          <p:nvGrpSpPr>
            <p:cNvPr id="60" name="Group 6"/>
            <p:cNvGrpSpPr>
              <a:grpSpLocks/>
            </p:cNvGrpSpPr>
            <p:nvPr/>
          </p:nvGrpSpPr>
          <p:grpSpPr bwMode="auto">
            <a:xfrm>
              <a:off x="6924675" y="3117850"/>
              <a:ext cx="338138" cy="374650"/>
              <a:chOff x="4362" y="1964"/>
              <a:chExt cx="213" cy="236"/>
            </a:xfrm>
          </p:grpSpPr>
          <p:sp>
            <p:nvSpPr>
              <p:cNvPr id="61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2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0" cy="213"/>
                <a:chOff x="4374" y="1976"/>
                <a:chExt cx="190" cy="213"/>
              </a:xfrm>
            </p:grpSpPr>
            <p:sp>
              <p:nvSpPr>
                <p:cNvPr id="63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AutoShape 10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A</a:t>
                  </a:r>
                </a:p>
              </p:txBody>
            </p:sp>
          </p:grpSp>
        </p:grpSp>
        <p:grpSp>
          <p:nvGrpSpPr>
            <p:cNvPr id="65" name="Group 11"/>
            <p:cNvGrpSpPr>
              <a:grpSpLocks/>
            </p:cNvGrpSpPr>
            <p:nvPr/>
          </p:nvGrpSpPr>
          <p:grpSpPr bwMode="auto">
            <a:xfrm>
              <a:off x="5938838" y="4032250"/>
              <a:ext cx="334962" cy="374650"/>
              <a:chOff x="3741" y="2540"/>
              <a:chExt cx="211" cy="236"/>
            </a:xfrm>
          </p:grpSpPr>
          <p:sp>
            <p:nvSpPr>
              <p:cNvPr id="66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7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8" cy="213"/>
                <a:chOff x="3753" y="2552"/>
                <a:chExt cx="188" cy="213"/>
              </a:xfrm>
            </p:grpSpPr>
            <p:sp>
              <p:nvSpPr>
                <p:cNvPr id="68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AutoShape 15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B</a:t>
                  </a:r>
                </a:p>
              </p:txBody>
            </p:sp>
          </p:grpSp>
        </p:grpSp>
        <p:grpSp>
          <p:nvGrpSpPr>
            <p:cNvPr id="70" name="Group 16"/>
            <p:cNvGrpSpPr>
              <a:grpSpLocks/>
            </p:cNvGrpSpPr>
            <p:nvPr/>
          </p:nvGrpSpPr>
          <p:grpSpPr bwMode="auto">
            <a:xfrm>
              <a:off x="7905750" y="4030663"/>
              <a:ext cx="338138" cy="377825"/>
              <a:chOff x="4980" y="2539"/>
              <a:chExt cx="213" cy="238"/>
            </a:xfrm>
          </p:grpSpPr>
          <p:sp>
            <p:nvSpPr>
              <p:cNvPr id="71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" name="Group 18"/>
              <p:cNvGrpSpPr>
                <a:grpSpLocks/>
              </p:cNvGrpSpPr>
              <p:nvPr/>
            </p:nvGrpSpPr>
            <p:grpSpPr bwMode="auto">
              <a:xfrm>
                <a:off x="4992" y="2551"/>
                <a:ext cx="190" cy="215"/>
                <a:chOff x="4992" y="2551"/>
                <a:chExt cx="190" cy="215"/>
              </a:xfrm>
            </p:grpSpPr>
            <p:sp>
              <p:nvSpPr>
                <p:cNvPr id="73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AutoShape 20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</a:p>
              </p:txBody>
            </p:sp>
          </p:grpSp>
        </p:grpSp>
        <p:grpSp>
          <p:nvGrpSpPr>
            <p:cNvPr id="75" name="Group 21"/>
            <p:cNvGrpSpPr>
              <a:grpSpLocks/>
            </p:cNvGrpSpPr>
            <p:nvPr/>
          </p:nvGrpSpPr>
          <p:grpSpPr bwMode="auto">
            <a:xfrm>
              <a:off x="7424738" y="4945063"/>
              <a:ext cx="319087" cy="377825"/>
              <a:chOff x="4677" y="3115"/>
              <a:chExt cx="201" cy="238"/>
            </a:xfrm>
          </p:grpSpPr>
          <p:sp>
            <p:nvSpPr>
              <p:cNvPr id="76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7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79" cy="216"/>
                <a:chOff x="4688" y="3126"/>
                <a:chExt cx="179" cy="216"/>
              </a:xfrm>
            </p:grpSpPr>
            <p:sp>
              <p:nvSpPr>
                <p:cNvPr id="78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AutoShape 25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F</a:t>
                  </a:r>
                </a:p>
              </p:txBody>
            </p:sp>
          </p:grpSp>
        </p:grpSp>
        <p:grpSp>
          <p:nvGrpSpPr>
            <p:cNvPr id="80" name="Group 26"/>
            <p:cNvGrpSpPr>
              <a:grpSpLocks/>
            </p:cNvGrpSpPr>
            <p:nvPr/>
          </p:nvGrpSpPr>
          <p:grpSpPr bwMode="auto">
            <a:xfrm>
              <a:off x="8407400" y="4945063"/>
              <a:ext cx="352425" cy="377825"/>
              <a:chOff x="5296" y="3115"/>
              <a:chExt cx="222" cy="238"/>
            </a:xfrm>
          </p:grpSpPr>
          <p:sp>
            <p:nvSpPr>
              <p:cNvPr id="81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2" name="Group 28"/>
              <p:cNvGrpSpPr>
                <a:grpSpLocks/>
              </p:cNvGrpSpPr>
              <p:nvPr/>
            </p:nvGrpSpPr>
            <p:grpSpPr bwMode="auto">
              <a:xfrm>
                <a:off x="5308" y="3127"/>
                <a:ext cx="198" cy="214"/>
                <a:chOff x="5308" y="3127"/>
                <a:chExt cx="198" cy="214"/>
              </a:xfrm>
            </p:grpSpPr>
            <p:sp>
              <p:nvSpPr>
                <p:cNvPr id="83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AutoShape 30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</a:p>
              </p:txBody>
            </p:sp>
          </p:grpSp>
        </p:grpSp>
        <p:grpSp>
          <p:nvGrpSpPr>
            <p:cNvPr id="85" name="Group 31"/>
            <p:cNvGrpSpPr>
              <a:grpSpLocks/>
            </p:cNvGrpSpPr>
            <p:nvPr/>
          </p:nvGrpSpPr>
          <p:grpSpPr bwMode="auto">
            <a:xfrm>
              <a:off x="5422900" y="4943475"/>
              <a:ext cx="354013" cy="377825"/>
              <a:chOff x="3416" y="3114"/>
              <a:chExt cx="223" cy="238"/>
            </a:xfrm>
          </p:grpSpPr>
          <p:sp>
            <p:nvSpPr>
              <p:cNvPr id="86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7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8" cy="213"/>
                <a:chOff x="3429" y="3127"/>
                <a:chExt cx="198" cy="213"/>
              </a:xfrm>
            </p:grpSpPr>
            <p:sp>
              <p:nvSpPr>
                <p:cNvPr id="88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AutoShape 35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D</a:t>
                  </a:r>
                </a:p>
              </p:txBody>
            </p:sp>
          </p:grpSp>
        </p:grpSp>
        <p:grpSp>
          <p:nvGrpSpPr>
            <p:cNvPr id="90" name="Group 36"/>
            <p:cNvGrpSpPr>
              <a:grpSpLocks/>
            </p:cNvGrpSpPr>
            <p:nvPr/>
          </p:nvGrpSpPr>
          <p:grpSpPr bwMode="auto">
            <a:xfrm>
              <a:off x="6450013" y="4945063"/>
              <a:ext cx="327025" cy="377825"/>
              <a:chOff x="4063" y="3115"/>
              <a:chExt cx="206" cy="238"/>
            </a:xfrm>
          </p:grpSpPr>
          <p:sp>
            <p:nvSpPr>
              <p:cNvPr id="91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2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3" cy="215"/>
                <a:chOff x="4075" y="3127"/>
                <a:chExt cx="183" cy="215"/>
              </a:xfrm>
            </p:grpSpPr>
            <p:sp>
              <p:nvSpPr>
                <p:cNvPr id="93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" name="AutoShape 40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E</a:t>
                  </a:r>
                </a:p>
              </p:txBody>
            </p:sp>
          </p:grpSp>
        </p:grpSp>
        <p:cxnSp>
          <p:nvCxnSpPr>
            <p:cNvPr id="95" name="AutoShape 41"/>
            <p:cNvCxnSpPr>
              <a:cxnSpLocks noChangeShapeType="1"/>
              <a:stCxn id="61" idx="2"/>
              <a:endCxn id="66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42"/>
            <p:cNvCxnSpPr>
              <a:cxnSpLocks noChangeShapeType="1"/>
              <a:stCxn id="61" idx="2"/>
              <a:endCxn id="71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43"/>
            <p:cNvCxnSpPr>
              <a:cxnSpLocks noChangeShapeType="1"/>
              <a:stCxn id="71" idx="2"/>
              <a:endCxn id="81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44"/>
            <p:cNvCxnSpPr>
              <a:cxnSpLocks noChangeShapeType="1"/>
              <a:stCxn id="71" idx="2"/>
              <a:endCxn id="76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AutoShape 45"/>
            <p:cNvCxnSpPr>
              <a:cxnSpLocks noChangeShapeType="1"/>
              <a:stCxn id="66" idx="2"/>
              <a:endCxn id="91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AutoShape 46"/>
            <p:cNvCxnSpPr>
              <a:cxnSpLocks noChangeShapeType="1"/>
              <a:stCxn id="66" idx="2"/>
              <a:endCxn id="86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1" name="Group 47"/>
            <p:cNvGrpSpPr>
              <a:grpSpLocks/>
            </p:cNvGrpSpPr>
            <p:nvPr/>
          </p:nvGrpSpPr>
          <p:grpSpPr bwMode="auto">
            <a:xfrm>
              <a:off x="6069013" y="5865813"/>
              <a:ext cx="352425" cy="374650"/>
              <a:chOff x="3823" y="3695"/>
              <a:chExt cx="222" cy="236"/>
            </a:xfrm>
          </p:grpSpPr>
          <p:sp>
            <p:nvSpPr>
              <p:cNvPr id="102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8" cy="212"/>
                <a:chOff x="3835" y="3707"/>
                <a:chExt cx="198" cy="212"/>
              </a:xfrm>
            </p:grpSpPr>
            <p:sp>
              <p:nvSpPr>
                <p:cNvPr id="104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" name="AutoShape 51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>
                      <a:solidFill>
                        <a:schemeClr val="tx1"/>
                      </a:solidFill>
                      <a:latin typeface="Tahoma" pitchFamily="34" charset="0"/>
                    </a:rPr>
                    <a:t>H</a:t>
                  </a:r>
                </a:p>
              </p:txBody>
            </p:sp>
          </p:grpSp>
        </p:grpSp>
        <p:cxnSp>
          <p:nvCxnSpPr>
            <p:cNvPr id="106" name="AutoShape 52"/>
            <p:cNvCxnSpPr>
              <a:cxnSpLocks noChangeShapeType="1"/>
              <a:stCxn id="91" idx="2"/>
              <a:endCxn id="102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7" name="Group 53"/>
            <p:cNvGrpSpPr>
              <a:grpSpLocks/>
            </p:cNvGrpSpPr>
            <p:nvPr/>
          </p:nvGrpSpPr>
          <p:grpSpPr bwMode="auto">
            <a:xfrm>
              <a:off x="6805613" y="5864225"/>
              <a:ext cx="285750" cy="377825"/>
              <a:chOff x="4287" y="3694"/>
              <a:chExt cx="180" cy="238"/>
            </a:xfrm>
          </p:grpSpPr>
          <p:sp>
            <p:nvSpPr>
              <p:cNvPr id="108" name="AutoShape 54"/>
              <p:cNvSpPr>
                <a:spLocks noChangeArrowheads="1"/>
              </p:cNvSpPr>
              <p:nvPr/>
            </p:nvSpPr>
            <p:spPr bwMode="auto">
              <a:xfrm>
                <a:off x="4287" y="3694"/>
                <a:ext cx="181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9" name="Group 55"/>
              <p:cNvGrpSpPr>
                <a:grpSpLocks/>
              </p:cNvGrpSpPr>
              <p:nvPr/>
            </p:nvGrpSpPr>
            <p:grpSpPr bwMode="auto">
              <a:xfrm>
                <a:off x="4297" y="3704"/>
                <a:ext cx="160" cy="218"/>
                <a:chOff x="4297" y="3704"/>
                <a:chExt cx="160" cy="218"/>
              </a:xfrm>
            </p:grpSpPr>
            <p:sp>
              <p:nvSpPr>
                <p:cNvPr id="110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1" name="AutoShape 57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</a:p>
              </p:txBody>
            </p:sp>
          </p:grpSp>
        </p:grpSp>
        <p:cxnSp>
          <p:nvCxnSpPr>
            <p:cNvPr id="112" name="AutoShape 58"/>
            <p:cNvCxnSpPr>
              <a:cxnSpLocks noChangeShapeType="1"/>
              <a:stCxn id="91" idx="2"/>
              <a:endCxn id="108" idx="0"/>
            </p:cNvCxnSpPr>
            <p:nvPr/>
          </p:nvCxnSpPr>
          <p:spPr bwMode="auto">
            <a:xfrm>
              <a:off x="6613525" y="5324475"/>
              <a:ext cx="334963" cy="539750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3783311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(Binary 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876800"/>
          </a:xfrm>
        </p:spPr>
        <p:txBody>
          <a:bodyPr>
            <a:noAutofit/>
          </a:bodyPr>
          <a:lstStyle/>
          <a:p>
            <a:r>
              <a:rPr lang="en-US" sz="2400" dirty="0" err="1" smtClean="0"/>
              <a:t>Ngoài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cây</a:t>
            </a:r>
            <a:r>
              <a:rPr lang="en-US" sz="2400" dirty="0" smtClean="0"/>
              <a:t>, </a:t>
            </a:r>
            <a:r>
              <a:rPr lang="en-US" sz="2400" dirty="0" err="1" smtClean="0"/>
              <a:t>cây</a:t>
            </a:r>
            <a:r>
              <a:rPr lang="en-US" sz="2400" dirty="0" smtClean="0"/>
              <a:t> </a:t>
            </a:r>
            <a:r>
              <a:rPr lang="en-US" sz="2400" dirty="0" err="1" smtClean="0"/>
              <a:t>nhị</a:t>
            </a:r>
            <a:r>
              <a:rPr lang="en-US" sz="2400" dirty="0" smtClean="0"/>
              <a:t> </a:t>
            </a:r>
            <a:r>
              <a:rPr lang="en-US" sz="2400" dirty="0" err="1" smtClean="0"/>
              <a:t>phân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thêm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b="1" dirty="0" smtClean="0"/>
              <a:t>Node </a:t>
            </a:r>
            <a:r>
              <a:rPr lang="en-US" sz="2400" b="1" dirty="0" smtClean="0">
                <a:solidFill>
                  <a:schemeClr val="tx2"/>
                </a:solidFill>
              </a:rPr>
              <a:t>left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con </a:t>
            </a:r>
            <a:r>
              <a:rPr lang="en-US" sz="2400" dirty="0" err="1" smtClean="0"/>
              <a:t>trái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. </a:t>
            </a:r>
          </a:p>
          <a:p>
            <a:pPr lvl="1"/>
            <a:r>
              <a:rPr lang="en-US" sz="2400" b="1" dirty="0" smtClean="0"/>
              <a:t>Node </a:t>
            </a:r>
            <a:r>
              <a:rPr lang="en-US" sz="2400" b="1" dirty="0" smtClean="0">
                <a:solidFill>
                  <a:schemeClr val="tx2"/>
                </a:solidFill>
              </a:rPr>
              <a:t>right</a:t>
            </a:r>
            <a:r>
              <a:rPr lang="en-US" sz="2400" b="1" dirty="0" smtClean="0"/>
              <a:t>(): </a:t>
            </a:r>
            <a:r>
              <a:rPr lang="en-US" sz="2400" dirty="0" err="1"/>
              <a:t>trả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con </a:t>
            </a:r>
            <a:r>
              <a:rPr lang="en-US" sz="2400" dirty="0" err="1" smtClean="0"/>
              <a:t>phải</a:t>
            </a:r>
            <a:r>
              <a:rPr lang="en-US" sz="2400" dirty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b="1" dirty="0" err="1" smtClean="0"/>
              <a:t>boolean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hasLeft</a:t>
            </a:r>
            <a:r>
              <a:rPr lang="en-US" sz="2400" b="1" dirty="0" smtClean="0"/>
              <a:t>():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trị</a:t>
            </a:r>
            <a:r>
              <a:rPr lang="en-US" sz="2400" dirty="0" smtClean="0"/>
              <a:t> “true” </a:t>
            </a:r>
            <a:r>
              <a:rPr lang="en-US" sz="2400" dirty="0" err="1" smtClean="0"/>
              <a:t>nếu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con </a:t>
            </a:r>
            <a:r>
              <a:rPr lang="en-US" sz="2400" dirty="0" err="1" smtClean="0"/>
              <a:t>trái</a:t>
            </a:r>
            <a:endParaRPr lang="en-US" sz="2400" dirty="0" smtClean="0"/>
          </a:p>
          <a:p>
            <a:pPr lvl="1"/>
            <a:r>
              <a:rPr lang="en-US" sz="2400" b="1" dirty="0" err="1" smtClean="0"/>
              <a:t>boolean</a:t>
            </a:r>
            <a:r>
              <a:rPr lang="en-US" sz="2400" b="1" dirty="0" smtClean="0"/>
              <a:t> </a:t>
            </a:r>
            <a:r>
              <a:rPr lang="en-US" sz="2400" b="1" dirty="0" err="1" smtClean="0">
                <a:solidFill>
                  <a:schemeClr val="tx2"/>
                </a:solidFill>
              </a:rPr>
              <a:t>hasRight</a:t>
            </a:r>
            <a:r>
              <a:rPr lang="en-US" sz="2400" b="1" dirty="0" smtClean="0"/>
              <a:t>(): </a:t>
            </a:r>
            <a:r>
              <a:rPr lang="en-US" sz="2400" dirty="0" err="1"/>
              <a:t>trả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“true”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con </a:t>
            </a:r>
            <a:r>
              <a:rPr lang="en-US" sz="2400" dirty="0" err="1" smtClean="0"/>
              <a:t>phải</a:t>
            </a:r>
            <a:endParaRPr lang="en-US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737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(perfect tree)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mức</a:t>
            </a:r>
            <a:r>
              <a:rPr lang="en-US" dirty="0" smtClean="0"/>
              <a:t>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đầy</a:t>
            </a:r>
            <a:r>
              <a:rPr lang="en-US" dirty="0" smtClean="0"/>
              <a:t> </a:t>
            </a:r>
            <a:r>
              <a:rPr lang="en-US" dirty="0" err="1" smtClean="0"/>
              <a:t>đủ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54" name="Group 53"/>
          <p:cNvGrpSpPr/>
          <p:nvPr/>
        </p:nvGrpSpPr>
        <p:grpSpPr>
          <a:xfrm>
            <a:off x="685800" y="2894008"/>
            <a:ext cx="3338517" cy="3125792"/>
            <a:chOff x="5422908" y="3117854"/>
            <a:chExt cx="3338517" cy="3125792"/>
          </a:xfrm>
        </p:grpSpPr>
        <p:grpSp>
          <p:nvGrpSpPr>
            <p:cNvPr id="55" name="Group 54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104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5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106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56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100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1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102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57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96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7" name="Group 18"/>
              <p:cNvGrpSpPr>
                <a:grpSpLocks/>
              </p:cNvGrpSpPr>
              <p:nvPr/>
            </p:nvGrpSpPr>
            <p:grpSpPr bwMode="auto">
              <a:xfrm>
                <a:off x="4992" y="2551"/>
                <a:ext cx="191" cy="216"/>
                <a:chOff x="4992" y="2551"/>
                <a:chExt cx="191" cy="216"/>
              </a:xfrm>
            </p:grpSpPr>
            <p:sp>
              <p:nvSpPr>
                <p:cNvPr id="98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AutoShape 20"/>
                <p:cNvSpPr>
                  <a:spLocks noChangeArrowheads="1"/>
                </p:cNvSpPr>
                <p:nvPr/>
              </p:nvSpPr>
              <p:spPr bwMode="auto">
                <a:xfrm>
                  <a:off x="5030" y="2557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58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92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3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94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59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88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9" name="Group 28"/>
              <p:cNvGrpSpPr>
                <a:grpSpLocks/>
              </p:cNvGrpSpPr>
              <p:nvPr/>
            </p:nvGrpSpPr>
            <p:grpSpPr bwMode="auto">
              <a:xfrm>
                <a:off x="5308" y="3127"/>
                <a:ext cx="199" cy="215"/>
                <a:chOff x="5308" y="3127"/>
                <a:chExt cx="199" cy="215"/>
              </a:xfrm>
            </p:grpSpPr>
            <p:sp>
              <p:nvSpPr>
                <p:cNvPr id="90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AutoShape 30"/>
                <p:cNvSpPr>
                  <a:spLocks noChangeArrowheads="1"/>
                </p:cNvSpPr>
                <p:nvPr/>
              </p:nvSpPr>
              <p:spPr bwMode="auto">
                <a:xfrm>
                  <a:off x="5350" y="3133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0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84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5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86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1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80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1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82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62" name="AutoShape 41"/>
            <p:cNvCxnSpPr>
              <a:cxnSpLocks noChangeShapeType="1"/>
              <a:stCxn id="104" idx="2"/>
              <a:endCxn id="100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42"/>
            <p:cNvCxnSpPr>
              <a:cxnSpLocks noChangeShapeType="1"/>
              <a:stCxn id="104" idx="2"/>
              <a:endCxn id="96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43"/>
            <p:cNvCxnSpPr>
              <a:cxnSpLocks noChangeShapeType="1"/>
              <a:stCxn id="96" idx="2"/>
              <a:endCxn id="88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AutoShape 44"/>
            <p:cNvCxnSpPr>
              <a:cxnSpLocks noChangeShapeType="1"/>
              <a:stCxn id="96" idx="2"/>
              <a:endCxn id="92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AutoShape 45"/>
            <p:cNvCxnSpPr>
              <a:cxnSpLocks noChangeShapeType="1"/>
              <a:stCxn id="100" idx="2"/>
              <a:endCxn id="80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46"/>
            <p:cNvCxnSpPr>
              <a:cxnSpLocks noChangeShapeType="1"/>
              <a:stCxn id="100" idx="2"/>
              <a:endCxn id="84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8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76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7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78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69" name="AutoShape 52"/>
            <p:cNvCxnSpPr>
              <a:cxnSpLocks noChangeShapeType="1"/>
              <a:stCxn id="80" idx="2"/>
              <a:endCxn id="76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0" name="Group 53"/>
            <p:cNvGrpSpPr>
              <a:grpSpLocks/>
            </p:cNvGrpSpPr>
            <p:nvPr/>
          </p:nvGrpSpPr>
          <p:grpSpPr bwMode="auto">
            <a:xfrm>
              <a:off x="6805631" y="5864233"/>
              <a:ext cx="381001" cy="379413"/>
              <a:chOff x="4287" y="3694"/>
              <a:chExt cx="240" cy="239"/>
            </a:xfrm>
          </p:grpSpPr>
          <p:sp>
            <p:nvSpPr>
              <p:cNvPr id="72" name="AutoShape 54"/>
              <p:cNvSpPr>
                <a:spLocks noChangeArrowheads="1"/>
              </p:cNvSpPr>
              <p:nvPr/>
            </p:nvSpPr>
            <p:spPr bwMode="auto">
              <a:xfrm>
                <a:off x="4287" y="3694"/>
                <a:ext cx="240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3" name="Group 55"/>
              <p:cNvGrpSpPr>
                <a:grpSpLocks/>
              </p:cNvGrpSpPr>
              <p:nvPr/>
            </p:nvGrpSpPr>
            <p:grpSpPr bwMode="auto">
              <a:xfrm>
                <a:off x="4297" y="3704"/>
                <a:ext cx="161" cy="219"/>
                <a:chOff x="4297" y="3704"/>
                <a:chExt cx="161" cy="219"/>
              </a:xfrm>
            </p:grpSpPr>
            <p:sp>
              <p:nvSpPr>
                <p:cNvPr id="74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AutoShape 57"/>
                <p:cNvSpPr>
                  <a:spLocks noChangeArrowheads="1"/>
                </p:cNvSpPr>
                <p:nvPr/>
              </p:nvSpPr>
              <p:spPr bwMode="auto">
                <a:xfrm>
                  <a:off x="4320" y="3712"/>
                  <a:ext cx="115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1" name="AutoShape 58"/>
            <p:cNvCxnSpPr>
              <a:cxnSpLocks noChangeShapeType="1"/>
              <a:stCxn id="80" idx="2"/>
              <a:endCxn id="72" idx="0"/>
            </p:cNvCxnSpPr>
            <p:nvPr/>
          </p:nvCxnSpPr>
          <p:spPr bwMode="auto">
            <a:xfrm>
              <a:off x="6614330" y="5324483"/>
              <a:ext cx="381794" cy="539750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107"/>
          <p:cNvGrpSpPr/>
          <p:nvPr/>
        </p:nvGrpSpPr>
        <p:grpSpPr>
          <a:xfrm>
            <a:off x="5029200" y="2895600"/>
            <a:ext cx="3338517" cy="3109918"/>
            <a:chOff x="5422908" y="3117854"/>
            <a:chExt cx="3338517" cy="3109918"/>
          </a:xfrm>
        </p:grpSpPr>
        <p:grpSp>
          <p:nvGrpSpPr>
            <p:cNvPr id="109" name="Group 108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152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3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154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5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0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148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9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150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1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1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144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5" name="Group 18"/>
              <p:cNvGrpSpPr>
                <a:grpSpLocks/>
              </p:cNvGrpSpPr>
              <p:nvPr/>
            </p:nvGrpSpPr>
            <p:grpSpPr bwMode="auto">
              <a:xfrm>
                <a:off x="4992" y="2551"/>
                <a:ext cx="191" cy="216"/>
                <a:chOff x="4992" y="2551"/>
                <a:chExt cx="191" cy="216"/>
              </a:xfrm>
            </p:grpSpPr>
            <p:sp>
              <p:nvSpPr>
                <p:cNvPr id="146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7" name="AutoShape 20"/>
                <p:cNvSpPr>
                  <a:spLocks noChangeArrowheads="1"/>
                </p:cNvSpPr>
                <p:nvPr/>
              </p:nvSpPr>
              <p:spPr bwMode="auto">
                <a:xfrm>
                  <a:off x="5030" y="2557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2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140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41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142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3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3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136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7" name="Group 28"/>
              <p:cNvGrpSpPr>
                <a:grpSpLocks/>
              </p:cNvGrpSpPr>
              <p:nvPr/>
            </p:nvGrpSpPr>
            <p:grpSpPr bwMode="auto">
              <a:xfrm>
                <a:off x="5308" y="3127"/>
                <a:ext cx="199" cy="215"/>
                <a:chOff x="5308" y="3127"/>
                <a:chExt cx="199" cy="215"/>
              </a:xfrm>
            </p:grpSpPr>
            <p:sp>
              <p:nvSpPr>
                <p:cNvPr id="138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9" name="AutoShape 30"/>
                <p:cNvSpPr>
                  <a:spLocks noChangeArrowheads="1"/>
                </p:cNvSpPr>
                <p:nvPr/>
              </p:nvSpPr>
              <p:spPr bwMode="auto">
                <a:xfrm>
                  <a:off x="5350" y="3133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4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132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3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134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5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5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128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9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130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1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116" name="AutoShape 41"/>
            <p:cNvCxnSpPr>
              <a:cxnSpLocks noChangeShapeType="1"/>
              <a:stCxn id="152" idx="2"/>
              <a:endCxn id="148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AutoShape 42"/>
            <p:cNvCxnSpPr>
              <a:cxnSpLocks noChangeShapeType="1"/>
              <a:stCxn id="152" idx="2"/>
              <a:endCxn id="144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AutoShape 43"/>
            <p:cNvCxnSpPr>
              <a:cxnSpLocks noChangeShapeType="1"/>
              <a:stCxn id="144" idx="2"/>
              <a:endCxn id="136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AutoShape 44"/>
            <p:cNvCxnSpPr>
              <a:cxnSpLocks noChangeShapeType="1"/>
              <a:stCxn id="144" idx="2"/>
              <a:endCxn id="140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45"/>
            <p:cNvCxnSpPr>
              <a:cxnSpLocks noChangeShapeType="1"/>
              <a:stCxn id="148" idx="2"/>
              <a:endCxn id="128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AutoShape 46"/>
            <p:cNvCxnSpPr>
              <a:cxnSpLocks noChangeShapeType="1"/>
              <a:stCxn id="148" idx="2"/>
              <a:endCxn id="132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22" name="Group 49"/>
            <p:cNvGrpSpPr>
              <a:grpSpLocks/>
            </p:cNvGrpSpPr>
            <p:nvPr/>
          </p:nvGrpSpPr>
          <p:grpSpPr bwMode="auto">
            <a:xfrm>
              <a:off x="6088073" y="5884872"/>
              <a:ext cx="315913" cy="338138"/>
              <a:chOff x="3835" y="3707"/>
              <a:chExt cx="199" cy="213"/>
            </a:xfrm>
          </p:grpSpPr>
          <p:sp>
            <p:nvSpPr>
              <p:cNvPr id="126" name="AutoShape 50"/>
              <p:cNvSpPr>
                <a:spLocks noChangeArrowheads="1"/>
              </p:cNvSpPr>
              <p:nvPr/>
            </p:nvSpPr>
            <p:spPr bwMode="auto">
              <a:xfrm>
                <a:off x="3835" y="3707"/>
                <a:ext cx="199" cy="213"/>
              </a:xfrm>
              <a:prstGeom prst="roundRect">
                <a:avLst>
                  <a:gd name="adj" fmla="val 50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AutoShape 51"/>
              <p:cNvSpPr>
                <a:spLocks noChangeArrowheads="1"/>
              </p:cNvSpPr>
              <p:nvPr/>
            </p:nvSpPr>
            <p:spPr bwMode="auto">
              <a:xfrm>
                <a:off x="3877" y="3712"/>
                <a:ext cx="115" cy="204"/>
              </a:xfrm>
              <a:prstGeom prst="roundRect">
                <a:avLst>
                  <a:gd name="adj" fmla="val 50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1" hangingPunct="1">
                  <a:lnSpc>
                    <a:spcPct val="93000"/>
                  </a:lnSpc>
                  <a:buClr>
                    <a:srgbClr val="40458C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sz="1600" dirty="0">
                  <a:solidFill>
                    <a:schemeClr val="tx1"/>
                  </a:solidFill>
                  <a:latin typeface="Tahoma" pitchFamily="34" charset="0"/>
                </a:endParaRPr>
              </a:p>
            </p:txBody>
          </p:sp>
        </p:grpSp>
        <p:grpSp>
          <p:nvGrpSpPr>
            <p:cNvPr id="123" name="Group 55"/>
            <p:cNvGrpSpPr>
              <a:grpSpLocks/>
            </p:cNvGrpSpPr>
            <p:nvPr/>
          </p:nvGrpSpPr>
          <p:grpSpPr bwMode="auto">
            <a:xfrm>
              <a:off x="6821502" y="5880109"/>
              <a:ext cx="255588" cy="347663"/>
              <a:chOff x="4297" y="3704"/>
              <a:chExt cx="161" cy="219"/>
            </a:xfrm>
          </p:grpSpPr>
          <p:sp>
            <p:nvSpPr>
              <p:cNvPr id="124" name="AutoShape 56"/>
              <p:cNvSpPr>
                <a:spLocks noChangeArrowheads="1"/>
              </p:cNvSpPr>
              <p:nvPr/>
            </p:nvSpPr>
            <p:spPr bwMode="auto">
              <a:xfrm>
                <a:off x="4297" y="3704"/>
                <a:ext cx="161" cy="219"/>
              </a:xfrm>
              <a:prstGeom prst="roundRect">
                <a:avLst>
                  <a:gd name="adj" fmla="val 62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AutoShape 57"/>
              <p:cNvSpPr>
                <a:spLocks noChangeArrowheads="1"/>
              </p:cNvSpPr>
              <p:nvPr/>
            </p:nvSpPr>
            <p:spPr bwMode="auto">
              <a:xfrm>
                <a:off x="4320" y="3712"/>
                <a:ext cx="115" cy="204"/>
              </a:xfrm>
              <a:prstGeom prst="roundRect">
                <a:avLst>
                  <a:gd name="adj" fmla="val 625"/>
                </a:avLst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1" hangingPunct="1">
                  <a:lnSpc>
                    <a:spcPct val="93000"/>
                  </a:lnSpc>
                  <a:buClr>
                    <a:srgbClr val="40458C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sz="1600" dirty="0">
                  <a:solidFill>
                    <a:schemeClr val="tx1"/>
                  </a:solidFill>
                  <a:latin typeface="Tahoma" pitchFamily="34" charset="0"/>
                </a:endParaRPr>
              </a:p>
            </p:txBody>
          </p:sp>
        </p:grpSp>
      </p:grpSp>
      <p:sp>
        <p:nvSpPr>
          <p:cNvPr id="156" name="TextBox 155"/>
          <p:cNvSpPr txBox="1"/>
          <p:nvPr/>
        </p:nvSpPr>
        <p:spPr>
          <a:xfrm>
            <a:off x="1655761" y="6172200"/>
            <a:ext cx="2045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endParaRPr lang="en-US" dirty="0" smtClean="0"/>
          </a:p>
        </p:txBody>
      </p:sp>
      <p:sp>
        <p:nvSpPr>
          <p:cNvPr id="157" name="TextBox 156"/>
          <p:cNvSpPr txBox="1"/>
          <p:nvPr/>
        </p:nvSpPr>
        <p:spPr>
          <a:xfrm>
            <a:off x="6248400" y="6172200"/>
            <a:ext cx="1416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accent1"/>
                </a:solidFill>
              </a:rPr>
              <a:t>Hoàn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chỉnh</a:t>
            </a:r>
            <a:r>
              <a:rPr lang="en-US" dirty="0" smtClean="0">
                <a:solidFill>
                  <a:schemeClr val="accent1"/>
                </a:solidFill>
              </a:rPr>
              <a:t>!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7259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đầy</a:t>
            </a:r>
            <a:r>
              <a:rPr lang="en-US" dirty="0" smtClean="0"/>
              <a:t> </a:t>
            </a:r>
            <a:r>
              <a:rPr lang="en-US" dirty="0" err="1" smtClean="0"/>
              <a:t>đủ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cây</a:t>
            </a:r>
            <a:r>
              <a:rPr lang="en-US" sz="2800" dirty="0" smtClean="0"/>
              <a:t> </a:t>
            </a:r>
            <a:r>
              <a:rPr lang="en-US" sz="2800" dirty="0" err="1" smtClean="0"/>
              <a:t>được</a:t>
            </a:r>
            <a:r>
              <a:rPr lang="en-US" sz="2800" dirty="0" smtClean="0"/>
              <a:t> </a:t>
            </a:r>
            <a:r>
              <a:rPr lang="en-US" sz="2800" dirty="0" err="1" smtClean="0"/>
              <a:t>gọi</a:t>
            </a:r>
            <a:r>
              <a:rPr lang="en-US" sz="2800" dirty="0" smtClean="0"/>
              <a:t> </a:t>
            </a:r>
            <a:r>
              <a:rPr lang="en-US" sz="2800" dirty="0" err="1" smtClean="0"/>
              <a:t>là</a:t>
            </a:r>
            <a:r>
              <a:rPr lang="en-US" sz="2800" dirty="0" smtClean="0"/>
              <a:t> </a:t>
            </a:r>
            <a:r>
              <a:rPr lang="en-US" sz="2800" b="1" dirty="0" err="1" smtClean="0"/>
              <a:t>cây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đầy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đủ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trái</a:t>
            </a:r>
            <a:r>
              <a:rPr lang="en-US" sz="2800" dirty="0" smtClean="0"/>
              <a:t> </a:t>
            </a:r>
            <a:r>
              <a:rPr lang="en-US" sz="2800" dirty="0" err="1" smtClean="0"/>
              <a:t>nếu</a:t>
            </a:r>
            <a:r>
              <a:rPr lang="en-US" sz="2800" dirty="0" smtClean="0"/>
              <a:t>: :</a:t>
            </a:r>
            <a:endParaRPr lang="en-US" sz="2800" dirty="0"/>
          </a:p>
          <a:p>
            <a:pPr lvl="1"/>
            <a:r>
              <a:rPr lang="en-US" sz="2400" dirty="0" err="1" smtClean="0"/>
              <a:t>Mọi</a:t>
            </a:r>
            <a:r>
              <a:rPr lang="en-US" sz="2400" dirty="0" smtClean="0"/>
              <a:t> </a:t>
            </a:r>
            <a:r>
              <a:rPr lang="en-US" sz="2400" dirty="0" err="1" smtClean="0"/>
              <a:t>mức</a:t>
            </a:r>
            <a:r>
              <a:rPr lang="en-US" sz="2400" dirty="0" smtClean="0"/>
              <a:t> </a:t>
            </a:r>
            <a:r>
              <a:rPr lang="en-US" sz="2400" dirty="0" err="1" smtClean="0"/>
              <a:t>đều</a:t>
            </a:r>
            <a:r>
              <a:rPr lang="en-US" sz="2400" dirty="0" smtClean="0"/>
              <a:t> </a:t>
            </a:r>
            <a:r>
              <a:rPr lang="en-US" sz="2400" dirty="0" err="1" smtClean="0"/>
              <a:t>đầy</a:t>
            </a:r>
            <a:r>
              <a:rPr lang="en-US" sz="2400" dirty="0" smtClean="0"/>
              <a:t> </a:t>
            </a:r>
            <a:r>
              <a:rPr lang="en-US" sz="2400" dirty="0" err="1" smtClean="0"/>
              <a:t>đủ</a:t>
            </a:r>
            <a:r>
              <a:rPr lang="en-US" sz="2400" dirty="0" smtClean="0"/>
              <a:t> </a:t>
            </a:r>
            <a:r>
              <a:rPr lang="en-US" sz="2400" dirty="0" err="1" smtClean="0"/>
              <a:t>ngoại</a:t>
            </a:r>
            <a:r>
              <a:rPr lang="en-US" sz="2400" dirty="0" smtClean="0"/>
              <a:t> </a:t>
            </a:r>
            <a:r>
              <a:rPr lang="en-US" sz="2400" dirty="0" err="1" smtClean="0"/>
              <a:t>trừ</a:t>
            </a:r>
            <a:r>
              <a:rPr lang="en-US" sz="2400" dirty="0" smtClean="0"/>
              <a:t> </a:t>
            </a:r>
            <a:r>
              <a:rPr lang="en-US" sz="2400" dirty="0" err="1" smtClean="0"/>
              <a:t>mức</a:t>
            </a:r>
            <a:r>
              <a:rPr lang="en-US" sz="2400" dirty="0" smtClean="0"/>
              <a:t> </a:t>
            </a:r>
            <a:r>
              <a:rPr lang="en-US" sz="2400" dirty="0" err="1" smtClean="0"/>
              <a:t>thấp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endParaRPr lang="en-US" sz="2400" dirty="0"/>
          </a:p>
          <a:p>
            <a:pPr lvl="1"/>
            <a:r>
              <a:rPr lang="en-US" sz="2400" dirty="0" err="1" smtClean="0"/>
              <a:t>Tất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ở</a:t>
            </a:r>
            <a:r>
              <a:rPr lang="en-US" sz="2400" dirty="0" smtClean="0"/>
              <a:t> </a:t>
            </a:r>
            <a:r>
              <a:rPr lang="en-US" sz="2400" dirty="0" err="1" smtClean="0"/>
              <a:t>mức</a:t>
            </a:r>
            <a:r>
              <a:rPr lang="en-US" sz="2400" dirty="0" smtClean="0"/>
              <a:t> </a:t>
            </a:r>
            <a:r>
              <a:rPr lang="en-US" sz="2400" dirty="0" err="1" smtClean="0"/>
              <a:t>thấp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r>
              <a:rPr lang="en-US" sz="2400" dirty="0" smtClean="0"/>
              <a:t> </a:t>
            </a:r>
            <a:r>
              <a:rPr lang="en-US" sz="2400" dirty="0" err="1" smtClean="0"/>
              <a:t>xuất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lần</a:t>
            </a:r>
            <a:r>
              <a:rPr lang="en-US" sz="2400" dirty="0" smtClean="0"/>
              <a:t> </a:t>
            </a:r>
            <a:r>
              <a:rPr lang="en-US" sz="2400" dirty="0" err="1" smtClean="0"/>
              <a:t>lượt</a:t>
            </a:r>
            <a:r>
              <a:rPr lang="en-US" sz="2400" dirty="0" smtClean="0"/>
              <a:t>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 err="1" smtClean="0"/>
              <a:t>trái</a:t>
            </a:r>
            <a:r>
              <a:rPr lang="en-US" sz="2400" dirty="0" smtClean="0"/>
              <a:t> qua </a:t>
            </a:r>
            <a:r>
              <a:rPr lang="en-US" sz="2400" dirty="0" err="1" smtClean="0"/>
              <a:t>phải</a:t>
            </a:r>
            <a:endParaRPr lang="en-US" sz="2400" dirty="0"/>
          </a:p>
          <a:p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951628" y="3810000"/>
            <a:ext cx="3315572" cy="2667000"/>
            <a:chOff x="288709" y="1972731"/>
            <a:chExt cx="3888008" cy="3127459"/>
          </a:xfrm>
        </p:grpSpPr>
        <p:grpSp>
          <p:nvGrpSpPr>
            <p:cNvPr id="7" name="Group 6"/>
            <p:cNvGrpSpPr/>
            <p:nvPr/>
          </p:nvGrpSpPr>
          <p:grpSpPr>
            <a:xfrm>
              <a:off x="838200" y="1972731"/>
              <a:ext cx="3338517" cy="3109918"/>
              <a:chOff x="5422908" y="3117854"/>
              <a:chExt cx="3338517" cy="3109918"/>
            </a:xfrm>
          </p:grpSpPr>
          <p:grpSp>
            <p:nvGrpSpPr>
              <p:cNvPr id="10" name="Group 9"/>
              <p:cNvGrpSpPr>
                <a:grpSpLocks/>
              </p:cNvGrpSpPr>
              <p:nvPr/>
            </p:nvGrpSpPr>
            <p:grpSpPr bwMode="auto">
              <a:xfrm>
                <a:off x="6924685" y="3117854"/>
                <a:ext cx="339726" cy="376238"/>
                <a:chOff x="4362" y="1964"/>
                <a:chExt cx="214" cy="237"/>
              </a:xfrm>
            </p:grpSpPr>
            <p:sp>
              <p:nvSpPr>
                <p:cNvPr id="53" name="AutoShape 7"/>
                <p:cNvSpPr>
                  <a:spLocks noChangeArrowheads="1"/>
                </p:cNvSpPr>
                <p:nvPr/>
              </p:nvSpPr>
              <p:spPr bwMode="auto">
                <a:xfrm>
                  <a:off x="4362" y="1964"/>
                  <a:ext cx="214" cy="237"/>
                </a:xfrm>
                <a:prstGeom prst="roundRect">
                  <a:avLst>
                    <a:gd name="adj" fmla="val 1681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4" name="Group 8"/>
                <p:cNvGrpSpPr>
                  <a:grpSpLocks/>
                </p:cNvGrpSpPr>
                <p:nvPr/>
              </p:nvGrpSpPr>
              <p:grpSpPr bwMode="auto">
                <a:xfrm>
                  <a:off x="4374" y="1976"/>
                  <a:ext cx="191" cy="214"/>
                  <a:chOff x="4374" y="1976"/>
                  <a:chExt cx="191" cy="214"/>
                </a:xfrm>
              </p:grpSpPr>
              <p:sp>
                <p:nvSpPr>
                  <p:cNvPr id="55" name="AutoShape 9"/>
                  <p:cNvSpPr>
                    <a:spLocks noChangeArrowheads="1"/>
                  </p:cNvSpPr>
                  <p:nvPr/>
                </p:nvSpPr>
                <p:spPr bwMode="auto">
                  <a:xfrm>
                    <a:off x="4374" y="1976"/>
                    <a:ext cx="191" cy="214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6" name="AutoShape 10"/>
                  <p:cNvSpPr>
                    <a:spLocks noChangeArrowheads="1"/>
                  </p:cNvSpPr>
                  <p:nvPr/>
                </p:nvSpPr>
                <p:spPr bwMode="auto">
                  <a:xfrm>
                    <a:off x="4412" y="1981"/>
                    <a:ext cx="115" cy="204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11" name="Group 11"/>
              <p:cNvGrpSpPr>
                <a:grpSpLocks/>
              </p:cNvGrpSpPr>
              <p:nvPr/>
            </p:nvGrpSpPr>
            <p:grpSpPr bwMode="auto">
              <a:xfrm>
                <a:off x="5938829" y="4032255"/>
                <a:ext cx="336549" cy="376238"/>
                <a:chOff x="3741" y="2540"/>
                <a:chExt cx="212" cy="237"/>
              </a:xfrm>
            </p:grpSpPr>
            <p:sp>
              <p:nvSpPr>
                <p:cNvPr id="49" name="AutoShape 12"/>
                <p:cNvSpPr>
                  <a:spLocks noChangeArrowheads="1"/>
                </p:cNvSpPr>
                <p:nvPr/>
              </p:nvSpPr>
              <p:spPr bwMode="auto">
                <a:xfrm>
                  <a:off x="3741" y="2540"/>
                  <a:ext cx="212" cy="237"/>
                </a:xfrm>
                <a:prstGeom prst="roundRect">
                  <a:avLst>
                    <a:gd name="adj" fmla="val 1650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0" name="Group 13"/>
                <p:cNvGrpSpPr>
                  <a:grpSpLocks/>
                </p:cNvGrpSpPr>
                <p:nvPr/>
              </p:nvGrpSpPr>
              <p:grpSpPr bwMode="auto">
                <a:xfrm>
                  <a:off x="3753" y="2552"/>
                  <a:ext cx="189" cy="214"/>
                  <a:chOff x="3753" y="2552"/>
                  <a:chExt cx="189" cy="214"/>
                </a:xfrm>
              </p:grpSpPr>
              <p:sp>
                <p:nvSpPr>
                  <p:cNvPr id="51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3753" y="2552"/>
                    <a:ext cx="189" cy="214"/>
                  </a:xfrm>
                  <a:prstGeom prst="roundRect">
                    <a:avLst>
                      <a:gd name="adj" fmla="val 528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3790" y="2557"/>
                    <a:ext cx="115" cy="204"/>
                  </a:xfrm>
                  <a:prstGeom prst="roundRect">
                    <a:avLst>
                      <a:gd name="adj" fmla="val 528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12" name="Group 16"/>
              <p:cNvGrpSpPr>
                <a:grpSpLocks/>
              </p:cNvGrpSpPr>
              <p:nvPr/>
            </p:nvGrpSpPr>
            <p:grpSpPr bwMode="auto">
              <a:xfrm>
                <a:off x="7905762" y="4030668"/>
                <a:ext cx="339726" cy="379413"/>
                <a:chOff x="4980" y="2539"/>
                <a:chExt cx="214" cy="239"/>
              </a:xfrm>
            </p:grpSpPr>
            <p:sp>
              <p:nvSpPr>
                <p:cNvPr id="45" name="AutoShape 17"/>
                <p:cNvSpPr>
                  <a:spLocks noChangeArrowheads="1"/>
                </p:cNvSpPr>
                <p:nvPr/>
              </p:nvSpPr>
              <p:spPr bwMode="auto">
                <a:xfrm>
                  <a:off x="4980" y="2539"/>
                  <a:ext cx="214" cy="239"/>
                </a:xfrm>
                <a:prstGeom prst="roundRect">
                  <a:avLst>
                    <a:gd name="adj" fmla="val 1681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6" name="Group 18"/>
                <p:cNvGrpSpPr>
                  <a:grpSpLocks/>
                </p:cNvGrpSpPr>
                <p:nvPr/>
              </p:nvGrpSpPr>
              <p:grpSpPr bwMode="auto">
                <a:xfrm>
                  <a:off x="4992" y="2551"/>
                  <a:ext cx="191" cy="216"/>
                  <a:chOff x="4992" y="2551"/>
                  <a:chExt cx="191" cy="216"/>
                </a:xfrm>
              </p:grpSpPr>
              <p:sp>
                <p:nvSpPr>
                  <p:cNvPr id="47" name="AutoShape 19"/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2551"/>
                    <a:ext cx="191" cy="216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AutoShape 20"/>
                  <p:cNvSpPr>
                    <a:spLocks noChangeArrowheads="1"/>
                  </p:cNvSpPr>
                  <p:nvPr/>
                </p:nvSpPr>
                <p:spPr bwMode="auto">
                  <a:xfrm>
                    <a:off x="5030" y="2557"/>
                    <a:ext cx="115" cy="204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13" name="Group 21"/>
              <p:cNvGrpSpPr>
                <a:grpSpLocks/>
              </p:cNvGrpSpPr>
              <p:nvPr/>
            </p:nvGrpSpPr>
            <p:grpSpPr bwMode="auto">
              <a:xfrm>
                <a:off x="7424726" y="4945070"/>
                <a:ext cx="320674" cy="379413"/>
                <a:chOff x="4677" y="3115"/>
                <a:chExt cx="202" cy="239"/>
              </a:xfrm>
            </p:grpSpPr>
            <p:sp>
              <p:nvSpPr>
                <p:cNvPr id="41" name="AutoShape 22"/>
                <p:cNvSpPr>
                  <a:spLocks noChangeArrowheads="1"/>
                </p:cNvSpPr>
                <p:nvPr/>
              </p:nvSpPr>
              <p:spPr bwMode="auto">
                <a:xfrm>
                  <a:off x="4677" y="3115"/>
                  <a:ext cx="202" cy="239"/>
                </a:xfrm>
                <a:prstGeom prst="roundRect">
                  <a:avLst>
                    <a:gd name="adj" fmla="val 1682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2" name="Group 23"/>
                <p:cNvGrpSpPr>
                  <a:grpSpLocks/>
                </p:cNvGrpSpPr>
                <p:nvPr/>
              </p:nvGrpSpPr>
              <p:grpSpPr bwMode="auto">
                <a:xfrm>
                  <a:off x="4688" y="3126"/>
                  <a:ext cx="180" cy="217"/>
                  <a:chOff x="4688" y="3126"/>
                  <a:chExt cx="180" cy="217"/>
                </a:xfrm>
              </p:grpSpPr>
              <p:sp>
                <p:nvSpPr>
                  <p:cNvPr id="43" name="AutoShape 24"/>
                  <p:cNvSpPr>
                    <a:spLocks noChangeArrowheads="1"/>
                  </p:cNvSpPr>
                  <p:nvPr/>
                </p:nvSpPr>
                <p:spPr bwMode="auto">
                  <a:xfrm>
                    <a:off x="4688" y="3126"/>
                    <a:ext cx="180" cy="217"/>
                  </a:xfrm>
                  <a:prstGeom prst="roundRect">
                    <a:avLst>
                      <a:gd name="adj" fmla="val 556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4721" y="3133"/>
                    <a:ext cx="115" cy="204"/>
                  </a:xfrm>
                  <a:prstGeom prst="roundRect">
                    <a:avLst>
                      <a:gd name="adj" fmla="val 556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14" name="Group 26"/>
              <p:cNvGrpSpPr>
                <a:grpSpLocks/>
              </p:cNvGrpSpPr>
              <p:nvPr/>
            </p:nvGrpSpPr>
            <p:grpSpPr bwMode="auto">
              <a:xfrm>
                <a:off x="8407412" y="4945070"/>
                <a:ext cx="354013" cy="379413"/>
                <a:chOff x="5296" y="3115"/>
                <a:chExt cx="223" cy="239"/>
              </a:xfrm>
            </p:grpSpPr>
            <p:sp>
              <p:nvSpPr>
                <p:cNvPr id="37" name="AutoShape 27"/>
                <p:cNvSpPr>
                  <a:spLocks noChangeArrowheads="1"/>
                </p:cNvSpPr>
                <p:nvPr/>
              </p:nvSpPr>
              <p:spPr bwMode="auto">
                <a:xfrm>
                  <a:off x="5296" y="3115"/>
                  <a:ext cx="223" cy="23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8" name="Group 28"/>
                <p:cNvGrpSpPr>
                  <a:grpSpLocks/>
                </p:cNvGrpSpPr>
                <p:nvPr/>
              </p:nvGrpSpPr>
              <p:grpSpPr bwMode="auto">
                <a:xfrm>
                  <a:off x="5308" y="3127"/>
                  <a:ext cx="199" cy="215"/>
                  <a:chOff x="5308" y="3127"/>
                  <a:chExt cx="199" cy="215"/>
                </a:xfrm>
              </p:grpSpPr>
              <p:sp>
                <p:nvSpPr>
                  <p:cNvPr id="39" name="AutoShape 29"/>
                  <p:cNvSpPr>
                    <a:spLocks noChangeArrowheads="1"/>
                  </p:cNvSpPr>
                  <p:nvPr/>
                </p:nvSpPr>
                <p:spPr bwMode="auto">
                  <a:xfrm>
                    <a:off x="5308" y="3127"/>
                    <a:ext cx="199" cy="215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AutoShape 30"/>
                  <p:cNvSpPr>
                    <a:spLocks noChangeArrowheads="1"/>
                  </p:cNvSpPr>
                  <p:nvPr/>
                </p:nvSpPr>
                <p:spPr bwMode="auto">
                  <a:xfrm>
                    <a:off x="5350" y="3133"/>
                    <a:ext cx="115" cy="204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15" name="Group 31"/>
              <p:cNvGrpSpPr>
                <a:grpSpLocks/>
              </p:cNvGrpSpPr>
              <p:nvPr/>
            </p:nvGrpSpPr>
            <p:grpSpPr bwMode="auto">
              <a:xfrm>
                <a:off x="5422908" y="4943482"/>
                <a:ext cx="355601" cy="379413"/>
                <a:chOff x="3416" y="3114"/>
                <a:chExt cx="224" cy="239"/>
              </a:xfrm>
            </p:grpSpPr>
            <p:sp>
              <p:nvSpPr>
                <p:cNvPr id="33" name="AutoShape 32"/>
                <p:cNvSpPr>
                  <a:spLocks noChangeArrowheads="1"/>
                </p:cNvSpPr>
                <p:nvPr/>
              </p:nvSpPr>
              <p:spPr bwMode="auto">
                <a:xfrm>
                  <a:off x="3416" y="3114"/>
                  <a:ext cx="224" cy="239"/>
                </a:xfrm>
                <a:prstGeom prst="roundRect">
                  <a:avLst>
                    <a:gd name="adj" fmla="val 16514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4" name="Group 33"/>
                <p:cNvGrpSpPr>
                  <a:grpSpLocks/>
                </p:cNvGrpSpPr>
                <p:nvPr/>
              </p:nvGrpSpPr>
              <p:grpSpPr bwMode="auto">
                <a:xfrm>
                  <a:off x="3429" y="3127"/>
                  <a:ext cx="199" cy="214"/>
                  <a:chOff x="3429" y="3127"/>
                  <a:chExt cx="199" cy="214"/>
                </a:xfrm>
              </p:grpSpPr>
              <p:sp>
                <p:nvSpPr>
                  <p:cNvPr id="35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3429" y="3127"/>
                    <a:ext cx="199" cy="214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AutoShape 35"/>
                  <p:cNvSpPr>
                    <a:spLocks noChangeArrowheads="1"/>
                  </p:cNvSpPr>
                  <p:nvPr/>
                </p:nvSpPr>
                <p:spPr bwMode="auto">
                  <a:xfrm>
                    <a:off x="3471" y="3132"/>
                    <a:ext cx="115" cy="204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16" name="Group 36"/>
              <p:cNvGrpSpPr>
                <a:grpSpLocks/>
              </p:cNvGrpSpPr>
              <p:nvPr/>
            </p:nvGrpSpPr>
            <p:grpSpPr bwMode="auto">
              <a:xfrm>
                <a:off x="6450023" y="4945070"/>
                <a:ext cx="328613" cy="379413"/>
                <a:chOff x="4063" y="3115"/>
                <a:chExt cx="207" cy="239"/>
              </a:xfrm>
            </p:grpSpPr>
            <p:sp>
              <p:nvSpPr>
                <p:cNvPr id="29" name="AutoShape 37"/>
                <p:cNvSpPr>
                  <a:spLocks noChangeArrowheads="1"/>
                </p:cNvSpPr>
                <p:nvPr/>
              </p:nvSpPr>
              <p:spPr bwMode="auto">
                <a:xfrm>
                  <a:off x="4063" y="3115"/>
                  <a:ext cx="207" cy="239"/>
                </a:xfrm>
                <a:prstGeom prst="roundRect">
                  <a:avLst>
                    <a:gd name="adj" fmla="val 16505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0" name="Group 38"/>
                <p:cNvGrpSpPr>
                  <a:grpSpLocks/>
                </p:cNvGrpSpPr>
                <p:nvPr/>
              </p:nvGrpSpPr>
              <p:grpSpPr bwMode="auto">
                <a:xfrm>
                  <a:off x="4075" y="3127"/>
                  <a:ext cx="184" cy="216"/>
                  <a:chOff x="4075" y="3127"/>
                  <a:chExt cx="184" cy="216"/>
                </a:xfrm>
              </p:grpSpPr>
              <p:sp>
                <p:nvSpPr>
                  <p:cNvPr id="31" name="AutoShape 39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3127"/>
                    <a:ext cx="184" cy="216"/>
                  </a:xfrm>
                  <a:prstGeom prst="roundRect">
                    <a:avLst>
                      <a:gd name="adj" fmla="val 542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AutoShape 40"/>
                  <p:cNvSpPr>
                    <a:spLocks noChangeArrowheads="1"/>
                  </p:cNvSpPr>
                  <p:nvPr/>
                </p:nvSpPr>
                <p:spPr bwMode="auto">
                  <a:xfrm>
                    <a:off x="4110" y="3133"/>
                    <a:ext cx="115" cy="204"/>
                  </a:xfrm>
                  <a:prstGeom prst="roundRect">
                    <a:avLst>
                      <a:gd name="adj" fmla="val 542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cxnSp>
            <p:nvCxnSpPr>
              <p:cNvPr id="17" name="AutoShape 41"/>
              <p:cNvCxnSpPr>
                <a:cxnSpLocks noChangeShapeType="1"/>
                <a:stCxn id="53" idx="2"/>
                <a:endCxn id="49" idx="0"/>
              </p:cNvCxnSpPr>
              <p:nvPr/>
            </p:nvCxnSpPr>
            <p:spPr bwMode="auto">
              <a:xfrm flipH="1">
                <a:off x="6107113" y="3494088"/>
                <a:ext cx="987425" cy="538162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42"/>
              <p:cNvCxnSpPr>
                <a:cxnSpLocks noChangeShapeType="1"/>
                <a:stCxn id="53" idx="2"/>
                <a:endCxn id="45" idx="0"/>
              </p:cNvCxnSpPr>
              <p:nvPr/>
            </p:nvCxnSpPr>
            <p:spPr bwMode="auto">
              <a:xfrm>
                <a:off x="7094538" y="3494088"/>
                <a:ext cx="981075" cy="536575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43"/>
              <p:cNvCxnSpPr>
                <a:cxnSpLocks noChangeShapeType="1"/>
                <a:stCxn id="45" idx="2"/>
                <a:endCxn id="37" idx="0"/>
              </p:cNvCxnSpPr>
              <p:nvPr/>
            </p:nvCxnSpPr>
            <p:spPr bwMode="auto">
              <a:xfrm>
                <a:off x="8075613" y="4410075"/>
                <a:ext cx="509587" cy="534988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44"/>
              <p:cNvCxnSpPr>
                <a:cxnSpLocks noChangeShapeType="1"/>
                <a:stCxn id="45" idx="2"/>
                <a:endCxn id="41" idx="0"/>
              </p:cNvCxnSpPr>
              <p:nvPr/>
            </p:nvCxnSpPr>
            <p:spPr bwMode="auto">
              <a:xfrm flipH="1">
                <a:off x="7585075" y="4410075"/>
                <a:ext cx="490538" cy="534988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45"/>
              <p:cNvCxnSpPr>
                <a:cxnSpLocks noChangeShapeType="1"/>
                <a:stCxn id="49" idx="2"/>
                <a:endCxn id="29" idx="0"/>
              </p:cNvCxnSpPr>
              <p:nvPr/>
            </p:nvCxnSpPr>
            <p:spPr bwMode="auto">
              <a:xfrm>
                <a:off x="6107113" y="4408488"/>
                <a:ext cx="508000" cy="536575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46"/>
              <p:cNvCxnSpPr>
                <a:cxnSpLocks noChangeShapeType="1"/>
                <a:stCxn id="49" idx="2"/>
                <a:endCxn id="33" idx="0"/>
              </p:cNvCxnSpPr>
              <p:nvPr/>
            </p:nvCxnSpPr>
            <p:spPr bwMode="auto">
              <a:xfrm flipH="1">
                <a:off x="5600700" y="4408488"/>
                <a:ext cx="506413" cy="534987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3" name="Group 49"/>
              <p:cNvGrpSpPr>
                <a:grpSpLocks/>
              </p:cNvGrpSpPr>
              <p:nvPr/>
            </p:nvGrpSpPr>
            <p:grpSpPr bwMode="auto">
              <a:xfrm>
                <a:off x="6088073" y="5884872"/>
                <a:ext cx="315913" cy="338138"/>
                <a:chOff x="3835" y="3707"/>
                <a:chExt cx="199" cy="213"/>
              </a:xfrm>
            </p:grpSpPr>
            <p:sp>
              <p:nvSpPr>
                <p:cNvPr id="27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  <p:grpSp>
            <p:nvGrpSpPr>
              <p:cNvPr id="24" name="Group 55"/>
              <p:cNvGrpSpPr>
                <a:grpSpLocks/>
              </p:cNvGrpSpPr>
              <p:nvPr/>
            </p:nvGrpSpPr>
            <p:grpSpPr bwMode="auto">
              <a:xfrm>
                <a:off x="6821502" y="5880109"/>
                <a:ext cx="255588" cy="347663"/>
                <a:chOff x="4297" y="3704"/>
                <a:chExt cx="161" cy="219"/>
              </a:xfrm>
            </p:grpSpPr>
            <p:sp>
              <p:nvSpPr>
                <p:cNvPr id="25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AutoShape 57"/>
                <p:cNvSpPr>
                  <a:spLocks noChangeArrowheads="1"/>
                </p:cNvSpPr>
                <p:nvPr/>
              </p:nvSpPr>
              <p:spPr bwMode="auto">
                <a:xfrm>
                  <a:off x="4320" y="3712"/>
                  <a:ext cx="115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sp>
          <p:nvSpPr>
            <p:cNvPr id="8" name="AutoShape 32"/>
            <p:cNvSpPr>
              <a:spLocks noChangeArrowheads="1"/>
            </p:cNvSpPr>
            <p:nvPr/>
          </p:nvSpPr>
          <p:spPr bwMode="auto">
            <a:xfrm>
              <a:off x="288709" y="4720777"/>
              <a:ext cx="355601" cy="379413"/>
            </a:xfrm>
            <a:prstGeom prst="roundRect">
              <a:avLst>
                <a:gd name="adj" fmla="val 16514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80">
              <a:solidFill>
                <a:srgbClr val="40458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9" name="AutoShape 46"/>
            <p:cNvCxnSpPr>
              <a:cxnSpLocks noChangeShapeType="1"/>
              <a:endCxn id="8" idx="0"/>
            </p:cNvCxnSpPr>
            <p:nvPr/>
          </p:nvCxnSpPr>
          <p:spPr bwMode="auto">
            <a:xfrm flipH="1">
              <a:off x="466501" y="4185783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7" name="Group 56"/>
          <p:cNvGrpSpPr/>
          <p:nvPr/>
        </p:nvGrpSpPr>
        <p:grpSpPr>
          <a:xfrm>
            <a:off x="4903492" y="3810000"/>
            <a:ext cx="3314307" cy="2667000"/>
            <a:chOff x="4736201" y="1906760"/>
            <a:chExt cx="3870322" cy="3114422"/>
          </a:xfrm>
        </p:grpSpPr>
        <p:grpSp>
          <p:nvGrpSpPr>
            <p:cNvPr id="58" name="Group 57"/>
            <p:cNvGrpSpPr/>
            <p:nvPr/>
          </p:nvGrpSpPr>
          <p:grpSpPr>
            <a:xfrm>
              <a:off x="5268006" y="1906760"/>
              <a:ext cx="3338517" cy="3109918"/>
              <a:chOff x="5422908" y="3117854"/>
              <a:chExt cx="3338517" cy="3109918"/>
            </a:xfrm>
          </p:grpSpPr>
          <p:grpSp>
            <p:nvGrpSpPr>
              <p:cNvPr id="63" name="Group 62"/>
              <p:cNvGrpSpPr>
                <a:grpSpLocks/>
              </p:cNvGrpSpPr>
              <p:nvPr/>
            </p:nvGrpSpPr>
            <p:grpSpPr bwMode="auto">
              <a:xfrm>
                <a:off x="6924685" y="3117854"/>
                <a:ext cx="339726" cy="376238"/>
                <a:chOff x="4362" y="1964"/>
                <a:chExt cx="214" cy="237"/>
              </a:xfrm>
            </p:grpSpPr>
            <p:sp>
              <p:nvSpPr>
                <p:cNvPr id="103" name="AutoShape 7"/>
                <p:cNvSpPr>
                  <a:spLocks noChangeArrowheads="1"/>
                </p:cNvSpPr>
                <p:nvPr/>
              </p:nvSpPr>
              <p:spPr bwMode="auto">
                <a:xfrm>
                  <a:off x="4362" y="1964"/>
                  <a:ext cx="214" cy="237"/>
                </a:xfrm>
                <a:prstGeom prst="roundRect">
                  <a:avLst>
                    <a:gd name="adj" fmla="val 1681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4" name="Group 8"/>
                <p:cNvGrpSpPr>
                  <a:grpSpLocks/>
                </p:cNvGrpSpPr>
                <p:nvPr/>
              </p:nvGrpSpPr>
              <p:grpSpPr bwMode="auto">
                <a:xfrm>
                  <a:off x="4374" y="1976"/>
                  <a:ext cx="191" cy="214"/>
                  <a:chOff x="4374" y="1976"/>
                  <a:chExt cx="191" cy="214"/>
                </a:xfrm>
              </p:grpSpPr>
              <p:sp>
                <p:nvSpPr>
                  <p:cNvPr id="105" name="AutoShape 9"/>
                  <p:cNvSpPr>
                    <a:spLocks noChangeArrowheads="1"/>
                  </p:cNvSpPr>
                  <p:nvPr/>
                </p:nvSpPr>
                <p:spPr bwMode="auto">
                  <a:xfrm>
                    <a:off x="4374" y="1976"/>
                    <a:ext cx="191" cy="214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6" name="AutoShape 10"/>
                  <p:cNvSpPr>
                    <a:spLocks noChangeArrowheads="1"/>
                  </p:cNvSpPr>
                  <p:nvPr/>
                </p:nvSpPr>
                <p:spPr bwMode="auto">
                  <a:xfrm>
                    <a:off x="4412" y="1981"/>
                    <a:ext cx="115" cy="204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64" name="Group 11"/>
              <p:cNvGrpSpPr>
                <a:grpSpLocks/>
              </p:cNvGrpSpPr>
              <p:nvPr/>
            </p:nvGrpSpPr>
            <p:grpSpPr bwMode="auto">
              <a:xfrm>
                <a:off x="5938829" y="4032255"/>
                <a:ext cx="336549" cy="376238"/>
                <a:chOff x="3741" y="2540"/>
                <a:chExt cx="212" cy="237"/>
              </a:xfrm>
            </p:grpSpPr>
            <p:sp>
              <p:nvSpPr>
                <p:cNvPr id="99" name="AutoShape 12"/>
                <p:cNvSpPr>
                  <a:spLocks noChangeArrowheads="1"/>
                </p:cNvSpPr>
                <p:nvPr/>
              </p:nvSpPr>
              <p:spPr bwMode="auto">
                <a:xfrm>
                  <a:off x="3741" y="2540"/>
                  <a:ext cx="212" cy="237"/>
                </a:xfrm>
                <a:prstGeom prst="roundRect">
                  <a:avLst>
                    <a:gd name="adj" fmla="val 1650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0" name="Group 13"/>
                <p:cNvGrpSpPr>
                  <a:grpSpLocks/>
                </p:cNvGrpSpPr>
                <p:nvPr/>
              </p:nvGrpSpPr>
              <p:grpSpPr bwMode="auto">
                <a:xfrm>
                  <a:off x="3753" y="2552"/>
                  <a:ext cx="189" cy="214"/>
                  <a:chOff x="3753" y="2552"/>
                  <a:chExt cx="189" cy="214"/>
                </a:xfrm>
              </p:grpSpPr>
              <p:sp>
                <p:nvSpPr>
                  <p:cNvPr id="101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3753" y="2552"/>
                    <a:ext cx="189" cy="214"/>
                  </a:xfrm>
                  <a:prstGeom prst="roundRect">
                    <a:avLst>
                      <a:gd name="adj" fmla="val 528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2" name="AutoShape 15"/>
                  <p:cNvSpPr>
                    <a:spLocks noChangeArrowheads="1"/>
                  </p:cNvSpPr>
                  <p:nvPr/>
                </p:nvSpPr>
                <p:spPr bwMode="auto">
                  <a:xfrm>
                    <a:off x="3790" y="2557"/>
                    <a:ext cx="115" cy="204"/>
                  </a:xfrm>
                  <a:prstGeom prst="roundRect">
                    <a:avLst>
                      <a:gd name="adj" fmla="val 528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65" name="Group 16"/>
              <p:cNvGrpSpPr>
                <a:grpSpLocks/>
              </p:cNvGrpSpPr>
              <p:nvPr/>
            </p:nvGrpSpPr>
            <p:grpSpPr bwMode="auto">
              <a:xfrm>
                <a:off x="7905762" y="4030668"/>
                <a:ext cx="339726" cy="379413"/>
                <a:chOff x="4980" y="2539"/>
                <a:chExt cx="214" cy="239"/>
              </a:xfrm>
            </p:grpSpPr>
            <p:sp>
              <p:nvSpPr>
                <p:cNvPr id="95" name="AutoShape 17"/>
                <p:cNvSpPr>
                  <a:spLocks noChangeArrowheads="1"/>
                </p:cNvSpPr>
                <p:nvPr/>
              </p:nvSpPr>
              <p:spPr bwMode="auto">
                <a:xfrm>
                  <a:off x="4980" y="2539"/>
                  <a:ext cx="214" cy="239"/>
                </a:xfrm>
                <a:prstGeom prst="roundRect">
                  <a:avLst>
                    <a:gd name="adj" fmla="val 1681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6" name="Group 18"/>
                <p:cNvGrpSpPr>
                  <a:grpSpLocks/>
                </p:cNvGrpSpPr>
                <p:nvPr/>
              </p:nvGrpSpPr>
              <p:grpSpPr bwMode="auto">
                <a:xfrm>
                  <a:off x="4992" y="2551"/>
                  <a:ext cx="191" cy="216"/>
                  <a:chOff x="4992" y="2551"/>
                  <a:chExt cx="191" cy="216"/>
                </a:xfrm>
              </p:grpSpPr>
              <p:sp>
                <p:nvSpPr>
                  <p:cNvPr id="97" name="AutoShape 19"/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2551"/>
                    <a:ext cx="191" cy="216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8" name="AutoShape 20"/>
                  <p:cNvSpPr>
                    <a:spLocks noChangeArrowheads="1"/>
                  </p:cNvSpPr>
                  <p:nvPr/>
                </p:nvSpPr>
                <p:spPr bwMode="auto">
                  <a:xfrm>
                    <a:off x="5030" y="2557"/>
                    <a:ext cx="115" cy="204"/>
                  </a:xfrm>
                  <a:prstGeom prst="roundRect">
                    <a:avLst>
                      <a:gd name="adj" fmla="val 523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66" name="Group 21"/>
              <p:cNvGrpSpPr>
                <a:grpSpLocks/>
              </p:cNvGrpSpPr>
              <p:nvPr/>
            </p:nvGrpSpPr>
            <p:grpSpPr bwMode="auto">
              <a:xfrm>
                <a:off x="7424726" y="4945070"/>
                <a:ext cx="320674" cy="379413"/>
                <a:chOff x="4677" y="3115"/>
                <a:chExt cx="202" cy="239"/>
              </a:xfrm>
            </p:grpSpPr>
            <p:sp>
              <p:nvSpPr>
                <p:cNvPr id="91" name="AutoShape 22"/>
                <p:cNvSpPr>
                  <a:spLocks noChangeArrowheads="1"/>
                </p:cNvSpPr>
                <p:nvPr/>
              </p:nvSpPr>
              <p:spPr bwMode="auto">
                <a:xfrm>
                  <a:off x="4677" y="3115"/>
                  <a:ext cx="202" cy="239"/>
                </a:xfrm>
                <a:prstGeom prst="roundRect">
                  <a:avLst>
                    <a:gd name="adj" fmla="val 1682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2" name="Group 23"/>
                <p:cNvGrpSpPr>
                  <a:grpSpLocks/>
                </p:cNvGrpSpPr>
                <p:nvPr/>
              </p:nvGrpSpPr>
              <p:grpSpPr bwMode="auto">
                <a:xfrm>
                  <a:off x="4688" y="3126"/>
                  <a:ext cx="180" cy="217"/>
                  <a:chOff x="4688" y="3126"/>
                  <a:chExt cx="180" cy="217"/>
                </a:xfrm>
              </p:grpSpPr>
              <p:sp>
                <p:nvSpPr>
                  <p:cNvPr id="93" name="AutoShape 24"/>
                  <p:cNvSpPr>
                    <a:spLocks noChangeArrowheads="1"/>
                  </p:cNvSpPr>
                  <p:nvPr/>
                </p:nvSpPr>
                <p:spPr bwMode="auto">
                  <a:xfrm>
                    <a:off x="4688" y="3126"/>
                    <a:ext cx="180" cy="217"/>
                  </a:xfrm>
                  <a:prstGeom prst="roundRect">
                    <a:avLst>
                      <a:gd name="adj" fmla="val 556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4721" y="3133"/>
                    <a:ext cx="115" cy="204"/>
                  </a:xfrm>
                  <a:prstGeom prst="roundRect">
                    <a:avLst>
                      <a:gd name="adj" fmla="val 556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67" name="Group 26"/>
              <p:cNvGrpSpPr>
                <a:grpSpLocks/>
              </p:cNvGrpSpPr>
              <p:nvPr/>
            </p:nvGrpSpPr>
            <p:grpSpPr bwMode="auto">
              <a:xfrm>
                <a:off x="8407412" y="4945070"/>
                <a:ext cx="354013" cy="379413"/>
                <a:chOff x="5296" y="3115"/>
                <a:chExt cx="223" cy="239"/>
              </a:xfrm>
            </p:grpSpPr>
            <p:sp>
              <p:nvSpPr>
                <p:cNvPr id="87" name="AutoShape 27"/>
                <p:cNvSpPr>
                  <a:spLocks noChangeArrowheads="1"/>
                </p:cNvSpPr>
                <p:nvPr/>
              </p:nvSpPr>
              <p:spPr bwMode="auto">
                <a:xfrm>
                  <a:off x="5296" y="3115"/>
                  <a:ext cx="223" cy="23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88" name="Group 28"/>
                <p:cNvGrpSpPr>
                  <a:grpSpLocks/>
                </p:cNvGrpSpPr>
                <p:nvPr/>
              </p:nvGrpSpPr>
              <p:grpSpPr bwMode="auto">
                <a:xfrm>
                  <a:off x="5308" y="3127"/>
                  <a:ext cx="199" cy="215"/>
                  <a:chOff x="5308" y="3127"/>
                  <a:chExt cx="199" cy="215"/>
                </a:xfrm>
              </p:grpSpPr>
              <p:sp>
                <p:nvSpPr>
                  <p:cNvPr id="89" name="AutoShape 29"/>
                  <p:cNvSpPr>
                    <a:spLocks noChangeArrowheads="1"/>
                  </p:cNvSpPr>
                  <p:nvPr/>
                </p:nvSpPr>
                <p:spPr bwMode="auto">
                  <a:xfrm>
                    <a:off x="5308" y="3127"/>
                    <a:ext cx="199" cy="215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0" name="AutoShape 30"/>
                  <p:cNvSpPr>
                    <a:spLocks noChangeArrowheads="1"/>
                  </p:cNvSpPr>
                  <p:nvPr/>
                </p:nvSpPr>
                <p:spPr bwMode="auto">
                  <a:xfrm>
                    <a:off x="5350" y="3133"/>
                    <a:ext cx="115" cy="204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68" name="Group 31"/>
              <p:cNvGrpSpPr>
                <a:grpSpLocks/>
              </p:cNvGrpSpPr>
              <p:nvPr/>
            </p:nvGrpSpPr>
            <p:grpSpPr bwMode="auto">
              <a:xfrm>
                <a:off x="5422908" y="4943482"/>
                <a:ext cx="355601" cy="379413"/>
                <a:chOff x="3416" y="3114"/>
                <a:chExt cx="224" cy="239"/>
              </a:xfrm>
            </p:grpSpPr>
            <p:sp>
              <p:nvSpPr>
                <p:cNvPr id="83" name="AutoShape 32"/>
                <p:cNvSpPr>
                  <a:spLocks noChangeArrowheads="1"/>
                </p:cNvSpPr>
                <p:nvPr/>
              </p:nvSpPr>
              <p:spPr bwMode="auto">
                <a:xfrm>
                  <a:off x="3416" y="3114"/>
                  <a:ext cx="224" cy="239"/>
                </a:xfrm>
                <a:prstGeom prst="roundRect">
                  <a:avLst>
                    <a:gd name="adj" fmla="val 16514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80">
                  <a:solidFill>
                    <a:srgbClr val="40458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84" name="Group 33"/>
                <p:cNvGrpSpPr>
                  <a:grpSpLocks/>
                </p:cNvGrpSpPr>
                <p:nvPr/>
              </p:nvGrpSpPr>
              <p:grpSpPr bwMode="auto">
                <a:xfrm>
                  <a:off x="3429" y="3127"/>
                  <a:ext cx="199" cy="214"/>
                  <a:chOff x="3429" y="3127"/>
                  <a:chExt cx="199" cy="214"/>
                </a:xfrm>
              </p:grpSpPr>
              <p:sp>
                <p:nvSpPr>
                  <p:cNvPr id="85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3429" y="3127"/>
                    <a:ext cx="199" cy="214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6" name="AutoShape 35"/>
                  <p:cNvSpPr>
                    <a:spLocks noChangeArrowheads="1"/>
                  </p:cNvSpPr>
                  <p:nvPr/>
                </p:nvSpPr>
                <p:spPr bwMode="auto">
                  <a:xfrm>
                    <a:off x="3471" y="3132"/>
                    <a:ext cx="115" cy="204"/>
                  </a:xfrm>
                  <a:prstGeom prst="roundRect">
                    <a:avLst>
                      <a:gd name="adj" fmla="val 505"/>
                    </a:avLst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pPr algn="ctr" eaLnBrk="1" hangingPunct="1">
                      <a:lnSpc>
                        <a:spcPct val="93000"/>
                      </a:lnSpc>
                      <a:buClr>
                        <a:srgbClr val="40458C"/>
                      </a:buClr>
                      <a:buSzPct val="100000"/>
                      <a:buFont typeface="Tahoma" pitchFamily="34" charset="0"/>
                      <a:buNone/>
                      <a:tabLst>
                        <a:tab pos="0" algn="l"/>
                        <a:tab pos="457200" algn="l"/>
                        <a:tab pos="914400" algn="l"/>
                        <a:tab pos="1371600" algn="l"/>
                        <a:tab pos="1828800" algn="l"/>
                        <a:tab pos="2286000" algn="l"/>
                        <a:tab pos="2743200" algn="l"/>
                        <a:tab pos="3200400" algn="l"/>
                        <a:tab pos="3657600" algn="l"/>
                        <a:tab pos="4114800" algn="l"/>
                        <a:tab pos="4572000" algn="l"/>
                        <a:tab pos="5029200" algn="l"/>
                        <a:tab pos="5486400" algn="l"/>
                        <a:tab pos="5943600" algn="l"/>
                        <a:tab pos="6400800" algn="l"/>
                        <a:tab pos="6858000" algn="l"/>
                        <a:tab pos="7315200" algn="l"/>
                        <a:tab pos="7772400" algn="l"/>
                        <a:tab pos="8229600" algn="l"/>
                        <a:tab pos="8686800" algn="l"/>
                        <a:tab pos="9144000" algn="l"/>
                      </a:tabLst>
                    </a:pPr>
                    <a:endParaRPr lang="en-GB" sz="1600" dirty="0">
                      <a:solidFill>
                        <a:schemeClr val="tx1"/>
                      </a:solidFill>
                      <a:latin typeface="Tahoma" pitchFamily="34" charset="0"/>
                    </a:endParaRPr>
                  </a:p>
                </p:txBody>
              </p:sp>
            </p:grpSp>
          </p:grpSp>
          <p:grpSp>
            <p:nvGrpSpPr>
              <p:cNvPr id="69" name="Group 38"/>
              <p:cNvGrpSpPr>
                <a:grpSpLocks/>
              </p:cNvGrpSpPr>
              <p:nvPr/>
            </p:nvGrpSpPr>
            <p:grpSpPr bwMode="auto">
              <a:xfrm>
                <a:off x="6469063" y="4964113"/>
                <a:ext cx="292100" cy="342900"/>
                <a:chOff x="4075" y="3127"/>
                <a:chExt cx="184" cy="216"/>
              </a:xfrm>
            </p:grpSpPr>
            <p:sp>
              <p:nvSpPr>
                <p:cNvPr id="81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  <p:cxnSp>
            <p:nvCxnSpPr>
              <p:cNvPr id="70" name="AutoShape 41"/>
              <p:cNvCxnSpPr>
                <a:cxnSpLocks noChangeShapeType="1"/>
                <a:stCxn id="103" idx="2"/>
                <a:endCxn id="99" idx="0"/>
              </p:cNvCxnSpPr>
              <p:nvPr/>
            </p:nvCxnSpPr>
            <p:spPr bwMode="auto">
              <a:xfrm flipH="1">
                <a:off x="6107113" y="3494088"/>
                <a:ext cx="987425" cy="538162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AutoShape 42"/>
              <p:cNvCxnSpPr>
                <a:cxnSpLocks noChangeShapeType="1"/>
                <a:stCxn id="103" idx="2"/>
                <a:endCxn id="95" idx="0"/>
              </p:cNvCxnSpPr>
              <p:nvPr/>
            </p:nvCxnSpPr>
            <p:spPr bwMode="auto">
              <a:xfrm>
                <a:off x="7094538" y="3494088"/>
                <a:ext cx="981075" cy="536575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" name="AutoShape 43"/>
              <p:cNvCxnSpPr>
                <a:cxnSpLocks noChangeShapeType="1"/>
                <a:stCxn id="95" idx="2"/>
                <a:endCxn id="87" idx="0"/>
              </p:cNvCxnSpPr>
              <p:nvPr/>
            </p:nvCxnSpPr>
            <p:spPr bwMode="auto">
              <a:xfrm>
                <a:off x="8075613" y="4410075"/>
                <a:ext cx="509587" cy="534988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3" name="AutoShape 44"/>
              <p:cNvCxnSpPr>
                <a:cxnSpLocks noChangeShapeType="1"/>
                <a:stCxn id="95" idx="2"/>
                <a:endCxn id="91" idx="0"/>
              </p:cNvCxnSpPr>
              <p:nvPr/>
            </p:nvCxnSpPr>
            <p:spPr bwMode="auto">
              <a:xfrm flipH="1">
                <a:off x="7585075" y="4410075"/>
                <a:ext cx="490538" cy="534988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4" name="AutoShape 46"/>
              <p:cNvCxnSpPr>
                <a:cxnSpLocks noChangeShapeType="1"/>
                <a:stCxn id="99" idx="2"/>
                <a:endCxn id="83" idx="0"/>
              </p:cNvCxnSpPr>
              <p:nvPr/>
            </p:nvCxnSpPr>
            <p:spPr bwMode="auto">
              <a:xfrm flipH="1">
                <a:off x="5600700" y="4408488"/>
                <a:ext cx="506413" cy="534987"/>
              </a:xfrm>
              <a:prstGeom prst="straightConnector1">
                <a:avLst/>
              </a:prstGeom>
              <a:noFill/>
              <a:ln w="19080">
                <a:solidFill>
                  <a:srgbClr val="40458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5" name="Group 49"/>
              <p:cNvGrpSpPr>
                <a:grpSpLocks/>
              </p:cNvGrpSpPr>
              <p:nvPr/>
            </p:nvGrpSpPr>
            <p:grpSpPr bwMode="auto">
              <a:xfrm>
                <a:off x="6088073" y="5884872"/>
                <a:ext cx="315913" cy="338138"/>
                <a:chOff x="3835" y="3707"/>
                <a:chExt cx="199" cy="213"/>
              </a:xfrm>
            </p:grpSpPr>
            <p:sp>
              <p:nvSpPr>
                <p:cNvPr id="79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  <p:grpSp>
            <p:nvGrpSpPr>
              <p:cNvPr id="76" name="Group 55"/>
              <p:cNvGrpSpPr>
                <a:grpSpLocks/>
              </p:cNvGrpSpPr>
              <p:nvPr/>
            </p:nvGrpSpPr>
            <p:grpSpPr bwMode="auto">
              <a:xfrm>
                <a:off x="6821502" y="5880109"/>
                <a:ext cx="255588" cy="347663"/>
                <a:chOff x="4297" y="3704"/>
                <a:chExt cx="161" cy="219"/>
              </a:xfrm>
            </p:grpSpPr>
            <p:sp>
              <p:nvSpPr>
                <p:cNvPr id="77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AutoShape 57"/>
                <p:cNvSpPr>
                  <a:spLocks noChangeArrowheads="1"/>
                </p:cNvSpPr>
                <p:nvPr/>
              </p:nvSpPr>
              <p:spPr bwMode="auto">
                <a:xfrm>
                  <a:off x="4320" y="3712"/>
                  <a:ext cx="115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sp>
          <p:nvSpPr>
            <p:cNvPr id="59" name="AutoShape 32"/>
            <p:cNvSpPr>
              <a:spLocks noChangeArrowheads="1"/>
            </p:cNvSpPr>
            <p:nvPr/>
          </p:nvSpPr>
          <p:spPr bwMode="auto">
            <a:xfrm>
              <a:off x="4736201" y="4640181"/>
              <a:ext cx="355601" cy="379413"/>
            </a:xfrm>
            <a:prstGeom prst="roundRect">
              <a:avLst>
                <a:gd name="adj" fmla="val 16514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80">
              <a:solidFill>
                <a:srgbClr val="40458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AutoShape 37"/>
            <p:cNvSpPr>
              <a:spLocks noChangeArrowheads="1"/>
            </p:cNvSpPr>
            <p:nvPr/>
          </p:nvSpPr>
          <p:spPr bwMode="auto">
            <a:xfrm>
              <a:off x="5763316" y="4641769"/>
              <a:ext cx="328613" cy="379413"/>
            </a:xfrm>
            <a:prstGeom prst="roundRect">
              <a:avLst>
                <a:gd name="adj" fmla="val 1650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80">
              <a:solidFill>
                <a:srgbClr val="40458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61" name="AutoShape 45"/>
            <p:cNvCxnSpPr>
              <a:cxnSpLocks noChangeShapeType="1"/>
              <a:endCxn id="60" idx="0"/>
            </p:cNvCxnSpPr>
            <p:nvPr/>
          </p:nvCxnSpPr>
          <p:spPr bwMode="auto">
            <a:xfrm>
              <a:off x="5420406" y="4105187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46"/>
            <p:cNvCxnSpPr>
              <a:cxnSpLocks noChangeShapeType="1"/>
              <a:endCxn id="59" idx="0"/>
            </p:cNvCxnSpPr>
            <p:nvPr/>
          </p:nvCxnSpPr>
          <p:spPr bwMode="auto">
            <a:xfrm flipH="1">
              <a:off x="4913993" y="4105187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7" name="TextBox 106"/>
          <p:cNvSpPr txBox="1"/>
          <p:nvPr/>
        </p:nvSpPr>
        <p:spPr>
          <a:xfrm>
            <a:off x="1905000" y="6324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accent1"/>
                </a:solidFill>
              </a:rPr>
              <a:t>Đầy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đủ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 smtClean="0">
                <a:solidFill>
                  <a:schemeClr val="accent1"/>
                </a:solidFill>
              </a:rPr>
              <a:t>trái</a:t>
            </a:r>
            <a:r>
              <a:rPr lang="en-US" dirty="0" smtClean="0">
                <a:solidFill>
                  <a:schemeClr val="accent1"/>
                </a:solidFill>
              </a:rPr>
              <a:t>!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324600" y="63246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đầy</a:t>
            </a:r>
            <a:r>
              <a:rPr lang="en-US" dirty="0" smtClean="0"/>
              <a:t> </a:t>
            </a:r>
            <a:r>
              <a:rPr lang="en-US" dirty="0" err="1" smtClean="0"/>
              <a:t>đủ</a:t>
            </a:r>
            <a:r>
              <a:rPr lang="en-US" dirty="0" smtClean="0"/>
              <a:t> </a:t>
            </a:r>
            <a:r>
              <a:rPr lang="en-US" dirty="0" err="1" smtClean="0"/>
              <a:t>trái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8934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8153400" cy="1524000"/>
          </a:xfrm>
        </p:spPr>
        <p:txBody>
          <a:bodyPr/>
          <a:lstStyle/>
          <a:p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Bi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ểu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diễn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cây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nhị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phân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bởi</a:t>
            </a:r>
            <a:r>
              <a:rPr lang="en-US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 smtClean="0">
                <a:latin typeface="Helvetica" charset="0"/>
                <a:ea typeface="ＭＳ Ｐゴシック" charset="0"/>
                <a:cs typeface="ＭＳ Ｐゴシック" charset="0"/>
              </a:rPr>
              <a:t>mảng</a:t>
            </a:r>
            <a:endParaRPr lang="en-US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686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5257800" cy="609600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Các</a:t>
            </a:r>
            <a:r>
              <a:rPr lang="en-US" sz="28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đỉnh</a:t>
            </a:r>
            <a:r>
              <a:rPr lang="en-US" sz="28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được</a:t>
            </a:r>
            <a:r>
              <a:rPr lang="en-US" sz="28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lưu</a:t>
            </a:r>
            <a:r>
              <a:rPr lang="en-US" sz="28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trữ</a:t>
            </a:r>
            <a:r>
              <a:rPr lang="en-US" sz="28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trong</a:t>
            </a:r>
            <a:r>
              <a:rPr lang="en-US" sz="2800" dirty="0" smtClean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 err="1" smtClean="0">
                <a:latin typeface="Helvetica" charset="0"/>
                <a:ea typeface="ＭＳ Ｐゴシック" charset="0"/>
                <a:cs typeface="ＭＳ Ｐゴシック" charset="0"/>
              </a:rPr>
              <a:t>mảng</a:t>
            </a:r>
            <a:endParaRPr lang="en-US" sz="2800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36867" name="Group 4"/>
          <p:cNvGrpSpPr>
            <a:grpSpLocks/>
          </p:cNvGrpSpPr>
          <p:nvPr/>
        </p:nvGrpSpPr>
        <p:grpSpPr bwMode="auto">
          <a:xfrm>
            <a:off x="990600" y="2552700"/>
            <a:ext cx="5181600" cy="1866900"/>
            <a:chOff x="336" y="1368"/>
            <a:chExt cx="3264" cy="1176"/>
          </a:xfrm>
        </p:grpSpPr>
        <p:sp>
          <p:nvSpPr>
            <p:cNvPr id="36896" name="Line 5"/>
            <p:cNvSpPr>
              <a:spLocks noChangeShapeType="1"/>
            </p:cNvSpPr>
            <p:nvPr/>
          </p:nvSpPr>
          <p:spPr bwMode="auto">
            <a:xfrm>
              <a:off x="3312" y="1632"/>
              <a:ext cx="96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897" name="Line 6"/>
            <p:cNvSpPr>
              <a:spLocks noChangeShapeType="1"/>
            </p:cNvSpPr>
            <p:nvPr/>
          </p:nvSpPr>
          <p:spPr bwMode="auto">
            <a:xfrm>
              <a:off x="2832" y="1632"/>
              <a:ext cx="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898" name="Line 7"/>
            <p:cNvSpPr>
              <a:spLocks noChangeShapeType="1"/>
            </p:cNvSpPr>
            <p:nvPr/>
          </p:nvSpPr>
          <p:spPr bwMode="auto">
            <a:xfrm flipH="1">
              <a:off x="2400" y="1632"/>
              <a:ext cx="48" cy="480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899" name="Line 8"/>
            <p:cNvSpPr>
              <a:spLocks noChangeShapeType="1"/>
            </p:cNvSpPr>
            <p:nvPr/>
          </p:nvSpPr>
          <p:spPr bwMode="auto">
            <a:xfrm>
              <a:off x="1488" y="1632"/>
              <a:ext cx="192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900" name="Line 9"/>
            <p:cNvSpPr>
              <a:spLocks noChangeShapeType="1"/>
            </p:cNvSpPr>
            <p:nvPr/>
          </p:nvSpPr>
          <p:spPr bwMode="auto">
            <a:xfrm>
              <a:off x="1104" y="1632"/>
              <a:ext cx="240" cy="672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36901" name="Line 10"/>
            <p:cNvSpPr>
              <a:spLocks noChangeShapeType="1"/>
            </p:cNvSpPr>
            <p:nvPr/>
          </p:nvSpPr>
          <p:spPr bwMode="auto">
            <a:xfrm>
              <a:off x="624" y="1632"/>
              <a:ext cx="48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36902" name="Group 11"/>
            <p:cNvGrpSpPr>
              <a:grpSpLocks/>
            </p:cNvGrpSpPr>
            <p:nvPr/>
          </p:nvGrpSpPr>
          <p:grpSpPr bwMode="auto">
            <a:xfrm>
              <a:off x="336" y="1368"/>
              <a:ext cx="3264" cy="480"/>
              <a:chOff x="336" y="1608"/>
              <a:chExt cx="3264" cy="480"/>
            </a:xfrm>
          </p:grpSpPr>
          <p:sp>
            <p:nvSpPr>
              <p:cNvPr id="36904" name="AutoShape 12"/>
              <p:cNvSpPr>
                <a:spLocks noChangeArrowheads="1"/>
              </p:cNvSpPr>
              <p:nvPr/>
            </p:nvSpPr>
            <p:spPr bwMode="auto">
              <a:xfrm>
                <a:off x="336" y="1608"/>
                <a:ext cx="3264" cy="480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05" name="Rectangle 13"/>
              <p:cNvSpPr>
                <a:spLocks noChangeArrowheads="1"/>
              </p:cNvSpPr>
              <p:nvPr/>
            </p:nvSpPr>
            <p:spPr bwMode="auto">
              <a:xfrm>
                <a:off x="480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06" name="Rectangle 14"/>
              <p:cNvSpPr>
                <a:spLocks noChangeArrowheads="1"/>
              </p:cNvSpPr>
              <p:nvPr/>
            </p:nvSpPr>
            <p:spPr bwMode="auto">
              <a:xfrm>
                <a:off x="912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07" name="Rectangle 15"/>
              <p:cNvSpPr>
                <a:spLocks noChangeArrowheads="1"/>
              </p:cNvSpPr>
              <p:nvPr/>
            </p:nvSpPr>
            <p:spPr bwMode="auto">
              <a:xfrm>
                <a:off x="1344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08" name="Rectangle 16"/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09" name="Rectangle 17"/>
              <p:cNvSpPr>
                <a:spLocks noChangeArrowheads="1"/>
              </p:cNvSpPr>
              <p:nvPr/>
            </p:nvSpPr>
            <p:spPr bwMode="auto">
              <a:xfrm>
                <a:off x="2688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10" name="Rectangle 18"/>
              <p:cNvSpPr>
                <a:spLocks noChangeArrowheads="1"/>
              </p:cNvSpPr>
              <p:nvPr/>
            </p:nvSpPr>
            <p:spPr bwMode="auto">
              <a:xfrm>
                <a:off x="3120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911" name="Text Box 19"/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r>
                  <a:rPr lang="en-US">
                    <a:latin typeface="Times New Roman" charset="0"/>
                  </a:rPr>
                  <a:t>…</a:t>
                </a:r>
              </a:p>
            </p:txBody>
          </p:sp>
        </p:grpSp>
        <p:sp>
          <p:nvSpPr>
            <p:cNvPr id="36903" name="Text Box 20"/>
            <p:cNvSpPr txBox="1">
              <a:spLocks noChangeArrowheads="1"/>
            </p:cNvSpPr>
            <p:nvPr/>
          </p:nvSpPr>
          <p:spPr bwMode="auto">
            <a:xfrm>
              <a:off x="1996" y="2256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endParaRPr lang="en-US">
                <a:latin typeface="Times New Roman" charset="0"/>
              </a:endParaRPr>
            </a:p>
          </p:txBody>
        </p:sp>
      </p:grpSp>
      <p:sp>
        <p:nvSpPr>
          <p:cNvPr id="36868" name="Rectangle 21"/>
          <p:cNvSpPr>
            <a:spLocks noChangeArrowheads="1"/>
          </p:cNvSpPr>
          <p:nvPr/>
        </p:nvSpPr>
        <p:spPr bwMode="auto">
          <a:xfrm>
            <a:off x="228600" y="4114800"/>
            <a:ext cx="6019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r>
              <a:rPr lang="en-US" dirty="0" err="1" smtClean="0">
                <a:latin typeface="Times New Roman" charset="0"/>
              </a:rPr>
              <a:t>Khái</a:t>
            </a:r>
            <a:r>
              <a:rPr lang="en-US" dirty="0" smtClean="0">
                <a:latin typeface="Times New Roman" charset="0"/>
              </a:rPr>
              <a:t> </a:t>
            </a:r>
            <a:r>
              <a:rPr lang="en-US" dirty="0" err="1" smtClean="0">
                <a:latin typeface="Times New Roman" charset="0"/>
              </a:rPr>
              <a:t>niệm</a:t>
            </a:r>
            <a:r>
              <a:rPr lang="en-US" dirty="0" smtClean="0">
                <a:latin typeface="Times New Roman" charset="0"/>
              </a:rPr>
              <a:t> </a:t>
            </a:r>
            <a:r>
              <a:rPr lang="en-US" dirty="0" smtClean="0">
                <a:latin typeface="Times New Roman" charset="0"/>
              </a:rPr>
              <a:t>rank</a:t>
            </a:r>
            <a:r>
              <a:rPr lang="en-US" dirty="0">
                <a:latin typeface="Times New Roman" charset="0"/>
              </a:rPr>
              <a:t>(node) </a:t>
            </a:r>
            <a:r>
              <a:rPr lang="en-US" dirty="0" err="1" smtClean="0">
                <a:latin typeface="Times New Roman" charset="0"/>
              </a:rPr>
              <a:t>được</a:t>
            </a:r>
            <a:r>
              <a:rPr lang="en-US" dirty="0" smtClean="0">
                <a:latin typeface="Times New Roman" charset="0"/>
              </a:rPr>
              <a:t> </a:t>
            </a:r>
            <a:r>
              <a:rPr lang="en-US" dirty="0" err="1" smtClean="0">
                <a:latin typeface="Times New Roman" charset="0"/>
              </a:rPr>
              <a:t>định</a:t>
            </a:r>
            <a:r>
              <a:rPr lang="en-US" dirty="0" smtClean="0">
                <a:latin typeface="Times New Roman" charset="0"/>
              </a:rPr>
              <a:t> </a:t>
            </a:r>
            <a:r>
              <a:rPr lang="en-US" dirty="0" err="1" smtClean="0">
                <a:latin typeface="Times New Roman" charset="0"/>
              </a:rPr>
              <a:t>nghĩa</a:t>
            </a:r>
            <a:r>
              <a:rPr lang="en-US" dirty="0" smtClean="0">
                <a:latin typeface="Times New Roman" charset="0"/>
              </a:rPr>
              <a:t> </a:t>
            </a:r>
            <a:r>
              <a:rPr lang="en-US" dirty="0" err="1" smtClean="0">
                <a:latin typeface="Times New Roman" charset="0"/>
              </a:rPr>
              <a:t>như</a:t>
            </a:r>
            <a:r>
              <a:rPr lang="en-US" dirty="0" smtClean="0">
                <a:latin typeface="Times New Roman" charset="0"/>
              </a:rPr>
              <a:t> </a:t>
            </a:r>
            <a:r>
              <a:rPr lang="en-US" dirty="0" err="1" smtClean="0">
                <a:latin typeface="Times New Roman" charset="0"/>
              </a:rPr>
              <a:t>sau</a:t>
            </a:r>
            <a:r>
              <a:rPr lang="en-US" dirty="0" smtClean="0">
                <a:latin typeface="Times New Roman" charset="0"/>
              </a:rPr>
              <a:t>:</a:t>
            </a:r>
            <a:endParaRPr lang="en-US" dirty="0">
              <a:latin typeface="Times New Roman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r>
              <a:rPr lang="en-US" sz="2000" dirty="0">
                <a:latin typeface="Times New Roman" charset="0"/>
              </a:rPr>
              <a:t>rank</a:t>
            </a:r>
            <a:r>
              <a:rPr lang="en-US" sz="2000" dirty="0" smtClean="0">
                <a:latin typeface="Times New Roman" charset="0"/>
              </a:rPr>
              <a:t>(</a:t>
            </a:r>
            <a:r>
              <a:rPr lang="en-US" sz="2000" dirty="0" err="1" smtClean="0">
                <a:latin typeface="Times New Roman" charset="0"/>
              </a:rPr>
              <a:t>gốc</a:t>
            </a:r>
            <a:r>
              <a:rPr lang="en-US" sz="2000" dirty="0" smtClean="0">
                <a:latin typeface="Times New Roman" charset="0"/>
              </a:rPr>
              <a:t>) </a:t>
            </a:r>
            <a:r>
              <a:rPr lang="en-US" sz="2000" dirty="0">
                <a:latin typeface="Times New Roman" charset="0"/>
              </a:rPr>
              <a:t>= 1</a:t>
            </a: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r>
              <a:rPr lang="en-US" sz="2000" dirty="0" err="1" smtClean="0">
                <a:latin typeface="Times New Roman" charset="0"/>
              </a:rPr>
              <a:t>Nếu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đỉnh</a:t>
            </a:r>
            <a:r>
              <a:rPr lang="en-US" sz="2000" dirty="0" smtClean="0">
                <a:latin typeface="Times New Roman" charset="0"/>
              </a:rPr>
              <a:t> v </a:t>
            </a:r>
            <a:r>
              <a:rPr lang="en-US" sz="2000" dirty="0" err="1" smtClean="0">
                <a:latin typeface="Times New Roman" charset="0"/>
              </a:rPr>
              <a:t>là</a:t>
            </a:r>
            <a:r>
              <a:rPr lang="en-US" sz="2000" dirty="0" smtClean="0">
                <a:latin typeface="Times New Roman" charset="0"/>
              </a:rPr>
              <a:t> con </a:t>
            </a:r>
            <a:r>
              <a:rPr lang="en-US" sz="2000" dirty="0" err="1" smtClean="0">
                <a:latin typeface="Times New Roman" charset="0"/>
              </a:rPr>
              <a:t>trái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của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đỉnh</a:t>
            </a:r>
            <a:r>
              <a:rPr lang="en-US" sz="2000" dirty="0" smtClean="0">
                <a:latin typeface="Times New Roman" charset="0"/>
              </a:rPr>
              <a:t> u (u=</a:t>
            </a:r>
            <a:r>
              <a:rPr lang="en-US" sz="2000" dirty="0" smtClean="0">
                <a:latin typeface="Times New Roman" charset="0"/>
              </a:rPr>
              <a:t>parent(</a:t>
            </a:r>
            <a:r>
              <a:rPr lang="en-US" sz="2000" dirty="0" smtClean="0">
                <a:latin typeface="Times New Roman" charset="0"/>
              </a:rPr>
              <a:t>v</a:t>
            </a:r>
            <a:r>
              <a:rPr lang="en-US" sz="2000" dirty="0" smtClean="0">
                <a:latin typeface="Times New Roman" charset="0"/>
              </a:rPr>
              <a:t>)),</a:t>
            </a:r>
          </a:p>
          <a:p>
            <a:pPr marL="400050" lvl="1">
              <a:spcBef>
                <a:spcPct val="20000"/>
              </a:spcBef>
              <a:buClr>
                <a:schemeClr val="accent2"/>
              </a:buClr>
              <a:buSzPct val="75000"/>
            </a:pP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>
                <a:latin typeface="Times New Roman" charset="0"/>
              </a:rPr>
              <a:t>	rank</a:t>
            </a:r>
            <a:r>
              <a:rPr lang="en-US" sz="2000" dirty="0" smtClean="0">
                <a:latin typeface="Times New Roman" charset="0"/>
              </a:rPr>
              <a:t>(</a:t>
            </a:r>
            <a:r>
              <a:rPr lang="en-US" sz="2000" dirty="0" smtClean="0">
                <a:latin typeface="Times New Roman" charset="0"/>
              </a:rPr>
              <a:t>v</a:t>
            </a:r>
            <a:r>
              <a:rPr lang="en-US" sz="2000" dirty="0" smtClean="0">
                <a:latin typeface="Times New Roman" charset="0"/>
              </a:rPr>
              <a:t>) </a:t>
            </a:r>
            <a:r>
              <a:rPr lang="en-US" sz="2000" dirty="0">
                <a:latin typeface="Times New Roman" charset="0"/>
              </a:rPr>
              <a:t>= 2</a:t>
            </a:r>
            <a:r>
              <a:rPr lang="ar-sa" sz="2000" dirty="0">
                <a:latin typeface="Times New Roman" charset="0"/>
                <a:cs typeface="Arial" charset="0"/>
              </a:rPr>
              <a:t>*</a:t>
            </a:r>
            <a:r>
              <a:rPr lang="en-US" sz="2000" dirty="0">
                <a:latin typeface="Times New Roman" charset="0"/>
              </a:rPr>
              <a:t>rank</a:t>
            </a:r>
            <a:r>
              <a:rPr lang="en-US" sz="2000" dirty="0" smtClean="0">
                <a:latin typeface="Times New Roman" charset="0"/>
              </a:rPr>
              <a:t>(</a:t>
            </a:r>
            <a:r>
              <a:rPr lang="en-US" sz="2000" dirty="0" smtClean="0">
                <a:latin typeface="Times New Roman" charset="0"/>
              </a:rPr>
              <a:t>u</a:t>
            </a:r>
            <a:r>
              <a:rPr lang="en-US" sz="2000" dirty="0" smtClean="0">
                <a:latin typeface="Times New Roman" charset="0"/>
              </a:rPr>
              <a:t>)</a:t>
            </a:r>
            <a:endParaRPr lang="en-US" sz="2000" dirty="0">
              <a:latin typeface="Times New Roman" charset="0"/>
            </a:endParaRPr>
          </a:p>
          <a:p>
            <a:pPr marL="628650" lvl="1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charset="0"/>
              <a:buChar char="n"/>
            </a:pPr>
            <a:r>
              <a:rPr lang="en-US" sz="2000" dirty="0">
                <a:latin typeface="Times New Roman" charset="0"/>
              </a:rPr>
              <a:t>if </a:t>
            </a:r>
            <a:r>
              <a:rPr lang="en-US" sz="2000" dirty="0" err="1">
                <a:latin typeface="Times New Roman" charset="0"/>
              </a:rPr>
              <a:t>đỉnh</a:t>
            </a:r>
            <a:r>
              <a:rPr lang="en-US" sz="2000" dirty="0">
                <a:latin typeface="Times New Roman" charset="0"/>
              </a:rPr>
              <a:t> v </a:t>
            </a:r>
            <a:r>
              <a:rPr lang="en-US" sz="2000" dirty="0" err="1">
                <a:latin typeface="Times New Roman" charset="0"/>
              </a:rPr>
              <a:t>là</a:t>
            </a:r>
            <a:r>
              <a:rPr lang="en-US" sz="2000" dirty="0">
                <a:latin typeface="Times New Roman" charset="0"/>
              </a:rPr>
              <a:t> con </a:t>
            </a:r>
            <a:r>
              <a:rPr lang="en-US" sz="2000" dirty="0" err="1" smtClean="0">
                <a:latin typeface="Times New Roman" charset="0"/>
              </a:rPr>
              <a:t>phải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 smtClean="0">
                <a:latin typeface="Times New Roman" charset="0"/>
              </a:rPr>
              <a:t>của</a:t>
            </a:r>
            <a:r>
              <a:rPr lang="en-US" sz="2000" dirty="0" smtClean="0">
                <a:latin typeface="Times New Roman" charset="0"/>
              </a:rPr>
              <a:t> </a:t>
            </a:r>
            <a:r>
              <a:rPr lang="en-US" sz="2000" dirty="0" err="1">
                <a:latin typeface="Times New Roman" charset="0"/>
              </a:rPr>
              <a:t>đỉnh</a:t>
            </a:r>
            <a:r>
              <a:rPr lang="en-US" sz="2000" dirty="0">
                <a:latin typeface="Times New Roman" charset="0"/>
              </a:rPr>
              <a:t> u (u=parent(v))</a:t>
            </a:r>
            <a:r>
              <a:rPr lang="en-US" sz="2000" dirty="0" smtClean="0">
                <a:latin typeface="Times New Roman" charset="0"/>
              </a:rPr>
              <a:t>, </a:t>
            </a:r>
            <a:r>
              <a:rPr lang="en-US" sz="2000" dirty="0">
                <a:latin typeface="Times New Roman" charset="0"/>
              </a:rPr>
              <a:t>	rank(node) = 2</a:t>
            </a:r>
            <a:r>
              <a:rPr lang="ar-sa" sz="2000" dirty="0">
                <a:latin typeface="Times New Roman" charset="0"/>
                <a:cs typeface="Arial" charset="0"/>
              </a:rPr>
              <a:t>*</a:t>
            </a:r>
            <a:r>
              <a:rPr lang="en-US" sz="2000" dirty="0">
                <a:latin typeface="Times New Roman" charset="0"/>
              </a:rPr>
              <a:t>rank(parent(node))+1</a:t>
            </a:r>
          </a:p>
        </p:txBody>
      </p:sp>
      <p:sp>
        <p:nvSpPr>
          <p:cNvPr id="36869" name="Text Box 22"/>
          <p:cNvSpPr txBox="1">
            <a:spLocks noChangeArrowheads="1"/>
          </p:cNvSpPr>
          <p:nvPr/>
        </p:nvSpPr>
        <p:spPr bwMode="auto">
          <a:xfrm>
            <a:off x="6934200" y="2133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1</a:t>
            </a:r>
          </a:p>
        </p:txBody>
      </p:sp>
      <p:sp>
        <p:nvSpPr>
          <p:cNvPr id="36870" name="Text Box 23"/>
          <p:cNvSpPr txBox="1">
            <a:spLocks noChangeArrowheads="1"/>
          </p:cNvSpPr>
          <p:nvPr/>
        </p:nvSpPr>
        <p:spPr bwMode="auto">
          <a:xfrm>
            <a:off x="6254750" y="3338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2</a:t>
            </a:r>
          </a:p>
        </p:txBody>
      </p:sp>
      <p:sp>
        <p:nvSpPr>
          <p:cNvPr id="36871" name="Text Box 24"/>
          <p:cNvSpPr txBox="1">
            <a:spLocks noChangeArrowheads="1"/>
          </p:cNvSpPr>
          <p:nvPr/>
        </p:nvSpPr>
        <p:spPr bwMode="auto">
          <a:xfrm>
            <a:off x="8083550" y="3338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3</a:t>
            </a:r>
          </a:p>
        </p:txBody>
      </p:sp>
      <p:sp>
        <p:nvSpPr>
          <p:cNvPr id="36872" name="Text Box 25"/>
          <p:cNvSpPr txBox="1">
            <a:spLocks noChangeArrowheads="1"/>
          </p:cNvSpPr>
          <p:nvPr/>
        </p:nvSpPr>
        <p:spPr bwMode="auto">
          <a:xfrm>
            <a:off x="7473950" y="4481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6</a:t>
            </a:r>
          </a:p>
        </p:txBody>
      </p:sp>
      <p:sp>
        <p:nvSpPr>
          <p:cNvPr id="36873" name="Text Box 26"/>
          <p:cNvSpPr txBox="1">
            <a:spLocks noChangeArrowheads="1"/>
          </p:cNvSpPr>
          <p:nvPr/>
        </p:nvSpPr>
        <p:spPr bwMode="auto">
          <a:xfrm>
            <a:off x="8540750" y="4495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7</a:t>
            </a:r>
          </a:p>
        </p:txBody>
      </p:sp>
      <p:sp>
        <p:nvSpPr>
          <p:cNvPr id="36874" name="Text Box 27"/>
          <p:cNvSpPr txBox="1">
            <a:spLocks noChangeArrowheads="1"/>
          </p:cNvSpPr>
          <p:nvPr/>
        </p:nvSpPr>
        <p:spPr bwMode="auto">
          <a:xfrm>
            <a:off x="5873750" y="4481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4</a:t>
            </a:r>
          </a:p>
        </p:txBody>
      </p:sp>
      <p:sp>
        <p:nvSpPr>
          <p:cNvPr id="36875" name="Text Box 28"/>
          <p:cNvSpPr txBox="1">
            <a:spLocks noChangeArrowheads="1"/>
          </p:cNvSpPr>
          <p:nvPr/>
        </p:nvSpPr>
        <p:spPr bwMode="auto">
          <a:xfrm>
            <a:off x="7092950" y="4481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5</a:t>
            </a:r>
          </a:p>
        </p:txBody>
      </p:sp>
      <p:sp>
        <p:nvSpPr>
          <p:cNvPr id="36876" name="Text Box 29"/>
          <p:cNvSpPr txBox="1">
            <a:spLocks noChangeArrowheads="1"/>
          </p:cNvSpPr>
          <p:nvPr/>
        </p:nvSpPr>
        <p:spPr bwMode="auto">
          <a:xfrm>
            <a:off x="6254750" y="57769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10</a:t>
            </a:r>
          </a:p>
        </p:txBody>
      </p:sp>
      <p:sp>
        <p:nvSpPr>
          <p:cNvPr id="36877" name="Text Box 30"/>
          <p:cNvSpPr txBox="1">
            <a:spLocks noChangeArrowheads="1"/>
          </p:cNvSpPr>
          <p:nvPr/>
        </p:nvSpPr>
        <p:spPr bwMode="auto">
          <a:xfrm>
            <a:off x="7416800" y="57769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accent2"/>
                </a:solidFill>
                <a:latin typeface="Times New Roman" charset="0"/>
              </a:rPr>
              <a:t>11</a:t>
            </a:r>
          </a:p>
        </p:txBody>
      </p:sp>
      <p:grpSp>
        <p:nvGrpSpPr>
          <p:cNvPr id="36878" name="Group 31"/>
          <p:cNvGrpSpPr>
            <a:grpSpLocks/>
          </p:cNvGrpSpPr>
          <p:nvPr/>
        </p:nvGrpSpPr>
        <p:grpSpPr bwMode="auto">
          <a:xfrm>
            <a:off x="6108700" y="2401888"/>
            <a:ext cx="2486025" cy="4060825"/>
            <a:chOff x="4042" y="1378"/>
            <a:chExt cx="1566" cy="2558"/>
          </a:xfrm>
        </p:grpSpPr>
        <p:sp>
          <p:nvSpPr>
            <p:cNvPr id="36879" name="Oval 32"/>
            <p:cNvSpPr>
              <a:spLocks noChangeArrowheads="1"/>
            </p:cNvSpPr>
            <p:nvPr/>
          </p:nvSpPr>
          <p:spPr bwMode="auto">
            <a:xfrm>
              <a:off x="4704" y="1378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A</a:t>
              </a:r>
            </a:p>
          </p:txBody>
        </p:sp>
        <p:sp>
          <p:nvSpPr>
            <p:cNvPr id="36880" name="Oval 33"/>
            <p:cNvSpPr>
              <a:spLocks noChangeArrowheads="1"/>
            </p:cNvSpPr>
            <p:nvPr/>
          </p:nvSpPr>
          <p:spPr bwMode="auto">
            <a:xfrm>
              <a:off x="4754" y="3682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H</a:t>
              </a:r>
            </a:p>
          </p:txBody>
        </p:sp>
        <p:sp>
          <p:nvSpPr>
            <p:cNvPr id="36881" name="Oval 34"/>
            <p:cNvSpPr>
              <a:spLocks noChangeArrowheads="1"/>
            </p:cNvSpPr>
            <p:nvPr/>
          </p:nvSpPr>
          <p:spPr bwMode="auto">
            <a:xfrm>
              <a:off x="4322" y="3682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G</a:t>
              </a:r>
            </a:p>
          </p:txBody>
        </p:sp>
        <p:sp>
          <p:nvSpPr>
            <p:cNvPr id="36882" name="Oval 35"/>
            <p:cNvSpPr>
              <a:spLocks noChangeArrowheads="1"/>
            </p:cNvSpPr>
            <p:nvPr/>
          </p:nvSpPr>
          <p:spPr bwMode="auto">
            <a:xfrm>
              <a:off x="4527" y="2900"/>
              <a:ext cx="210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F</a:t>
              </a:r>
            </a:p>
          </p:txBody>
        </p:sp>
        <p:sp>
          <p:nvSpPr>
            <p:cNvPr id="36883" name="Oval 36"/>
            <p:cNvSpPr>
              <a:spLocks noChangeArrowheads="1"/>
            </p:cNvSpPr>
            <p:nvPr/>
          </p:nvSpPr>
          <p:spPr bwMode="auto">
            <a:xfrm>
              <a:off x="4042" y="2900"/>
              <a:ext cx="220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E</a:t>
              </a:r>
            </a:p>
          </p:txBody>
        </p:sp>
        <p:sp>
          <p:nvSpPr>
            <p:cNvPr id="36884" name="Oval 37"/>
            <p:cNvSpPr>
              <a:spLocks noChangeArrowheads="1"/>
            </p:cNvSpPr>
            <p:nvPr/>
          </p:nvSpPr>
          <p:spPr bwMode="auto">
            <a:xfrm>
              <a:off x="5138" y="2146"/>
              <a:ext cx="237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D</a:t>
              </a:r>
            </a:p>
          </p:txBody>
        </p:sp>
        <p:sp>
          <p:nvSpPr>
            <p:cNvPr id="36885" name="Oval 38"/>
            <p:cNvSpPr>
              <a:spLocks noChangeArrowheads="1"/>
            </p:cNvSpPr>
            <p:nvPr/>
          </p:nvSpPr>
          <p:spPr bwMode="auto">
            <a:xfrm>
              <a:off x="5014" y="2898"/>
              <a:ext cx="229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C</a:t>
              </a:r>
            </a:p>
          </p:txBody>
        </p:sp>
        <p:sp>
          <p:nvSpPr>
            <p:cNvPr id="36886" name="Oval 39"/>
            <p:cNvSpPr>
              <a:spLocks noChangeArrowheads="1"/>
            </p:cNvSpPr>
            <p:nvPr/>
          </p:nvSpPr>
          <p:spPr bwMode="auto">
            <a:xfrm>
              <a:off x="4278" y="2146"/>
              <a:ext cx="229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B</a:t>
              </a:r>
            </a:p>
          </p:txBody>
        </p:sp>
        <p:cxnSp>
          <p:nvCxnSpPr>
            <p:cNvPr id="36887" name="AutoShape 40"/>
            <p:cNvCxnSpPr>
              <a:cxnSpLocks noChangeShapeType="1"/>
              <a:stCxn id="36879" idx="4"/>
              <a:endCxn id="36886" idx="0"/>
            </p:cNvCxnSpPr>
            <p:nvPr/>
          </p:nvCxnSpPr>
          <p:spPr bwMode="auto">
            <a:xfrm flipH="1">
              <a:off x="4393" y="1632"/>
              <a:ext cx="430" cy="5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8" name="AutoShape 41"/>
            <p:cNvCxnSpPr>
              <a:cxnSpLocks noChangeShapeType="1"/>
              <a:stCxn id="36884" idx="4"/>
              <a:endCxn id="36885" idx="0"/>
            </p:cNvCxnSpPr>
            <p:nvPr/>
          </p:nvCxnSpPr>
          <p:spPr bwMode="auto">
            <a:xfrm flipH="1">
              <a:off x="5129" y="2400"/>
              <a:ext cx="128" cy="4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9" name="AutoShape 42"/>
            <p:cNvCxnSpPr>
              <a:cxnSpLocks noChangeShapeType="1"/>
              <a:stCxn id="36879" idx="4"/>
              <a:endCxn id="36884" idx="0"/>
            </p:cNvCxnSpPr>
            <p:nvPr/>
          </p:nvCxnSpPr>
          <p:spPr bwMode="auto">
            <a:xfrm>
              <a:off x="4823" y="1632"/>
              <a:ext cx="434" cy="5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0" name="AutoShape 43"/>
            <p:cNvCxnSpPr>
              <a:cxnSpLocks noChangeShapeType="1"/>
              <a:stCxn id="36886" idx="4"/>
              <a:endCxn id="36883" idx="0"/>
            </p:cNvCxnSpPr>
            <p:nvPr/>
          </p:nvCxnSpPr>
          <p:spPr bwMode="auto">
            <a:xfrm flipH="1">
              <a:off x="4153" y="2400"/>
              <a:ext cx="240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1" name="AutoShape 44"/>
            <p:cNvCxnSpPr>
              <a:cxnSpLocks noChangeShapeType="1"/>
              <a:stCxn id="36886" idx="4"/>
              <a:endCxn id="36882" idx="0"/>
            </p:cNvCxnSpPr>
            <p:nvPr/>
          </p:nvCxnSpPr>
          <p:spPr bwMode="auto">
            <a:xfrm>
              <a:off x="4393" y="2400"/>
              <a:ext cx="239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2" name="AutoShape 45"/>
            <p:cNvCxnSpPr>
              <a:cxnSpLocks noChangeShapeType="1"/>
              <a:stCxn id="36882" idx="4"/>
              <a:endCxn id="36881" idx="0"/>
            </p:cNvCxnSpPr>
            <p:nvPr/>
          </p:nvCxnSpPr>
          <p:spPr bwMode="auto">
            <a:xfrm flipH="1">
              <a:off x="4441" y="3154"/>
              <a:ext cx="191" cy="5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3" name="AutoShape 46"/>
            <p:cNvCxnSpPr>
              <a:cxnSpLocks noChangeShapeType="1"/>
              <a:stCxn id="36882" idx="4"/>
              <a:endCxn id="36880" idx="0"/>
            </p:cNvCxnSpPr>
            <p:nvPr/>
          </p:nvCxnSpPr>
          <p:spPr bwMode="auto">
            <a:xfrm>
              <a:off x="4632" y="3154"/>
              <a:ext cx="241" cy="5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94" name="Oval 47"/>
            <p:cNvSpPr>
              <a:spLocks noChangeArrowheads="1"/>
            </p:cNvSpPr>
            <p:nvPr/>
          </p:nvSpPr>
          <p:spPr bwMode="auto">
            <a:xfrm>
              <a:off x="5422" y="2900"/>
              <a:ext cx="186" cy="254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J</a:t>
              </a:r>
            </a:p>
          </p:txBody>
        </p:sp>
        <p:cxnSp>
          <p:nvCxnSpPr>
            <p:cNvPr id="36895" name="AutoShape 48"/>
            <p:cNvCxnSpPr>
              <a:cxnSpLocks noChangeShapeType="1"/>
              <a:stCxn id="36884" idx="4"/>
              <a:endCxn id="36894" idx="0"/>
            </p:cNvCxnSpPr>
            <p:nvPr/>
          </p:nvCxnSpPr>
          <p:spPr bwMode="auto">
            <a:xfrm>
              <a:off x="5257" y="2400"/>
              <a:ext cx="258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707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Biểu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diễn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cây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bằng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danh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sách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liên</a:t>
            </a:r>
            <a:r>
              <a:rPr lang="en-US" sz="3200" dirty="0" smtClean="0">
                <a:latin typeface="Times New Roman" charset="0"/>
                <a:ea typeface="ＭＳ Ｐゴシック" charset="0"/>
                <a:cs typeface="Times New Roman" charset="0"/>
              </a:rPr>
              <a:t> </a:t>
            </a:r>
            <a:r>
              <a:rPr lang="en-US" sz="3200" dirty="0" err="1" smtClean="0">
                <a:latin typeface="Times New Roman" charset="0"/>
                <a:ea typeface="ＭＳ Ｐゴシック" charset="0"/>
                <a:cs typeface="Times New Roman" charset="0"/>
              </a:rPr>
              <a:t>kết</a:t>
            </a:r>
            <a:endParaRPr lang="en-US" sz="3200" dirty="0">
              <a:latin typeface="Times New Roman" charset="0"/>
              <a:ea typeface="ＭＳ Ｐゴシック" charset="0"/>
              <a:cs typeface="Times New Roman" charset="0"/>
            </a:endParaRPr>
          </a:p>
        </p:txBody>
      </p:sp>
      <p:sp>
        <p:nvSpPr>
          <p:cNvPr id="225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>
                <a:latin typeface="Times New Roman" charset="0"/>
                <a:ea typeface="ＭＳ Ｐゴシック" charset="0"/>
                <a:cs typeface="Times New Roman" charset="0"/>
              </a:rPr>
              <a:t>Template &lt;class Item&gt;</a:t>
            </a:r>
          </a:p>
          <a:p>
            <a:pPr>
              <a:buFontTx/>
              <a:buNone/>
            </a:pPr>
            <a:r>
              <a:rPr lang="en-US" sz="2400" dirty="0">
                <a:latin typeface="Times New Roman" charset="0"/>
                <a:ea typeface="ＭＳ Ｐゴシック" charset="0"/>
                <a:cs typeface="Times New Roman" charset="0"/>
              </a:rPr>
              <a:t>class Node {</a:t>
            </a:r>
          </a:p>
          <a:p>
            <a:pPr>
              <a:buFontTx/>
              <a:buNone/>
            </a:pPr>
            <a:r>
              <a:rPr lang="en-US" sz="2400" dirty="0">
                <a:latin typeface="Times New Roman" charset="0"/>
                <a:ea typeface="ＭＳ Ｐゴシック" charset="0"/>
                <a:cs typeface="Times New Roman" charset="0"/>
              </a:rPr>
              <a:t>	Item data;</a:t>
            </a:r>
          </a:p>
          <a:p>
            <a:pPr>
              <a:buFontTx/>
              <a:buNone/>
            </a:pPr>
            <a:r>
              <a:rPr lang="en-US" sz="2400" dirty="0">
                <a:latin typeface="Times New Roman" charset="0"/>
                <a:ea typeface="ＭＳ Ｐゴシック" charset="0"/>
                <a:cs typeface="Times New Roman" charset="0"/>
              </a:rPr>
              <a:t>	List&lt;Node*&gt; children;</a:t>
            </a:r>
          </a:p>
          <a:p>
            <a:pPr>
              <a:buFontTx/>
              <a:buNone/>
            </a:pPr>
            <a:r>
              <a:rPr lang="en-US" sz="2400" dirty="0">
                <a:latin typeface="Times New Roman" charset="0"/>
                <a:ea typeface="ＭＳ Ｐゴシック" charset="0"/>
                <a:cs typeface="Times New Roman" charset="0"/>
              </a:rPr>
              <a:t>}</a:t>
            </a:r>
          </a:p>
          <a:p>
            <a:pPr>
              <a:buFontTx/>
              <a:buNone/>
            </a:pPr>
            <a:endParaRPr lang="en-US" sz="2400" dirty="0">
              <a:latin typeface="Times New Roman" charset="0"/>
              <a:ea typeface="ＭＳ Ｐゴシック" charset="0"/>
              <a:cs typeface="Times New Roman" charset="0"/>
            </a:endParaRPr>
          </a:p>
          <a:p>
            <a:pPr>
              <a:buFontTx/>
              <a:buNone/>
            </a:pPr>
            <a:endParaRPr lang="en-US" sz="2400" dirty="0">
              <a:latin typeface="Times New Roman" charset="0"/>
              <a:ea typeface="ＭＳ Ｐゴシック" charset="0"/>
              <a:cs typeface="Times New Roman" charset="0"/>
            </a:endParaRPr>
          </a:p>
          <a:p>
            <a:pPr>
              <a:buFontTx/>
              <a:buNone/>
            </a:pPr>
            <a:r>
              <a:rPr lang="en-US" sz="2400" dirty="0">
                <a:latin typeface="Times New Roman" charset="0"/>
                <a:ea typeface="ＭＳ Ｐゴシック" charset="0"/>
                <a:cs typeface="Times New Roman" charset="0"/>
              </a:rPr>
              <a:t>Node&lt;Item&gt;* root;</a:t>
            </a:r>
          </a:p>
          <a:p>
            <a:pPr>
              <a:buFontTx/>
              <a:buNone/>
            </a:pPr>
            <a:endParaRPr lang="en-US" sz="2400" dirty="0">
              <a:latin typeface="Times New Roman" charset="0"/>
              <a:ea typeface="ＭＳ Ｐゴシック" charset="0"/>
              <a:cs typeface="Times New Roman" charset="0"/>
            </a:endParaRPr>
          </a:p>
        </p:txBody>
      </p:sp>
      <p:grpSp>
        <p:nvGrpSpPr>
          <p:cNvPr id="22531" name="Group 2"/>
          <p:cNvGrpSpPr>
            <a:grpSpLocks/>
          </p:cNvGrpSpPr>
          <p:nvPr/>
        </p:nvGrpSpPr>
        <p:grpSpPr bwMode="auto">
          <a:xfrm>
            <a:off x="4038600" y="1828800"/>
            <a:ext cx="4267200" cy="4343400"/>
            <a:chOff x="2184" y="1141"/>
            <a:chExt cx="6844" cy="4259"/>
          </a:xfrm>
        </p:grpSpPr>
        <p:grpSp>
          <p:nvGrpSpPr>
            <p:cNvPr id="22532" name="Group 3"/>
            <p:cNvGrpSpPr>
              <a:grpSpLocks/>
            </p:cNvGrpSpPr>
            <p:nvPr/>
          </p:nvGrpSpPr>
          <p:grpSpPr bwMode="auto">
            <a:xfrm>
              <a:off x="2184" y="1141"/>
              <a:ext cx="6844" cy="4259"/>
              <a:chOff x="2184" y="1141"/>
              <a:chExt cx="6844" cy="4259"/>
            </a:xfrm>
          </p:grpSpPr>
          <p:grpSp>
            <p:nvGrpSpPr>
              <p:cNvPr id="22541" name="Group 4"/>
              <p:cNvGrpSpPr>
                <a:grpSpLocks/>
              </p:cNvGrpSpPr>
              <p:nvPr/>
            </p:nvGrpSpPr>
            <p:grpSpPr bwMode="auto">
              <a:xfrm>
                <a:off x="2184" y="2340"/>
                <a:ext cx="6844" cy="3060"/>
                <a:chOff x="2184" y="2340"/>
                <a:chExt cx="6844" cy="3060"/>
              </a:xfrm>
            </p:grpSpPr>
            <p:grpSp>
              <p:nvGrpSpPr>
                <p:cNvPr id="22543" name="Group 5"/>
                <p:cNvGrpSpPr>
                  <a:grpSpLocks/>
                </p:cNvGrpSpPr>
                <p:nvPr/>
              </p:nvGrpSpPr>
              <p:grpSpPr bwMode="auto">
                <a:xfrm>
                  <a:off x="2492" y="2340"/>
                  <a:ext cx="6536" cy="1980"/>
                  <a:chOff x="1952" y="2340"/>
                  <a:chExt cx="6536" cy="1980"/>
                </a:xfrm>
              </p:grpSpPr>
              <p:grpSp>
                <p:nvGrpSpPr>
                  <p:cNvPr id="22547" name="Group 7"/>
                  <p:cNvGrpSpPr>
                    <a:grpSpLocks/>
                  </p:cNvGrpSpPr>
                  <p:nvPr/>
                </p:nvGrpSpPr>
                <p:grpSpPr bwMode="auto">
                  <a:xfrm>
                    <a:off x="4860" y="2340"/>
                    <a:ext cx="1620" cy="720"/>
                    <a:chOff x="4860" y="2340"/>
                    <a:chExt cx="1620" cy="720"/>
                  </a:xfrm>
                </p:grpSpPr>
                <p:sp>
                  <p:nvSpPr>
                    <p:cNvPr id="22556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60" y="2340"/>
                      <a:ext cx="162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1" hangingPunct="1">
                        <a:spcAft>
                          <a:spcPts val="1000"/>
                        </a:spcAft>
                      </a:pPr>
                      <a:r>
                        <a:rPr lang="en-US" b="1">
                          <a:latin typeface="Calibri" charset="0"/>
                        </a:rPr>
                        <a:t>A</a:t>
                      </a:r>
                      <a:endParaRPr lang="en-US"/>
                    </a:p>
                  </p:txBody>
                </p:sp>
                <p:sp>
                  <p:nvSpPr>
                    <p:cNvPr id="22557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6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558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0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559" name="Rectangle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0" y="2700"/>
                      <a:ext cx="540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548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1952" y="3605"/>
                    <a:ext cx="1153" cy="715"/>
                    <a:chOff x="4832" y="2345"/>
                    <a:chExt cx="1153" cy="715"/>
                  </a:xfrm>
                </p:grpSpPr>
                <p:sp>
                  <p:nvSpPr>
                    <p:cNvPr id="2255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32" y="2345"/>
                      <a:ext cx="1153" cy="39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1" hangingPunct="1">
                        <a:spcAft>
                          <a:spcPts val="1000"/>
                        </a:spcAft>
                      </a:pPr>
                      <a:r>
                        <a:rPr lang="en-US" b="1">
                          <a:latin typeface="Times New Roman" charset="0"/>
                          <a:cs typeface="Times New Roman" charset="0"/>
                        </a:rPr>
                        <a:t>B</a:t>
                      </a:r>
                      <a:endParaRPr lang="en-US">
                        <a:latin typeface="Times New Roman" charset="0"/>
                        <a:cs typeface="Times New Roman" charset="0"/>
                      </a:endParaRPr>
                    </a:p>
                  </p:txBody>
                </p:sp>
                <p:sp>
                  <p:nvSpPr>
                    <p:cNvPr id="22554" name="Rectangle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32" y="2700"/>
                      <a:ext cx="56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2555" name="Rectangle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00" y="2700"/>
                      <a:ext cx="585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2549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7560" y="3600"/>
                    <a:ext cx="928" cy="720"/>
                    <a:chOff x="4860" y="2340"/>
                    <a:chExt cx="928" cy="720"/>
                  </a:xfrm>
                </p:grpSpPr>
                <p:sp>
                  <p:nvSpPr>
                    <p:cNvPr id="22551" name="Rectangl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60" y="234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lIns="0" tIns="0" rIns="0" bIns="0"/>
                    <a:lstStyle/>
                    <a:p>
                      <a:pPr algn="ctr" eaLnBrk="1" hangingPunct="1">
                        <a:spcAft>
                          <a:spcPts val="1000"/>
                        </a:spcAft>
                      </a:pPr>
                      <a:r>
                        <a:rPr lang="en-US" b="1">
                          <a:latin typeface="Calibri" charset="0"/>
                        </a:rPr>
                        <a:t>D</a:t>
                      </a:r>
                      <a:endParaRPr lang="en-US"/>
                    </a:p>
                  </p:txBody>
                </p:sp>
                <p:sp>
                  <p:nvSpPr>
                    <p:cNvPr id="22552" name="Rectangl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60" y="2700"/>
                      <a:ext cx="928" cy="36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2550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860" y="3600"/>
                    <a:ext cx="1620" cy="36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 eaLnBrk="1" hangingPunct="1">
                      <a:spcAft>
                        <a:spcPts val="1000"/>
                      </a:spcAft>
                    </a:pPr>
                    <a:r>
                      <a:rPr lang="en-US" b="1">
                        <a:latin typeface="Calibri" charset="0"/>
                      </a:rPr>
                      <a:t>C</a:t>
                    </a:r>
                    <a:endParaRPr lang="en-US"/>
                  </a:p>
                </p:txBody>
              </p:sp>
            </p:grpSp>
            <p:sp>
              <p:nvSpPr>
                <p:cNvPr id="22544" name="Rectangle 43"/>
                <p:cNvSpPr>
                  <a:spLocks noChangeArrowheads="1"/>
                </p:cNvSpPr>
                <p:nvPr/>
              </p:nvSpPr>
              <p:spPr bwMode="auto">
                <a:xfrm>
                  <a:off x="2184" y="5040"/>
                  <a:ext cx="615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 eaLnBrk="1" hangingPunct="1">
                    <a:spcAft>
                      <a:spcPts val="1000"/>
                    </a:spcAft>
                  </a:pPr>
                  <a:r>
                    <a:rPr lang="en-US" b="1">
                      <a:latin typeface="Calibri" charset="0"/>
                    </a:rPr>
                    <a:t>E</a:t>
                  </a:r>
                  <a:endParaRPr lang="en-US"/>
                </a:p>
              </p:txBody>
            </p:sp>
            <p:sp>
              <p:nvSpPr>
                <p:cNvPr id="22545" name="Rectangle 54"/>
                <p:cNvSpPr>
                  <a:spLocks noChangeArrowheads="1"/>
                </p:cNvSpPr>
                <p:nvPr/>
              </p:nvSpPr>
              <p:spPr bwMode="auto">
                <a:xfrm>
                  <a:off x="4140" y="5040"/>
                  <a:ext cx="736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 eaLnBrk="1" hangingPunct="1">
                    <a:spcAft>
                      <a:spcPts val="1000"/>
                    </a:spcAft>
                  </a:pPr>
                  <a:r>
                    <a:rPr lang="en-US" b="1">
                      <a:latin typeface="Calibri" charset="0"/>
                    </a:rPr>
                    <a:t>F</a:t>
                  </a:r>
                  <a:endParaRPr lang="en-US"/>
                </a:p>
              </p:txBody>
            </p:sp>
            <p:sp>
              <p:nvSpPr>
                <p:cNvPr id="22546" name="Rectangle 65"/>
                <p:cNvSpPr>
                  <a:spLocks noChangeArrowheads="1"/>
                </p:cNvSpPr>
                <p:nvPr/>
              </p:nvSpPr>
              <p:spPr bwMode="auto">
                <a:xfrm>
                  <a:off x="8100" y="5040"/>
                  <a:ext cx="928" cy="36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 eaLnBrk="1" hangingPunct="1">
                    <a:spcAft>
                      <a:spcPts val="1000"/>
                    </a:spcAft>
                  </a:pPr>
                  <a:r>
                    <a:rPr lang="en-US" b="1">
                      <a:latin typeface="Calibri" charset="0"/>
                    </a:rPr>
                    <a:t>G</a:t>
                  </a:r>
                  <a:endParaRPr lang="en-US"/>
                </a:p>
              </p:txBody>
            </p:sp>
          </p:grpSp>
          <p:sp>
            <p:nvSpPr>
              <p:cNvPr id="22542" name="Oval 72"/>
              <p:cNvSpPr>
                <a:spLocks noChangeArrowheads="1"/>
              </p:cNvSpPr>
              <p:nvPr/>
            </p:nvSpPr>
            <p:spPr bwMode="auto">
              <a:xfrm>
                <a:off x="5484" y="1141"/>
                <a:ext cx="2001" cy="540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Aft>
                    <a:spcPts val="1000"/>
                  </a:spcAft>
                </a:pPr>
                <a:r>
                  <a:rPr lang="en-US" sz="2000">
                    <a:latin typeface="Calibri" charset="0"/>
                  </a:rPr>
                  <a:t>root</a:t>
                </a:r>
                <a:endParaRPr lang="en-US" sz="2000"/>
              </a:p>
            </p:txBody>
          </p:sp>
        </p:grpSp>
        <p:grpSp>
          <p:nvGrpSpPr>
            <p:cNvPr id="22533" name="Group 73"/>
            <p:cNvGrpSpPr>
              <a:grpSpLocks/>
            </p:cNvGrpSpPr>
            <p:nvPr/>
          </p:nvGrpSpPr>
          <p:grpSpPr bwMode="auto">
            <a:xfrm>
              <a:off x="2520" y="1620"/>
              <a:ext cx="6300" cy="3420"/>
              <a:chOff x="2520" y="1620"/>
              <a:chExt cx="6300" cy="3420"/>
            </a:xfrm>
          </p:grpSpPr>
          <p:sp>
            <p:nvSpPr>
              <p:cNvPr id="22534" name="Line 74"/>
              <p:cNvSpPr>
                <a:spLocks noChangeShapeType="1"/>
              </p:cNvSpPr>
              <p:nvPr/>
            </p:nvSpPr>
            <p:spPr bwMode="auto">
              <a:xfrm>
                <a:off x="6300" y="1620"/>
                <a:ext cx="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5" name="Line 75"/>
              <p:cNvSpPr>
                <a:spLocks noChangeShapeType="1"/>
              </p:cNvSpPr>
              <p:nvPr/>
            </p:nvSpPr>
            <p:spPr bwMode="auto">
              <a:xfrm flipH="1">
                <a:off x="3600" y="2880"/>
                <a:ext cx="216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6" name="Line 76"/>
              <p:cNvSpPr>
                <a:spLocks noChangeShapeType="1"/>
              </p:cNvSpPr>
              <p:nvPr/>
            </p:nvSpPr>
            <p:spPr bwMode="auto">
              <a:xfrm>
                <a:off x="6120" y="2880"/>
                <a:ext cx="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7" name="Line 77"/>
              <p:cNvSpPr>
                <a:spLocks noChangeShapeType="1"/>
              </p:cNvSpPr>
              <p:nvPr/>
            </p:nvSpPr>
            <p:spPr bwMode="auto">
              <a:xfrm>
                <a:off x="6840" y="2880"/>
                <a:ext cx="1980" cy="7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8" name="Line 78"/>
              <p:cNvSpPr>
                <a:spLocks noChangeShapeType="1"/>
              </p:cNvSpPr>
              <p:nvPr/>
            </p:nvSpPr>
            <p:spPr bwMode="auto">
              <a:xfrm flipH="1">
                <a:off x="2520" y="4140"/>
                <a:ext cx="36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39" name="Line 79"/>
              <p:cNvSpPr>
                <a:spLocks noChangeShapeType="1"/>
              </p:cNvSpPr>
              <p:nvPr/>
            </p:nvSpPr>
            <p:spPr bwMode="auto">
              <a:xfrm>
                <a:off x="3240" y="4140"/>
                <a:ext cx="126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40" name="Line 80"/>
              <p:cNvSpPr>
                <a:spLocks noChangeShapeType="1"/>
              </p:cNvSpPr>
              <p:nvPr/>
            </p:nvSpPr>
            <p:spPr bwMode="auto">
              <a:xfrm>
                <a:off x="8567" y="4127"/>
                <a:ext cx="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52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Duyệt</a:t>
            </a:r>
            <a:r>
              <a:rPr lang="en-US" dirty="0" smtClean="0"/>
              <a:t> 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endParaRPr lang="en-US" dirty="0" smtClean="0"/>
          </a:p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53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(Breadth-first traversal)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648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r>
              <a:rPr lang="en-US" dirty="0" smtClean="0"/>
              <a:t>,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trái</a:t>
            </a:r>
            <a:r>
              <a:rPr lang="en-US" dirty="0" smtClean="0"/>
              <a:t>, con </a:t>
            </a:r>
            <a:r>
              <a:rPr lang="en-US" dirty="0" err="1" smtClean="0"/>
              <a:t>phải</a:t>
            </a:r>
            <a:r>
              <a:rPr lang="en-US" dirty="0" smtClean="0"/>
              <a:t>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cháu</a:t>
            </a:r>
            <a:r>
              <a:rPr lang="en-US" dirty="0" smtClean="0"/>
              <a:t>,..</a:t>
            </a:r>
          </a:p>
          <a:p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mức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5181600" y="5562600"/>
            <a:ext cx="3809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Breadth-first Traversal: </a:t>
            </a:r>
            <a:r>
              <a:rPr lang="en-US" sz="2400" dirty="0" smtClean="0"/>
              <a:t>A,B,C,D,E,F,G,H,I</a:t>
            </a:r>
            <a:endParaRPr lang="en-US" sz="2400" dirty="0"/>
          </a:p>
        </p:txBody>
      </p:sp>
      <p:grpSp>
        <p:nvGrpSpPr>
          <p:cNvPr id="115" name="Group 114"/>
          <p:cNvGrpSpPr/>
          <p:nvPr/>
        </p:nvGrpSpPr>
        <p:grpSpPr>
          <a:xfrm>
            <a:off x="5476510" y="2152311"/>
            <a:ext cx="3338517" cy="3124212"/>
            <a:chOff x="5422908" y="3117854"/>
            <a:chExt cx="3338517" cy="3124212"/>
          </a:xfrm>
        </p:grpSpPr>
        <p:grpSp>
          <p:nvGrpSpPr>
            <p:cNvPr id="116" name="Group 115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165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grpSp>
            <p:nvGrpSpPr>
              <p:cNvPr id="166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167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8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7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161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grpSp>
            <p:nvGrpSpPr>
              <p:cNvPr id="162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163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8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157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8" name="Group 18"/>
              <p:cNvGrpSpPr>
                <a:grpSpLocks/>
              </p:cNvGrpSpPr>
              <p:nvPr/>
            </p:nvGrpSpPr>
            <p:grpSpPr bwMode="auto">
              <a:xfrm>
                <a:off x="4991" y="2551"/>
                <a:ext cx="192" cy="216"/>
                <a:chOff x="4991" y="2551"/>
                <a:chExt cx="192" cy="216"/>
              </a:xfrm>
            </p:grpSpPr>
            <p:sp>
              <p:nvSpPr>
                <p:cNvPr id="159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0" name="AutoShape 20"/>
                <p:cNvSpPr>
                  <a:spLocks noChangeArrowheads="1"/>
                </p:cNvSpPr>
                <p:nvPr/>
              </p:nvSpPr>
              <p:spPr bwMode="auto">
                <a:xfrm>
                  <a:off x="4991" y="2557"/>
                  <a:ext cx="192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9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153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F</a:t>
                </a:r>
                <a:endParaRPr lang="en-US" dirty="0"/>
              </a:p>
            </p:txBody>
          </p:sp>
          <p:grpSp>
            <p:nvGrpSpPr>
              <p:cNvPr id="154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155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20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149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0" name="Group 28"/>
              <p:cNvGrpSpPr>
                <a:grpSpLocks/>
              </p:cNvGrpSpPr>
              <p:nvPr/>
            </p:nvGrpSpPr>
            <p:grpSpPr bwMode="auto">
              <a:xfrm>
                <a:off x="5307" y="3127"/>
                <a:ext cx="200" cy="215"/>
                <a:chOff x="5307" y="3127"/>
                <a:chExt cx="200" cy="215"/>
              </a:xfrm>
            </p:grpSpPr>
            <p:sp>
              <p:nvSpPr>
                <p:cNvPr id="151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2" name="AutoShape 30"/>
                <p:cNvSpPr>
                  <a:spLocks noChangeArrowheads="1"/>
                </p:cNvSpPr>
                <p:nvPr/>
              </p:nvSpPr>
              <p:spPr bwMode="auto">
                <a:xfrm>
                  <a:off x="5307" y="3133"/>
                  <a:ext cx="200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21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145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  <p:grpSp>
            <p:nvGrpSpPr>
              <p:cNvPr id="146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147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8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22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141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grpSp>
            <p:nvGrpSpPr>
              <p:cNvPr id="142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143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4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123" name="AutoShape 41"/>
            <p:cNvCxnSpPr>
              <a:cxnSpLocks noChangeShapeType="1"/>
              <a:stCxn id="165" idx="2"/>
              <a:endCxn id="161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4" name="AutoShape 42"/>
            <p:cNvCxnSpPr>
              <a:cxnSpLocks noChangeShapeType="1"/>
              <a:stCxn id="165" idx="2"/>
              <a:endCxn id="157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5" name="AutoShape 43"/>
            <p:cNvCxnSpPr>
              <a:cxnSpLocks noChangeShapeType="1"/>
              <a:stCxn id="157" idx="2"/>
              <a:endCxn id="149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6" name="AutoShape 44"/>
            <p:cNvCxnSpPr>
              <a:cxnSpLocks noChangeShapeType="1"/>
              <a:stCxn id="157" idx="2"/>
              <a:endCxn id="153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AutoShape 45"/>
            <p:cNvCxnSpPr>
              <a:cxnSpLocks noChangeShapeType="1"/>
              <a:stCxn id="161" idx="2"/>
              <a:endCxn id="141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8" name="AutoShape 46"/>
            <p:cNvCxnSpPr>
              <a:cxnSpLocks noChangeShapeType="1"/>
              <a:stCxn id="161" idx="2"/>
              <a:endCxn id="145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29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137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H</a:t>
                </a:r>
                <a:endParaRPr lang="en-US" dirty="0"/>
              </a:p>
            </p:txBody>
          </p:sp>
          <p:grpSp>
            <p:nvGrpSpPr>
              <p:cNvPr id="138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139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0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130" name="AutoShape 52"/>
            <p:cNvCxnSpPr>
              <a:cxnSpLocks noChangeShapeType="1"/>
              <a:stCxn id="141" idx="2"/>
              <a:endCxn id="137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31" name="Group 53"/>
            <p:cNvGrpSpPr>
              <a:grpSpLocks/>
            </p:cNvGrpSpPr>
            <p:nvPr/>
          </p:nvGrpSpPr>
          <p:grpSpPr bwMode="auto">
            <a:xfrm>
              <a:off x="6761179" y="5857890"/>
              <a:ext cx="425451" cy="384176"/>
              <a:chOff x="4259" y="3690"/>
              <a:chExt cx="268" cy="242"/>
            </a:xfrm>
          </p:grpSpPr>
          <p:sp>
            <p:nvSpPr>
              <p:cNvPr id="133" name="AutoShape 54"/>
              <p:cNvSpPr>
                <a:spLocks noChangeArrowheads="1"/>
              </p:cNvSpPr>
              <p:nvPr/>
            </p:nvSpPr>
            <p:spPr bwMode="auto">
              <a:xfrm>
                <a:off x="4284" y="3690"/>
                <a:ext cx="229" cy="242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4" name="Group 55"/>
              <p:cNvGrpSpPr>
                <a:grpSpLocks/>
              </p:cNvGrpSpPr>
              <p:nvPr/>
            </p:nvGrpSpPr>
            <p:grpSpPr bwMode="auto">
              <a:xfrm>
                <a:off x="4259" y="3704"/>
                <a:ext cx="268" cy="220"/>
                <a:chOff x="4259" y="3704"/>
                <a:chExt cx="268" cy="220"/>
              </a:xfrm>
            </p:grpSpPr>
            <p:sp>
              <p:nvSpPr>
                <p:cNvPr id="135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6" name="AutoShape 57"/>
                <p:cNvSpPr>
                  <a:spLocks noChangeArrowheads="1"/>
                </p:cNvSpPr>
                <p:nvPr/>
              </p:nvSpPr>
              <p:spPr bwMode="auto">
                <a:xfrm>
                  <a:off x="4259" y="3720"/>
                  <a:ext cx="268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132" name="AutoShape 58"/>
            <p:cNvCxnSpPr>
              <a:cxnSpLocks noChangeShapeType="1"/>
              <a:stCxn id="141" idx="2"/>
              <a:endCxn id="133" idx="0"/>
            </p:cNvCxnSpPr>
            <p:nvPr/>
          </p:nvCxnSpPr>
          <p:spPr bwMode="auto">
            <a:xfrm>
              <a:off x="6614330" y="5324483"/>
              <a:ext cx="368306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210544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791200"/>
          </a:xfrm>
        </p:spPr>
        <p:txBody>
          <a:bodyPr>
            <a:normAutofit/>
          </a:bodyPr>
          <a:lstStyle/>
          <a:p>
            <a:r>
              <a:rPr lang="en-US" sz="2600" dirty="0" err="1" smtClean="0"/>
              <a:t>Chiến</a:t>
            </a:r>
            <a:r>
              <a:rPr lang="en-US" sz="2600" dirty="0" smtClean="0"/>
              <a:t> </a:t>
            </a:r>
            <a:r>
              <a:rPr lang="en-US" sz="2600" dirty="0" err="1" smtClean="0"/>
              <a:t>lược</a:t>
            </a:r>
            <a:r>
              <a:rPr lang="en-US" sz="2600" dirty="0" smtClean="0"/>
              <a:t> </a:t>
            </a:r>
            <a:r>
              <a:rPr lang="en-US" sz="2600" dirty="0" err="1" smtClean="0"/>
              <a:t>chung</a:t>
            </a:r>
            <a:r>
              <a:rPr lang="en-US" sz="2600" dirty="0" smtClean="0"/>
              <a:t>: </a:t>
            </a:r>
            <a:r>
              <a:rPr lang="en-US" sz="2600" dirty="0" err="1" smtClean="0"/>
              <a:t>sử</a:t>
            </a:r>
            <a:r>
              <a:rPr lang="en-US" sz="2600" dirty="0" smtClean="0"/>
              <a:t> </a:t>
            </a:r>
            <a:r>
              <a:rPr lang="en-US" sz="2600" dirty="0" err="1" smtClean="0"/>
              <a:t>dụng</a:t>
            </a:r>
            <a:r>
              <a:rPr lang="en-US" sz="2600" dirty="0" smtClean="0"/>
              <a:t> </a:t>
            </a:r>
            <a:r>
              <a:rPr lang="en-US" sz="2600" b="1" dirty="0" err="1" smtClean="0"/>
              <a:t>hàng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đợi</a:t>
            </a:r>
            <a:r>
              <a:rPr lang="en-US" sz="2600" dirty="0" smtClean="0"/>
              <a:t> </a:t>
            </a:r>
            <a:r>
              <a:rPr lang="en-US" sz="2600" dirty="0" err="1" smtClean="0"/>
              <a:t>để</a:t>
            </a:r>
            <a:r>
              <a:rPr lang="en-US" sz="2600" dirty="0" smtClean="0"/>
              <a:t> </a:t>
            </a:r>
            <a:r>
              <a:rPr lang="en-US" sz="2600" dirty="0" err="1" smtClean="0"/>
              <a:t>lưu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đỉnh</a:t>
            </a:r>
            <a:r>
              <a:rPr lang="en-US" sz="2600" dirty="0" smtClean="0"/>
              <a:t> </a:t>
            </a:r>
            <a:r>
              <a:rPr lang="en-US" sz="2600" dirty="0" err="1" smtClean="0"/>
              <a:t>chờ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thăm</a:t>
            </a:r>
            <a:endParaRPr lang="en-US" sz="2600" dirty="0" smtClean="0"/>
          </a:p>
          <a:p>
            <a:r>
              <a:rPr lang="en-US" sz="2600" dirty="0" err="1" smtClean="0"/>
              <a:t>Mã</a:t>
            </a:r>
            <a:r>
              <a:rPr lang="en-US" sz="2600" dirty="0" smtClean="0"/>
              <a:t> </a:t>
            </a:r>
            <a:r>
              <a:rPr lang="en-US" sz="2600" dirty="0" err="1" smtClean="0"/>
              <a:t>giả</a:t>
            </a:r>
            <a:r>
              <a:rPr lang="en-US" sz="2600" dirty="0" smtClean="0"/>
              <a:t>:</a:t>
            </a:r>
          </a:p>
          <a:p>
            <a:endParaRPr lang="en-US" sz="2600" dirty="0" smtClean="0"/>
          </a:p>
          <a:p>
            <a:endParaRPr lang="en-US" sz="2600" dirty="0"/>
          </a:p>
          <a:p>
            <a:endParaRPr lang="en-US" sz="2600" dirty="0" smtClean="0"/>
          </a:p>
          <a:p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err="1" smtClean="0"/>
              <a:t>Hàng</a:t>
            </a:r>
            <a:r>
              <a:rPr lang="en-US" sz="2600" dirty="0" smtClean="0"/>
              <a:t> </a:t>
            </a:r>
            <a:r>
              <a:rPr lang="en-US" sz="2600" dirty="0" err="1" smtClean="0"/>
              <a:t>đợi</a:t>
            </a:r>
            <a:r>
              <a:rPr lang="en-US" sz="2600" dirty="0" smtClean="0"/>
              <a:t> </a:t>
            </a:r>
            <a:r>
              <a:rPr lang="en-US" sz="2600" dirty="0" err="1" smtClean="0"/>
              <a:t>đảm</a:t>
            </a:r>
            <a:r>
              <a:rPr lang="en-US" sz="2600" dirty="0" smtClean="0"/>
              <a:t> </a:t>
            </a:r>
            <a:r>
              <a:rPr lang="en-US" sz="2600" dirty="0" err="1" smtClean="0"/>
              <a:t>bảo</a:t>
            </a:r>
            <a:r>
              <a:rPr lang="en-US" sz="2600" dirty="0" smtClean="0"/>
              <a:t> </a:t>
            </a:r>
            <a:r>
              <a:rPr lang="en-US" sz="2600" dirty="0" err="1" smtClean="0"/>
              <a:t>tất</a:t>
            </a:r>
            <a:r>
              <a:rPr lang="en-US" sz="2600" dirty="0" smtClean="0"/>
              <a:t> </a:t>
            </a:r>
            <a:r>
              <a:rPr lang="en-US" sz="2600" dirty="0" err="1" smtClean="0"/>
              <a:t>cả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đỉnh</a:t>
            </a:r>
            <a:r>
              <a:rPr lang="en-US" sz="2600" dirty="0" smtClean="0"/>
              <a:t> </a:t>
            </a:r>
            <a:r>
              <a:rPr lang="en-US" sz="2600" dirty="0" err="1" smtClean="0"/>
              <a:t>ở</a:t>
            </a:r>
            <a:r>
              <a:rPr lang="en-US" sz="2600" dirty="0" smtClean="0"/>
              <a:t> </a:t>
            </a:r>
            <a:r>
              <a:rPr lang="en-US" sz="2600" dirty="0" err="1" smtClean="0"/>
              <a:t>cùng</a:t>
            </a:r>
            <a:r>
              <a:rPr lang="en-US" sz="2600" dirty="0" smtClean="0"/>
              <a:t> </a:t>
            </a:r>
            <a:r>
              <a:rPr lang="en-US" sz="2600" dirty="0" err="1" smtClean="0"/>
              <a:t>một</a:t>
            </a:r>
            <a:r>
              <a:rPr lang="en-US" sz="2600" dirty="0" smtClean="0"/>
              <a:t> </a:t>
            </a:r>
            <a:r>
              <a:rPr lang="en-US" sz="2600" dirty="0" err="1" smtClean="0"/>
              <a:t>mức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thăm</a:t>
            </a:r>
            <a:r>
              <a:rPr lang="en-US" sz="2600" dirty="0" smtClean="0"/>
              <a:t> </a:t>
            </a:r>
            <a:r>
              <a:rPr lang="en-US" sz="2600" dirty="0" err="1" smtClean="0"/>
              <a:t>trước</a:t>
            </a:r>
            <a:r>
              <a:rPr lang="en-US" sz="2600" dirty="0" smtClean="0"/>
              <a:t> </a:t>
            </a:r>
            <a:r>
              <a:rPr lang="en-US" sz="2600" dirty="0" err="1" smtClean="0"/>
              <a:t>khi</a:t>
            </a:r>
            <a:r>
              <a:rPr lang="en-US" sz="2600" dirty="0" smtClean="0"/>
              <a:t> </a:t>
            </a:r>
            <a:r>
              <a:rPr lang="en-US" sz="2600" dirty="0" err="1" smtClean="0"/>
              <a:t>các</a:t>
            </a:r>
            <a:r>
              <a:rPr lang="en-US" sz="2600" dirty="0" smtClean="0"/>
              <a:t> </a:t>
            </a:r>
            <a:r>
              <a:rPr lang="en-US" sz="2600" dirty="0" err="1" smtClean="0"/>
              <a:t>đỉnh</a:t>
            </a:r>
            <a:r>
              <a:rPr lang="en-US" sz="2600" dirty="0" smtClean="0"/>
              <a:t> con </a:t>
            </a:r>
            <a:r>
              <a:rPr lang="en-US" sz="2600" dirty="0" err="1" smtClean="0"/>
              <a:t>của</a:t>
            </a:r>
            <a:r>
              <a:rPr lang="en-US" sz="2600" dirty="0" smtClean="0"/>
              <a:t> </a:t>
            </a:r>
            <a:r>
              <a:rPr lang="en-US" sz="2600" dirty="0" err="1" smtClean="0"/>
              <a:t>nó</a:t>
            </a:r>
            <a:r>
              <a:rPr lang="en-US" sz="2600" dirty="0" smtClean="0"/>
              <a:t> </a:t>
            </a:r>
            <a:r>
              <a:rPr lang="en-US" sz="2600" dirty="0" err="1" smtClean="0"/>
              <a:t>được</a:t>
            </a:r>
            <a:r>
              <a:rPr lang="en-US" sz="2600" dirty="0" smtClean="0"/>
              <a:t> </a:t>
            </a:r>
            <a:r>
              <a:rPr lang="en-US" sz="2600" dirty="0" err="1" smtClean="0"/>
              <a:t>thăm</a:t>
            </a:r>
            <a:r>
              <a:rPr lang="en-US" sz="2600" dirty="0" smtClean="0"/>
              <a:t> </a:t>
            </a:r>
            <a:endParaRPr lang="en-US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2743200"/>
            <a:ext cx="731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sz="2000" b="1" dirty="0" err="1" smtClean="0">
                <a:latin typeface="Consolas" pitchFamily="49" charset="0"/>
                <a:cs typeface="Consolas" pitchFamily="49" charset="0"/>
              </a:rPr>
              <a:t>bft</a:t>
            </a:r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(root):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Input: root node of tree</a:t>
            </a:r>
          </a:p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//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Output: None</a:t>
            </a:r>
            <a:endParaRPr lang="en-US" sz="2000" b="1" dirty="0" smtClean="0">
              <a:solidFill>
                <a:schemeClr val="bg2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Q = new Queue()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enqueue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root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while Q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chưa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rỗng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: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node =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Q.dequeue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thăm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(node)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enqueue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đỉnh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con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trái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và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phải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của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node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2819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(Depth-first traversal)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6482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Bắt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gốc</a:t>
            </a:r>
            <a:r>
              <a:rPr lang="en-US" dirty="0" smtClean="0"/>
              <a:t>,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quay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endParaRPr lang="en-US" dirty="0" smtClean="0"/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,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68" name="TextBox 167"/>
          <p:cNvSpPr txBox="1"/>
          <p:nvPr/>
        </p:nvSpPr>
        <p:spPr>
          <a:xfrm>
            <a:off x="5442755" y="5257800"/>
            <a:ext cx="3410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Depth-first Traversal: </a:t>
            </a:r>
            <a:r>
              <a:rPr lang="en-US" sz="2400" dirty="0" smtClean="0"/>
              <a:t>A,C,G,F,B,E,I,H,D</a:t>
            </a:r>
            <a:endParaRPr lang="en-US" sz="2400" dirty="0"/>
          </a:p>
          <a:p>
            <a:pPr algn="ctr"/>
            <a:r>
              <a:rPr lang="en-US" sz="2400" dirty="0" smtClean="0"/>
              <a:t>or</a:t>
            </a:r>
            <a:br>
              <a:rPr lang="en-US" sz="2400" dirty="0" smtClean="0"/>
            </a:br>
            <a:r>
              <a:rPr lang="en-US" sz="2400" dirty="0" smtClean="0"/>
              <a:t>A,B,D,E,H,I,C,F,G</a:t>
            </a:r>
            <a:endParaRPr lang="en-US" sz="2400" dirty="0"/>
          </a:p>
        </p:txBody>
      </p:sp>
      <p:grpSp>
        <p:nvGrpSpPr>
          <p:cNvPr id="223" name="Group 222"/>
          <p:cNvGrpSpPr/>
          <p:nvPr/>
        </p:nvGrpSpPr>
        <p:grpSpPr>
          <a:xfrm>
            <a:off x="5476510" y="1905000"/>
            <a:ext cx="3338517" cy="3124212"/>
            <a:chOff x="5422908" y="3117854"/>
            <a:chExt cx="3338517" cy="3124212"/>
          </a:xfrm>
        </p:grpSpPr>
        <p:grpSp>
          <p:nvGrpSpPr>
            <p:cNvPr id="224" name="Group 223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273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grpSp>
            <p:nvGrpSpPr>
              <p:cNvPr id="274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275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6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225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269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grpSp>
            <p:nvGrpSpPr>
              <p:cNvPr id="270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271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2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226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265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66" name="Group 18"/>
              <p:cNvGrpSpPr>
                <a:grpSpLocks/>
              </p:cNvGrpSpPr>
              <p:nvPr/>
            </p:nvGrpSpPr>
            <p:grpSpPr bwMode="auto">
              <a:xfrm>
                <a:off x="4991" y="2551"/>
                <a:ext cx="192" cy="216"/>
                <a:chOff x="4991" y="2551"/>
                <a:chExt cx="192" cy="216"/>
              </a:xfrm>
            </p:grpSpPr>
            <p:sp>
              <p:nvSpPr>
                <p:cNvPr id="267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8" name="AutoShape 20"/>
                <p:cNvSpPr>
                  <a:spLocks noChangeArrowheads="1"/>
                </p:cNvSpPr>
                <p:nvPr/>
              </p:nvSpPr>
              <p:spPr bwMode="auto">
                <a:xfrm>
                  <a:off x="4991" y="2557"/>
                  <a:ext cx="192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227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261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F</a:t>
                </a:r>
                <a:endParaRPr lang="en-US" dirty="0"/>
              </a:p>
            </p:txBody>
          </p:sp>
          <p:grpSp>
            <p:nvGrpSpPr>
              <p:cNvPr id="262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263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4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228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257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8" name="Group 28"/>
              <p:cNvGrpSpPr>
                <a:grpSpLocks/>
              </p:cNvGrpSpPr>
              <p:nvPr/>
            </p:nvGrpSpPr>
            <p:grpSpPr bwMode="auto">
              <a:xfrm>
                <a:off x="5307" y="3127"/>
                <a:ext cx="200" cy="215"/>
                <a:chOff x="5307" y="3127"/>
                <a:chExt cx="200" cy="215"/>
              </a:xfrm>
            </p:grpSpPr>
            <p:sp>
              <p:nvSpPr>
                <p:cNvPr id="259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0" name="AutoShape 30"/>
                <p:cNvSpPr>
                  <a:spLocks noChangeArrowheads="1"/>
                </p:cNvSpPr>
                <p:nvPr/>
              </p:nvSpPr>
              <p:spPr bwMode="auto">
                <a:xfrm>
                  <a:off x="5307" y="3133"/>
                  <a:ext cx="200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229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253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  <p:grpSp>
            <p:nvGrpSpPr>
              <p:cNvPr id="254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255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230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249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grpSp>
            <p:nvGrpSpPr>
              <p:cNvPr id="250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251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2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231" name="AutoShape 41"/>
            <p:cNvCxnSpPr>
              <a:cxnSpLocks noChangeShapeType="1"/>
              <a:stCxn id="273" idx="2"/>
              <a:endCxn id="269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2" name="AutoShape 42"/>
            <p:cNvCxnSpPr>
              <a:cxnSpLocks noChangeShapeType="1"/>
              <a:stCxn id="273" idx="2"/>
              <a:endCxn id="265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3" name="AutoShape 43"/>
            <p:cNvCxnSpPr>
              <a:cxnSpLocks noChangeShapeType="1"/>
              <a:stCxn id="265" idx="2"/>
              <a:endCxn id="257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4" name="AutoShape 44"/>
            <p:cNvCxnSpPr>
              <a:cxnSpLocks noChangeShapeType="1"/>
              <a:stCxn id="265" idx="2"/>
              <a:endCxn id="261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" name="AutoShape 45"/>
            <p:cNvCxnSpPr>
              <a:cxnSpLocks noChangeShapeType="1"/>
              <a:stCxn id="269" idx="2"/>
              <a:endCxn id="249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" name="AutoShape 46"/>
            <p:cNvCxnSpPr>
              <a:cxnSpLocks noChangeShapeType="1"/>
              <a:stCxn id="269" idx="2"/>
              <a:endCxn id="253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37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245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H</a:t>
                </a:r>
                <a:endParaRPr lang="en-US" dirty="0"/>
              </a:p>
            </p:txBody>
          </p:sp>
          <p:grpSp>
            <p:nvGrpSpPr>
              <p:cNvPr id="246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247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8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238" name="AutoShape 52"/>
            <p:cNvCxnSpPr>
              <a:cxnSpLocks noChangeShapeType="1"/>
              <a:stCxn id="249" idx="2"/>
              <a:endCxn id="245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39" name="Group 53"/>
            <p:cNvGrpSpPr>
              <a:grpSpLocks/>
            </p:cNvGrpSpPr>
            <p:nvPr/>
          </p:nvGrpSpPr>
          <p:grpSpPr bwMode="auto">
            <a:xfrm>
              <a:off x="6761179" y="5857890"/>
              <a:ext cx="425451" cy="384176"/>
              <a:chOff x="4259" y="3690"/>
              <a:chExt cx="268" cy="242"/>
            </a:xfrm>
          </p:grpSpPr>
          <p:sp>
            <p:nvSpPr>
              <p:cNvPr id="241" name="AutoShape 54"/>
              <p:cNvSpPr>
                <a:spLocks noChangeArrowheads="1"/>
              </p:cNvSpPr>
              <p:nvPr/>
            </p:nvSpPr>
            <p:spPr bwMode="auto">
              <a:xfrm>
                <a:off x="4284" y="3690"/>
                <a:ext cx="229" cy="242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42" name="Group 55"/>
              <p:cNvGrpSpPr>
                <a:grpSpLocks/>
              </p:cNvGrpSpPr>
              <p:nvPr/>
            </p:nvGrpSpPr>
            <p:grpSpPr bwMode="auto">
              <a:xfrm>
                <a:off x="4259" y="3704"/>
                <a:ext cx="268" cy="220"/>
                <a:chOff x="4259" y="3704"/>
                <a:chExt cx="268" cy="220"/>
              </a:xfrm>
            </p:grpSpPr>
            <p:sp>
              <p:nvSpPr>
                <p:cNvPr id="243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4" name="AutoShape 57"/>
                <p:cNvSpPr>
                  <a:spLocks noChangeArrowheads="1"/>
                </p:cNvSpPr>
                <p:nvPr/>
              </p:nvSpPr>
              <p:spPr bwMode="auto">
                <a:xfrm>
                  <a:off x="4259" y="3720"/>
                  <a:ext cx="268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240" name="AutoShape 58"/>
            <p:cNvCxnSpPr>
              <a:cxnSpLocks noChangeShapeType="1"/>
              <a:stCxn id="249" idx="2"/>
              <a:endCxn id="241" idx="0"/>
            </p:cNvCxnSpPr>
            <p:nvPr/>
          </p:nvCxnSpPr>
          <p:spPr bwMode="auto">
            <a:xfrm>
              <a:off x="6614330" y="5324483"/>
              <a:ext cx="368306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174452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/>
              <a:t>Chiến</a:t>
            </a:r>
            <a:r>
              <a:rPr lang="en-US" dirty="0" smtClean="0"/>
              <a:t> </a:t>
            </a:r>
            <a:r>
              <a:rPr lang="en-US" dirty="0" err="1" smtClean="0"/>
              <a:t>lược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: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b="1" dirty="0" err="1" smtClean="0"/>
              <a:t>ngăn</a:t>
            </a:r>
            <a:r>
              <a:rPr lang="en-US" b="1" dirty="0" smtClean="0"/>
              <a:t> </a:t>
            </a:r>
            <a:r>
              <a:rPr lang="en-US" b="1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chờ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endParaRPr lang="en-US" dirty="0" smtClean="0"/>
          </a:p>
          <a:p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giả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đảm</a:t>
            </a:r>
            <a:r>
              <a:rPr lang="en-US" dirty="0" smtClean="0"/>
              <a:t> </a:t>
            </a:r>
            <a:r>
              <a:rPr lang="en-US" dirty="0" err="1" smtClean="0"/>
              <a:t>bảo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nhánh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endParaRPr lang="en-US" dirty="0" smtClean="0"/>
          </a:p>
          <a:p>
            <a:pPr lvl="1"/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2743200"/>
            <a:ext cx="601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sz="2000" b="1" dirty="0" err="1" smtClean="0">
                <a:latin typeface="Consolas" pitchFamily="49" charset="0"/>
                <a:cs typeface="Consolas" pitchFamily="49" charset="0"/>
              </a:rPr>
              <a:t>dft</a:t>
            </a:r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(root):</a:t>
            </a:r>
          </a:p>
          <a:p>
            <a:r>
              <a:rPr lang="en-US" sz="20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//Input: root node of tree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//Output: none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S = new Stack()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push root onto S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while S is not empty: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node =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S.pop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thăm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(node)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  push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các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đỉnh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trái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và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phải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  <a:cs typeface="Consolas" pitchFamily="49" charset="0"/>
              </a:rPr>
              <a:t>của</a:t>
            </a:r>
            <a:r>
              <a:rPr lang="en-US" sz="2000" dirty="0" smtClean="0">
                <a:latin typeface="Consolas" pitchFamily="49" charset="0"/>
                <a:cs typeface="Consolas" pitchFamily="49" charset="0"/>
              </a:rPr>
              <a:t> node</a:t>
            </a:r>
            <a:endParaRPr lang="en-US" sz="20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8854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phỏng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	BFT	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2" name="Picture 61" descr="Animated_BFS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514600"/>
            <a:ext cx="3048000" cy="2852406"/>
          </a:xfrm>
          <a:prstGeom prst="rect">
            <a:avLst/>
          </a:prstGeom>
        </p:spPr>
      </p:pic>
      <p:pic>
        <p:nvPicPr>
          <p:cNvPr id="63" name="Picture 62" descr="Depth-First-Search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286000"/>
            <a:ext cx="3429000" cy="3429000"/>
          </a:xfrm>
          <a:prstGeom prst="rect">
            <a:avLst/>
          </a:prstGeom>
        </p:spPr>
      </p:pic>
      <p:sp>
        <p:nvSpPr>
          <p:cNvPr id="64" name="Content Placeholder 2"/>
          <p:cNvSpPr txBox="1">
            <a:spLocks/>
          </p:cNvSpPr>
          <p:nvPr/>
        </p:nvSpPr>
        <p:spPr>
          <a:xfrm>
            <a:off x="4724400" y="1600200"/>
            <a:ext cx="41148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/>
              <a:t>	      DFT	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0" y="5334000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BFT gif: </a:t>
            </a:r>
            <a:r>
              <a:rPr lang="en-US" dirty="0">
                <a:hlinkClick r:id="rId5"/>
              </a:rPr>
              <a:t>http://en.wikipedia.org/wiki/Breadth-first_search#mediaviewer/</a:t>
            </a:r>
            <a:r>
              <a:rPr lang="en-US" dirty="0" smtClean="0">
                <a:hlinkClick r:id="rId5"/>
              </a:rPr>
              <a:t>File:Animated_BFS.gif</a:t>
            </a:r>
            <a:endParaRPr lang="en-US" dirty="0" smtClean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DFT gif: </a:t>
            </a:r>
            <a:endParaRPr lang="en-US" dirty="0" smtClean="0"/>
          </a:p>
          <a:p>
            <a:pPr>
              <a:defRPr/>
            </a:pPr>
            <a:r>
              <a:rPr lang="en-US" dirty="0" smtClean="0">
                <a:hlinkClick r:id="rId6"/>
              </a:rPr>
              <a:t>https</a:t>
            </a:r>
            <a:r>
              <a:rPr lang="en-US" dirty="0">
                <a:hlinkClick r:id="rId6"/>
              </a:rPr>
              <a:t>://upload.wikimedia.org/wikipedia/commons/7/7f/Depth-First-Search.gif</a:t>
            </a: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631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đệ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đệ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endParaRPr lang="en-US" dirty="0" smtClean="0"/>
          </a:p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đệ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,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3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 smtClean="0"/>
          </a:p>
          <a:p>
            <a:pPr lvl="1"/>
            <a:r>
              <a:rPr lang="en-US" dirty="0" smtClean="0"/>
              <a:t>Pre-order –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trái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phải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Post-order –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con </a:t>
            </a:r>
            <a:r>
              <a:rPr lang="en-US" dirty="0" err="1" smtClean="0"/>
              <a:t>trái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con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In-order </a:t>
            </a:r>
            <a:r>
              <a:rPr lang="en-US" dirty="0"/>
              <a:t>– </a:t>
            </a:r>
            <a:r>
              <a:rPr lang="en-US" dirty="0" err="1" smtClean="0"/>
              <a:t>Thăm</a:t>
            </a:r>
            <a:r>
              <a:rPr lang="en-US" dirty="0" smtClean="0"/>
              <a:t> con </a:t>
            </a:r>
            <a:r>
              <a:rPr lang="en-US" dirty="0" err="1" smtClean="0"/>
              <a:t>trái</a:t>
            </a:r>
            <a:r>
              <a:rPr lang="en-US" dirty="0" smtClean="0"/>
              <a:t>,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,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con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077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tiền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(Pre-order traversal)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367503" y="2303311"/>
            <a:ext cx="50712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function preorder(node):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Input: root node of tree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 //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Output: 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None</a:t>
            </a:r>
            <a:endParaRPr lang="en-US" sz="2400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visit(node)</a:t>
            </a:r>
            <a:br>
              <a:rPr lang="en-US" sz="2400" dirty="0" smtClean="0">
                <a:latin typeface="Consolas" pitchFamily="49" charset="0"/>
                <a:cs typeface="Consolas" pitchFamily="49" charset="0"/>
              </a:rPr>
            </a:b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if node has left child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 preorder(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node.left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if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node has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right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child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preorder(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node.right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)</a:t>
            </a:r>
            <a:endParaRPr lang="en-US" sz="24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442755" y="5562600"/>
            <a:ext cx="3410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Pre-order Traversal: </a:t>
            </a:r>
            <a:r>
              <a:rPr lang="en-US" sz="2400" dirty="0" smtClean="0"/>
              <a:t>A,B,D,E,H,I,C,F,G</a:t>
            </a:r>
            <a:endParaRPr lang="en-US" sz="2400" dirty="0"/>
          </a:p>
        </p:txBody>
      </p:sp>
      <p:grpSp>
        <p:nvGrpSpPr>
          <p:cNvPr id="61" name="Group 60"/>
          <p:cNvGrpSpPr/>
          <p:nvPr/>
        </p:nvGrpSpPr>
        <p:grpSpPr>
          <a:xfrm>
            <a:off x="5476510" y="2152311"/>
            <a:ext cx="3338517" cy="3124212"/>
            <a:chOff x="5422908" y="3117854"/>
            <a:chExt cx="3338517" cy="3124212"/>
          </a:xfrm>
        </p:grpSpPr>
        <p:grpSp>
          <p:nvGrpSpPr>
            <p:cNvPr id="62" name="Group 61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111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grpSp>
            <p:nvGrpSpPr>
              <p:cNvPr id="112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113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3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107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grpSp>
            <p:nvGrpSpPr>
              <p:cNvPr id="108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109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4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103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" name="Group 18"/>
              <p:cNvGrpSpPr>
                <a:grpSpLocks/>
              </p:cNvGrpSpPr>
              <p:nvPr/>
            </p:nvGrpSpPr>
            <p:grpSpPr bwMode="auto">
              <a:xfrm>
                <a:off x="4991" y="2551"/>
                <a:ext cx="192" cy="216"/>
                <a:chOff x="4991" y="2551"/>
                <a:chExt cx="192" cy="216"/>
              </a:xfrm>
            </p:grpSpPr>
            <p:sp>
              <p:nvSpPr>
                <p:cNvPr id="105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" name="AutoShape 20"/>
                <p:cNvSpPr>
                  <a:spLocks noChangeArrowheads="1"/>
                </p:cNvSpPr>
                <p:nvPr/>
              </p:nvSpPr>
              <p:spPr bwMode="auto">
                <a:xfrm>
                  <a:off x="4991" y="2557"/>
                  <a:ext cx="192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5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99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F</a:t>
                </a:r>
                <a:endParaRPr lang="en-US" dirty="0"/>
              </a:p>
            </p:txBody>
          </p:sp>
          <p:grpSp>
            <p:nvGrpSpPr>
              <p:cNvPr id="100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101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6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95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6" name="Group 28"/>
              <p:cNvGrpSpPr>
                <a:grpSpLocks/>
              </p:cNvGrpSpPr>
              <p:nvPr/>
            </p:nvGrpSpPr>
            <p:grpSpPr bwMode="auto">
              <a:xfrm>
                <a:off x="5307" y="3127"/>
                <a:ext cx="200" cy="215"/>
                <a:chOff x="5307" y="3127"/>
                <a:chExt cx="200" cy="215"/>
              </a:xfrm>
            </p:grpSpPr>
            <p:sp>
              <p:nvSpPr>
                <p:cNvPr id="97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AutoShape 30"/>
                <p:cNvSpPr>
                  <a:spLocks noChangeArrowheads="1"/>
                </p:cNvSpPr>
                <p:nvPr/>
              </p:nvSpPr>
              <p:spPr bwMode="auto">
                <a:xfrm>
                  <a:off x="5307" y="3133"/>
                  <a:ext cx="200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7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91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  <p:grpSp>
            <p:nvGrpSpPr>
              <p:cNvPr id="92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93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8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87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grpSp>
            <p:nvGrpSpPr>
              <p:cNvPr id="88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89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69" name="AutoShape 41"/>
            <p:cNvCxnSpPr>
              <a:cxnSpLocks noChangeShapeType="1"/>
              <a:stCxn id="111" idx="2"/>
              <a:endCxn id="107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42"/>
            <p:cNvCxnSpPr>
              <a:cxnSpLocks noChangeShapeType="1"/>
              <a:stCxn id="111" idx="2"/>
              <a:endCxn id="103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43"/>
            <p:cNvCxnSpPr>
              <a:cxnSpLocks noChangeShapeType="1"/>
              <a:stCxn id="103" idx="2"/>
              <a:endCxn id="95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44"/>
            <p:cNvCxnSpPr>
              <a:cxnSpLocks noChangeShapeType="1"/>
              <a:stCxn id="103" idx="2"/>
              <a:endCxn id="99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45"/>
            <p:cNvCxnSpPr>
              <a:cxnSpLocks noChangeShapeType="1"/>
              <a:stCxn id="107" idx="2"/>
              <a:endCxn id="87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AutoShape 46"/>
            <p:cNvCxnSpPr>
              <a:cxnSpLocks noChangeShapeType="1"/>
              <a:stCxn id="107" idx="2"/>
              <a:endCxn id="91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5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83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H</a:t>
                </a:r>
                <a:endParaRPr lang="en-US" dirty="0"/>
              </a:p>
            </p:txBody>
          </p:sp>
          <p:grpSp>
            <p:nvGrpSpPr>
              <p:cNvPr id="84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85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6" name="AutoShape 52"/>
            <p:cNvCxnSpPr>
              <a:cxnSpLocks noChangeShapeType="1"/>
              <a:stCxn id="87" idx="2"/>
              <a:endCxn id="83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7" name="Group 53"/>
            <p:cNvGrpSpPr>
              <a:grpSpLocks/>
            </p:cNvGrpSpPr>
            <p:nvPr/>
          </p:nvGrpSpPr>
          <p:grpSpPr bwMode="auto">
            <a:xfrm>
              <a:off x="6761179" y="5857890"/>
              <a:ext cx="425451" cy="384176"/>
              <a:chOff x="4259" y="3690"/>
              <a:chExt cx="268" cy="242"/>
            </a:xfrm>
          </p:grpSpPr>
          <p:sp>
            <p:nvSpPr>
              <p:cNvPr id="79" name="AutoShape 54"/>
              <p:cNvSpPr>
                <a:spLocks noChangeArrowheads="1"/>
              </p:cNvSpPr>
              <p:nvPr/>
            </p:nvSpPr>
            <p:spPr bwMode="auto">
              <a:xfrm>
                <a:off x="4284" y="3690"/>
                <a:ext cx="229" cy="242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0" name="Group 55"/>
              <p:cNvGrpSpPr>
                <a:grpSpLocks/>
              </p:cNvGrpSpPr>
              <p:nvPr/>
            </p:nvGrpSpPr>
            <p:grpSpPr bwMode="auto">
              <a:xfrm>
                <a:off x="4259" y="3704"/>
                <a:ext cx="268" cy="220"/>
                <a:chOff x="4259" y="3704"/>
                <a:chExt cx="268" cy="220"/>
              </a:xfrm>
            </p:grpSpPr>
            <p:sp>
              <p:nvSpPr>
                <p:cNvPr id="81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AutoShape 57"/>
                <p:cNvSpPr>
                  <a:spLocks noChangeArrowheads="1"/>
                </p:cNvSpPr>
                <p:nvPr/>
              </p:nvSpPr>
              <p:spPr bwMode="auto">
                <a:xfrm>
                  <a:off x="4259" y="3720"/>
                  <a:ext cx="268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8" name="AutoShape 58"/>
            <p:cNvCxnSpPr>
              <a:cxnSpLocks noChangeShapeType="1"/>
              <a:stCxn id="87" idx="2"/>
              <a:endCxn id="79" idx="0"/>
            </p:cNvCxnSpPr>
            <p:nvPr/>
          </p:nvCxnSpPr>
          <p:spPr bwMode="auto">
            <a:xfrm>
              <a:off x="6614330" y="5324483"/>
              <a:ext cx="368306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TextBox 2"/>
          <p:cNvSpPr txBox="1"/>
          <p:nvPr/>
        </p:nvSpPr>
        <p:spPr>
          <a:xfrm>
            <a:off x="457200" y="6324600"/>
            <a:ext cx="3810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DFT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259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hậu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(Post-order traversal)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2286000"/>
            <a:ext cx="50712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sz="2400" b="1" dirty="0" err="1" smtClean="0">
                <a:latin typeface="Consolas" pitchFamily="49" charset="0"/>
                <a:cs typeface="Consolas" pitchFamily="49" charset="0"/>
              </a:rPr>
              <a:t>postorder</a:t>
            </a:r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(node):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Input: root node of tree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 //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Output: 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None</a:t>
            </a:r>
            <a:endParaRPr lang="en-US" sz="2400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if node has left child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postorder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node.left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if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node has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right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child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postorder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node.right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visit(node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5476510" y="2152311"/>
            <a:ext cx="3338517" cy="3124212"/>
            <a:chOff x="5422908" y="3117854"/>
            <a:chExt cx="3338517" cy="3124212"/>
          </a:xfrm>
        </p:grpSpPr>
        <p:grpSp>
          <p:nvGrpSpPr>
            <p:cNvPr id="62" name="Group 61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111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grpSp>
            <p:nvGrpSpPr>
              <p:cNvPr id="112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113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4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3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107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grpSp>
            <p:nvGrpSpPr>
              <p:cNvPr id="108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109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0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4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103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4" name="Group 18"/>
              <p:cNvGrpSpPr>
                <a:grpSpLocks/>
              </p:cNvGrpSpPr>
              <p:nvPr/>
            </p:nvGrpSpPr>
            <p:grpSpPr bwMode="auto">
              <a:xfrm>
                <a:off x="4991" y="2551"/>
                <a:ext cx="192" cy="216"/>
                <a:chOff x="4991" y="2551"/>
                <a:chExt cx="192" cy="216"/>
              </a:xfrm>
            </p:grpSpPr>
            <p:sp>
              <p:nvSpPr>
                <p:cNvPr id="105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" name="AutoShape 20"/>
                <p:cNvSpPr>
                  <a:spLocks noChangeArrowheads="1"/>
                </p:cNvSpPr>
                <p:nvPr/>
              </p:nvSpPr>
              <p:spPr bwMode="auto">
                <a:xfrm>
                  <a:off x="4991" y="2557"/>
                  <a:ext cx="192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5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99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F</a:t>
                </a:r>
                <a:endParaRPr lang="en-US" dirty="0"/>
              </a:p>
            </p:txBody>
          </p:sp>
          <p:grpSp>
            <p:nvGrpSpPr>
              <p:cNvPr id="100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101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6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95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6" name="Group 28"/>
              <p:cNvGrpSpPr>
                <a:grpSpLocks/>
              </p:cNvGrpSpPr>
              <p:nvPr/>
            </p:nvGrpSpPr>
            <p:grpSpPr bwMode="auto">
              <a:xfrm>
                <a:off x="5307" y="3127"/>
                <a:ext cx="200" cy="215"/>
                <a:chOff x="5307" y="3127"/>
                <a:chExt cx="200" cy="215"/>
              </a:xfrm>
            </p:grpSpPr>
            <p:sp>
              <p:nvSpPr>
                <p:cNvPr id="97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AutoShape 30"/>
                <p:cNvSpPr>
                  <a:spLocks noChangeArrowheads="1"/>
                </p:cNvSpPr>
                <p:nvPr/>
              </p:nvSpPr>
              <p:spPr bwMode="auto">
                <a:xfrm>
                  <a:off x="5307" y="3133"/>
                  <a:ext cx="200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7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91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  <p:grpSp>
            <p:nvGrpSpPr>
              <p:cNvPr id="92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93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4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8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87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grpSp>
            <p:nvGrpSpPr>
              <p:cNvPr id="88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89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69" name="AutoShape 41"/>
            <p:cNvCxnSpPr>
              <a:cxnSpLocks noChangeShapeType="1"/>
              <a:stCxn id="111" idx="2"/>
              <a:endCxn id="107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42"/>
            <p:cNvCxnSpPr>
              <a:cxnSpLocks noChangeShapeType="1"/>
              <a:stCxn id="111" idx="2"/>
              <a:endCxn id="103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43"/>
            <p:cNvCxnSpPr>
              <a:cxnSpLocks noChangeShapeType="1"/>
              <a:stCxn id="103" idx="2"/>
              <a:endCxn id="95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44"/>
            <p:cNvCxnSpPr>
              <a:cxnSpLocks noChangeShapeType="1"/>
              <a:stCxn id="103" idx="2"/>
              <a:endCxn id="99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45"/>
            <p:cNvCxnSpPr>
              <a:cxnSpLocks noChangeShapeType="1"/>
              <a:stCxn id="107" idx="2"/>
              <a:endCxn id="87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AutoShape 46"/>
            <p:cNvCxnSpPr>
              <a:cxnSpLocks noChangeShapeType="1"/>
              <a:stCxn id="107" idx="2"/>
              <a:endCxn id="91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5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83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H</a:t>
                </a:r>
                <a:endParaRPr lang="en-US" dirty="0"/>
              </a:p>
            </p:txBody>
          </p:sp>
          <p:grpSp>
            <p:nvGrpSpPr>
              <p:cNvPr id="84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85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6" name="AutoShape 52"/>
            <p:cNvCxnSpPr>
              <a:cxnSpLocks noChangeShapeType="1"/>
              <a:stCxn id="87" idx="2"/>
              <a:endCxn id="83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7" name="Group 53"/>
            <p:cNvGrpSpPr>
              <a:grpSpLocks/>
            </p:cNvGrpSpPr>
            <p:nvPr/>
          </p:nvGrpSpPr>
          <p:grpSpPr bwMode="auto">
            <a:xfrm>
              <a:off x="6761179" y="5857890"/>
              <a:ext cx="425451" cy="384176"/>
              <a:chOff x="4259" y="3690"/>
              <a:chExt cx="268" cy="242"/>
            </a:xfrm>
          </p:grpSpPr>
          <p:sp>
            <p:nvSpPr>
              <p:cNvPr id="79" name="AutoShape 54"/>
              <p:cNvSpPr>
                <a:spLocks noChangeArrowheads="1"/>
              </p:cNvSpPr>
              <p:nvPr/>
            </p:nvSpPr>
            <p:spPr bwMode="auto">
              <a:xfrm>
                <a:off x="4284" y="3690"/>
                <a:ext cx="229" cy="242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0" name="Group 55"/>
              <p:cNvGrpSpPr>
                <a:grpSpLocks/>
              </p:cNvGrpSpPr>
              <p:nvPr/>
            </p:nvGrpSpPr>
            <p:grpSpPr bwMode="auto">
              <a:xfrm>
                <a:off x="4259" y="3704"/>
                <a:ext cx="268" cy="220"/>
                <a:chOff x="4259" y="3704"/>
                <a:chExt cx="268" cy="220"/>
              </a:xfrm>
            </p:grpSpPr>
            <p:sp>
              <p:nvSpPr>
                <p:cNvPr id="81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AutoShape 57"/>
                <p:cNvSpPr>
                  <a:spLocks noChangeArrowheads="1"/>
                </p:cNvSpPr>
                <p:nvPr/>
              </p:nvSpPr>
              <p:spPr bwMode="auto">
                <a:xfrm>
                  <a:off x="4259" y="3720"/>
                  <a:ext cx="268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8" name="AutoShape 58"/>
            <p:cNvCxnSpPr>
              <a:cxnSpLocks noChangeShapeType="1"/>
              <a:stCxn id="87" idx="2"/>
              <a:endCxn id="79" idx="0"/>
            </p:cNvCxnSpPr>
            <p:nvPr/>
          </p:nvCxnSpPr>
          <p:spPr bwMode="auto">
            <a:xfrm>
              <a:off x="6614330" y="5324483"/>
              <a:ext cx="368306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5" name="TextBox 114"/>
          <p:cNvSpPr txBox="1"/>
          <p:nvPr/>
        </p:nvSpPr>
        <p:spPr>
          <a:xfrm>
            <a:off x="5442755" y="5562600"/>
            <a:ext cx="3410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Post-order Traversal:</a:t>
            </a:r>
          </a:p>
          <a:p>
            <a:pPr algn="ctr"/>
            <a:r>
              <a:rPr lang="en-US" sz="2400" dirty="0" smtClean="0"/>
              <a:t>D,H,I,E,B,F,G,C,A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3892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(In-order traversal)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2298680"/>
            <a:ext cx="50712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function </a:t>
            </a:r>
            <a:r>
              <a:rPr lang="en-US" sz="2400" b="1" dirty="0" err="1" smtClean="0">
                <a:latin typeface="Consolas" pitchFamily="49" charset="0"/>
                <a:cs typeface="Consolas" pitchFamily="49" charset="0"/>
              </a:rPr>
              <a:t>inorder</a:t>
            </a:r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(node):</a:t>
            </a:r>
          </a:p>
          <a:p>
            <a:r>
              <a:rPr lang="en-US" sz="2400" b="1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Input: root node of tree</a:t>
            </a:r>
          </a:p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 //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Output: 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None</a:t>
            </a:r>
            <a:endParaRPr lang="en-US" sz="2400" b="1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if node has left child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inorder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node.left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visit(node)</a:t>
            </a:r>
          </a:p>
          <a:p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 if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node has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right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child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inorder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dirty="0" err="1" smtClean="0">
                <a:latin typeface="Consolas" pitchFamily="49" charset="0"/>
                <a:cs typeface="Consolas" pitchFamily="49" charset="0"/>
              </a:rPr>
              <a:t>node.right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2400" dirty="0" smtClean="0">
                <a:latin typeface="Consolas" pitchFamily="49" charset="0"/>
                <a:cs typeface="Consolas" pitchFamily="49" charset="0"/>
              </a:rPr>
              <a:t> 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42755" y="5562600"/>
            <a:ext cx="3410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In-order Traversal:</a:t>
            </a:r>
          </a:p>
          <a:p>
            <a:pPr algn="ctr"/>
            <a:r>
              <a:rPr lang="en-US" sz="2400" dirty="0" smtClean="0"/>
              <a:t>D,B,H,E,I,A,F,C,G</a:t>
            </a:r>
            <a:endParaRPr lang="en-US" sz="2400" dirty="0"/>
          </a:p>
        </p:txBody>
      </p:sp>
      <p:grpSp>
        <p:nvGrpSpPr>
          <p:cNvPr id="62" name="Group 61"/>
          <p:cNvGrpSpPr/>
          <p:nvPr/>
        </p:nvGrpSpPr>
        <p:grpSpPr>
          <a:xfrm>
            <a:off x="5476510" y="2152311"/>
            <a:ext cx="3338517" cy="3124212"/>
            <a:chOff x="5422908" y="3117854"/>
            <a:chExt cx="3338517" cy="3124212"/>
          </a:xfrm>
        </p:grpSpPr>
        <p:grpSp>
          <p:nvGrpSpPr>
            <p:cNvPr id="63" name="Group 62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112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grpSp>
            <p:nvGrpSpPr>
              <p:cNvPr id="113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114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5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4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108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B</a:t>
                </a:r>
                <a:endParaRPr lang="en-US" dirty="0"/>
              </a:p>
            </p:txBody>
          </p:sp>
          <p:grpSp>
            <p:nvGrpSpPr>
              <p:cNvPr id="109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110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1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5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104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5" name="Group 18"/>
              <p:cNvGrpSpPr>
                <a:grpSpLocks/>
              </p:cNvGrpSpPr>
              <p:nvPr/>
            </p:nvGrpSpPr>
            <p:grpSpPr bwMode="auto">
              <a:xfrm>
                <a:off x="4991" y="2551"/>
                <a:ext cx="192" cy="216"/>
                <a:chOff x="4991" y="2551"/>
                <a:chExt cx="192" cy="216"/>
              </a:xfrm>
            </p:grpSpPr>
            <p:sp>
              <p:nvSpPr>
                <p:cNvPr id="106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" name="AutoShape 20"/>
                <p:cNvSpPr>
                  <a:spLocks noChangeArrowheads="1"/>
                </p:cNvSpPr>
                <p:nvPr/>
              </p:nvSpPr>
              <p:spPr bwMode="auto">
                <a:xfrm>
                  <a:off x="4991" y="2557"/>
                  <a:ext cx="192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C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6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100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F</a:t>
                </a:r>
                <a:endParaRPr lang="en-US" dirty="0"/>
              </a:p>
            </p:txBody>
          </p:sp>
          <p:grpSp>
            <p:nvGrpSpPr>
              <p:cNvPr id="101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102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7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96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7" name="Group 28"/>
              <p:cNvGrpSpPr>
                <a:grpSpLocks/>
              </p:cNvGrpSpPr>
              <p:nvPr/>
            </p:nvGrpSpPr>
            <p:grpSpPr bwMode="auto">
              <a:xfrm>
                <a:off x="5307" y="3127"/>
                <a:ext cx="200" cy="215"/>
                <a:chOff x="5307" y="3127"/>
                <a:chExt cx="200" cy="215"/>
              </a:xfrm>
            </p:grpSpPr>
            <p:sp>
              <p:nvSpPr>
                <p:cNvPr id="98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AutoShape 30"/>
                <p:cNvSpPr>
                  <a:spLocks noChangeArrowheads="1"/>
                </p:cNvSpPr>
                <p:nvPr/>
              </p:nvSpPr>
              <p:spPr bwMode="auto">
                <a:xfrm>
                  <a:off x="5307" y="3133"/>
                  <a:ext cx="200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G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8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92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D</a:t>
                </a:r>
                <a:endParaRPr lang="en-US" dirty="0"/>
              </a:p>
            </p:txBody>
          </p:sp>
          <p:grpSp>
            <p:nvGrpSpPr>
              <p:cNvPr id="93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94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69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88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grpSp>
            <p:nvGrpSpPr>
              <p:cNvPr id="89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90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0" name="AutoShape 41"/>
            <p:cNvCxnSpPr>
              <a:cxnSpLocks noChangeShapeType="1"/>
              <a:stCxn id="112" idx="2"/>
              <a:endCxn id="108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42"/>
            <p:cNvCxnSpPr>
              <a:cxnSpLocks noChangeShapeType="1"/>
              <a:stCxn id="112" idx="2"/>
              <a:endCxn id="104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AutoShape 43"/>
            <p:cNvCxnSpPr>
              <a:cxnSpLocks noChangeShapeType="1"/>
              <a:stCxn id="104" idx="2"/>
              <a:endCxn id="96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AutoShape 44"/>
            <p:cNvCxnSpPr>
              <a:cxnSpLocks noChangeShapeType="1"/>
              <a:stCxn id="104" idx="2"/>
              <a:endCxn id="100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AutoShape 45"/>
            <p:cNvCxnSpPr>
              <a:cxnSpLocks noChangeShapeType="1"/>
              <a:stCxn id="108" idx="2"/>
              <a:endCxn id="88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AutoShape 46"/>
            <p:cNvCxnSpPr>
              <a:cxnSpLocks noChangeShapeType="1"/>
              <a:stCxn id="108" idx="2"/>
              <a:endCxn id="92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6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84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H</a:t>
                </a:r>
                <a:endParaRPr lang="en-US" dirty="0"/>
              </a:p>
            </p:txBody>
          </p:sp>
          <p:grpSp>
            <p:nvGrpSpPr>
              <p:cNvPr id="85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86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7" name="AutoShape 52"/>
            <p:cNvCxnSpPr>
              <a:cxnSpLocks noChangeShapeType="1"/>
              <a:stCxn id="88" idx="2"/>
              <a:endCxn id="84" idx="0"/>
            </p:cNvCxnSpPr>
            <p:nvPr/>
          </p:nvCxnSpPr>
          <p:spPr bwMode="auto">
            <a:xfrm flipH="1">
              <a:off x="6245225" y="5324475"/>
              <a:ext cx="368300" cy="54133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8" name="Group 53"/>
            <p:cNvGrpSpPr>
              <a:grpSpLocks/>
            </p:cNvGrpSpPr>
            <p:nvPr/>
          </p:nvGrpSpPr>
          <p:grpSpPr bwMode="auto">
            <a:xfrm>
              <a:off x="6761179" y="5857890"/>
              <a:ext cx="425451" cy="384176"/>
              <a:chOff x="4259" y="3690"/>
              <a:chExt cx="268" cy="242"/>
            </a:xfrm>
          </p:grpSpPr>
          <p:sp>
            <p:nvSpPr>
              <p:cNvPr id="80" name="AutoShape 54"/>
              <p:cNvSpPr>
                <a:spLocks noChangeArrowheads="1"/>
              </p:cNvSpPr>
              <p:nvPr/>
            </p:nvSpPr>
            <p:spPr bwMode="auto">
              <a:xfrm>
                <a:off x="4284" y="3690"/>
                <a:ext cx="229" cy="242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81" name="Group 55"/>
              <p:cNvGrpSpPr>
                <a:grpSpLocks/>
              </p:cNvGrpSpPr>
              <p:nvPr/>
            </p:nvGrpSpPr>
            <p:grpSpPr bwMode="auto">
              <a:xfrm>
                <a:off x="4259" y="3704"/>
                <a:ext cx="268" cy="220"/>
                <a:chOff x="4259" y="3704"/>
                <a:chExt cx="268" cy="220"/>
              </a:xfrm>
            </p:grpSpPr>
            <p:sp>
              <p:nvSpPr>
                <p:cNvPr id="82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AutoShape 57"/>
                <p:cNvSpPr>
                  <a:spLocks noChangeArrowheads="1"/>
                </p:cNvSpPr>
                <p:nvPr/>
              </p:nvSpPr>
              <p:spPr bwMode="auto">
                <a:xfrm>
                  <a:off x="4259" y="3720"/>
                  <a:ext cx="268" cy="204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 smtClean="0">
                      <a:solidFill>
                        <a:schemeClr val="tx1"/>
                      </a:solidFill>
                      <a:latin typeface="Tahoma" pitchFamily="34" charset="0"/>
                    </a:rPr>
                    <a:t>I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79" name="AutoShape 58"/>
            <p:cNvCxnSpPr>
              <a:cxnSpLocks noChangeShapeType="1"/>
              <a:stCxn id="88" idx="2"/>
              <a:endCxn id="80" idx="0"/>
            </p:cNvCxnSpPr>
            <p:nvPr/>
          </p:nvCxnSpPr>
          <p:spPr bwMode="auto">
            <a:xfrm>
              <a:off x="6614330" y="5324483"/>
              <a:ext cx="368306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5169108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phỏng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600200"/>
            <a:ext cx="3124200" cy="14039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Pre-Order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4" name="Content Placeholder 2"/>
          <p:cNvSpPr txBox="1">
            <a:spLocks/>
          </p:cNvSpPr>
          <p:nvPr/>
        </p:nvSpPr>
        <p:spPr>
          <a:xfrm>
            <a:off x="1752600" y="3429000"/>
            <a:ext cx="3429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 smtClean="0"/>
              <a:t>In-order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362200" y="5181600"/>
            <a:ext cx="3124200" cy="152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/>
              <a:t>Post-order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6" name="Picture 5" descr="PreOrderTrav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219200"/>
            <a:ext cx="2514600" cy="1398118"/>
          </a:xfrm>
          <a:prstGeom prst="rect">
            <a:avLst/>
          </a:prstGeom>
        </p:spPr>
      </p:pic>
      <p:pic>
        <p:nvPicPr>
          <p:cNvPr id="7" name="Picture 6" descr="PostorderTrav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4724400"/>
            <a:ext cx="2514600" cy="1409393"/>
          </a:xfrm>
          <a:prstGeom prst="rect">
            <a:avLst/>
          </a:prstGeom>
        </p:spPr>
      </p:pic>
      <p:pic>
        <p:nvPicPr>
          <p:cNvPr id="8" name="Picture 7" descr="InorderTrav.gi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971800"/>
            <a:ext cx="2667000" cy="14838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205807"/>
            <a:ext cx="8536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Preorder gif: http://ceadserv1.nku.edu/longa//classes/mat385_resources/docs/</a:t>
            </a:r>
            <a:r>
              <a:rPr lang="en-US" sz="1200" dirty="0" err="1"/>
              <a:t>traversal_files</a:t>
            </a:r>
            <a:r>
              <a:rPr lang="en-US" sz="1200" dirty="0"/>
              <a:t>/</a:t>
            </a:r>
            <a:r>
              <a:rPr lang="en-US" sz="1200" dirty="0" err="1" smtClean="0"/>
              <a:t>PreOrderTrav.gif</a:t>
            </a:r>
            <a:endParaRPr lang="en-US" sz="1200" dirty="0"/>
          </a:p>
          <a:p>
            <a:r>
              <a:rPr lang="en-US" sz="1200" dirty="0" err="1"/>
              <a:t>Inorder</a:t>
            </a:r>
            <a:r>
              <a:rPr lang="en-US" sz="1200" dirty="0"/>
              <a:t> gif: http://ceadserv1.nku.edu/longa//classes/mat385_resources/docs/</a:t>
            </a:r>
            <a:r>
              <a:rPr lang="en-US" sz="1200" dirty="0" err="1"/>
              <a:t>traversal_files</a:t>
            </a:r>
            <a:r>
              <a:rPr lang="en-US" sz="1200" dirty="0"/>
              <a:t>/</a:t>
            </a:r>
            <a:r>
              <a:rPr lang="en-US" sz="1200" dirty="0" err="1" smtClean="0"/>
              <a:t>InorderTrav.gif</a:t>
            </a:r>
            <a:endParaRPr lang="en-US" sz="1200" dirty="0"/>
          </a:p>
          <a:p>
            <a:r>
              <a:rPr lang="en-US" sz="1200" dirty="0" err="1"/>
              <a:t>Postorder</a:t>
            </a:r>
            <a:r>
              <a:rPr lang="en-US" sz="1200" dirty="0"/>
              <a:t> gif: http://ceadserv1.nku.edu/longa//classes/mat385_resources/docs/</a:t>
            </a:r>
            <a:r>
              <a:rPr lang="en-US" sz="1200" dirty="0" err="1"/>
              <a:t>traversal_files</a:t>
            </a:r>
            <a:r>
              <a:rPr lang="en-US" sz="1200" dirty="0"/>
              <a:t>/</a:t>
            </a:r>
            <a:r>
              <a:rPr lang="en-US" sz="1200" dirty="0" err="1" smtClean="0"/>
              <a:t>PostorderTrav.gif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347282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cháu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chemeClr val="tx2"/>
                </a:solidFill>
              </a:rPr>
              <a:t>post-order</a:t>
            </a:r>
          </a:p>
          <a:p>
            <a:pPr lvl="1"/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cháu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biết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cháu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. </a:t>
            </a:r>
            <a:endParaRPr lang="en-US" dirty="0"/>
          </a:p>
          <a:p>
            <a:pPr lvl="1"/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post-order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con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cha, do </a:t>
            </a:r>
            <a:r>
              <a:rPr lang="en-US" dirty="0" err="1" smtClean="0"/>
              <a:t>đó</a:t>
            </a:r>
            <a:r>
              <a:rPr lang="en-US" dirty="0" smtClean="0"/>
              <a:t>, </a:t>
            </a:r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endParaRPr lang="en-US" dirty="0" smtClean="0"/>
          </a:p>
          <a:p>
            <a:pPr lvl="1"/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704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Hãy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5840"/>
                </a:solidFill>
              </a:rPr>
              <a:t>breadth-first</a:t>
            </a:r>
            <a:endParaRPr lang="en-US" dirty="0" smtClean="0">
              <a:solidFill>
                <a:srgbClr val="FF5840"/>
              </a:solidFill>
            </a:endParaRPr>
          </a:p>
          <a:p>
            <a:pPr lvl="1"/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mức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</a:rPr>
              <a:t>Chúng</a:t>
            </a:r>
            <a:r>
              <a:rPr lang="en-US" dirty="0" smtClean="0">
                <a:solidFill>
                  <a:srgbClr val="000000"/>
                </a:solidFill>
              </a:rPr>
              <a:t> ta </a:t>
            </a:r>
            <a:r>
              <a:rPr lang="en-US" dirty="0" err="1" smtClean="0">
                <a:solidFill>
                  <a:srgbClr val="000000"/>
                </a:solidFill>
              </a:rPr>
              <a:t>có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thể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xác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định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được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mức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hiện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tại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đang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duyệt</a:t>
            </a:r>
            <a:r>
              <a:rPr lang="en-US" dirty="0" smtClean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và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thể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xác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định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được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số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lượng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đỉnh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cho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từng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mức</a:t>
            </a:r>
            <a:r>
              <a:rPr lang="en-US" dirty="0" smtClean="0">
                <a:solidFill>
                  <a:srgbClr val="000000"/>
                </a:solidFill>
              </a:rPr>
              <a:t>. 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</a:rPr>
              <a:t>Mỗi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mức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số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lượng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đỉnh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đúng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bằng</a:t>
            </a:r>
            <a:r>
              <a:rPr lang="en-US" dirty="0" smtClean="0">
                <a:solidFill>
                  <a:srgbClr val="000000"/>
                </a:solidFill>
              </a:rPr>
              <a:t> 2 </a:t>
            </a:r>
            <a:r>
              <a:rPr lang="en-US" dirty="0" err="1" smtClean="0">
                <a:solidFill>
                  <a:srgbClr val="000000"/>
                </a:solidFill>
              </a:rPr>
              <a:t>lần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số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lượng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đỉnh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ở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mức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trên</a:t>
            </a:r>
            <a:endParaRPr lang="en-US" dirty="0" smtClean="0">
              <a:solidFill>
                <a:srgbClr val="000000"/>
              </a:solidFill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</a:rPr>
              <a:t>Có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cách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nào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khác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để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giải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quyết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bài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toán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này</a:t>
            </a:r>
            <a:r>
              <a:rPr lang="en-US" dirty="0" smtClean="0">
                <a:solidFill>
                  <a:srgbClr val="000000"/>
                </a:solidFill>
              </a:rPr>
              <a:t>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745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Cho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5840"/>
                </a:solidFill>
              </a:rPr>
              <a:t>post-order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105400" y="2514600"/>
            <a:ext cx="2819400" cy="2286000"/>
            <a:chOff x="5422908" y="3117854"/>
            <a:chExt cx="3338517" cy="3124212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56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rgbClr val="CFEFA4"/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grpSp>
            <p:nvGrpSpPr>
              <p:cNvPr id="57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58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8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52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-</a:t>
                </a:r>
              </a:p>
            </p:txBody>
          </p:sp>
          <p:grpSp>
            <p:nvGrpSpPr>
              <p:cNvPr id="53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54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9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48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9" name="Group 18"/>
              <p:cNvGrpSpPr>
                <a:grpSpLocks/>
              </p:cNvGrpSpPr>
              <p:nvPr/>
            </p:nvGrpSpPr>
            <p:grpSpPr bwMode="auto">
              <a:xfrm>
                <a:off x="4992" y="2551"/>
                <a:ext cx="191" cy="216"/>
                <a:chOff x="4992" y="2551"/>
                <a:chExt cx="191" cy="216"/>
              </a:xfrm>
            </p:grpSpPr>
            <p:sp>
              <p:nvSpPr>
                <p:cNvPr id="50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solidFill>
                  <a:srgbClr val="CFEFA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AutoShape 20"/>
                <p:cNvSpPr>
                  <a:spLocks noChangeArrowheads="1"/>
                </p:cNvSpPr>
                <p:nvPr/>
              </p:nvSpPr>
              <p:spPr bwMode="auto">
                <a:xfrm>
                  <a:off x="5005" y="2556"/>
                  <a:ext cx="164" cy="206"/>
                </a:xfrm>
                <a:prstGeom prst="roundRect">
                  <a:avLst>
                    <a:gd name="adj" fmla="val 523"/>
                  </a:avLst>
                </a:prstGeom>
                <a:solidFill>
                  <a:srgbClr val="CFEFA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latin typeface="Tahoma" pitchFamily="34" charset="0"/>
                    </a:rPr>
                    <a:t>/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0" name="Group 21"/>
            <p:cNvGrpSpPr>
              <a:grpSpLocks/>
            </p:cNvGrpSpPr>
            <p:nvPr/>
          </p:nvGrpSpPr>
          <p:grpSpPr bwMode="auto">
            <a:xfrm>
              <a:off x="7424726" y="4945070"/>
              <a:ext cx="320674" cy="379413"/>
              <a:chOff x="4677" y="3115"/>
              <a:chExt cx="202" cy="239"/>
            </a:xfrm>
          </p:grpSpPr>
          <p:sp>
            <p:nvSpPr>
              <p:cNvPr id="44" name="AutoShape 22"/>
              <p:cNvSpPr>
                <a:spLocks noChangeArrowheads="1"/>
              </p:cNvSpPr>
              <p:nvPr/>
            </p:nvSpPr>
            <p:spPr bwMode="auto">
              <a:xfrm>
                <a:off x="467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9</a:t>
                </a:r>
              </a:p>
            </p:txBody>
          </p:sp>
          <p:grpSp>
            <p:nvGrpSpPr>
              <p:cNvPr id="45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46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40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1" name="Group 28"/>
              <p:cNvGrpSpPr>
                <a:grpSpLocks/>
              </p:cNvGrpSpPr>
              <p:nvPr/>
            </p:nvGrpSpPr>
            <p:grpSpPr bwMode="auto">
              <a:xfrm>
                <a:off x="5308" y="3127"/>
                <a:ext cx="199" cy="215"/>
                <a:chOff x="5308" y="3127"/>
                <a:chExt cx="199" cy="215"/>
              </a:xfrm>
            </p:grpSpPr>
            <p:sp>
              <p:nvSpPr>
                <p:cNvPr id="42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AutoShape 30"/>
                <p:cNvSpPr>
                  <a:spLocks noChangeArrowheads="1"/>
                </p:cNvSpPr>
                <p:nvPr/>
              </p:nvSpPr>
              <p:spPr bwMode="auto">
                <a:xfrm>
                  <a:off x="5314" y="3132"/>
                  <a:ext cx="185" cy="206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latin typeface="Tahoma" pitchFamily="34" charset="0"/>
                    </a:rPr>
                    <a:t>3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36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7</a:t>
                </a:r>
              </a:p>
            </p:txBody>
          </p:sp>
          <p:grpSp>
            <p:nvGrpSpPr>
              <p:cNvPr id="37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38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3" name="Group 36"/>
            <p:cNvGrpSpPr>
              <a:grpSpLocks/>
            </p:cNvGrpSpPr>
            <p:nvPr/>
          </p:nvGrpSpPr>
          <p:grpSpPr bwMode="auto">
            <a:xfrm>
              <a:off x="6448436" y="4945070"/>
              <a:ext cx="328613" cy="379413"/>
              <a:chOff x="4062" y="3115"/>
              <a:chExt cx="207" cy="239"/>
            </a:xfrm>
          </p:grpSpPr>
          <p:sp>
            <p:nvSpPr>
              <p:cNvPr id="32" name="AutoShape 37"/>
              <p:cNvSpPr>
                <a:spLocks noChangeArrowheads="1"/>
              </p:cNvSpPr>
              <p:nvPr/>
            </p:nvSpPr>
            <p:spPr bwMode="auto">
              <a:xfrm>
                <a:off x="4062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rgbClr val="CFEFA4"/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+</a:t>
                </a:r>
              </a:p>
            </p:txBody>
          </p:sp>
          <p:grpSp>
            <p:nvGrpSpPr>
              <p:cNvPr id="33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34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14" name="AutoShape 41"/>
            <p:cNvCxnSpPr>
              <a:cxnSpLocks noChangeShapeType="1"/>
              <a:stCxn id="56" idx="2"/>
              <a:endCxn id="52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42"/>
            <p:cNvCxnSpPr>
              <a:cxnSpLocks noChangeShapeType="1"/>
              <a:stCxn id="56" idx="2"/>
              <a:endCxn id="48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43"/>
            <p:cNvCxnSpPr>
              <a:cxnSpLocks noChangeShapeType="1"/>
              <a:stCxn id="48" idx="2"/>
              <a:endCxn id="40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44"/>
            <p:cNvCxnSpPr>
              <a:cxnSpLocks noChangeShapeType="1"/>
              <a:stCxn id="48" idx="2"/>
              <a:endCxn id="44" idx="0"/>
            </p:cNvCxnSpPr>
            <p:nvPr/>
          </p:nvCxnSpPr>
          <p:spPr bwMode="auto">
            <a:xfrm flipH="1">
              <a:off x="7585075" y="4410075"/>
              <a:ext cx="490538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45"/>
            <p:cNvCxnSpPr>
              <a:cxnSpLocks noChangeShapeType="1"/>
              <a:stCxn id="52" idx="2"/>
              <a:endCxn id="32" idx="0"/>
            </p:cNvCxnSpPr>
            <p:nvPr/>
          </p:nvCxnSpPr>
          <p:spPr bwMode="auto">
            <a:xfrm>
              <a:off x="6107104" y="4408492"/>
              <a:ext cx="505638" cy="53657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46"/>
            <p:cNvCxnSpPr>
              <a:cxnSpLocks noChangeShapeType="1"/>
              <a:stCxn id="52" idx="2"/>
              <a:endCxn id="36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" name="Group 47"/>
            <p:cNvGrpSpPr>
              <a:grpSpLocks/>
            </p:cNvGrpSpPr>
            <p:nvPr/>
          </p:nvGrpSpPr>
          <p:grpSpPr bwMode="auto">
            <a:xfrm>
              <a:off x="6069022" y="5865821"/>
              <a:ext cx="354013" cy="376238"/>
              <a:chOff x="3823" y="3695"/>
              <a:chExt cx="223" cy="237"/>
            </a:xfrm>
          </p:grpSpPr>
          <p:sp>
            <p:nvSpPr>
              <p:cNvPr id="28" name="AutoShape 48"/>
              <p:cNvSpPr>
                <a:spLocks noChangeArrowheads="1"/>
              </p:cNvSpPr>
              <p:nvPr/>
            </p:nvSpPr>
            <p:spPr bwMode="auto">
              <a:xfrm>
                <a:off x="3823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4</a:t>
                </a:r>
              </a:p>
            </p:txBody>
          </p:sp>
          <p:grpSp>
            <p:nvGrpSpPr>
              <p:cNvPr id="29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30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21" name="AutoShape 52"/>
            <p:cNvCxnSpPr>
              <a:cxnSpLocks noChangeShapeType="1"/>
              <a:stCxn id="32" idx="2"/>
              <a:endCxn id="28" idx="0"/>
            </p:cNvCxnSpPr>
            <p:nvPr/>
          </p:nvCxnSpPr>
          <p:spPr bwMode="auto">
            <a:xfrm flipH="1">
              <a:off x="6246029" y="5324482"/>
              <a:ext cx="366713" cy="54133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2" name="Group 53"/>
            <p:cNvGrpSpPr>
              <a:grpSpLocks/>
            </p:cNvGrpSpPr>
            <p:nvPr/>
          </p:nvGrpSpPr>
          <p:grpSpPr bwMode="auto">
            <a:xfrm>
              <a:off x="6761179" y="5857890"/>
              <a:ext cx="425451" cy="384176"/>
              <a:chOff x="4259" y="3690"/>
              <a:chExt cx="268" cy="242"/>
            </a:xfrm>
          </p:grpSpPr>
          <p:sp>
            <p:nvSpPr>
              <p:cNvPr id="24" name="AutoShape 54"/>
              <p:cNvSpPr>
                <a:spLocks noChangeArrowheads="1"/>
              </p:cNvSpPr>
              <p:nvPr/>
            </p:nvSpPr>
            <p:spPr bwMode="auto">
              <a:xfrm>
                <a:off x="4284" y="3690"/>
                <a:ext cx="229" cy="242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" name="Group 55"/>
              <p:cNvGrpSpPr>
                <a:grpSpLocks/>
              </p:cNvGrpSpPr>
              <p:nvPr/>
            </p:nvGrpSpPr>
            <p:grpSpPr bwMode="auto">
              <a:xfrm>
                <a:off x="4259" y="3704"/>
                <a:ext cx="268" cy="221"/>
                <a:chOff x="4259" y="3704"/>
                <a:chExt cx="268" cy="221"/>
              </a:xfrm>
            </p:grpSpPr>
            <p:sp>
              <p:nvSpPr>
                <p:cNvPr id="26" name="AutoShape 56"/>
                <p:cNvSpPr>
                  <a:spLocks noChangeArrowheads="1"/>
                </p:cNvSpPr>
                <p:nvPr/>
              </p:nvSpPr>
              <p:spPr bwMode="auto">
                <a:xfrm>
                  <a:off x="4297" y="3704"/>
                  <a:ext cx="161" cy="219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AutoShape 57"/>
                <p:cNvSpPr>
                  <a:spLocks noChangeArrowheads="1"/>
                </p:cNvSpPr>
                <p:nvPr/>
              </p:nvSpPr>
              <p:spPr bwMode="auto">
                <a:xfrm>
                  <a:off x="4259" y="3719"/>
                  <a:ext cx="268" cy="206"/>
                </a:xfrm>
                <a:prstGeom prst="roundRect">
                  <a:avLst>
                    <a:gd name="adj" fmla="val 625"/>
                  </a:avLst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r>
                    <a:rPr lang="en-GB" sz="1600" dirty="0">
                      <a:latin typeface="Tahoma" pitchFamily="34" charset="0"/>
                    </a:rPr>
                    <a:t>3</a:t>
                  </a: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23" name="AutoShape 58"/>
            <p:cNvCxnSpPr>
              <a:cxnSpLocks noChangeShapeType="1"/>
              <a:stCxn id="32" idx="2"/>
              <a:endCxn id="24" idx="0"/>
            </p:cNvCxnSpPr>
            <p:nvPr/>
          </p:nvCxnSpPr>
          <p:spPr bwMode="auto">
            <a:xfrm>
              <a:off x="6612742" y="5324482"/>
              <a:ext cx="369893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TextBox 59"/>
          <p:cNvSpPr txBox="1"/>
          <p:nvPr/>
        </p:nvSpPr>
        <p:spPr>
          <a:xfrm>
            <a:off x="762000" y="3440669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mbria Math"/>
                <a:cs typeface="Cambria Math"/>
              </a:rPr>
              <a:t>(7 – (4 + 3)) + (9 / 3)</a:t>
            </a:r>
            <a:endParaRPr lang="en-US" sz="2400" dirty="0">
              <a:latin typeface="Cambria Math"/>
              <a:cs typeface="Cambria Math"/>
            </a:endParaRPr>
          </a:p>
        </p:txBody>
      </p:sp>
      <p:sp>
        <p:nvSpPr>
          <p:cNvPr id="63" name="Right Arrow 62"/>
          <p:cNvSpPr/>
          <p:nvPr/>
        </p:nvSpPr>
        <p:spPr>
          <a:xfrm>
            <a:off x="4114800" y="3429000"/>
            <a:ext cx="533400" cy="5334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029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Problem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Cho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in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‘(’,</a:t>
            </a:r>
            <a:r>
              <a:rPr lang="en-US" dirty="0" err="1" smtClean="0"/>
              <a:t>và</a:t>
            </a:r>
            <a:r>
              <a:rPr lang="en-US" dirty="0" smtClean="0"/>
              <a:t> ‘)’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tốt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FF5840"/>
                </a:solidFill>
              </a:rPr>
              <a:t>in-order</a:t>
            </a:r>
          </a:p>
          <a:p>
            <a:pPr lvl="1"/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in-order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trái</a:t>
            </a:r>
            <a:r>
              <a:rPr lang="en-US" dirty="0" smtClean="0"/>
              <a:t> qua </a:t>
            </a:r>
            <a:r>
              <a:rPr lang="en-US" dirty="0" err="1" smtClean="0"/>
              <a:t>phải</a:t>
            </a:r>
            <a:r>
              <a:rPr lang="en-US" dirty="0" smtClean="0"/>
              <a:t>, do </a:t>
            </a:r>
            <a:r>
              <a:rPr lang="en-US" dirty="0" err="1" smtClean="0"/>
              <a:t>đó</a:t>
            </a:r>
            <a:r>
              <a:rPr lang="en-US" dirty="0" smtClean="0"/>
              <a:t>, in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3" name="Right Arrow 62"/>
          <p:cNvSpPr/>
          <p:nvPr/>
        </p:nvSpPr>
        <p:spPr>
          <a:xfrm>
            <a:off x="4876800" y="3581400"/>
            <a:ext cx="533400" cy="5334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5638800" y="358140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ambria Math"/>
                <a:cs typeface="Cambria Math"/>
              </a:rPr>
              <a:t>7 – 4 + 3 + 9 / 3</a:t>
            </a:r>
            <a:endParaRPr lang="en-US" sz="2400" dirty="0">
              <a:latin typeface="Cambria Math"/>
              <a:cs typeface="Cambria Math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7620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2954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16002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19812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22860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8194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34290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114800" y="2743200"/>
            <a:ext cx="0" cy="2438400"/>
          </a:xfrm>
          <a:prstGeom prst="line">
            <a:avLst/>
          </a:prstGeom>
          <a:ln>
            <a:solidFill>
              <a:schemeClr val="bg2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304407" y="2743200"/>
            <a:ext cx="4185553" cy="2286000"/>
            <a:chOff x="4700602" y="3117854"/>
            <a:chExt cx="4956206" cy="3124212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6943733" y="3117854"/>
              <a:ext cx="554039" cy="376238"/>
              <a:chOff x="4374" y="1964"/>
              <a:chExt cx="349" cy="237"/>
            </a:xfrm>
          </p:grpSpPr>
          <p:sp>
            <p:nvSpPr>
              <p:cNvPr id="56" name="AutoShape 7"/>
              <p:cNvSpPr>
                <a:spLocks noChangeArrowheads="1"/>
              </p:cNvSpPr>
              <p:nvPr/>
            </p:nvSpPr>
            <p:spPr bwMode="auto">
              <a:xfrm>
                <a:off x="4509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rgbClr val="CFEFA4"/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grpSp>
            <p:nvGrpSpPr>
              <p:cNvPr id="57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58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8" name="Group 11"/>
            <p:cNvGrpSpPr>
              <a:grpSpLocks/>
            </p:cNvGrpSpPr>
            <p:nvPr/>
          </p:nvGrpSpPr>
          <p:grpSpPr bwMode="auto">
            <a:xfrm>
              <a:off x="5446706" y="4032255"/>
              <a:ext cx="811210" cy="376238"/>
              <a:chOff x="3431" y="2540"/>
              <a:chExt cx="511" cy="237"/>
            </a:xfrm>
          </p:grpSpPr>
          <p:sp>
            <p:nvSpPr>
              <p:cNvPr id="52" name="AutoShape 12"/>
              <p:cNvSpPr>
                <a:spLocks noChangeArrowheads="1"/>
              </p:cNvSpPr>
              <p:nvPr/>
            </p:nvSpPr>
            <p:spPr bwMode="auto">
              <a:xfrm>
                <a:off x="343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-</a:t>
                </a:r>
              </a:p>
            </p:txBody>
          </p:sp>
          <p:grpSp>
            <p:nvGrpSpPr>
              <p:cNvPr id="53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54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sp>
          <p:nvSpPr>
            <p:cNvPr id="48" name="AutoShape 17"/>
            <p:cNvSpPr>
              <a:spLocks noChangeArrowheads="1"/>
            </p:cNvSpPr>
            <p:nvPr/>
          </p:nvSpPr>
          <p:spPr bwMode="auto">
            <a:xfrm>
              <a:off x="8602158" y="4030668"/>
              <a:ext cx="339726" cy="379413"/>
            </a:xfrm>
            <a:prstGeom prst="roundRect">
              <a:avLst>
                <a:gd name="adj" fmla="val 16819"/>
              </a:avLst>
            </a:prstGeom>
            <a:solidFill>
              <a:srgbClr val="CFEFA4"/>
            </a:solidFill>
            <a:ln w="19080">
              <a:solidFill>
                <a:srgbClr val="40458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 smtClean="0"/>
                <a:t>/</a:t>
              </a:r>
              <a:endParaRPr lang="en-US" dirty="0"/>
            </a:p>
          </p:txBody>
        </p:sp>
        <p:grpSp>
          <p:nvGrpSpPr>
            <p:cNvPr id="10" name="Group 21"/>
            <p:cNvGrpSpPr>
              <a:grpSpLocks/>
            </p:cNvGrpSpPr>
            <p:nvPr/>
          </p:nvGrpSpPr>
          <p:grpSpPr bwMode="auto">
            <a:xfrm>
              <a:off x="7442181" y="4945070"/>
              <a:ext cx="827084" cy="379413"/>
              <a:chOff x="4688" y="3115"/>
              <a:chExt cx="521" cy="239"/>
            </a:xfrm>
          </p:grpSpPr>
          <p:sp>
            <p:nvSpPr>
              <p:cNvPr id="44" name="AutoShape 22"/>
              <p:cNvSpPr>
                <a:spLocks noChangeArrowheads="1"/>
              </p:cNvSpPr>
              <p:nvPr/>
            </p:nvSpPr>
            <p:spPr bwMode="auto">
              <a:xfrm>
                <a:off x="5007" y="3115"/>
                <a:ext cx="202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9</a:t>
                </a:r>
              </a:p>
            </p:txBody>
          </p:sp>
          <p:grpSp>
            <p:nvGrpSpPr>
              <p:cNvPr id="45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46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8426490" y="4945070"/>
              <a:ext cx="1230318" cy="379413"/>
              <a:chOff x="5308" y="3115"/>
              <a:chExt cx="775" cy="239"/>
            </a:xfrm>
          </p:grpSpPr>
          <p:sp>
            <p:nvSpPr>
              <p:cNvPr id="40" name="AutoShape 27"/>
              <p:cNvSpPr>
                <a:spLocks noChangeArrowheads="1"/>
              </p:cNvSpPr>
              <p:nvPr/>
            </p:nvSpPr>
            <p:spPr bwMode="auto">
              <a:xfrm>
                <a:off x="5860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42" name="AutoShape 29"/>
              <p:cNvSpPr>
                <a:spLocks noChangeArrowheads="1"/>
              </p:cNvSpPr>
              <p:nvPr/>
            </p:nvSpPr>
            <p:spPr bwMode="auto">
              <a:xfrm>
                <a:off x="5308" y="3127"/>
                <a:ext cx="199" cy="215"/>
              </a:xfrm>
              <a:prstGeom prst="roundRect">
                <a:avLst>
                  <a:gd name="adj" fmla="val 50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4700602" y="4943482"/>
              <a:ext cx="992192" cy="379413"/>
              <a:chOff x="2961" y="3114"/>
              <a:chExt cx="625" cy="239"/>
            </a:xfrm>
          </p:grpSpPr>
          <p:sp>
            <p:nvSpPr>
              <p:cNvPr id="36" name="AutoShape 32"/>
              <p:cNvSpPr>
                <a:spLocks noChangeArrowheads="1"/>
              </p:cNvSpPr>
              <p:nvPr/>
            </p:nvSpPr>
            <p:spPr bwMode="auto">
              <a:xfrm>
                <a:off x="2961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7</a:t>
                </a:r>
              </a:p>
            </p:txBody>
          </p:sp>
          <p:sp>
            <p:nvSpPr>
              <p:cNvPr id="39" name="AutoShape 35"/>
              <p:cNvSpPr>
                <a:spLocks noChangeArrowheads="1"/>
              </p:cNvSpPr>
              <p:nvPr/>
            </p:nvSpPr>
            <p:spPr bwMode="auto">
              <a:xfrm>
                <a:off x="3471" y="3132"/>
                <a:ext cx="115" cy="204"/>
              </a:xfrm>
              <a:prstGeom prst="roundRect">
                <a:avLst>
                  <a:gd name="adj" fmla="val 50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1" hangingPunct="1">
                  <a:lnSpc>
                    <a:spcPct val="93000"/>
                  </a:lnSpc>
                  <a:buClr>
                    <a:srgbClr val="40458C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sz="1600" dirty="0">
                  <a:solidFill>
                    <a:schemeClr val="tx1"/>
                  </a:solidFill>
                  <a:latin typeface="Tahoma" pitchFamily="34" charset="0"/>
                </a:endParaRPr>
              </a:p>
            </p:txBody>
          </p:sp>
        </p:grpSp>
        <p:grpSp>
          <p:nvGrpSpPr>
            <p:cNvPr id="13" name="Group 36"/>
            <p:cNvGrpSpPr>
              <a:grpSpLocks/>
            </p:cNvGrpSpPr>
            <p:nvPr/>
          </p:nvGrpSpPr>
          <p:grpSpPr bwMode="auto">
            <a:xfrm>
              <a:off x="6324622" y="4945070"/>
              <a:ext cx="436564" cy="379413"/>
              <a:chOff x="3984" y="3115"/>
              <a:chExt cx="275" cy="239"/>
            </a:xfrm>
          </p:grpSpPr>
          <p:sp>
            <p:nvSpPr>
              <p:cNvPr id="32" name="AutoShape 37"/>
              <p:cNvSpPr>
                <a:spLocks noChangeArrowheads="1"/>
              </p:cNvSpPr>
              <p:nvPr/>
            </p:nvSpPr>
            <p:spPr bwMode="auto">
              <a:xfrm>
                <a:off x="3984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rgbClr val="CFEFA4"/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4" name="AutoShape 39"/>
              <p:cNvSpPr>
                <a:spLocks noChangeArrowheads="1"/>
              </p:cNvSpPr>
              <p:nvPr/>
            </p:nvSpPr>
            <p:spPr bwMode="auto">
              <a:xfrm>
                <a:off x="4075" y="3127"/>
                <a:ext cx="184" cy="216"/>
              </a:xfrm>
              <a:prstGeom prst="roundRect">
                <a:avLst>
                  <a:gd name="adj" fmla="val 542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cxnSp>
          <p:nvCxnSpPr>
            <p:cNvPr id="14" name="AutoShape 41"/>
            <p:cNvCxnSpPr>
              <a:cxnSpLocks noChangeShapeType="1"/>
              <a:stCxn id="56" idx="2"/>
              <a:endCxn id="52" idx="0"/>
            </p:cNvCxnSpPr>
            <p:nvPr/>
          </p:nvCxnSpPr>
          <p:spPr bwMode="auto">
            <a:xfrm flipH="1">
              <a:off x="5614980" y="3494092"/>
              <a:ext cx="1712930" cy="538163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42"/>
            <p:cNvCxnSpPr>
              <a:cxnSpLocks noChangeShapeType="1"/>
              <a:stCxn id="56" idx="2"/>
              <a:endCxn id="48" idx="0"/>
            </p:cNvCxnSpPr>
            <p:nvPr/>
          </p:nvCxnSpPr>
          <p:spPr bwMode="auto">
            <a:xfrm>
              <a:off x="7327910" y="3494092"/>
              <a:ext cx="1444112" cy="536576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43"/>
            <p:cNvCxnSpPr>
              <a:cxnSpLocks noChangeShapeType="1"/>
              <a:stCxn id="48" idx="2"/>
              <a:endCxn id="40" idx="0"/>
            </p:cNvCxnSpPr>
            <p:nvPr/>
          </p:nvCxnSpPr>
          <p:spPr bwMode="auto">
            <a:xfrm>
              <a:off x="8772021" y="4410081"/>
              <a:ext cx="707779" cy="53498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44"/>
            <p:cNvCxnSpPr>
              <a:cxnSpLocks noChangeShapeType="1"/>
              <a:stCxn id="48" idx="2"/>
              <a:endCxn id="44" idx="0"/>
            </p:cNvCxnSpPr>
            <p:nvPr/>
          </p:nvCxnSpPr>
          <p:spPr bwMode="auto">
            <a:xfrm flipH="1">
              <a:off x="8108929" y="4410081"/>
              <a:ext cx="663093" cy="53498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45"/>
            <p:cNvCxnSpPr>
              <a:cxnSpLocks noChangeShapeType="1"/>
              <a:stCxn id="52" idx="2"/>
              <a:endCxn id="32" idx="0"/>
            </p:cNvCxnSpPr>
            <p:nvPr/>
          </p:nvCxnSpPr>
          <p:spPr bwMode="auto">
            <a:xfrm>
              <a:off x="5614980" y="4408492"/>
              <a:ext cx="873950" cy="53657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46"/>
            <p:cNvCxnSpPr>
              <a:cxnSpLocks noChangeShapeType="1"/>
              <a:stCxn id="52" idx="2"/>
              <a:endCxn id="36" idx="0"/>
            </p:cNvCxnSpPr>
            <p:nvPr/>
          </p:nvCxnSpPr>
          <p:spPr bwMode="auto">
            <a:xfrm flipH="1">
              <a:off x="4878403" y="4408492"/>
              <a:ext cx="736577" cy="53498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" name="Group 47"/>
            <p:cNvGrpSpPr>
              <a:grpSpLocks/>
            </p:cNvGrpSpPr>
            <p:nvPr/>
          </p:nvGrpSpPr>
          <p:grpSpPr bwMode="auto">
            <a:xfrm>
              <a:off x="5873762" y="5865821"/>
              <a:ext cx="530226" cy="376238"/>
              <a:chOff x="3700" y="3695"/>
              <a:chExt cx="334" cy="237"/>
            </a:xfrm>
          </p:grpSpPr>
          <p:sp>
            <p:nvSpPr>
              <p:cNvPr id="28" name="AutoShape 48"/>
              <p:cNvSpPr>
                <a:spLocks noChangeArrowheads="1"/>
              </p:cNvSpPr>
              <p:nvPr/>
            </p:nvSpPr>
            <p:spPr bwMode="auto">
              <a:xfrm>
                <a:off x="3700" y="3695"/>
                <a:ext cx="223" cy="237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dirty="0"/>
                  <a:t>4</a:t>
                </a:r>
              </a:p>
            </p:txBody>
          </p:sp>
          <p:grpSp>
            <p:nvGrpSpPr>
              <p:cNvPr id="29" name="Group 49"/>
              <p:cNvGrpSpPr>
                <a:grpSpLocks/>
              </p:cNvGrpSpPr>
              <p:nvPr/>
            </p:nvGrpSpPr>
            <p:grpSpPr bwMode="auto">
              <a:xfrm>
                <a:off x="3835" y="3707"/>
                <a:ext cx="199" cy="213"/>
                <a:chOff x="3835" y="3707"/>
                <a:chExt cx="199" cy="213"/>
              </a:xfrm>
            </p:grpSpPr>
            <p:sp>
              <p:nvSpPr>
                <p:cNvPr id="30" name="AutoShape 50"/>
                <p:cNvSpPr>
                  <a:spLocks noChangeArrowheads="1"/>
                </p:cNvSpPr>
                <p:nvPr/>
              </p:nvSpPr>
              <p:spPr bwMode="auto">
                <a:xfrm>
                  <a:off x="3835" y="3707"/>
                  <a:ext cx="199" cy="213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AutoShape 51"/>
                <p:cNvSpPr>
                  <a:spLocks noChangeArrowheads="1"/>
                </p:cNvSpPr>
                <p:nvPr/>
              </p:nvSpPr>
              <p:spPr bwMode="auto">
                <a:xfrm>
                  <a:off x="3877" y="371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21" name="AutoShape 52"/>
            <p:cNvCxnSpPr>
              <a:cxnSpLocks noChangeShapeType="1"/>
              <a:stCxn id="32" idx="2"/>
              <a:endCxn id="28" idx="0"/>
            </p:cNvCxnSpPr>
            <p:nvPr/>
          </p:nvCxnSpPr>
          <p:spPr bwMode="auto">
            <a:xfrm flipH="1">
              <a:off x="6050769" y="5324482"/>
              <a:ext cx="438161" cy="54133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AutoShape 54"/>
            <p:cNvSpPr>
              <a:spLocks noChangeArrowheads="1"/>
            </p:cNvSpPr>
            <p:nvPr/>
          </p:nvSpPr>
          <p:spPr bwMode="auto">
            <a:xfrm>
              <a:off x="6686130" y="5857890"/>
              <a:ext cx="363539" cy="384176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80">
              <a:solidFill>
                <a:srgbClr val="40458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23" name="AutoShape 58"/>
            <p:cNvCxnSpPr>
              <a:cxnSpLocks noChangeShapeType="1"/>
              <a:stCxn id="32" idx="2"/>
              <a:endCxn id="24" idx="0"/>
            </p:cNvCxnSpPr>
            <p:nvPr/>
          </p:nvCxnSpPr>
          <p:spPr bwMode="auto">
            <a:xfrm>
              <a:off x="6488929" y="5324482"/>
              <a:ext cx="378970" cy="53340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96808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nhiều</a:t>
            </a:r>
            <a:r>
              <a:rPr lang="en-US" sz="2800" dirty="0" smtClean="0"/>
              <a:t> </a:t>
            </a:r>
            <a:r>
              <a:rPr lang="en-US" sz="2800" dirty="0" err="1" smtClean="0"/>
              <a:t>thứ</a:t>
            </a:r>
            <a:r>
              <a:rPr lang="en-US" sz="2800" dirty="0" smtClean="0"/>
              <a:t> </a:t>
            </a:r>
            <a:r>
              <a:rPr lang="en-US" sz="2800" dirty="0" err="1" smtClean="0"/>
              <a:t>có</a:t>
            </a:r>
            <a:r>
              <a:rPr lang="en-US" sz="2800" dirty="0" smtClean="0"/>
              <a:t> </a:t>
            </a:r>
            <a:r>
              <a:rPr lang="en-US" sz="2800" dirty="0" err="1" smtClean="0"/>
              <a:t>thể</a:t>
            </a:r>
            <a:r>
              <a:rPr lang="en-US" sz="2800" dirty="0" smtClean="0"/>
              <a:t> </a:t>
            </a:r>
            <a:r>
              <a:rPr lang="en-US" sz="2800" dirty="0" err="1" smtClean="0"/>
              <a:t>mô</a:t>
            </a:r>
            <a:r>
              <a:rPr lang="en-US" sz="2800" dirty="0" smtClean="0"/>
              <a:t> </a:t>
            </a:r>
            <a:r>
              <a:rPr lang="en-US" sz="2800" dirty="0" err="1" smtClean="0"/>
              <a:t>hình</a:t>
            </a:r>
            <a:r>
              <a:rPr lang="en-US" sz="2800" dirty="0" smtClean="0"/>
              <a:t> </a:t>
            </a:r>
            <a:r>
              <a:rPr lang="en-US" sz="2800" dirty="0" err="1" smtClean="0"/>
              <a:t>bằng</a:t>
            </a:r>
            <a:r>
              <a:rPr lang="en-US" sz="2800" dirty="0" smtClean="0"/>
              <a:t> </a:t>
            </a:r>
            <a:r>
              <a:rPr lang="en-US" sz="2800" dirty="0" err="1" smtClean="0"/>
              <a:t>cây</a:t>
            </a:r>
            <a:r>
              <a:rPr lang="en-US" sz="2800" dirty="0" smtClean="0"/>
              <a:t> </a:t>
            </a:r>
            <a:r>
              <a:rPr lang="en-US" sz="2800" dirty="0" err="1" smtClean="0"/>
              <a:t>nhị</a:t>
            </a:r>
            <a:r>
              <a:rPr lang="en-US" sz="2800" dirty="0" smtClean="0"/>
              <a:t> </a:t>
            </a:r>
            <a:r>
              <a:rPr lang="en-US" sz="2800" dirty="0" err="1" smtClean="0"/>
              <a:t>phân</a:t>
            </a:r>
            <a:r>
              <a:rPr lang="en-US" sz="2800" dirty="0" smtClean="0"/>
              <a:t> </a:t>
            </a:r>
          </a:p>
          <a:p>
            <a:pPr lvl="1"/>
            <a:r>
              <a:rPr lang="en-US" sz="2400" dirty="0" err="1" smtClean="0"/>
              <a:t>Ví</a:t>
            </a:r>
            <a:r>
              <a:rPr lang="en-US" sz="2400" dirty="0" smtClean="0"/>
              <a:t> </a:t>
            </a:r>
            <a:r>
              <a:rPr lang="en-US" sz="2400" dirty="0" err="1" smtClean="0"/>
              <a:t>dụ</a:t>
            </a:r>
            <a:r>
              <a:rPr lang="en-US" sz="2400" dirty="0" smtClean="0"/>
              <a:t>: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r>
              <a:rPr lang="en-US" sz="2400" dirty="0" smtClean="0"/>
              <a:t> </a:t>
            </a:r>
            <a:r>
              <a:rPr lang="en-US" sz="2400" dirty="0" err="1" smtClean="0"/>
              <a:t>gọi</a:t>
            </a:r>
            <a:r>
              <a:rPr lang="en-US" sz="2400" dirty="0" smtClean="0"/>
              <a:t> </a:t>
            </a:r>
            <a:r>
              <a:rPr lang="en-US" sz="2400" dirty="0" err="1" smtClean="0"/>
              <a:t>đệ</a:t>
            </a:r>
            <a:r>
              <a:rPr lang="en-US" sz="2400" dirty="0" smtClean="0"/>
              <a:t> </a:t>
            </a:r>
            <a:r>
              <a:rPr lang="en-US" sz="2400" dirty="0" err="1" smtClean="0"/>
              <a:t>quy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fibonacci</a:t>
            </a:r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endParaRPr lang="en-US" sz="2800" dirty="0" smtClean="0"/>
          </a:p>
          <a:p>
            <a:r>
              <a:rPr lang="en-US" sz="2800" dirty="0" err="1" smtClean="0"/>
              <a:t>Việc</a:t>
            </a:r>
            <a:r>
              <a:rPr lang="en-US" sz="2800" dirty="0" smtClean="0"/>
              <a:t> </a:t>
            </a:r>
            <a:r>
              <a:rPr lang="en-US" sz="2800" dirty="0" err="1" smtClean="0"/>
              <a:t>thống</a:t>
            </a:r>
            <a:r>
              <a:rPr lang="en-US" sz="2800" dirty="0" smtClean="0"/>
              <a:t> </a:t>
            </a:r>
            <a:r>
              <a:rPr lang="en-US" sz="2800" dirty="0" err="1" smtClean="0"/>
              <a:t>kê</a:t>
            </a:r>
            <a:r>
              <a:rPr lang="en-US" sz="2800" dirty="0" smtClean="0"/>
              <a:t> </a:t>
            </a:r>
            <a:r>
              <a:rPr lang="en-US" sz="2800" dirty="0" err="1" smtClean="0"/>
              <a:t>dựa</a:t>
            </a:r>
            <a:r>
              <a:rPr lang="en-US" sz="2800" dirty="0" smtClean="0"/>
              <a:t> </a:t>
            </a:r>
            <a:r>
              <a:rPr lang="en-US" sz="2800" dirty="0" err="1" smtClean="0"/>
              <a:t>trên</a:t>
            </a:r>
            <a:r>
              <a:rPr lang="en-US" sz="2800" dirty="0" smtClean="0"/>
              <a:t> </a:t>
            </a:r>
            <a:r>
              <a:rPr lang="en-US" sz="2800" dirty="0" err="1" smtClean="0"/>
              <a:t>cây</a:t>
            </a:r>
            <a:r>
              <a:rPr lang="en-US" sz="2800" dirty="0" smtClean="0"/>
              <a:t> </a:t>
            </a:r>
            <a:r>
              <a:rPr lang="en-US" sz="2800" dirty="0" err="1" smtClean="0"/>
              <a:t>nhị</a:t>
            </a:r>
            <a:r>
              <a:rPr lang="en-US" sz="2800" dirty="0" smtClean="0"/>
              <a:t> </a:t>
            </a:r>
            <a:r>
              <a:rPr lang="en-US" sz="2800" dirty="0" err="1" smtClean="0"/>
              <a:t>phân</a:t>
            </a:r>
            <a:r>
              <a:rPr lang="en-US" sz="2800" dirty="0" smtClean="0"/>
              <a:t> </a:t>
            </a:r>
            <a:r>
              <a:rPr lang="en-US" sz="2800" dirty="0" err="1" smtClean="0"/>
              <a:t>giúp</a:t>
            </a:r>
            <a:r>
              <a:rPr lang="en-US" sz="2800" dirty="0" smtClean="0"/>
              <a:t> </a:t>
            </a:r>
            <a:r>
              <a:rPr lang="en-US" sz="2800" dirty="0" err="1" smtClean="0"/>
              <a:t>chúng</a:t>
            </a:r>
            <a:r>
              <a:rPr lang="en-US" sz="2800" dirty="0" smtClean="0"/>
              <a:t> ta </a:t>
            </a:r>
            <a:r>
              <a:rPr lang="en-US" sz="2800" dirty="0" err="1" smtClean="0"/>
              <a:t>phân</a:t>
            </a:r>
            <a:r>
              <a:rPr lang="en-US" sz="2800" dirty="0" smtClean="0"/>
              <a:t> </a:t>
            </a:r>
            <a:r>
              <a:rPr lang="en-US" sz="2800" dirty="0" err="1" smtClean="0"/>
              <a:t>tích</a:t>
            </a:r>
            <a:r>
              <a:rPr lang="en-US" sz="2800" dirty="0" smtClean="0"/>
              <a:t> </a:t>
            </a:r>
            <a:r>
              <a:rPr lang="en-US" sz="2800" dirty="0" err="1" smtClean="0"/>
              <a:t>được</a:t>
            </a:r>
            <a:r>
              <a:rPr lang="en-US" sz="2800" dirty="0" smtClean="0"/>
              <a:t> </a:t>
            </a:r>
            <a:r>
              <a:rPr lang="en-US" sz="2800" dirty="0" err="1" smtClean="0"/>
              <a:t>dữ</a:t>
            </a:r>
            <a:r>
              <a:rPr lang="en-US" sz="2800" dirty="0" smtClean="0"/>
              <a:t> </a:t>
            </a:r>
            <a:r>
              <a:rPr lang="en-US" sz="2800" dirty="0" err="1" smtClean="0"/>
              <a:t>liệu</a:t>
            </a:r>
            <a:endParaRPr lang="en-US" sz="2800" dirty="0" smtClean="0"/>
          </a:p>
          <a:p>
            <a:pPr lvl="1"/>
            <a:r>
              <a:rPr lang="en-US" sz="2000" dirty="0" err="1" smtClean="0"/>
              <a:t>Ví</a:t>
            </a:r>
            <a:r>
              <a:rPr lang="en-US" sz="2000" dirty="0" smtClean="0"/>
              <a:t> </a:t>
            </a:r>
            <a:r>
              <a:rPr lang="en-US" sz="2000" dirty="0" err="1" smtClean="0"/>
              <a:t>dụ</a:t>
            </a:r>
            <a:r>
              <a:rPr lang="en-US" sz="2000" dirty="0" smtClean="0"/>
              <a:t>: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bao</a:t>
            </a:r>
            <a:r>
              <a:rPr lang="en-US" sz="2000" dirty="0" smtClean="0"/>
              <a:t> </a:t>
            </a:r>
            <a:r>
              <a:rPr lang="en-US" sz="2000" dirty="0" err="1" smtClean="0"/>
              <a:t>nhiêu</a:t>
            </a:r>
            <a:r>
              <a:rPr lang="en-US" sz="2000" dirty="0" smtClean="0"/>
              <a:t> </a:t>
            </a:r>
            <a:r>
              <a:rPr lang="en-US" sz="2000" dirty="0" err="1" smtClean="0"/>
              <a:t>lời</a:t>
            </a:r>
            <a:r>
              <a:rPr lang="en-US" sz="2000" dirty="0" smtClean="0"/>
              <a:t> </a:t>
            </a:r>
            <a:r>
              <a:rPr lang="en-US" sz="2000" dirty="0" err="1" smtClean="0"/>
              <a:t>gọi</a:t>
            </a:r>
            <a:r>
              <a:rPr lang="en-US" sz="2000" dirty="0" smtClean="0"/>
              <a:t> </a:t>
            </a:r>
            <a:r>
              <a:rPr lang="en-US" sz="2000" dirty="0" err="1" smtClean="0"/>
              <a:t>đệ</a:t>
            </a:r>
            <a:r>
              <a:rPr lang="en-US" sz="2000" dirty="0" smtClean="0"/>
              <a:t> </a:t>
            </a:r>
            <a:r>
              <a:rPr lang="en-US" sz="2000" dirty="0" err="1" smtClean="0"/>
              <a:t>quy</a:t>
            </a:r>
            <a:r>
              <a:rPr lang="en-US" sz="2000" dirty="0" smtClean="0"/>
              <a:t> </a:t>
            </a:r>
            <a:r>
              <a:rPr lang="en-US" sz="2000" dirty="0" err="1" smtClean="0"/>
              <a:t>nêu</a:t>
            </a:r>
            <a:r>
              <a:rPr lang="en-US" sz="2000" dirty="0" smtClean="0"/>
              <a:t> </a:t>
            </a:r>
            <a:r>
              <a:rPr lang="en-US" sz="2000" dirty="0" err="1" smtClean="0"/>
              <a:t>cây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đọ</a:t>
            </a:r>
            <a:r>
              <a:rPr lang="en-US" sz="2000" dirty="0" smtClean="0"/>
              <a:t> </a:t>
            </a:r>
            <a:r>
              <a:rPr lang="en-US" sz="2000" dirty="0" err="1" smtClean="0"/>
              <a:t>cao</a:t>
            </a:r>
            <a:r>
              <a:rPr lang="en-US" sz="2000" dirty="0" smtClean="0"/>
              <a:t> h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752600" y="2743200"/>
            <a:ext cx="5219700" cy="1716817"/>
            <a:chOff x="838200" y="4241884"/>
            <a:chExt cx="6629400" cy="2180483"/>
          </a:xfrm>
        </p:grpSpPr>
        <p:sp>
          <p:nvSpPr>
            <p:cNvPr id="7" name="TextBox 6"/>
            <p:cNvSpPr txBox="1"/>
            <p:nvPr/>
          </p:nvSpPr>
          <p:spPr>
            <a:xfrm>
              <a:off x="2552699" y="4812267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fib(3)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62600" y="4812267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fib(2)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562100" y="5421868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fib(2)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76600" y="5421868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fib(1)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26106" y="5421868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fib(1)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77000" y="5421868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fib(0)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8200" y="6031468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fib(1)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99565" y="6031468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fib(0)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5" name="Straight Arrow Connector 14"/>
            <p:cNvCxnSpPr>
              <a:stCxn id="17" idx="2"/>
              <a:endCxn id="7" idx="0"/>
            </p:cNvCxnSpPr>
            <p:nvPr/>
          </p:nvCxnSpPr>
          <p:spPr>
            <a:xfrm flipH="1">
              <a:off x="3048000" y="4632783"/>
              <a:ext cx="1485900" cy="1794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7" idx="2"/>
              <a:endCxn id="8" idx="0"/>
            </p:cNvCxnSpPr>
            <p:nvPr/>
          </p:nvCxnSpPr>
          <p:spPr>
            <a:xfrm>
              <a:off x="4533900" y="4632783"/>
              <a:ext cx="1524000" cy="1794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038600" y="4241884"/>
              <a:ext cx="990600" cy="39089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latin typeface="Consolas" pitchFamily="49" charset="0"/>
                  <a:cs typeface="Consolas" pitchFamily="49" charset="0"/>
                </a:rPr>
                <a:t>fib(4)</a:t>
              </a:r>
              <a:endParaRPr lang="en-US" sz="1400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8" name="Straight Arrow Connector 17"/>
            <p:cNvCxnSpPr>
              <a:stCxn id="7" idx="2"/>
              <a:endCxn id="9" idx="0"/>
            </p:cNvCxnSpPr>
            <p:nvPr/>
          </p:nvCxnSpPr>
          <p:spPr>
            <a:xfrm flipH="1">
              <a:off x="2057400" y="5203167"/>
              <a:ext cx="990600" cy="2187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7" idx="2"/>
              <a:endCxn id="10" idx="0"/>
            </p:cNvCxnSpPr>
            <p:nvPr/>
          </p:nvCxnSpPr>
          <p:spPr>
            <a:xfrm>
              <a:off x="3048000" y="5203167"/>
              <a:ext cx="723901" cy="2187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8" idx="2"/>
              <a:endCxn id="11" idx="0"/>
            </p:cNvCxnSpPr>
            <p:nvPr/>
          </p:nvCxnSpPr>
          <p:spPr>
            <a:xfrm flipH="1">
              <a:off x="5221406" y="5203167"/>
              <a:ext cx="836494" cy="2187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8" idx="2"/>
              <a:endCxn id="12" idx="0"/>
            </p:cNvCxnSpPr>
            <p:nvPr/>
          </p:nvCxnSpPr>
          <p:spPr>
            <a:xfrm>
              <a:off x="6057900" y="5203167"/>
              <a:ext cx="914400" cy="2187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9" idx="2"/>
              <a:endCxn id="13" idx="0"/>
            </p:cNvCxnSpPr>
            <p:nvPr/>
          </p:nvCxnSpPr>
          <p:spPr>
            <a:xfrm flipH="1">
              <a:off x="1333501" y="5812768"/>
              <a:ext cx="723900" cy="2187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2"/>
              <a:endCxn id="14" idx="0"/>
            </p:cNvCxnSpPr>
            <p:nvPr/>
          </p:nvCxnSpPr>
          <p:spPr>
            <a:xfrm>
              <a:off x="2057400" y="5812767"/>
              <a:ext cx="637465" cy="2187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21020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cây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0"/>
            <a:ext cx="5562600" cy="4648200"/>
          </a:xfrm>
        </p:spPr>
        <p:txBody>
          <a:bodyPr>
            <a:noAutofit/>
          </a:bodyPr>
          <a:lstStyle/>
          <a:p>
            <a:r>
              <a:rPr lang="en-US" sz="2600" b="1" dirty="0" err="1" smtClean="0"/>
              <a:t>Số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lượng</a:t>
            </a:r>
            <a:r>
              <a:rPr lang="en-US" sz="2600" b="1" dirty="0" smtClean="0"/>
              <a:t> </a:t>
            </a:r>
            <a:r>
              <a:rPr lang="en-US" sz="2600" b="1" dirty="0" err="1" smtClean="0"/>
              <a:t>đỉnh</a:t>
            </a:r>
            <a:r>
              <a:rPr lang="en-US" sz="2600" dirty="0" smtClean="0"/>
              <a:t> </a:t>
            </a:r>
            <a:r>
              <a:rPr lang="en-US" sz="2600" dirty="0" err="1" smtClean="0"/>
              <a:t>của</a:t>
            </a:r>
            <a:r>
              <a:rPr lang="en-US" sz="2600" dirty="0" smtClean="0"/>
              <a:t> </a:t>
            </a:r>
            <a:r>
              <a:rPr lang="en-US" sz="2600" dirty="0" err="1" smtClean="0"/>
              <a:t>cây</a:t>
            </a:r>
            <a:r>
              <a:rPr lang="en-US" sz="2600" dirty="0" smtClean="0"/>
              <a:t> </a:t>
            </a:r>
            <a:r>
              <a:rPr lang="en-US" sz="2600" dirty="0" err="1" smtClean="0"/>
              <a:t>nhị</a:t>
            </a:r>
            <a:r>
              <a:rPr lang="en-US" sz="2600" dirty="0" smtClean="0"/>
              <a:t> </a:t>
            </a:r>
            <a:r>
              <a:rPr lang="en-US" sz="2600" dirty="0" err="1" smtClean="0"/>
              <a:t>phân</a:t>
            </a:r>
            <a:r>
              <a:rPr lang="en-US" sz="2600" dirty="0" smtClean="0"/>
              <a:t> </a:t>
            </a:r>
            <a:r>
              <a:rPr lang="en-US" sz="2600" dirty="0" err="1" smtClean="0"/>
              <a:t>hoàn</a:t>
            </a:r>
            <a:r>
              <a:rPr lang="en-US" sz="2600" dirty="0" smtClean="0"/>
              <a:t> </a:t>
            </a:r>
            <a:r>
              <a:rPr lang="en-US" sz="2600" dirty="0" err="1" smtClean="0"/>
              <a:t>chỉnh</a:t>
            </a:r>
            <a:r>
              <a:rPr lang="en-US" sz="2600" dirty="0" smtClean="0"/>
              <a:t> </a:t>
            </a:r>
            <a:r>
              <a:rPr lang="en-US" sz="2600" dirty="0" err="1" smtClean="0"/>
              <a:t>có</a:t>
            </a:r>
            <a:r>
              <a:rPr lang="en-US" sz="2600" dirty="0" smtClean="0"/>
              <a:t> </a:t>
            </a:r>
            <a:r>
              <a:rPr lang="en-US" sz="2600" dirty="0" err="1" smtClean="0"/>
              <a:t>độ</a:t>
            </a:r>
            <a:r>
              <a:rPr lang="en-US" sz="2600" dirty="0" smtClean="0"/>
              <a:t> </a:t>
            </a:r>
            <a:r>
              <a:rPr lang="en-US" sz="2600" dirty="0" err="1" smtClean="0"/>
              <a:t>cao</a:t>
            </a:r>
            <a:r>
              <a:rPr lang="en-US" sz="2600" dirty="0" smtClean="0"/>
              <a:t> </a:t>
            </a:r>
            <a:r>
              <a:rPr lang="en-US" sz="2600" dirty="0" smtClean="0">
                <a:latin typeface="Cambria Math"/>
                <a:cs typeface="Cambria Math"/>
              </a:rPr>
              <a:t>h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>
                <a:latin typeface="Cambria Math"/>
                <a:cs typeface="Cambria Math"/>
              </a:rPr>
              <a:t>2</a:t>
            </a:r>
            <a:r>
              <a:rPr lang="en-US" sz="2600" baseline="30000" dirty="0">
                <a:latin typeface="Cambria Math"/>
                <a:cs typeface="Cambria Math"/>
              </a:rPr>
              <a:t>h+1</a:t>
            </a:r>
            <a:r>
              <a:rPr lang="en-US" sz="2600" dirty="0">
                <a:latin typeface="Cambria Math"/>
                <a:cs typeface="Cambria Math"/>
              </a:rPr>
              <a:t> – 1</a:t>
            </a:r>
          </a:p>
          <a:p>
            <a:r>
              <a:rPr lang="en-US" sz="2600" dirty="0" smtClean="0">
                <a:cs typeface="Arial"/>
              </a:rPr>
              <a:t> </a:t>
            </a:r>
            <a:r>
              <a:rPr lang="en-US" sz="2600" b="1" dirty="0" err="1" smtClean="0">
                <a:cs typeface="Arial"/>
              </a:rPr>
              <a:t>Độ</a:t>
            </a:r>
            <a:r>
              <a:rPr lang="en-US" sz="2600" b="1" dirty="0" smtClean="0">
                <a:cs typeface="Arial"/>
              </a:rPr>
              <a:t> </a:t>
            </a:r>
            <a:r>
              <a:rPr lang="en-US" sz="2600" b="1" dirty="0" err="1" smtClean="0">
                <a:cs typeface="Arial"/>
              </a:rPr>
              <a:t>cao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của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cây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nhị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phân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hoàn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chỉnh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có</a:t>
            </a:r>
            <a:r>
              <a:rPr lang="en-US" sz="2600" dirty="0" smtClean="0">
                <a:cs typeface="Arial"/>
              </a:rPr>
              <a:t> n </a:t>
            </a:r>
            <a:r>
              <a:rPr lang="en-US" sz="2600" dirty="0" err="1" smtClean="0">
                <a:cs typeface="Arial"/>
              </a:rPr>
              <a:t>đỉnh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là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smtClean="0">
                <a:latin typeface="Cambria Math"/>
                <a:cs typeface="Cambria Math"/>
              </a:rPr>
              <a:t>log</a:t>
            </a:r>
            <a:r>
              <a:rPr lang="en-US" sz="2600" baseline="-25000" dirty="0" smtClean="0">
                <a:latin typeface="Cambria Math"/>
                <a:cs typeface="Cambria Math"/>
              </a:rPr>
              <a:t>2</a:t>
            </a:r>
            <a:r>
              <a:rPr lang="en-US" sz="2600" dirty="0">
                <a:latin typeface="Cambria Math"/>
                <a:cs typeface="Cambria Math"/>
              </a:rPr>
              <a:t>(n+1) – 1</a:t>
            </a:r>
          </a:p>
          <a:p>
            <a:r>
              <a:rPr lang="en-US" sz="2600" b="1" dirty="0" err="1" smtClean="0">
                <a:cs typeface="Arial"/>
              </a:rPr>
              <a:t>Số</a:t>
            </a:r>
            <a:r>
              <a:rPr lang="en-US" sz="2600" b="1" dirty="0" smtClean="0">
                <a:cs typeface="Arial"/>
              </a:rPr>
              <a:t> </a:t>
            </a:r>
            <a:r>
              <a:rPr lang="en-US" sz="2600" b="1" dirty="0" err="1" smtClean="0">
                <a:cs typeface="Arial"/>
              </a:rPr>
              <a:t>lượng</a:t>
            </a:r>
            <a:r>
              <a:rPr lang="en-US" sz="2600" b="1" dirty="0" smtClean="0">
                <a:cs typeface="Arial"/>
              </a:rPr>
              <a:t> </a:t>
            </a:r>
            <a:r>
              <a:rPr lang="en-US" sz="2600" b="1" dirty="0" err="1" smtClean="0">
                <a:cs typeface="Arial"/>
              </a:rPr>
              <a:t>đỉnh</a:t>
            </a:r>
            <a:r>
              <a:rPr lang="en-US" sz="2600" b="1" dirty="0" smtClean="0">
                <a:cs typeface="Arial"/>
              </a:rPr>
              <a:t> </a:t>
            </a:r>
            <a:r>
              <a:rPr lang="en-US" sz="2600" b="1" dirty="0" err="1" smtClean="0">
                <a:cs typeface="Arial"/>
              </a:rPr>
              <a:t>lá</a:t>
            </a:r>
            <a:r>
              <a:rPr lang="en-US" sz="2600" b="1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của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cây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nhị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phân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hoàn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chỉnh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có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độ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cao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smtClean="0">
                <a:latin typeface="Cambria Math"/>
                <a:cs typeface="Cambria Math"/>
              </a:rPr>
              <a:t>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>
                <a:cs typeface="Arial"/>
              </a:rPr>
              <a:t>is </a:t>
            </a:r>
            <a:r>
              <a:rPr lang="en-US" sz="2600" dirty="0">
                <a:latin typeface="Cambria Math"/>
                <a:cs typeface="Cambria Math"/>
              </a:rPr>
              <a:t>2</a:t>
            </a:r>
            <a:r>
              <a:rPr lang="en-US" sz="2600" baseline="30000" dirty="0">
                <a:latin typeface="Cambria Math"/>
                <a:cs typeface="Cambria Math"/>
              </a:rPr>
              <a:t>h</a:t>
            </a:r>
            <a:endParaRPr lang="en-US" sz="2600" dirty="0">
              <a:latin typeface="Cambria Math"/>
              <a:cs typeface="Cambria Math"/>
            </a:endParaRPr>
          </a:p>
          <a:p>
            <a:r>
              <a:rPr lang="en-US" sz="2600" dirty="0" err="1" smtClean="0">
                <a:cs typeface="Arial"/>
              </a:rPr>
              <a:t>Số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lượng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đỉnh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của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cây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nhị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phân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hoàn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chỉnh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có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smtClean="0">
                <a:latin typeface="Cambria Math"/>
                <a:cs typeface="Cambria Math"/>
              </a:rPr>
              <a:t>L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đỉnh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lá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 err="1" smtClean="0">
                <a:cs typeface="Arial"/>
              </a:rPr>
              <a:t>là</a:t>
            </a:r>
            <a:r>
              <a:rPr lang="en-US" sz="2600" dirty="0" smtClean="0">
                <a:cs typeface="Arial"/>
              </a:rPr>
              <a:t> </a:t>
            </a:r>
            <a:r>
              <a:rPr lang="en-US" sz="2600" dirty="0">
                <a:latin typeface="Cambria Math"/>
                <a:cs typeface="Cambria Math"/>
              </a:rPr>
              <a:t>2L –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7865E-31DE-4A5F-9469-B57C815FF9F6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576883" y="2605082"/>
            <a:ext cx="3338517" cy="3109918"/>
            <a:chOff x="5422908" y="3117854"/>
            <a:chExt cx="3338517" cy="3109918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6924685" y="3117854"/>
              <a:ext cx="339726" cy="376238"/>
              <a:chOff x="4362" y="1964"/>
              <a:chExt cx="214" cy="237"/>
            </a:xfrm>
          </p:grpSpPr>
          <p:sp>
            <p:nvSpPr>
              <p:cNvPr id="50" name="AutoShape 7"/>
              <p:cNvSpPr>
                <a:spLocks noChangeArrowheads="1"/>
              </p:cNvSpPr>
              <p:nvPr/>
            </p:nvSpPr>
            <p:spPr bwMode="auto">
              <a:xfrm>
                <a:off x="4362" y="1964"/>
                <a:ext cx="214" cy="237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" name="Group 8"/>
              <p:cNvGrpSpPr>
                <a:grpSpLocks/>
              </p:cNvGrpSpPr>
              <p:nvPr/>
            </p:nvGrpSpPr>
            <p:grpSpPr bwMode="auto">
              <a:xfrm>
                <a:off x="4374" y="1976"/>
                <a:ext cx="191" cy="214"/>
                <a:chOff x="4374" y="1976"/>
                <a:chExt cx="191" cy="214"/>
              </a:xfrm>
            </p:grpSpPr>
            <p:sp>
              <p:nvSpPr>
                <p:cNvPr id="52" name="AutoShape 9"/>
                <p:cNvSpPr>
                  <a:spLocks noChangeArrowheads="1"/>
                </p:cNvSpPr>
                <p:nvPr/>
              </p:nvSpPr>
              <p:spPr bwMode="auto">
                <a:xfrm>
                  <a:off x="4374" y="1976"/>
                  <a:ext cx="191" cy="21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AutoShape 10"/>
                <p:cNvSpPr>
                  <a:spLocks noChangeArrowheads="1"/>
                </p:cNvSpPr>
                <p:nvPr/>
              </p:nvSpPr>
              <p:spPr bwMode="auto">
                <a:xfrm>
                  <a:off x="4412" y="1981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8" name="Group 11"/>
            <p:cNvGrpSpPr>
              <a:grpSpLocks/>
            </p:cNvGrpSpPr>
            <p:nvPr/>
          </p:nvGrpSpPr>
          <p:grpSpPr bwMode="auto">
            <a:xfrm>
              <a:off x="5938829" y="4032255"/>
              <a:ext cx="336549" cy="376238"/>
              <a:chOff x="3741" y="2540"/>
              <a:chExt cx="212" cy="237"/>
            </a:xfrm>
          </p:grpSpPr>
          <p:sp>
            <p:nvSpPr>
              <p:cNvPr id="46" name="AutoShape 12"/>
              <p:cNvSpPr>
                <a:spLocks noChangeArrowheads="1"/>
              </p:cNvSpPr>
              <p:nvPr/>
            </p:nvSpPr>
            <p:spPr bwMode="auto">
              <a:xfrm>
                <a:off x="3741" y="2540"/>
                <a:ext cx="212" cy="237"/>
              </a:xfrm>
              <a:prstGeom prst="roundRect">
                <a:avLst>
                  <a:gd name="adj" fmla="val 1650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7" name="Group 13"/>
              <p:cNvGrpSpPr>
                <a:grpSpLocks/>
              </p:cNvGrpSpPr>
              <p:nvPr/>
            </p:nvGrpSpPr>
            <p:grpSpPr bwMode="auto">
              <a:xfrm>
                <a:off x="3753" y="2552"/>
                <a:ext cx="189" cy="214"/>
                <a:chOff x="3753" y="2552"/>
                <a:chExt cx="189" cy="214"/>
              </a:xfrm>
            </p:grpSpPr>
            <p:sp>
              <p:nvSpPr>
                <p:cNvPr id="48" name="AutoShape 14"/>
                <p:cNvSpPr>
                  <a:spLocks noChangeArrowheads="1"/>
                </p:cNvSpPr>
                <p:nvPr/>
              </p:nvSpPr>
              <p:spPr bwMode="auto">
                <a:xfrm>
                  <a:off x="3753" y="2552"/>
                  <a:ext cx="189" cy="21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AutoShape 15"/>
                <p:cNvSpPr>
                  <a:spLocks noChangeArrowheads="1"/>
                </p:cNvSpPr>
                <p:nvPr/>
              </p:nvSpPr>
              <p:spPr bwMode="auto">
                <a:xfrm>
                  <a:off x="3790" y="2557"/>
                  <a:ext cx="115" cy="204"/>
                </a:xfrm>
                <a:prstGeom prst="roundRect">
                  <a:avLst>
                    <a:gd name="adj" fmla="val 52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9" name="Group 16"/>
            <p:cNvGrpSpPr>
              <a:grpSpLocks/>
            </p:cNvGrpSpPr>
            <p:nvPr/>
          </p:nvGrpSpPr>
          <p:grpSpPr bwMode="auto">
            <a:xfrm>
              <a:off x="7905762" y="4030668"/>
              <a:ext cx="339726" cy="379413"/>
              <a:chOff x="4980" y="2539"/>
              <a:chExt cx="214" cy="239"/>
            </a:xfrm>
          </p:grpSpPr>
          <p:sp>
            <p:nvSpPr>
              <p:cNvPr id="42" name="AutoShape 17"/>
              <p:cNvSpPr>
                <a:spLocks noChangeArrowheads="1"/>
              </p:cNvSpPr>
              <p:nvPr/>
            </p:nvSpPr>
            <p:spPr bwMode="auto">
              <a:xfrm>
                <a:off x="4980" y="2539"/>
                <a:ext cx="214" cy="239"/>
              </a:xfrm>
              <a:prstGeom prst="roundRect">
                <a:avLst>
                  <a:gd name="adj" fmla="val 1681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3" name="Group 18"/>
              <p:cNvGrpSpPr>
                <a:grpSpLocks/>
              </p:cNvGrpSpPr>
              <p:nvPr/>
            </p:nvGrpSpPr>
            <p:grpSpPr bwMode="auto">
              <a:xfrm>
                <a:off x="4992" y="2551"/>
                <a:ext cx="191" cy="216"/>
                <a:chOff x="4992" y="2551"/>
                <a:chExt cx="191" cy="216"/>
              </a:xfrm>
            </p:grpSpPr>
            <p:sp>
              <p:nvSpPr>
                <p:cNvPr id="44" name="AutoShape 19"/>
                <p:cNvSpPr>
                  <a:spLocks noChangeArrowheads="1"/>
                </p:cNvSpPr>
                <p:nvPr/>
              </p:nvSpPr>
              <p:spPr bwMode="auto">
                <a:xfrm>
                  <a:off x="4992" y="2551"/>
                  <a:ext cx="191" cy="216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AutoShape 20"/>
                <p:cNvSpPr>
                  <a:spLocks noChangeArrowheads="1"/>
                </p:cNvSpPr>
                <p:nvPr/>
              </p:nvSpPr>
              <p:spPr bwMode="auto">
                <a:xfrm>
                  <a:off x="5030" y="2557"/>
                  <a:ext cx="115" cy="204"/>
                </a:xfrm>
                <a:prstGeom prst="roundRect">
                  <a:avLst>
                    <a:gd name="adj" fmla="val 523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0" name="Group 21"/>
            <p:cNvGrpSpPr>
              <a:grpSpLocks/>
            </p:cNvGrpSpPr>
            <p:nvPr/>
          </p:nvGrpSpPr>
          <p:grpSpPr bwMode="auto">
            <a:xfrm>
              <a:off x="7404079" y="4945070"/>
              <a:ext cx="341311" cy="379413"/>
              <a:chOff x="4664" y="3115"/>
              <a:chExt cx="215" cy="239"/>
            </a:xfrm>
          </p:grpSpPr>
          <p:sp>
            <p:nvSpPr>
              <p:cNvPr id="38" name="AutoShape 22"/>
              <p:cNvSpPr>
                <a:spLocks noChangeArrowheads="1"/>
              </p:cNvSpPr>
              <p:nvPr/>
            </p:nvSpPr>
            <p:spPr bwMode="auto">
              <a:xfrm>
                <a:off x="4664" y="3115"/>
                <a:ext cx="215" cy="239"/>
              </a:xfrm>
              <a:prstGeom prst="roundRect">
                <a:avLst>
                  <a:gd name="adj" fmla="val 1682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" name="Group 23"/>
              <p:cNvGrpSpPr>
                <a:grpSpLocks/>
              </p:cNvGrpSpPr>
              <p:nvPr/>
            </p:nvGrpSpPr>
            <p:grpSpPr bwMode="auto">
              <a:xfrm>
                <a:off x="4688" y="3126"/>
                <a:ext cx="180" cy="217"/>
                <a:chOff x="4688" y="3126"/>
                <a:chExt cx="180" cy="217"/>
              </a:xfrm>
            </p:grpSpPr>
            <p:sp>
              <p:nvSpPr>
                <p:cNvPr id="40" name="AutoShape 24"/>
                <p:cNvSpPr>
                  <a:spLocks noChangeArrowheads="1"/>
                </p:cNvSpPr>
                <p:nvPr/>
              </p:nvSpPr>
              <p:spPr bwMode="auto">
                <a:xfrm>
                  <a:off x="4688" y="3126"/>
                  <a:ext cx="180" cy="217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AutoShape 25"/>
                <p:cNvSpPr>
                  <a:spLocks noChangeArrowheads="1"/>
                </p:cNvSpPr>
                <p:nvPr/>
              </p:nvSpPr>
              <p:spPr bwMode="auto">
                <a:xfrm>
                  <a:off x="4721" y="3133"/>
                  <a:ext cx="115" cy="204"/>
                </a:xfrm>
                <a:prstGeom prst="roundRect">
                  <a:avLst>
                    <a:gd name="adj" fmla="val 556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8407412" y="4945070"/>
              <a:ext cx="354013" cy="379413"/>
              <a:chOff x="5296" y="3115"/>
              <a:chExt cx="223" cy="239"/>
            </a:xfrm>
          </p:grpSpPr>
          <p:sp>
            <p:nvSpPr>
              <p:cNvPr id="34" name="AutoShape 27"/>
              <p:cNvSpPr>
                <a:spLocks noChangeArrowheads="1"/>
              </p:cNvSpPr>
              <p:nvPr/>
            </p:nvSpPr>
            <p:spPr bwMode="auto">
              <a:xfrm>
                <a:off x="5296" y="3115"/>
                <a:ext cx="223" cy="239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5" name="Group 28"/>
              <p:cNvGrpSpPr>
                <a:grpSpLocks/>
              </p:cNvGrpSpPr>
              <p:nvPr/>
            </p:nvGrpSpPr>
            <p:grpSpPr bwMode="auto">
              <a:xfrm>
                <a:off x="5308" y="3127"/>
                <a:ext cx="199" cy="215"/>
                <a:chOff x="5308" y="3127"/>
                <a:chExt cx="199" cy="215"/>
              </a:xfrm>
            </p:grpSpPr>
            <p:sp>
              <p:nvSpPr>
                <p:cNvPr id="36" name="AutoShape 29"/>
                <p:cNvSpPr>
                  <a:spLocks noChangeArrowheads="1"/>
                </p:cNvSpPr>
                <p:nvPr/>
              </p:nvSpPr>
              <p:spPr bwMode="auto">
                <a:xfrm>
                  <a:off x="5308" y="3127"/>
                  <a:ext cx="199" cy="215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AutoShape 30"/>
                <p:cNvSpPr>
                  <a:spLocks noChangeArrowheads="1"/>
                </p:cNvSpPr>
                <p:nvPr/>
              </p:nvSpPr>
              <p:spPr bwMode="auto">
                <a:xfrm>
                  <a:off x="5350" y="3133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5422908" y="4943482"/>
              <a:ext cx="355601" cy="379413"/>
              <a:chOff x="3416" y="3114"/>
              <a:chExt cx="224" cy="239"/>
            </a:xfrm>
          </p:grpSpPr>
          <p:sp>
            <p:nvSpPr>
              <p:cNvPr id="30" name="AutoShape 32"/>
              <p:cNvSpPr>
                <a:spLocks noChangeArrowheads="1"/>
              </p:cNvSpPr>
              <p:nvPr/>
            </p:nvSpPr>
            <p:spPr bwMode="auto">
              <a:xfrm>
                <a:off x="3416" y="3114"/>
                <a:ext cx="224" cy="239"/>
              </a:xfrm>
              <a:prstGeom prst="roundRect">
                <a:avLst>
                  <a:gd name="adj" fmla="val 16514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1" name="Group 33"/>
              <p:cNvGrpSpPr>
                <a:grpSpLocks/>
              </p:cNvGrpSpPr>
              <p:nvPr/>
            </p:nvGrpSpPr>
            <p:grpSpPr bwMode="auto">
              <a:xfrm>
                <a:off x="3429" y="3127"/>
                <a:ext cx="199" cy="214"/>
                <a:chOff x="3429" y="3127"/>
                <a:chExt cx="199" cy="214"/>
              </a:xfrm>
            </p:grpSpPr>
            <p:sp>
              <p:nvSpPr>
                <p:cNvPr id="32" name="AutoShape 34"/>
                <p:cNvSpPr>
                  <a:spLocks noChangeArrowheads="1"/>
                </p:cNvSpPr>
                <p:nvPr/>
              </p:nvSpPr>
              <p:spPr bwMode="auto">
                <a:xfrm>
                  <a:off x="3429" y="3127"/>
                  <a:ext cx="199" cy="21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AutoShape 35"/>
                <p:cNvSpPr>
                  <a:spLocks noChangeArrowheads="1"/>
                </p:cNvSpPr>
                <p:nvPr/>
              </p:nvSpPr>
              <p:spPr bwMode="auto">
                <a:xfrm>
                  <a:off x="3471" y="3132"/>
                  <a:ext cx="115" cy="204"/>
                </a:xfrm>
                <a:prstGeom prst="roundRect">
                  <a:avLst>
                    <a:gd name="adj" fmla="val 505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grpSp>
          <p:nvGrpSpPr>
            <p:cNvPr id="13" name="Group 36"/>
            <p:cNvGrpSpPr>
              <a:grpSpLocks/>
            </p:cNvGrpSpPr>
            <p:nvPr/>
          </p:nvGrpSpPr>
          <p:grpSpPr bwMode="auto">
            <a:xfrm>
              <a:off x="6450023" y="4945070"/>
              <a:ext cx="328613" cy="379413"/>
              <a:chOff x="4063" y="3115"/>
              <a:chExt cx="207" cy="239"/>
            </a:xfrm>
          </p:grpSpPr>
          <p:sp>
            <p:nvSpPr>
              <p:cNvPr id="26" name="AutoShape 37"/>
              <p:cNvSpPr>
                <a:spLocks noChangeArrowheads="1"/>
              </p:cNvSpPr>
              <p:nvPr/>
            </p:nvSpPr>
            <p:spPr bwMode="auto">
              <a:xfrm>
                <a:off x="4063" y="3115"/>
                <a:ext cx="207" cy="239"/>
              </a:xfrm>
              <a:prstGeom prst="roundRect">
                <a:avLst>
                  <a:gd name="adj" fmla="val 16505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19080">
                <a:solidFill>
                  <a:srgbClr val="40458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" name="Group 38"/>
              <p:cNvGrpSpPr>
                <a:grpSpLocks/>
              </p:cNvGrpSpPr>
              <p:nvPr/>
            </p:nvGrpSpPr>
            <p:grpSpPr bwMode="auto">
              <a:xfrm>
                <a:off x="4075" y="3127"/>
                <a:ext cx="184" cy="216"/>
                <a:chOff x="4075" y="3127"/>
                <a:chExt cx="184" cy="216"/>
              </a:xfrm>
            </p:grpSpPr>
            <p:sp>
              <p:nvSpPr>
                <p:cNvPr id="28" name="AutoShape 39"/>
                <p:cNvSpPr>
                  <a:spLocks noChangeArrowheads="1"/>
                </p:cNvSpPr>
                <p:nvPr/>
              </p:nvSpPr>
              <p:spPr bwMode="auto">
                <a:xfrm>
                  <a:off x="4075" y="3127"/>
                  <a:ext cx="184" cy="216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AutoShape 40"/>
                <p:cNvSpPr>
                  <a:spLocks noChangeArrowheads="1"/>
                </p:cNvSpPr>
                <p:nvPr/>
              </p:nvSpPr>
              <p:spPr bwMode="auto">
                <a:xfrm>
                  <a:off x="4110" y="3133"/>
                  <a:ext cx="115" cy="204"/>
                </a:xfrm>
                <a:prstGeom prst="roundRect">
                  <a:avLst>
                    <a:gd name="adj" fmla="val 54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algn="ctr" eaLnBrk="1" hangingPunct="1">
                    <a:lnSpc>
                      <a:spcPct val="93000"/>
                    </a:lnSpc>
                    <a:buClr>
                      <a:srgbClr val="40458C"/>
                    </a:buClr>
                    <a:buSzPct val="100000"/>
                    <a:buFont typeface="Tahoma" pitchFamily="34" charset="0"/>
                    <a:buNone/>
                    <a:tabLst>
                      <a:tab pos="0" algn="l"/>
                      <a:tab pos="457200" algn="l"/>
                      <a:tab pos="914400" algn="l"/>
                      <a:tab pos="1371600" algn="l"/>
                      <a:tab pos="1828800" algn="l"/>
                      <a:tab pos="2286000" algn="l"/>
                      <a:tab pos="2743200" algn="l"/>
                      <a:tab pos="3200400" algn="l"/>
                      <a:tab pos="3657600" algn="l"/>
                      <a:tab pos="4114800" algn="l"/>
                      <a:tab pos="4572000" algn="l"/>
                      <a:tab pos="5029200" algn="l"/>
                      <a:tab pos="5486400" algn="l"/>
                      <a:tab pos="5943600" algn="l"/>
                      <a:tab pos="6400800" algn="l"/>
                      <a:tab pos="6858000" algn="l"/>
                      <a:tab pos="7315200" algn="l"/>
                      <a:tab pos="7772400" algn="l"/>
                      <a:tab pos="8229600" algn="l"/>
                      <a:tab pos="8686800" algn="l"/>
                      <a:tab pos="9144000" algn="l"/>
                    </a:tabLst>
                  </a:pPr>
                  <a:endParaRPr lang="en-GB" sz="1600" dirty="0">
                    <a:solidFill>
                      <a:schemeClr val="tx1"/>
                    </a:solidFill>
                    <a:latin typeface="Tahoma" pitchFamily="34" charset="0"/>
                  </a:endParaRPr>
                </a:p>
              </p:txBody>
            </p:sp>
          </p:grpSp>
        </p:grpSp>
        <p:cxnSp>
          <p:nvCxnSpPr>
            <p:cNvPr id="14" name="AutoShape 41"/>
            <p:cNvCxnSpPr>
              <a:cxnSpLocks noChangeShapeType="1"/>
              <a:stCxn id="50" idx="2"/>
              <a:endCxn id="46" idx="0"/>
            </p:cNvCxnSpPr>
            <p:nvPr/>
          </p:nvCxnSpPr>
          <p:spPr bwMode="auto">
            <a:xfrm flipH="1">
              <a:off x="6107113" y="3494088"/>
              <a:ext cx="987425" cy="538162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42"/>
            <p:cNvCxnSpPr>
              <a:cxnSpLocks noChangeShapeType="1"/>
              <a:stCxn id="50" idx="2"/>
              <a:endCxn id="42" idx="0"/>
            </p:cNvCxnSpPr>
            <p:nvPr/>
          </p:nvCxnSpPr>
          <p:spPr bwMode="auto">
            <a:xfrm>
              <a:off x="7094538" y="3494088"/>
              <a:ext cx="981075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43"/>
            <p:cNvCxnSpPr>
              <a:cxnSpLocks noChangeShapeType="1"/>
              <a:stCxn id="42" idx="2"/>
              <a:endCxn id="34" idx="0"/>
            </p:cNvCxnSpPr>
            <p:nvPr/>
          </p:nvCxnSpPr>
          <p:spPr bwMode="auto">
            <a:xfrm>
              <a:off x="8075613" y="4410075"/>
              <a:ext cx="509587" cy="534988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44"/>
            <p:cNvCxnSpPr>
              <a:cxnSpLocks noChangeShapeType="1"/>
              <a:stCxn id="42" idx="2"/>
              <a:endCxn id="38" idx="0"/>
            </p:cNvCxnSpPr>
            <p:nvPr/>
          </p:nvCxnSpPr>
          <p:spPr bwMode="auto">
            <a:xfrm flipH="1">
              <a:off x="7574754" y="4410081"/>
              <a:ext cx="500871" cy="534989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45"/>
            <p:cNvCxnSpPr>
              <a:cxnSpLocks noChangeShapeType="1"/>
              <a:stCxn id="46" idx="2"/>
              <a:endCxn id="26" idx="0"/>
            </p:cNvCxnSpPr>
            <p:nvPr/>
          </p:nvCxnSpPr>
          <p:spPr bwMode="auto">
            <a:xfrm>
              <a:off x="6107113" y="4408488"/>
              <a:ext cx="508000" cy="536575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46"/>
            <p:cNvCxnSpPr>
              <a:cxnSpLocks noChangeShapeType="1"/>
              <a:stCxn id="46" idx="2"/>
              <a:endCxn id="30" idx="0"/>
            </p:cNvCxnSpPr>
            <p:nvPr/>
          </p:nvCxnSpPr>
          <p:spPr bwMode="auto">
            <a:xfrm flipH="1">
              <a:off x="5600700" y="4408488"/>
              <a:ext cx="506413" cy="534987"/>
            </a:xfrm>
            <a:prstGeom prst="straightConnector1">
              <a:avLst/>
            </a:prstGeom>
            <a:noFill/>
            <a:ln w="19080">
              <a:solidFill>
                <a:srgbClr val="40458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" name="Group 49"/>
            <p:cNvGrpSpPr>
              <a:grpSpLocks/>
            </p:cNvGrpSpPr>
            <p:nvPr/>
          </p:nvGrpSpPr>
          <p:grpSpPr bwMode="auto">
            <a:xfrm>
              <a:off x="6088073" y="5884872"/>
              <a:ext cx="315913" cy="338138"/>
              <a:chOff x="3835" y="3707"/>
              <a:chExt cx="199" cy="213"/>
            </a:xfrm>
          </p:grpSpPr>
          <p:sp>
            <p:nvSpPr>
              <p:cNvPr id="24" name="AutoShape 50"/>
              <p:cNvSpPr>
                <a:spLocks noChangeArrowheads="1"/>
              </p:cNvSpPr>
              <p:nvPr/>
            </p:nvSpPr>
            <p:spPr bwMode="auto">
              <a:xfrm>
                <a:off x="3835" y="3707"/>
                <a:ext cx="199" cy="213"/>
              </a:xfrm>
              <a:prstGeom prst="roundRect">
                <a:avLst>
                  <a:gd name="adj" fmla="val 50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AutoShape 51"/>
              <p:cNvSpPr>
                <a:spLocks noChangeArrowheads="1"/>
              </p:cNvSpPr>
              <p:nvPr/>
            </p:nvSpPr>
            <p:spPr bwMode="auto">
              <a:xfrm>
                <a:off x="3877" y="3712"/>
                <a:ext cx="115" cy="204"/>
              </a:xfrm>
              <a:prstGeom prst="roundRect">
                <a:avLst>
                  <a:gd name="adj" fmla="val 50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1" hangingPunct="1">
                  <a:lnSpc>
                    <a:spcPct val="93000"/>
                  </a:lnSpc>
                  <a:buClr>
                    <a:srgbClr val="40458C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sz="1600" dirty="0">
                  <a:solidFill>
                    <a:schemeClr val="tx1"/>
                  </a:solidFill>
                  <a:latin typeface="Tahoma" pitchFamily="34" charset="0"/>
                </a:endParaRPr>
              </a:p>
            </p:txBody>
          </p:sp>
        </p:grpSp>
        <p:grpSp>
          <p:nvGrpSpPr>
            <p:cNvPr id="21" name="Group 55"/>
            <p:cNvGrpSpPr>
              <a:grpSpLocks/>
            </p:cNvGrpSpPr>
            <p:nvPr/>
          </p:nvGrpSpPr>
          <p:grpSpPr bwMode="auto">
            <a:xfrm>
              <a:off x="6821502" y="5880109"/>
              <a:ext cx="255588" cy="347663"/>
              <a:chOff x="4297" y="3704"/>
              <a:chExt cx="161" cy="219"/>
            </a:xfrm>
          </p:grpSpPr>
          <p:sp>
            <p:nvSpPr>
              <p:cNvPr id="22" name="AutoShape 56"/>
              <p:cNvSpPr>
                <a:spLocks noChangeArrowheads="1"/>
              </p:cNvSpPr>
              <p:nvPr/>
            </p:nvSpPr>
            <p:spPr bwMode="auto">
              <a:xfrm>
                <a:off x="4297" y="3704"/>
                <a:ext cx="161" cy="219"/>
              </a:xfrm>
              <a:prstGeom prst="roundRect">
                <a:avLst>
                  <a:gd name="adj" fmla="val 625"/>
                </a:avLst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AutoShape 57"/>
              <p:cNvSpPr>
                <a:spLocks noChangeArrowheads="1"/>
              </p:cNvSpPr>
              <p:nvPr/>
            </p:nvSpPr>
            <p:spPr bwMode="auto">
              <a:xfrm>
                <a:off x="4320" y="3712"/>
                <a:ext cx="115" cy="204"/>
              </a:xfrm>
              <a:prstGeom prst="roundRect">
                <a:avLst>
                  <a:gd name="adj" fmla="val 625"/>
                </a:avLst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1" hangingPunct="1">
                  <a:lnSpc>
                    <a:spcPct val="93000"/>
                  </a:lnSpc>
                  <a:buClr>
                    <a:srgbClr val="40458C"/>
                  </a:buClr>
                  <a:buSzPct val="100000"/>
                  <a:buFont typeface="Tahoma" pitchFamily="34" charset="0"/>
                  <a:buNone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</a:pPr>
                <a:endParaRPr lang="en-GB" sz="1600" dirty="0">
                  <a:solidFill>
                    <a:schemeClr val="tx1"/>
                  </a:solidFill>
                  <a:latin typeface="Tahoma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3634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ustom 3">
      <a:dk1>
        <a:srgbClr val="000000"/>
      </a:dk1>
      <a:lt1>
        <a:srgbClr val="FFFFFF"/>
      </a:lt1>
      <a:dk2>
        <a:srgbClr val="FF5840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3284</TotalTime>
  <Words>2329</Words>
  <Application>Microsoft Macintosh PowerPoint</Application>
  <PresentationFormat>On-screen Show (4:3)</PresentationFormat>
  <Paragraphs>413</Paragraphs>
  <Slides>28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Clarity</vt:lpstr>
      <vt:lpstr>Cây (Tree)</vt:lpstr>
      <vt:lpstr>Nội dung</vt:lpstr>
      <vt:lpstr>Cây là gì?</vt:lpstr>
      <vt:lpstr>Các thuật ngữ </vt:lpstr>
      <vt:lpstr>Cấu trúc cây</vt:lpstr>
      <vt:lpstr>Cây nhị phân (Binary Tree)</vt:lpstr>
      <vt:lpstr>Cây nhị phân (Binary Tree)</vt:lpstr>
      <vt:lpstr>Cây hoàn chỉnh (perfect tree)</vt:lpstr>
      <vt:lpstr>Cây đầy đủ</vt:lpstr>
      <vt:lpstr>Biểu diễn cây nhị phân bởi mảng</vt:lpstr>
      <vt:lpstr>Biểu diễn cây bằng danh sách liên kết</vt:lpstr>
      <vt:lpstr>Các thuật toán duyệt cây</vt:lpstr>
      <vt:lpstr>Duyệt chiều rộng (Breadth-first traversal)</vt:lpstr>
      <vt:lpstr>Duyệt chiều rộng (2)</vt:lpstr>
      <vt:lpstr>Duyệt chiều sâu (Depth-first traversal)</vt:lpstr>
      <vt:lpstr>Duyệt chiều sâu (2)</vt:lpstr>
      <vt:lpstr>Mô phỏng</vt:lpstr>
      <vt:lpstr>Các phương pháp duyệt theo có đệ quy</vt:lpstr>
      <vt:lpstr>Duyệt theo tiền thứ tự (Pre-order traversal)</vt:lpstr>
      <vt:lpstr>Duyệt theo hậu thứ tự (Post-order traversal)</vt:lpstr>
      <vt:lpstr>Duyệt theo trung thứ tự (In-order traversal)</vt:lpstr>
      <vt:lpstr>Mô phỏng</vt:lpstr>
      <vt:lpstr>Bài tập 1</vt:lpstr>
      <vt:lpstr>Practice Problem 2</vt:lpstr>
      <vt:lpstr>Practice Problem 3</vt:lpstr>
      <vt:lpstr>Practice Problem 4</vt:lpstr>
      <vt:lpstr>Phân tích cây nhị phân</vt:lpstr>
      <vt:lpstr>Phân tích cây nhị phân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Isaac Goldberg</dc:creator>
  <cp:lastModifiedBy>Bui Thang</cp:lastModifiedBy>
  <cp:revision>236</cp:revision>
  <dcterms:created xsi:type="dcterms:W3CDTF">2013-01-12T20:59:02Z</dcterms:created>
  <dcterms:modified xsi:type="dcterms:W3CDTF">2015-11-11T01:23:20Z</dcterms:modified>
</cp:coreProperties>
</file>