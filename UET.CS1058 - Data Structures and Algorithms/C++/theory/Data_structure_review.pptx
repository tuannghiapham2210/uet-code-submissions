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Default Extension="fntdata" ContentType="application/x-fontdata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embeddedFontLst>
    <p:embeddedFont>
      <p:font typeface="Helvetica Neue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0" name="Google Shape;90;p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32" name="Google Shape;132;p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7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7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" name="Google Shape;27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588" y="-1588"/>
            <a:ext cx="9145588" cy="6859588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2"/>
          <p:cNvSpPr txBox="1">
            <a:spLocks noGrp="1"/>
          </p:cNvSpPr>
          <p:nvPr>
            <p:ph type="ctrTitle"/>
          </p:nvPr>
        </p:nvSpPr>
        <p:spPr>
          <a:xfrm>
            <a:off x="914400" y="1600200"/>
            <a:ext cx="7315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ubTitle" idx="1"/>
          </p:nvPr>
        </p:nvSpPr>
        <p:spPr>
          <a:xfrm>
            <a:off x="914400" y="2895600"/>
            <a:ext cx="73152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1" name="Google Shape;21;p2"/>
          <p:cNvSpPr txBox="1">
            <a:spLocks noGrp="1"/>
          </p:cNvSpPr>
          <p:nvPr>
            <p:ph type="dt" idx="10"/>
          </p:nvPr>
        </p:nvSpPr>
        <p:spPr>
          <a:xfrm>
            <a:off x="914400" y="6096000"/>
            <a:ext cx="1676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" name="Google Shape;22;p2"/>
          <p:cNvSpPr txBox="1">
            <a:spLocks noGrp="1"/>
          </p:cNvSpPr>
          <p:nvPr>
            <p:ph type="ftr" idx="11"/>
          </p:nvPr>
        </p:nvSpPr>
        <p:spPr>
          <a:xfrm>
            <a:off x="3124200" y="60960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" name="Google Shape;23;p2"/>
          <p:cNvSpPr txBox="1">
            <a:spLocks noGrp="1"/>
          </p:cNvSpPr>
          <p:nvPr>
            <p:ph type="sldNum" idx="12"/>
          </p:nvPr>
        </p:nvSpPr>
        <p:spPr>
          <a:xfrm>
            <a:off x="6553200" y="6096000"/>
            <a:ext cx="1676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body" idx="1"/>
          </p:nvPr>
        </p:nvSpPr>
        <p:spPr>
          <a:xfrm>
            <a:off x="685800" y="1844824"/>
            <a:ext cx="7772400" cy="4174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➢"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" name="Google Shape;29;p3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L="457200" marR="0" lvl="0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" name="Google Shape;35;p4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1"/>
          </p:nvPr>
        </p:nvSpPr>
        <p:spPr>
          <a:xfrm>
            <a:off x="685800" y="1981200"/>
            <a:ext cx="3810000" cy="40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•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–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•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–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body" idx="2"/>
          </p:nvPr>
        </p:nvSpPr>
        <p:spPr>
          <a:xfrm>
            <a:off x="4648200" y="1981200"/>
            <a:ext cx="3810000" cy="40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•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–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•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–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L="457200" marR="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  <a:defRPr sz="24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  <a:defRPr sz="18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•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–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L="457200" marR="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  <a:defRPr sz="24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  <a:defRPr sz="18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•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–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9" name="Google Shape;49;p6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0" name="Google Shape;50;p6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1" name="Google Shape;51;p6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5" name="Google Shape;55;p7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6" name="Google Shape;56;p7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8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9" name="Google Shape;59;p8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0" name="Google Shape;60;p8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"/>
              <a:buNone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65" name="Google Shape;65;p9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6" name="Google Shape;66;p9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0" name="Google Shape;70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"/>
              <a:buNone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3" name="Google Shape;73;p10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4" name="Google Shape;74;p10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body" idx="1"/>
          </p:nvPr>
        </p:nvSpPr>
        <p:spPr>
          <a:xfrm rot="5400000">
            <a:off x="2552700" y="114300"/>
            <a:ext cx="4038600" cy="77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8" name="Google Shape;78;p11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0" name="Google Shape;80;p11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2"/>
          <p:cNvSpPr txBox="1">
            <a:spLocks noGrp="1"/>
          </p:cNvSpPr>
          <p:nvPr>
            <p:ph type="title"/>
          </p:nvPr>
        </p:nvSpPr>
        <p:spPr>
          <a:xfrm rot="5400000">
            <a:off x="4705350" y="2266950"/>
            <a:ext cx="5562600" cy="194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body" idx="1"/>
          </p:nvPr>
        </p:nvSpPr>
        <p:spPr>
          <a:xfrm rot="5400000">
            <a:off x="742950" y="400050"/>
            <a:ext cx="5562600" cy="56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84" name="Google Shape;84;p12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5" name="Google Shape;85;p12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6" name="Google Shape;86;p12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-1588" y="-1588"/>
            <a:ext cx="9145588" cy="68595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1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1219200" y="1600200"/>
            <a:ext cx="5926138" cy="95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1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body" idx="1"/>
          </p:nvPr>
        </p:nvSpPr>
        <p:spPr>
          <a:xfrm>
            <a:off x="685800" y="1981200"/>
            <a:ext cx="7772400" cy="40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" name="Google Shape;15;p1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" name="Google Shape;16;p1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3"/>
          <p:cNvSpPr txBox="1">
            <a:spLocks noGrp="1"/>
          </p:cNvSpPr>
          <p:nvPr>
            <p:ph type="ctrTitle"/>
          </p:nvPr>
        </p:nvSpPr>
        <p:spPr>
          <a:xfrm>
            <a:off x="838200" y="1709738"/>
            <a:ext cx="7315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 Structures Review</a:t>
            </a:r>
            <a:endParaRPr/>
          </a:p>
        </p:txBody>
      </p:sp>
      <p:sp>
        <p:nvSpPr>
          <p:cNvPr id="93" name="Google Shape;93;p13"/>
          <p:cNvSpPr txBox="1">
            <a:spLocks noGrp="1"/>
          </p:cNvSpPr>
          <p:nvPr>
            <p:ph type="subTitle" idx="1"/>
          </p:nvPr>
        </p:nvSpPr>
        <p:spPr>
          <a:xfrm>
            <a:off x="838200" y="3352800"/>
            <a:ext cx="73152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</a:pPr>
            <a:endParaRPr sz="32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4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Basic concept</a:t>
            </a:r>
            <a:endParaRPr sz="4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0" name="Google Shape;100;p14"/>
          <p:cNvSpPr txBox="1">
            <a:spLocks noGrp="1"/>
          </p:cNvSpPr>
          <p:nvPr>
            <p:ph type="body" idx="1"/>
          </p:nvPr>
        </p:nvSpPr>
        <p:spPr>
          <a:xfrm>
            <a:off x="685800" y="1844824"/>
            <a:ext cx="7772400" cy="4174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➢"/>
            </a:pPr>
            <a:r>
              <a:rPr lang="en-US"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What are key properties of a good algorithm?</a:t>
            </a:r>
            <a:endParaRPr/>
          </a:p>
          <a:p>
            <a:pPr marL="342900" marR="0" lvl="0" indent="-342900" algn="l" rtl="0">
              <a:lnSpc>
                <a:spcPct val="15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➢"/>
            </a:pPr>
            <a:r>
              <a:rPr lang="en-US"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What are key properties of good data structure?</a:t>
            </a:r>
            <a:endParaRPr sz="32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139700" algn="l" rtl="0">
              <a:lnSpc>
                <a:spcPct val="15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endParaRPr sz="32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1" name="Google Shape;101;p14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</a:t>
            </a:fld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Linked list</a:t>
            </a:r>
            <a:endParaRPr sz="4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7" name="Google Shape;107;p15"/>
          <p:cNvSpPr txBox="1">
            <a:spLocks noGrp="1"/>
          </p:cNvSpPr>
          <p:nvPr>
            <p:ph type="body" idx="1"/>
          </p:nvPr>
        </p:nvSpPr>
        <p:spPr>
          <a:xfrm>
            <a:off x="685800" y="1844824"/>
            <a:ext cx="7772400" cy="4174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Given a singly linked list Head containing </a:t>
            </a:r>
            <a:r>
              <a:rPr lang="en-US" sz="24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 </a:t>
            </a: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integer numbers,  your task is to write function </a:t>
            </a:r>
            <a:r>
              <a:rPr lang="en-US" sz="24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sum(head)</a:t>
            </a: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to calculate the sum of all odd numbers of the list Head.</a:t>
            </a:r>
            <a:endParaRPr sz="2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8" name="Google Shape;108;p15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</a:t>
            </a:fld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6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Complexity 1</a:t>
            </a:r>
            <a:endParaRPr sz="4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4" name="Google Shape;114;p16"/>
          <p:cNvSpPr txBox="1">
            <a:spLocks noGrp="1"/>
          </p:cNvSpPr>
          <p:nvPr>
            <p:ph type="body" idx="1"/>
          </p:nvPr>
        </p:nvSpPr>
        <p:spPr>
          <a:xfrm>
            <a:off x="457200" y="1981200"/>
            <a:ext cx="82296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Create a matrix of size n.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(1)    for (i = 0 ; i &lt; n ;  i++)</a:t>
            </a:r>
            <a:endParaRPr/>
          </a:p>
          <a:p>
            <a:pPr marL="457200" marR="0" lvl="0" indent="-4572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AutoNum type="arabicParenBoth" startAt="2"/>
            </a:pPr>
            <a:r>
              <a:rPr lang="en-US"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for (j = 0 ; j &lt; n ; j++) </a:t>
            </a:r>
            <a:endParaRPr/>
          </a:p>
          <a:p>
            <a:pPr marL="457200" marR="0" lvl="0" indent="-4572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AutoNum type="arabicParenBoth" startAt="2"/>
            </a:pPr>
            <a:r>
              <a:rPr lang="en-US"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         if (i == j)</a:t>
            </a:r>
            <a:endParaRPr/>
          </a:p>
          <a:p>
            <a:pPr marL="457200" marR="0" lvl="0" indent="-4572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AutoNum type="arabicParenBoth" startAt="2"/>
            </a:pPr>
            <a:r>
              <a:rPr lang="en-US"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            A[i][j] = 1;</a:t>
            </a:r>
            <a:endParaRPr/>
          </a:p>
          <a:p>
            <a:pPr marL="457200" marR="0" lvl="0" indent="-4572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AutoNum type="arabicParenBoth" startAt="2"/>
            </a:pPr>
            <a:r>
              <a:rPr lang="en-US"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  else </a:t>
            </a:r>
            <a:endParaRPr/>
          </a:p>
          <a:p>
            <a:pPr marL="457200" marR="0" lvl="0" indent="-4572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AutoNum type="arabicParenBoth" startAt="2"/>
            </a:pPr>
            <a:r>
              <a:rPr lang="en-US"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            A[i][j] = 0; </a:t>
            </a:r>
            <a:endParaRPr/>
          </a:p>
          <a:p>
            <a:pPr marL="857250" marR="0" lvl="1" indent="-4572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endParaRPr sz="28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Complexity: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endParaRPr sz="2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endParaRPr sz="2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endParaRPr sz="2800" b="0" i="0" u="none" strike="noStrike" cap="none" baseline="30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endParaRPr sz="2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endParaRPr sz="2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5" name="Google Shape;115;p16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272776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4</a:t>
            </a:fld>
            <a:endParaRPr sz="1400" b="0" i="0" u="none" strike="noStrike" cap="none">
              <a:solidFill>
                <a:srgbClr val="27277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7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Complexity 2</a:t>
            </a:r>
            <a:endParaRPr sz="4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1" name="Google Shape;121;p17"/>
          <p:cNvSpPr txBox="1">
            <a:spLocks noGrp="1"/>
          </p:cNvSpPr>
          <p:nvPr>
            <p:ph type="body" idx="1"/>
          </p:nvPr>
        </p:nvSpPr>
        <p:spPr>
          <a:xfrm>
            <a:off x="457200" y="1905000"/>
            <a:ext cx="82296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AutoNum type="arabicParenR"/>
            </a:pPr>
            <a:r>
              <a:rPr lang="en-US"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sum  = 0;</a:t>
            </a:r>
            <a:endParaRPr/>
          </a:p>
          <a:p>
            <a:pPr marL="457200" marR="0" lvl="0" indent="-4572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AutoNum type="arabicParenR"/>
            </a:pPr>
            <a:r>
              <a:rPr lang="en-US"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 ( i = 0; i &lt; n; i + +)</a:t>
            </a:r>
            <a:endParaRPr/>
          </a:p>
          <a:p>
            <a:pPr marL="457200" marR="0" lvl="0" indent="-4572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AutoNum type="arabicParenR"/>
            </a:pPr>
            <a:r>
              <a:rPr lang="en-US"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for ( j = i + 1; j &lt; = n; j + +)</a:t>
            </a:r>
            <a:endParaRPr/>
          </a:p>
          <a:p>
            <a:pPr marL="457200" marR="0" lvl="0" indent="-4572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AutoNum type="arabicParenR"/>
            </a:pPr>
            <a:r>
              <a:rPr lang="en-US"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for ( k = 1; k &lt; 10; k + +)</a:t>
            </a:r>
            <a:endParaRPr/>
          </a:p>
          <a:p>
            <a:pPr marL="457200" marR="0" lvl="0" indent="-4572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AutoNum type="arabicParenR"/>
            </a:pPr>
            <a:r>
              <a:rPr lang="en-US"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sum = sum + i * j * k  ;</a:t>
            </a:r>
            <a:endParaRPr/>
          </a:p>
          <a:p>
            <a:pPr marL="457200" marR="0" lvl="0" indent="-279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None/>
            </a:pPr>
            <a:endParaRPr sz="28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endParaRPr sz="28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Complexity:</a:t>
            </a:r>
            <a:endParaRPr/>
          </a:p>
          <a:p>
            <a:pPr marL="342900" marR="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endParaRPr sz="2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endParaRPr sz="2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endParaRPr sz="2800" b="0" i="0" u="none" strike="noStrike" cap="none" baseline="30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endParaRPr sz="2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endParaRPr sz="2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2" name="Google Shape;122;p17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272776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5</a:t>
            </a:fld>
            <a:endParaRPr sz="1400" b="0" i="0" u="none" strike="noStrike" cap="none">
              <a:solidFill>
                <a:srgbClr val="27277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8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Complexity 3</a:t>
            </a:r>
            <a:endParaRPr sz="4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8" name="Google Shape;128;p18"/>
          <p:cNvSpPr txBox="1">
            <a:spLocks noGrp="1"/>
          </p:cNvSpPr>
          <p:nvPr>
            <p:ph type="body" idx="1"/>
          </p:nvPr>
        </p:nvSpPr>
        <p:spPr>
          <a:xfrm>
            <a:off x="457200" y="1905000"/>
            <a:ext cx="82296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AutoNum type="arabicParenR"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sum  = 0;</a:t>
            </a:r>
            <a:endParaRPr/>
          </a:p>
          <a:p>
            <a:pPr marL="457200" marR="0" lvl="0" indent="-4572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AutoNum type="arabicParenR"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 ( i = 0; i &lt; n; i + +)</a:t>
            </a:r>
            <a:endParaRPr/>
          </a:p>
          <a:p>
            <a:pPr marL="457200" marR="0" lvl="0" indent="-4572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AutoNum type="arabicParenR"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for ( j = i + 1; j &lt; = n; j + +)</a:t>
            </a:r>
            <a:endParaRPr/>
          </a:p>
          <a:p>
            <a:pPr marL="457200" marR="0" lvl="0" indent="-4572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AutoNum type="arabicParenR"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for ( k = 1; k &lt; m; k + +) {</a:t>
            </a:r>
            <a:endParaRPr/>
          </a:p>
          <a:p>
            <a:pPr marL="457200" marR="0" lvl="0" indent="-4572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AutoNum type="arabicParenR"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x = 2*y;</a:t>
            </a:r>
            <a:endParaRPr/>
          </a:p>
          <a:p>
            <a:pPr marL="457200" marR="0" lvl="0" indent="-4572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AutoNum type="arabicParenR"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sum = sum + i * j * k  </a:t>
            </a:r>
            <a:endParaRPr sz="2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00050" marR="0" lvl="1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}</a:t>
            </a:r>
            <a:endParaRPr/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Complexity:</a:t>
            </a:r>
            <a:endParaRPr/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 baseline="30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9" name="Google Shape;129;p18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272776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6</a:t>
            </a:fld>
            <a:endParaRPr sz="1400" b="0" i="0" u="none" strike="noStrike" cap="none">
              <a:solidFill>
                <a:srgbClr val="27277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9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Complexity 4</a:t>
            </a:r>
            <a:endParaRPr sz="4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6" name="Google Shape;136;p19"/>
          <p:cNvSpPr txBox="1">
            <a:spLocks noGrp="1"/>
          </p:cNvSpPr>
          <p:nvPr>
            <p:ph type="body" idx="1"/>
          </p:nvPr>
        </p:nvSpPr>
        <p:spPr>
          <a:xfrm>
            <a:off x="685800" y="1844824"/>
            <a:ext cx="7772400" cy="4174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AutoNum type="arabicParenR"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 (i = 0; i &lt; n; i ++) </a:t>
            </a:r>
            <a:endParaRPr/>
          </a:p>
          <a:p>
            <a:pPr marL="514350" marR="0" lvl="0" indent="-5143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AutoNum type="arabicParenR"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for (j = 0; j &lt; m; j ++) {</a:t>
            </a:r>
            <a:endParaRPr/>
          </a:p>
          <a:p>
            <a:pPr marL="514350" marR="0" lvl="0" indent="-5143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AutoNum type="arabicParenR"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int x = 0;</a:t>
            </a:r>
            <a:endParaRPr/>
          </a:p>
          <a:p>
            <a:pPr marL="0" marR="0" lvl="0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4)		for (k = 0; k &lt; n; k ++) </a:t>
            </a:r>
            <a:endParaRPr/>
          </a:p>
          <a:p>
            <a:pPr marL="0" marR="0" lvl="0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5)			x = x + k;</a:t>
            </a:r>
            <a:endParaRPr/>
          </a:p>
          <a:p>
            <a:pPr marL="0" marR="0" lvl="0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6)		for (k = 0; k &lt; m; k++)</a:t>
            </a:r>
            <a:endParaRPr/>
          </a:p>
          <a:p>
            <a:pPr marL="0" marR="0" lvl="0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7)			x = x +k;</a:t>
            </a:r>
            <a:endParaRPr/>
          </a:p>
          <a:p>
            <a:pPr marL="0" marR="0" lvl="0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}</a:t>
            </a:r>
            <a:endParaRPr sz="2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7" name="Google Shape;137;p19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272776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7</a:t>
            </a:fld>
            <a:endParaRPr sz="1400" b="0" i="0" u="none" strike="noStrike" cap="none">
              <a:solidFill>
                <a:srgbClr val="27277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0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Hash table</a:t>
            </a:r>
            <a:endParaRPr sz="4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3" name="Google Shape;143;p20"/>
          <p:cNvSpPr txBox="1">
            <a:spLocks noGrp="1"/>
          </p:cNvSpPr>
          <p:nvPr>
            <p:ph type="body" idx="1"/>
          </p:nvPr>
        </p:nvSpPr>
        <p:spPr>
          <a:xfrm>
            <a:off x="685800" y="1844824"/>
            <a:ext cx="7772400" cy="4174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Given a list of students (id, name):  (7,An), (3,Be), (9, Cu), (4, Da), (18, Gi), (14, En), (6, Ba), (25, Go). 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Your task is to draw the hash table with the hash function f(</a:t>
            </a:r>
            <a:r>
              <a:rPr lang="en-US" sz="24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</a:t>
            </a: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= </a:t>
            </a:r>
            <a:r>
              <a:rPr lang="en-US" sz="24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</a:t>
            </a: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mod 11 using both collision handling methods.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4" name="Google Shape;144;p20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8</a:t>
            </a:fld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1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Heap tree</a:t>
            </a:r>
            <a:endParaRPr sz="4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0" name="Google Shape;150;p21"/>
          <p:cNvSpPr txBox="1">
            <a:spLocks noGrp="1"/>
          </p:cNvSpPr>
          <p:nvPr>
            <p:ph type="body" idx="1"/>
          </p:nvPr>
        </p:nvSpPr>
        <p:spPr>
          <a:xfrm>
            <a:off x="685800" y="1844824"/>
            <a:ext cx="7772400" cy="4174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Do following tasks with a heap tree:</a:t>
            </a:r>
            <a:endParaRPr/>
          </a:p>
          <a:p>
            <a:pPr marL="342900" marR="0" lvl="0" indent="-342900" algn="l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Construct a max heap tree including: 3, 19, 38, 9, 12, 64, 22, 3, 16, 28, 73.</a:t>
            </a:r>
            <a:endParaRPr/>
          </a:p>
          <a:p>
            <a:pPr marL="342900" marR="0" lvl="0" indent="-342900" algn="l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Insert the following numbers into the above max heap tree: 8, 13</a:t>
            </a:r>
            <a:endParaRPr sz="2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1" name="Google Shape;151;p21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9</a:t>
            </a:fld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2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Binary search tree</a:t>
            </a:r>
            <a:endParaRPr sz="4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7" name="Google Shape;157;p22"/>
          <p:cNvSpPr txBox="1">
            <a:spLocks noGrp="1"/>
          </p:cNvSpPr>
          <p:nvPr>
            <p:ph type="body" idx="1"/>
          </p:nvPr>
        </p:nvSpPr>
        <p:spPr>
          <a:xfrm>
            <a:off x="685800" y="1844824"/>
            <a:ext cx="7772400" cy="4174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Do the following tasks with a binary search tree:</a:t>
            </a:r>
            <a:endParaRPr/>
          </a:p>
          <a:p>
            <a:pPr marL="342900" marR="0" lvl="0" indent="-342900" algn="l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Create a binary search tree from following numbers: 24, 15, 35, 22, 19, 42, 10, 80, 29 </a:t>
            </a:r>
            <a:endParaRPr/>
          </a:p>
          <a:p>
            <a:pPr marL="342900" marR="0" lvl="0" indent="-342900" algn="l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Draw BSTs after deleting keys 15 and 29 from the above tree.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8" name="Google Shape;158;p22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10</a:t>
            </a:fld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3"/>
          <p:cNvSpPr txBox="1">
            <a:spLocks noGrp="1"/>
          </p:cNvSpPr>
          <p:nvPr>
            <p:ph type="title"/>
          </p:nvPr>
        </p:nvSpPr>
        <p:spPr>
          <a:xfrm>
            <a:off x="685800" y="493713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Tree traversal</a:t>
            </a:r>
            <a:endParaRPr/>
          </a:p>
        </p:txBody>
      </p:sp>
      <p:sp>
        <p:nvSpPr>
          <p:cNvPr id="164" name="Google Shape;164;p23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838200" y="2132856"/>
            <a:ext cx="7766050" cy="1108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Show the order of nodes in the preorder traversal.</a:t>
            </a:r>
            <a:endParaRPr/>
          </a:p>
        </p:txBody>
      </p:sp>
      <p:sp>
        <p:nvSpPr>
          <p:cNvPr id="165" name="Google Shape;165;p23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11</a:t>
            </a:fld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6" name="Google Shape;166;p23"/>
          <p:cNvGrpSpPr/>
          <p:nvPr/>
        </p:nvGrpSpPr>
        <p:grpSpPr>
          <a:xfrm>
            <a:off x="2123728" y="2913856"/>
            <a:ext cx="4533900" cy="2715677"/>
            <a:chOff x="720" y="864"/>
            <a:chExt cx="3504" cy="2016"/>
          </a:xfrm>
        </p:grpSpPr>
        <p:grpSp>
          <p:nvGrpSpPr>
            <p:cNvPr id="167" name="Google Shape;167;p23"/>
            <p:cNvGrpSpPr/>
            <p:nvPr/>
          </p:nvGrpSpPr>
          <p:grpSpPr>
            <a:xfrm>
              <a:off x="1008" y="2160"/>
              <a:ext cx="240" cy="288"/>
              <a:chOff x="4176" y="1104"/>
              <a:chExt cx="240" cy="288"/>
            </a:xfrm>
          </p:grpSpPr>
          <p:sp>
            <p:nvSpPr>
              <p:cNvPr id="168" name="Google Shape;168;p23"/>
              <p:cNvSpPr/>
              <p:nvPr/>
            </p:nvSpPr>
            <p:spPr>
              <a:xfrm>
                <a:off x="4176" y="1152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9" name="Google Shape;169;p23"/>
              <p:cNvSpPr txBox="1"/>
              <p:nvPr/>
            </p:nvSpPr>
            <p:spPr>
              <a:xfrm>
                <a:off x="4176" y="1104"/>
                <a:ext cx="240" cy="2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70" name="Google Shape;170;p23"/>
            <p:cNvGrpSpPr/>
            <p:nvPr/>
          </p:nvGrpSpPr>
          <p:grpSpPr>
            <a:xfrm>
              <a:off x="720" y="2592"/>
              <a:ext cx="240" cy="288"/>
              <a:chOff x="4176" y="1104"/>
              <a:chExt cx="240" cy="288"/>
            </a:xfrm>
          </p:grpSpPr>
          <p:sp>
            <p:nvSpPr>
              <p:cNvPr id="171" name="Google Shape;171;p23"/>
              <p:cNvSpPr/>
              <p:nvPr/>
            </p:nvSpPr>
            <p:spPr>
              <a:xfrm>
                <a:off x="4176" y="1152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2" name="Google Shape;172;p23"/>
              <p:cNvSpPr txBox="1"/>
              <p:nvPr/>
            </p:nvSpPr>
            <p:spPr>
              <a:xfrm>
                <a:off x="4176" y="1104"/>
                <a:ext cx="240" cy="2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73" name="Google Shape;173;p23"/>
            <p:cNvGrpSpPr/>
            <p:nvPr/>
          </p:nvGrpSpPr>
          <p:grpSpPr>
            <a:xfrm>
              <a:off x="1344" y="2592"/>
              <a:ext cx="240" cy="288"/>
              <a:chOff x="4176" y="1104"/>
              <a:chExt cx="240" cy="288"/>
            </a:xfrm>
          </p:grpSpPr>
          <p:sp>
            <p:nvSpPr>
              <p:cNvPr id="174" name="Google Shape;174;p23"/>
              <p:cNvSpPr/>
              <p:nvPr/>
            </p:nvSpPr>
            <p:spPr>
              <a:xfrm>
                <a:off x="4176" y="1152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5" name="Google Shape;175;p23"/>
              <p:cNvSpPr txBox="1"/>
              <p:nvPr/>
            </p:nvSpPr>
            <p:spPr>
              <a:xfrm>
                <a:off x="4176" y="1104"/>
                <a:ext cx="240" cy="2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cxnSp>
          <p:nvCxnSpPr>
            <p:cNvPr id="176" name="Google Shape;176;p23"/>
            <p:cNvCxnSpPr/>
            <p:nvPr/>
          </p:nvCxnSpPr>
          <p:spPr>
            <a:xfrm flipH="1">
              <a:off x="912" y="2400"/>
              <a:ext cx="144" cy="24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7" name="Google Shape;177;p23"/>
            <p:cNvCxnSpPr/>
            <p:nvPr/>
          </p:nvCxnSpPr>
          <p:spPr>
            <a:xfrm>
              <a:off x="1248" y="2352"/>
              <a:ext cx="192" cy="288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178" name="Google Shape;178;p23"/>
            <p:cNvGrpSpPr/>
            <p:nvPr/>
          </p:nvGrpSpPr>
          <p:grpSpPr>
            <a:xfrm>
              <a:off x="2256" y="2112"/>
              <a:ext cx="240" cy="288"/>
              <a:chOff x="4176" y="1104"/>
              <a:chExt cx="240" cy="288"/>
            </a:xfrm>
          </p:grpSpPr>
          <p:sp>
            <p:nvSpPr>
              <p:cNvPr id="179" name="Google Shape;179;p23"/>
              <p:cNvSpPr/>
              <p:nvPr/>
            </p:nvSpPr>
            <p:spPr>
              <a:xfrm>
                <a:off x="4176" y="1152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0" name="Google Shape;180;p23"/>
              <p:cNvSpPr txBox="1"/>
              <p:nvPr/>
            </p:nvSpPr>
            <p:spPr>
              <a:xfrm>
                <a:off x="4176" y="1104"/>
                <a:ext cx="240" cy="2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81" name="Google Shape;181;p23"/>
            <p:cNvGrpSpPr/>
            <p:nvPr/>
          </p:nvGrpSpPr>
          <p:grpSpPr>
            <a:xfrm>
              <a:off x="2544" y="2592"/>
              <a:ext cx="240" cy="288"/>
              <a:chOff x="4176" y="1104"/>
              <a:chExt cx="240" cy="288"/>
            </a:xfrm>
          </p:grpSpPr>
          <p:sp>
            <p:nvSpPr>
              <p:cNvPr id="182" name="Google Shape;182;p23"/>
              <p:cNvSpPr/>
              <p:nvPr/>
            </p:nvSpPr>
            <p:spPr>
              <a:xfrm>
                <a:off x="4176" y="1152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3" name="Google Shape;183;p23"/>
              <p:cNvSpPr txBox="1"/>
              <p:nvPr/>
            </p:nvSpPr>
            <p:spPr>
              <a:xfrm>
                <a:off x="4176" y="1104"/>
                <a:ext cx="240" cy="2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cxnSp>
          <p:nvCxnSpPr>
            <p:cNvPr id="184" name="Google Shape;184;p23"/>
            <p:cNvCxnSpPr/>
            <p:nvPr/>
          </p:nvCxnSpPr>
          <p:spPr>
            <a:xfrm>
              <a:off x="2448" y="2352"/>
              <a:ext cx="192" cy="288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185" name="Google Shape;185;p23"/>
            <p:cNvGrpSpPr/>
            <p:nvPr/>
          </p:nvGrpSpPr>
          <p:grpSpPr>
            <a:xfrm>
              <a:off x="3744" y="1536"/>
              <a:ext cx="240" cy="288"/>
              <a:chOff x="4176" y="1104"/>
              <a:chExt cx="240" cy="288"/>
            </a:xfrm>
          </p:grpSpPr>
          <p:sp>
            <p:nvSpPr>
              <p:cNvPr id="186" name="Google Shape;186;p23"/>
              <p:cNvSpPr/>
              <p:nvPr/>
            </p:nvSpPr>
            <p:spPr>
              <a:xfrm>
                <a:off x="4176" y="1152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7" name="Google Shape;187;p23"/>
              <p:cNvSpPr txBox="1"/>
              <p:nvPr/>
            </p:nvSpPr>
            <p:spPr>
              <a:xfrm>
                <a:off x="4176" y="1104"/>
                <a:ext cx="240" cy="2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88" name="Google Shape;188;p23"/>
            <p:cNvGrpSpPr/>
            <p:nvPr/>
          </p:nvGrpSpPr>
          <p:grpSpPr>
            <a:xfrm>
              <a:off x="3456" y="1968"/>
              <a:ext cx="240" cy="288"/>
              <a:chOff x="4176" y="1104"/>
              <a:chExt cx="240" cy="288"/>
            </a:xfrm>
          </p:grpSpPr>
          <p:sp>
            <p:nvSpPr>
              <p:cNvPr id="189" name="Google Shape;189;p23"/>
              <p:cNvSpPr/>
              <p:nvPr/>
            </p:nvSpPr>
            <p:spPr>
              <a:xfrm>
                <a:off x="4176" y="1152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0" name="Google Shape;190;p23"/>
              <p:cNvSpPr txBox="1"/>
              <p:nvPr/>
            </p:nvSpPr>
            <p:spPr>
              <a:xfrm>
                <a:off x="4176" y="1104"/>
                <a:ext cx="240" cy="2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cxnSp>
          <p:nvCxnSpPr>
            <p:cNvPr id="191" name="Google Shape;191;p23"/>
            <p:cNvCxnSpPr/>
            <p:nvPr/>
          </p:nvCxnSpPr>
          <p:spPr>
            <a:xfrm flipH="1">
              <a:off x="3648" y="1776"/>
              <a:ext cx="144" cy="288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192" name="Google Shape;192;p23"/>
            <p:cNvGrpSpPr/>
            <p:nvPr/>
          </p:nvGrpSpPr>
          <p:grpSpPr>
            <a:xfrm>
              <a:off x="1728" y="1536"/>
              <a:ext cx="240" cy="288"/>
              <a:chOff x="4176" y="1104"/>
              <a:chExt cx="240" cy="288"/>
            </a:xfrm>
          </p:grpSpPr>
          <p:sp>
            <p:nvSpPr>
              <p:cNvPr id="193" name="Google Shape;193;p23"/>
              <p:cNvSpPr/>
              <p:nvPr/>
            </p:nvSpPr>
            <p:spPr>
              <a:xfrm>
                <a:off x="4176" y="1152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4" name="Google Shape;194;p23"/>
              <p:cNvSpPr txBox="1"/>
              <p:nvPr/>
            </p:nvSpPr>
            <p:spPr>
              <a:xfrm>
                <a:off x="4176" y="1104"/>
                <a:ext cx="240" cy="2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cxnSp>
          <p:nvCxnSpPr>
            <p:cNvPr id="195" name="Google Shape;195;p23"/>
            <p:cNvCxnSpPr/>
            <p:nvPr/>
          </p:nvCxnSpPr>
          <p:spPr>
            <a:xfrm flipH="1">
              <a:off x="1200" y="1728"/>
              <a:ext cx="528" cy="528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96" name="Google Shape;196;p23"/>
            <p:cNvCxnSpPr/>
            <p:nvPr/>
          </p:nvCxnSpPr>
          <p:spPr>
            <a:xfrm>
              <a:off x="1968" y="1728"/>
              <a:ext cx="336" cy="48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197" name="Google Shape;197;p23"/>
            <p:cNvGrpSpPr/>
            <p:nvPr/>
          </p:nvGrpSpPr>
          <p:grpSpPr>
            <a:xfrm>
              <a:off x="2784" y="864"/>
              <a:ext cx="240" cy="288"/>
              <a:chOff x="4176" y="1104"/>
              <a:chExt cx="240" cy="288"/>
            </a:xfrm>
          </p:grpSpPr>
          <p:sp>
            <p:nvSpPr>
              <p:cNvPr id="198" name="Google Shape;198;p23"/>
              <p:cNvSpPr/>
              <p:nvPr/>
            </p:nvSpPr>
            <p:spPr>
              <a:xfrm>
                <a:off x="4176" y="1152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9" name="Google Shape;199;p23"/>
              <p:cNvSpPr txBox="1"/>
              <p:nvPr/>
            </p:nvSpPr>
            <p:spPr>
              <a:xfrm>
                <a:off x="4176" y="1104"/>
                <a:ext cx="240" cy="2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cxnSp>
          <p:nvCxnSpPr>
            <p:cNvPr id="200" name="Google Shape;200;p23"/>
            <p:cNvCxnSpPr/>
            <p:nvPr/>
          </p:nvCxnSpPr>
          <p:spPr>
            <a:xfrm flipH="1">
              <a:off x="1920" y="1056"/>
              <a:ext cx="864" cy="528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01" name="Google Shape;201;p23"/>
            <p:cNvCxnSpPr/>
            <p:nvPr/>
          </p:nvCxnSpPr>
          <p:spPr>
            <a:xfrm>
              <a:off x="2976" y="1104"/>
              <a:ext cx="816" cy="528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02" name="Google Shape;202;p23"/>
            <p:cNvSpPr txBox="1"/>
            <p:nvPr/>
          </p:nvSpPr>
          <p:spPr>
            <a:xfrm>
              <a:off x="2784" y="864"/>
              <a:ext cx="480" cy="2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</a:t>
              </a:r>
              <a:endParaRPr/>
            </a:p>
          </p:txBody>
        </p:sp>
        <p:sp>
          <p:nvSpPr>
            <p:cNvPr id="203" name="Google Shape;203;p23"/>
            <p:cNvSpPr txBox="1"/>
            <p:nvPr/>
          </p:nvSpPr>
          <p:spPr>
            <a:xfrm>
              <a:off x="1728" y="1536"/>
              <a:ext cx="480" cy="2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</a:t>
              </a:r>
              <a:endParaRPr/>
            </a:p>
          </p:txBody>
        </p:sp>
        <p:sp>
          <p:nvSpPr>
            <p:cNvPr id="204" name="Google Shape;204;p23"/>
            <p:cNvSpPr txBox="1"/>
            <p:nvPr/>
          </p:nvSpPr>
          <p:spPr>
            <a:xfrm>
              <a:off x="3744" y="1536"/>
              <a:ext cx="480" cy="2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</a:t>
              </a:r>
              <a:endParaRPr/>
            </a:p>
          </p:txBody>
        </p:sp>
        <p:sp>
          <p:nvSpPr>
            <p:cNvPr id="205" name="Google Shape;205;p23"/>
            <p:cNvSpPr txBox="1"/>
            <p:nvPr/>
          </p:nvSpPr>
          <p:spPr>
            <a:xfrm>
              <a:off x="1008" y="2160"/>
              <a:ext cx="480" cy="2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</a:t>
              </a:r>
              <a:endParaRPr/>
            </a:p>
          </p:txBody>
        </p:sp>
        <p:sp>
          <p:nvSpPr>
            <p:cNvPr id="206" name="Google Shape;206;p23"/>
            <p:cNvSpPr txBox="1"/>
            <p:nvPr/>
          </p:nvSpPr>
          <p:spPr>
            <a:xfrm>
              <a:off x="2256" y="2112"/>
              <a:ext cx="480" cy="2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</a:t>
              </a:r>
              <a:endParaRPr/>
            </a:p>
          </p:txBody>
        </p:sp>
        <p:sp>
          <p:nvSpPr>
            <p:cNvPr id="207" name="Google Shape;207;p23"/>
            <p:cNvSpPr txBox="1"/>
            <p:nvPr/>
          </p:nvSpPr>
          <p:spPr>
            <a:xfrm>
              <a:off x="3456" y="1968"/>
              <a:ext cx="480" cy="2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</a:t>
              </a:r>
              <a:endParaRPr/>
            </a:p>
          </p:txBody>
        </p:sp>
        <p:sp>
          <p:nvSpPr>
            <p:cNvPr id="208" name="Google Shape;208;p23"/>
            <p:cNvSpPr txBox="1"/>
            <p:nvPr/>
          </p:nvSpPr>
          <p:spPr>
            <a:xfrm>
              <a:off x="720" y="2544"/>
              <a:ext cx="480" cy="2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g</a:t>
              </a:r>
              <a:endParaRPr/>
            </a:p>
          </p:txBody>
        </p:sp>
        <p:sp>
          <p:nvSpPr>
            <p:cNvPr id="209" name="Google Shape;209;p23"/>
            <p:cNvSpPr txBox="1"/>
            <p:nvPr/>
          </p:nvSpPr>
          <p:spPr>
            <a:xfrm>
              <a:off x="1344" y="2592"/>
              <a:ext cx="480" cy="2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h</a:t>
              </a:r>
              <a:endParaRPr/>
            </a:p>
          </p:txBody>
        </p:sp>
        <p:sp>
          <p:nvSpPr>
            <p:cNvPr id="210" name="Google Shape;210;p23"/>
            <p:cNvSpPr txBox="1"/>
            <p:nvPr/>
          </p:nvSpPr>
          <p:spPr>
            <a:xfrm>
              <a:off x="2592" y="2592"/>
              <a:ext cx="480" cy="2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</a:t>
              </a:r>
              <a:endParaRPr/>
            </a:p>
          </p:txBody>
        </p:sp>
        <p:grpSp>
          <p:nvGrpSpPr>
            <p:cNvPr id="211" name="Google Shape;211;p23"/>
            <p:cNvGrpSpPr/>
            <p:nvPr/>
          </p:nvGrpSpPr>
          <p:grpSpPr>
            <a:xfrm>
              <a:off x="3696" y="2496"/>
              <a:ext cx="240" cy="288"/>
              <a:chOff x="4176" y="1104"/>
              <a:chExt cx="240" cy="288"/>
            </a:xfrm>
          </p:grpSpPr>
          <p:sp>
            <p:nvSpPr>
              <p:cNvPr id="212" name="Google Shape;212;p23"/>
              <p:cNvSpPr/>
              <p:nvPr/>
            </p:nvSpPr>
            <p:spPr>
              <a:xfrm>
                <a:off x="4176" y="1152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3" name="Google Shape;213;p23"/>
              <p:cNvSpPr txBox="1"/>
              <p:nvPr/>
            </p:nvSpPr>
            <p:spPr>
              <a:xfrm>
                <a:off x="4176" y="1104"/>
                <a:ext cx="240" cy="2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cxnSp>
          <p:nvCxnSpPr>
            <p:cNvPr id="214" name="Google Shape;214;p23"/>
            <p:cNvCxnSpPr/>
            <p:nvPr/>
          </p:nvCxnSpPr>
          <p:spPr>
            <a:xfrm>
              <a:off x="3600" y="2256"/>
              <a:ext cx="192" cy="288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15" name="Google Shape;215;p23"/>
            <p:cNvSpPr txBox="1"/>
            <p:nvPr/>
          </p:nvSpPr>
          <p:spPr>
            <a:xfrm>
              <a:off x="3744" y="2496"/>
              <a:ext cx="480" cy="2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j</a:t>
              </a: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4"/>
          <p:cNvSpPr txBox="1">
            <a:spLocks noGrp="1"/>
          </p:cNvSpPr>
          <p:nvPr>
            <p:ph type="title"/>
          </p:nvPr>
        </p:nvSpPr>
        <p:spPr>
          <a:xfrm>
            <a:off x="685800" y="493713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Tree traversal</a:t>
            </a:r>
            <a:endParaRPr sz="4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21" name="Google Shape;221;p24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838200" y="2132856"/>
            <a:ext cx="7766050" cy="1108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Show the order of nodes in post-order traversal.</a:t>
            </a:r>
            <a:endParaRPr/>
          </a:p>
        </p:txBody>
      </p:sp>
      <p:sp>
        <p:nvSpPr>
          <p:cNvPr id="222" name="Google Shape;222;p24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12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3" name="Google Shape;223;p24"/>
          <p:cNvGrpSpPr/>
          <p:nvPr/>
        </p:nvGrpSpPr>
        <p:grpSpPr>
          <a:xfrm>
            <a:off x="2123728" y="2913856"/>
            <a:ext cx="4533900" cy="2715677"/>
            <a:chOff x="720" y="864"/>
            <a:chExt cx="3504" cy="2016"/>
          </a:xfrm>
        </p:grpSpPr>
        <p:grpSp>
          <p:nvGrpSpPr>
            <p:cNvPr id="224" name="Google Shape;224;p24"/>
            <p:cNvGrpSpPr/>
            <p:nvPr/>
          </p:nvGrpSpPr>
          <p:grpSpPr>
            <a:xfrm>
              <a:off x="1008" y="2160"/>
              <a:ext cx="240" cy="288"/>
              <a:chOff x="4176" y="1104"/>
              <a:chExt cx="240" cy="288"/>
            </a:xfrm>
          </p:grpSpPr>
          <p:sp>
            <p:nvSpPr>
              <p:cNvPr id="225" name="Google Shape;225;p24"/>
              <p:cNvSpPr/>
              <p:nvPr/>
            </p:nvSpPr>
            <p:spPr>
              <a:xfrm>
                <a:off x="4176" y="1152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6" name="Google Shape;226;p24"/>
              <p:cNvSpPr txBox="1"/>
              <p:nvPr/>
            </p:nvSpPr>
            <p:spPr>
              <a:xfrm>
                <a:off x="4176" y="1104"/>
                <a:ext cx="240" cy="2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27" name="Google Shape;227;p24"/>
            <p:cNvGrpSpPr/>
            <p:nvPr/>
          </p:nvGrpSpPr>
          <p:grpSpPr>
            <a:xfrm>
              <a:off x="720" y="2592"/>
              <a:ext cx="240" cy="288"/>
              <a:chOff x="4176" y="1104"/>
              <a:chExt cx="240" cy="288"/>
            </a:xfrm>
          </p:grpSpPr>
          <p:sp>
            <p:nvSpPr>
              <p:cNvPr id="228" name="Google Shape;228;p24"/>
              <p:cNvSpPr/>
              <p:nvPr/>
            </p:nvSpPr>
            <p:spPr>
              <a:xfrm>
                <a:off x="4176" y="1152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9" name="Google Shape;229;p24"/>
              <p:cNvSpPr txBox="1"/>
              <p:nvPr/>
            </p:nvSpPr>
            <p:spPr>
              <a:xfrm>
                <a:off x="4176" y="1104"/>
                <a:ext cx="240" cy="2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30" name="Google Shape;230;p24"/>
            <p:cNvGrpSpPr/>
            <p:nvPr/>
          </p:nvGrpSpPr>
          <p:grpSpPr>
            <a:xfrm>
              <a:off x="1344" y="2592"/>
              <a:ext cx="240" cy="288"/>
              <a:chOff x="4176" y="1104"/>
              <a:chExt cx="240" cy="288"/>
            </a:xfrm>
          </p:grpSpPr>
          <p:sp>
            <p:nvSpPr>
              <p:cNvPr id="231" name="Google Shape;231;p24"/>
              <p:cNvSpPr/>
              <p:nvPr/>
            </p:nvSpPr>
            <p:spPr>
              <a:xfrm>
                <a:off x="4176" y="1152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2" name="Google Shape;232;p24"/>
              <p:cNvSpPr txBox="1"/>
              <p:nvPr/>
            </p:nvSpPr>
            <p:spPr>
              <a:xfrm>
                <a:off x="4176" y="1104"/>
                <a:ext cx="240" cy="2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cxnSp>
          <p:nvCxnSpPr>
            <p:cNvPr id="233" name="Google Shape;233;p24"/>
            <p:cNvCxnSpPr/>
            <p:nvPr/>
          </p:nvCxnSpPr>
          <p:spPr>
            <a:xfrm flipH="1">
              <a:off x="912" y="2400"/>
              <a:ext cx="144" cy="24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34" name="Google Shape;234;p24"/>
            <p:cNvCxnSpPr/>
            <p:nvPr/>
          </p:nvCxnSpPr>
          <p:spPr>
            <a:xfrm>
              <a:off x="1248" y="2352"/>
              <a:ext cx="192" cy="288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235" name="Google Shape;235;p24"/>
            <p:cNvGrpSpPr/>
            <p:nvPr/>
          </p:nvGrpSpPr>
          <p:grpSpPr>
            <a:xfrm>
              <a:off x="2256" y="2112"/>
              <a:ext cx="240" cy="288"/>
              <a:chOff x="4176" y="1104"/>
              <a:chExt cx="240" cy="288"/>
            </a:xfrm>
          </p:grpSpPr>
          <p:sp>
            <p:nvSpPr>
              <p:cNvPr id="236" name="Google Shape;236;p24"/>
              <p:cNvSpPr/>
              <p:nvPr/>
            </p:nvSpPr>
            <p:spPr>
              <a:xfrm>
                <a:off x="4176" y="1152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7" name="Google Shape;237;p24"/>
              <p:cNvSpPr txBox="1"/>
              <p:nvPr/>
            </p:nvSpPr>
            <p:spPr>
              <a:xfrm>
                <a:off x="4176" y="1104"/>
                <a:ext cx="240" cy="2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38" name="Google Shape;238;p24"/>
            <p:cNvGrpSpPr/>
            <p:nvPr/>
          </p:nvGrpSpPr>
          <p:grpSpPr>
            <a:xfrm>
              <a:off x="2544" y="2592"/>
              <a:ext cx="240" cy="288"/>
              <a:chOff x="4176" y="1104"/>
              <a:chExt cx="240" cy="288"/>
            </a:xfrm>
          </p:grpSpPr>
          <p:sp>
            <p:nvSpPr>
              <p:cNvPr id="239" name="Google Shape;239;p24"/>
              <p:cNvSpPr/>
              <p:nvPr/>
            </p:nvSpPr>
            <p:spPr>
              <a:xfrm>
                <a:off x="4176" y="1152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0" name="Google Shape;240;p24"/>
              <p:cNvSpPr txBox="1"/>
              <p:nvPr/>
            </p:nvSpPr>
            <p:spPr>
              <a:xfrm>
                <a:off x="4176" y="1104"/>
                <a:ext cx="240" cy="2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cxnSp>
          <p:nvCxnSpPr>
            <p:cNvPr id="241" name="Google Shape;241;p24"/>
            <p:cNvCxnSpPr/>
            <p:nvPr/>
          </p:nvCxnSpPr>
          <p:spPr>
            <a:xfrm>
              <a:off x="2448" y="2352"/>
              <a:ext cx="192" cy="288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242" name="Google Shape;242;p24"/>
            <p:cNvGrpSpPr/>
            <p:nvPr/>
          </p:nvGrpSpPr>
          <p:grpSpPr>
            <a:xfrm>
              <a:off x="3744" y="1536"/>
              <a:ext cx="240" cy="288"/>
              <a:chOff x="4176" y="1104"/>
              <a:chExt cx="240" cy="288"/>
            </a:xfrm>
          </p:grpSpPr>
          <p:sp>
            <p:nvSpPr>
              <p:cNvPr id="243" name="Google Shape;243;p24"/>
              <p:cNvSpPr/>
              <p:nvPr/>
            </p:nvSpPr>
            <p:spPr>
              <a:xfrm>
                <a:off x="4176" y="1152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4" name="Google Shape;244;p24"/>
              <p:cNvSpPr txBox="1"/>
              <p:nvPr/>
            </p:nvSpPr>
            <p:spPr>
              <a:xfrm>
                <a:off x="4176" y="1104"/>
                <a:ext cx="240" cy="2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45" name="Google Shape;245;p24"/>
            <p:cNvGrpSpPr/>
            <p:nvPr/>
          </p:nvGrpSpPr>
          <p:grpSpPr>
            <a:xfrm>
              <a:off x="3456" y="1968"/>
              <a:ext cx="240" cy="288"/>
              <a:chOff x="4176" y="1104"/>
              <a:chExt cx="240" cy="288"/>
            </a:xfrm>
          </p:grpSpPr>
          <p:sp>
            <p:nvSpPr>
              <p:cNvPr id="246" name="Google Shape;246;p24"/>
              <p:cNvSpPr/>
              <p:nvPr/>
            </p:nvSpPr>
            <p:spPr>
              <a:xfrm>
                <a:off x="4176" y="1152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7" name="Google Shape;247;p24"/>
              <p:cNvSpPr txBox="1"/>
              <p:nvPr/>
            </p:nvSpPr>
            <p:spPr>
              <a:xfrm>
                <a:off x="4176" y="1104"/>
                <a:ext cx="240" cy="2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cxnSp>
          <p:nvCxnSpPr>
            <p:cNvPr id="248" name="Google Shape;248;p24"/>
            <p:cNvCxnSpPr/>
            <p:nvPr/>
          </p:nvCxnSpPr>
          <p:spPr>
            <a:xfrm flipH="1">
              <a:off x="3648" y="1776"/>
              <a:ext cx="144" cy="288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249" name="Google Shape;249;p24"/>
            <p:cNvGrpSpPr/>
            <p:nvPr/>
          </p:nvGrpSpPr>
          <p:grpSpPr>
            <a:xfrm>
              <a:off x="1728" y="1536"/>
              <a:ext cx="240" cy="288"/>
              <a:chOff x="4176" y="1104"/>
              <a:chExt cx="240" cy="288"/>
            </a:xfrm>
          </p:grpSpPr>
          <p:sp>
            <p:nvSpPr>
              <p:cNvPr id="250" name="Google Shape;250;p24"/>
              <p:cNvSpPr/>
              <p:nvPr/>
            </p:nvSpPr>
            <p:spPr>
              <a:xfrm>
                <a:off x="4176" y="1152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1" name="Google Shape;251;p24"/>
              <p:cNvSpPr txBox="1"/>
              <p:nvPr/>
            </p:nvSpPr>
            <p:spPr>
              <a:xfrm>
                <a:off x="4176" y="1104"/>
                <a:ext cx="240" cy="2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cxnSp>
          <p:nvCxnSpPr>
            <p:cNvPr id="252" name="Google Shape;252;p24"/>
            <p:cNvCxnSpPr/>
            <p:nvPr/>
          </p:nvCxnSpPr>
          <p:spPr>
            <a:xfrm flipH="1">
              <a:off x="1200" y="1728"/>
              <a:ext cx="528" cy="528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53" name="Google Shape;253;p24"/>
            <p:cNvCxnSpPr/>
            <p:nvPr/>
          </p:nvCxnSpPr>
          <p:spPr>
            <a:xfrm>
              <a:off x="1968" y="1728"/>
              <a:ext cx="336" cy="48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254" name="Google Shape;254;p24"/>
            <p:cNvGrpSpPr/>
            <p:nvPr/>
          </p:nvGrpSpPr>
          <p:grpSpPr>
            <a:xfrm>
              <a:off x="2784" y="864"/>
              <a:ext cx="240" cy="288"/>
              <a:chOff x="4176" y="1104"/>
              <a:chExt cx="240" cy="288"/>
            </a:xfrm>
          </p:grpSpPr>
          <p:sp>
            <p:nvSpPr>
              <p:cNvPr id="255" name="Google Shape;255;p24"/>
              <p:cNvSpPr/>
              <p:nvPr/>
            </p:nvSpPr>
            <p:spPr>
              <a:xfrm>
                <a:off x="4176" y="1152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6" name="Google Shape;256;p24"/>
              <p:cNvSpPr txBox="1"/>
              <p:nvPr/>
            </p:nvSpPr>
            <p:spPr>
              <a:xfrm>
                <a:off x="4176" y="1104"/>
                <a:ext cx="240" cy="2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cxnSp>
          <p:nvCxnSpPr>
            <p:cNvPr id="257" name="Google Shape;257;p24"/>
            <p:cNvCxnSpPr/>
            <p:nvPr/>
          </p:nvCxnSpPr>
          <p:spPr>
            <a:xfrm flipH="1">
              <a:off x="1920" y="1056"/>
              <a:ext cx="864" cy="528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58" name="Google Shape;258;p24"/>
            <p:cNvCxnSpPr/>
            <p:nvPr/>
          </p:nvCxnSpPr>
          <p:spPr>
            <a:xfrm>
              <a:off x="2976" y="1104"/>
              <a:ext cx="816" cy="528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59" name="Google Shape;259;p24"/>
            <p:cNvSpPr txBox="1"/>
            <p:nvPr/>
          </p:nvSpPr>
          <p:spPr>
            <a:xfrm>
              <a:off x="2784" y="864"/>
              <a:ext cx="480" cy="2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</a:t>
              </a:r>
              <a:endParaRPr/>
            </a:p>
          </p:txBody>
        </p:sp>
        <p:sp>
          <p:nvSpPr>
            <p:cNvPr id="260" name="Google Shape;260;p24"/>
            <p:cNvSpPr txBox="1"/>
            <p:nvPr/>
          </p:nvSpPr>
          <p:spPr>
            <a:xfrm>
              <a:off x="1728" y="1536"/>
              <a:ext cx="480" cy="2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</a:t>
              </a:r>
              <a:endParaRPr/>
            </a:p>
          </p:txBody>
        </p:sp>
        <p:sp>
          <p:nvSpPr>
            <p:cNvPr id="261" name="Google Shape;261;p24"/>
            <p:cNvSpPr txBox="1"/>
            <p:nvPr/>
          </p:nvSpPr>
          <p:spPr>
            <a:xfrm>
              <a:off x="3744" y="1536"/>
              <a:ext cx="480" cy="2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</a:t>
              </a:r>
              <a:endParaRPr/>
            </a:p>
          </p:txBody>
        </p:sp>
        <p:sp>
          <p:nvSpPr>
            <p:cNvPr id="262" name="Google Shape;262;p24"/>
            <p:cNvSpPr txBox="1"/>
            <p:nvPr/>
          </p:nvSpPr>
          <p:spPr>
            <a:xfrm>
              <a:off x="1008" y="2160"/>
              <a:ext cx="480" cy="2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</a:t>
              </a:r>
              <a:endParaRPr/>
            </a:p>
          </p:txBody>
        </p:sp>
        <p:sp>
          <p:nvSpPr>
            <p:cNvPr id="263" name="Google Shape;263;p24"/>
            <p:cNvSpPr txBox="1"/>
            <p:nvPr/>
          </p:nvSpPr>
          <p:spPr>
            <a:xfrm>
              <a:off x="2256" y="2112"/>
              <a:ext cx="480" cy="2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</a:t>
              </a:r>
              <a:endParaRPr/>
            </a:p>
          </p:txBody>
        </p:sp>
        <p:sp>
          <p:nvSpPr>
            <p:cNvPr id="264" name="Google Shape;264;p24"/>
            <p:cNvSpPr txBox="1"/>
            <p:nvPr/>
          </p:nvSpPr>
          <p:spPr>
            <a:xfrm>
              <a:off x="3456" y="1968"/>
              <a:ext cx="480" cy="2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</a:t>
              </a:r>
              <a:endParaRPr/>
            </a:p>
          </p:txBody>
        </p:sp>
        <p:sp>
          <p:nvSpPr>
            <p:cNvPr id="265" name="Google Shape;265;p24"/>
            <p:cNvSpPr txBox="1"/>
            <p:nvPr/>
          </p:nvSpPr>
          <p:spPr>
            <a:xfrm>
              <a:off x="720" y="2544"/>
              <a:ext cx="480" cy="2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g</a:t>
              </a:r>
              <a:endParaRPr/>
            </a:p>
          </p:txBody>
        </p:sp>
        <p:sp>
          <p:nvSpPr>
            <p:cNvPr id="266" name="Google Shape;266;p24"/>
            <p:cNvSpPr txBox="1"/>
            <p:nvPr/>
          </p:nvSpPr>
          <p:spPr>
            <a:xfrm>
              <a:off x="1344" y="2592"/>
              <a:ext cx="480" cy="2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h</a:t>
              </a:r>
              <a:endParaRPr/>
            </a:p>
          </p:txBody>
        </p:sp>
        <p:sp>
          <p:nvSpPr>
            <p:cNvPr id="267" name="Google Shape;267;p24"/>
            <p:cNvSpPr txBox="1"/>
            <p:nvPr/>
          </p:nvSpPr>
          <p:spPr>
            <a:xfrm>
              <a:off x="2592" y="2592"/>
              <a:ext cx="480" cy="2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</a:t>
              </a:r>
              <a:endParaRPr/>
            </a:p>
          </p:txBody>
        </p:sp>
        <p:grpSp>
          <p:nvGrpSpPr>
            <p:cNvPr id="268" name="Google Shape;268;p24"/>
            <p:cNvGrpSpPr/>
            <p:nvPr/>
          </p:nvGrpSpPr>
          <p:grpSpPr>
            <a:xfrm>
              <a:off x="3696" y="2496"/>
              <a:ext cx="240" cy="288"/>
              <a:chOff x="4176" y="1104"/>
              <a:chExt cx="240" cy="288"/>
            </a:xfrm>
          </p:grpSpPr>
          <p:sp>
            <p:nvSpPr>
              <p:cNvPr id="269" name="Google Shape;269;p24"/>
              <p:cNvSpPr/>
              <p:nvPr/>
            </p:nvSpPr>
            <p:spPr>
              <a:xfrm>
                <a:off x="4176" y="1152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0" name="Google Shape;270;p24"/>
              <p:cNvSpPr txBox="1"/>
              <p:nvPr/>
            </p:nvSpPr>
            <p:spPr>
              <a:xfrm>
                <a:off x="4176" y="1104"/>
                <a:ext cx="240" cy="2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cxnSp>
          <p:nvCxnSpPr>
            <p:cNvPr id="271" name="Google Shape;271;p24"/>
            <p:cNvCxnSpPr/>
            <p:nvPr/>
          </p:nvCxnSpPr>
          <p:spPr>
            <a:xfrm>
              <a:off x="3600" y="2256"/>
              <a:ext cx="192" cy="288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72" name="Google Shape;272;p24"/>
            <p:cNvSpPr txBox="1"/>
            <p:nvPr/>
          </p:nvSpPr>
          <p:spPr>
            <a:xfrm>
              <a:off x="3744" y="2496"/>
              <a:ext cx="480" cy="2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j</a:t>
              </a: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5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Balanced heap tree</a:t>
            </a:r>
            <a:endParaRPr sz="4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78" name="Google Shape;278;p25"/>
          <p:cNvSpPr txBox="1">
            <a:spLocks noGrp="1"/>
          </p:cNvSpPr>
          <p:nvPr>
            <p:ph type="body" idx="1"/>
          </p:nvPr>
        </p:nvSpPr>
        <p:spPr>
          <a:xfrm>
            <a:off x="685800" y="1844824"/>
            <a:ext cx="7772400" cy="4174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Draw balanced heap trees for following lists of numbers</a:t>
            </a:r>
            <a:endParaRPr/>
          </a:p>
          <a:p>
            <a:pPr marL="742950" marR="0" lvl="1" indent="-285750" algn="l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❖"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1 4 8 6 20 15 4 9 21 35 67 5 7</a:t>
            </a:r>
            <a:endParaRPr/>
          </a:p>
          <a:p>
            <a:pPr marL="742950" marR="0" lvl="1" indent="-285750" algn="l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❖"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12 5 7 9 20 11 56 3 21 19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79" name="Google Shape;279;p25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13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6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Balanced binary search tree</a:t>
            </a:r>
            <a:endParaRPr sz="4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85" name="Google Shape;285;p26"/>
          <p:cNvSpPr txBox="1">
            <a:spLocks noGrp="1"/>
          </p:cNvSpPr>
          <p:nvPr>
            <p:ph type="body" idx="1"/>
          </p:nvPr>
        </p:nvSpPr>
        <p:spPr>
          <a:xfrm>
            <a:off x="685800" y="1844824"/>
            <a:ext cx="7772400" cy="4174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Draw balanced binary search trees for following lists of numbers</a:t>
            </a:r>
            <a:endParaRPr/>
          </a:p>
          <a:p>
            <a:pPr marL="742950" marR="0" lvl="1" indent="-285750" algn="l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❖"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1 4 8 6 20 15 4 9 21 35 67 5 7</a:t>
            </a:r>
            <a:endParaRPr/>
          </a:p>
          <a:p>
            <a:pPr marL="742950" marR="0" lvl="1" indent="-285750" algn="l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❖"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12 5 7 9 20 11 56 3 21 19</a:t>
            </a:r>
            <a:endParaRPr/>
          </a:p>
          <a:p>
            <a:pPr marL="342900" marR="0" lvl="0" indent="-190500" algn="l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86" name="Google Shape;286;p26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14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Koi">
  <a:themeElements>
    <a:clrScheme name="Koi 1">
      <a:dk1>
        <a:srgbClr val="272776"/>
      </a:dk1>
      <a:lt1>
        <a:srgbClr val="F3F1E4"/>
      </a:lt1>
      <a:dk2>
        <a:srgbClr val="272776"/>
      </a:dk2>
      <a:lt2>
        <a:srgbClr val="808080"/>
      </a:lt2>
      <a:accent1>
        <a:srgbClr val="B8CFFB"/>
      </a:accent1>
      <a:accent2>
        <a:srgbClr val="DF8F74"/>
      </a:accent2>
      <a:accent3>
        <a:srgbClr val="F8F7EF"/>
      </a:accent3>
      <a:accent4>
        <a:srgbClr val="202064"/>
      </a:accent4>
      <a:accent5>
        <a:srgbClr val="D8E4FD"/>
      </a:accent5>
      <a:accent6>
        <a:srgbClr val="CA8168"/>
      </a:accent6>
      <a:hlink>
        <a:srgbClr val="7F97C2"/>
      </a:hlink>
      <a:folHlink>
        <a:srgbClr val="8BBE8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544</Words>
  <Application>Microsoft Office PowerPoint</Application>
  <PresentationFormat>On-screen Show (4:3)</PresentationFormat>
  <Paragraphs>111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Helvetica Neue</vt:lpstr>
      <vt:lpstr>Noto Sans Symbols</vt:lpstr>
      <vt:lpstr>Times New Roman</vt:lpstr>
      <vt:lpstr>1_Koi</vt:lpstr>
      <vt:lpstr>Data Structures Review</vt:lpstr>
      <vt:lpstr>Basic concept</vt:lpstr>
      <vt:lpstr>Linked list</vt:lpstr>
      <vt:lpstr>Complexity 1</vt:lpstr>
      <vt:lpstr>Complexity 2</vt:lpstr>
      <vt:lpstr>Complexity 3</vt:lpstr>
      <vt:lpstr>Complexity 4</vt:lpstr>
      <vt:lpstr>Hash table</vt:lpstr>
      <vt:lpstr>Heap tree</vt:lpstr>
      <vt:lpstr>Binary search tree</vt:lpstr>
      <vt:lpstr>Tree traversal</vt:lpstr>
      <vt:lpstr>Tree traversal</vt:lpstr>
      <vt:lpstr>Balanced heap tree</vt:lpstr>
      <vt:lpstr>Balanced binary search tree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Structures Review</dc:title>
  <cp:lastModifiedBy>DHQG</cp:lastModifiedBy>
  <cp:revision>1</cp:revision>
  <dcterms:modified xsi:type="dcterms:W3CDTF">2018-11-21T01:48:02Z</dcterms:modified>
</cp:coreProperties>
</file>